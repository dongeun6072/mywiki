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346" r:id="rId84"/>
    <p:sldId id="446" r:id="rId160"/>
    <p:sldId id="258" r:id="rId4"/>
    <p:sldId id="259" r:id="rId5"/>
    <p:sldId id="260" r:id="rId6"/>
    <p:sldId id="262" r:id="rId7"/>
    <p:sldId id="407" r:id="rId125"/>
    <p:sldId id="264" r:id="rId8"/>
    <p:sldId id="265" r:id="rId9"/>
    <p:sldId id="266" r:id="rId10"/>
    <p:sldId id="267" r:id="rId11"/>
    <p:sldId id="360" r:id="rId97"/>
    <p:sldId id="408" r:id="rId126"/>
    <p:sldId id="269" r:id="rId13"/>
    <p:sldId id="270" r:id="rId14"/>
    <p:sldId id="386" r:id="rId20"/>
    <p:sldId id="316" r:id="rId15"/>
    <p:sldId id="375" r:id="rId102"/>
    <p:sldId id="369" r:id="rId96"/>
    <p:sldId id="376" r:id="rId17"/>
    <p:sldId id="381" r:id="rId106"/>
    <p:sldId id="377" r:id="rId16"/>
    <p:sldId id="380" r:id="rId105"/>
    <p:sldId id="409" r:id="rId127"/>
    <p:sldId id="378" r:id="rId103"/>
    <p:sldId id="379" r:id="rId104"/>
    <p:sldId id="383" r:id="rId101"/>
    <p:sldId id="384" r:id="rId93"/>
    <p:sldId id="388" r:id="rId18"/>
    <p:sldId id="385" r:id="rId21"/>
    <p:sldId id="389" r:id="rId107"/>
    <p:sldId id="368" r:id="rId95"/>
    <p:sldId id="390" r:id="rId108"/>
    <p:sldId id="382" r:id="rId94"/>
    <p:sldId id="391" r:id="rId109"/>
    <p:sldId id="343" r:id="rId81"/>
    <p:sldId id="344" r:id="rId82"/>
    <p:sldId id="345" r:id="rId83"/>
    <p:sldId id="373" r:id="rId12"/>
    <p:sldId id="277" r:id="rId24"/>
    <p:sldId id="392" r:id="rId110"/>
    <p:sldId id="337" r:id="rId25"/>
    <p:sldId id="393" r:id="rId111"/>
    <p:sldId id="418" r:id="rId135"/>
    <p:sldId id="336" r:id="rId26"/>
    <p:sldId id="394" r:id="rId112"/>
    <p:sldId id="452" r:id="rId141"/>
    <p:sldId id="453" r:id="rId138"/>
    <p:sldId id="454" r:id="rId137"/>
    <p:sldId id="325" r:id="rId27"/>
    <p:sldId id="395" r:id="rId113"/>
    <p:sldId id="416" r:id="rId133"/>
    <p:sldId id="335" r:id="rId28"/>
    <p:sldId id="396" r:id="rId114"/>
    <p:sldId id="294" r:id="rId29"/>
    <p:sldId id="319" r:id="rId30"/>
    <p:sldId id="372" r:id="rId23"/>
    <p:sldId id="281" r:id="rId31"/>
    <p:sldId id="282" r:id="rId32"/>
    <p:sldId id="283" r:id="rId33"/>
    <p:sldId id="397" r:id="rId115"/>
    <p:sldId id="419" r:id="rId136"/>
    <p:sldId id="288" r:id="rId35"/>
    <p:sldId id="423" r:id="rId140"/>
    <p:sldId id="322" r:id="rId36"/>
    <p:sldId id="290" r:id="rId37"/>
    <p:sldId id="422" r:id="rId139"/>
    <p:sldId id="289" r:id="rId38"/>
    <p:sldId id="371" r:id="rId88"/>
    <p:sldId id="451" r:id="rId142"/>
    <p:sldId id="295" r:id="rId40"/>
    <p:sldId id="334" r:id="rId42"/>
    <p:sldId id="296" r:id="rId41"/>
    <p:sldId id="426" r:id="rId143"/>
    <p:sldId id="399" r:id="rId117"/>
    <p:sldId id="370" r:id="rId89"/>
    <p:sldId id="297" r:id="rId44"/>
    <p:sldId id="301" r:id="rId45"/>
    <p:sldId id="302" r:id="rId46"/>
    <p:sldId id="401" r:id="rId119"/>
    <p:sldId id="321" r:id="rId47"/>
    <p:sldId id="427" r:id="rId144"/>
    <p:sldId id="428" r:id="rId145"/>
    <p:sldId id="303" r:id="rId48"/>
    <p:sldId id="304" r:id="rId49"/>
    <p:sldId id="348" r:id="rId86"/>
    <p:sldId id="349" r:id="rId87"/>
    <p:sldId id="354" r:id="rId91"/>
    <p:sldId id="429" r:id="rId146"/>
    <p:sldId id="430" r:id="rId147"/>
    <p:sldId id="305" r:id="rId50"/>
    <p:sldId id="306" r:id="rId51"/>
    <p:sldId id="402" r:id="rId120"/>
    <p:sldId id="330" r:id="rId52"/>
    <p:sldId id="434" r:id="rId149"/>
    <p:sldId id="433" r:id="rId85"/>
    <p:sldId id="432" r:id="rId121"/>
    <p:sldId id="435" r:id="rId150"/>
    <p:sldId id="436" r:id="rId151"/>
    <p:sldId id="299" r:id="rId53"/>
    <p:sldId id="324" r:id="rId54"/>
    <p:sldId id="438" r:id="rId153"/>
    <p:sldId id="307" r:id="rId55"/>
    <p:sldId id="308" r:id="rId56"/>
    <p:sldId id="404" r:id="rId122"/>
    <p:sldId id="440" r:id="rId155"/>
    <p:sldId id="439" r:id="rId154"/>
    <p:sldId id="309" r:id="rId57"/>
    <p:sldId id="441" r:id="rId156"/>
    <p:sldId id="442" r:id="rId157"/>
    <p:sldId id="310" r:id="rId58"/>
    <p:sldId id="311" r:id="rId61"/>
    <p:sldId id="445" r:id="rId159"/>
    <p:sldId id="444" r:id="rId158"/>
    <p:sldId id="443" r:id="rId62"/>
    <p:sldId id="338" r:id="rId59"/>
    <p:sldId id="312" r:id="rId63"/>
    <p:sldId id="447" r:id="rId161"/>
    <p:sldId id="339" r:id="rId64"/>
    <p:sldId id="326" r:id="rId65"/>
    <p:sldId id="449" r:id="rId163"/>
    <p:sldId id="448" r:id="rId162"/>
    <p:sldId id="327" r:id="rId66"/>
    <p:sldId id="328" r:id="rId67"/>
    <p:sldId id="333" r:id="rId68"/>
    <p:sldId id="261" r:id="rId69"/>
    <p:sldId id="450" r:id="rId164"/>
    <p:sldId id="340" r:id="rId70"/>
    <p:sldId id="329" r:id="rId71"/>
    <p:sldId id="361" r:id="rId98"/>
    <p:sldId id="362" r:id="rId99"/>
    <p:sldId id="405" r:id="rId123"/>
    <p:sldId id="314" r:id="rId72"/>
    <p:sldId id="365" r:id="rId92"/>
    <p:sldId id="315" r:id="rId73"/>
    <p:sldId id="364" r:id="rId90"/>
    <p:sldId id="331" r:id="rId74"/>
    <p:sldId id="332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15"/>
    <p:restoredTop sz="96301"/>
  </p:normalViewPr>
  <p:slideViewPr>
    <p:cSldViewPr snapToGrid="0" snapToObjects="1">
      <p:cViewPr varScale="1">
        <p:scale>
          <a:sx n="119" d="100"/>
          <a:sy n="119" d="100"/>
        </p:scale>
        <p:origin x="208" y="272"/>
      </p:cViewPr>
      <p:guideLst>
        <p:guide orient="horz" pos="7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41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9.xml"/><Relationship Id="rId16" Type="http://schemas.openxmlformats.org/officeDocument/2006/relationships/slide" Target="slides/slide24.xml"/><Relationship Id="rId17" Type="http://schemas.openxmlformats.org/officeDocument/2006/relationships/slide" Target="slides/slide22.xml"/><Relationship Id="rId18" Type="http://schemas.openxmlformats.org/officeDocument/2006/relationships/slide" Target="slides/slide31.xml"/><Relationship Id="rId20" Type="http://schemas.openxmlformats.org/officeDocument/2006/relationships/slide" Target="slides/slide18.xml"/><Relationship Id="rId21" Type="http://schemas.openxmlformats.org/officeDocument/2006/relationships/slide" Target="slides/slide32.xml"/><Relationship Id="rId23" Type="http://schemas.openxmlformats.org/officeDocument/2006/relationships/slide" Target="slides/slide59.xml"/><Relationship Id="rId24" Type="http://schemas.openxmlformats.org/officeDocument/2006/relationships/slide" Target="slides/slide42.xml"/><Relationship Id="rId25" Type="http://schemas.openxmlformats.org/officeDocument/2006/relationships/slide" Target="slides/slide44.xml"/><Relationship Id="rId26" Type="http://schemas.openxmlformats.org/officeDocument/2006/relationships/slide" Target="slides/slide47.xml"/><Relationship Id="rId27" Type="http://schemas.openxmlformats.org/officeDocument/2006/relationships/slide" Target="slides/slide52.xml"/><Relationship Id="rId28" Type="http://schemas.openxmlformats.org/officeDocument/2006/relationships/slide" Target="slides/slide55.xml"/><Relationship Id="rId29" Type="http://schemas.openxmlformats.org/officeDocument/2006/relationships/slide" Target="slides/slide57.xml"/><Relationship Id="rId30" Type="http://schemas.openxmlformats.org/officeDocument/2006/relationships/slide" Target="slides/slide58.xml"/><Relationship Id="rId31" Type="http://schemas.openxmlformats.org/officeDocument/2006/relationships/slide" Target="slides/slide60.xml"/><Relationship Id="rId32" Type="http://schemas.openxmlformats.org/officeDocument/2006/relationships/slide" Target="slides/slide61.xml"/><Relationship Id="rId33" Type="http://schemas.openxmlformats.org/officeDocument/2006/relationships/slide" Target="slides/slide62.xml"/><Relationship Id="rId35" Type="http://schemas.openxmlformats.org/officeDocument/2006/relationships/slide" Target="slides/slide65.xml"/><Relationship Id="rId36" Type="http://schemas.openxmlformats.org/officeDocument/2006/relationships/slide" Target="slides/slide67.xml"/><Relationship Id="rId37" Type="http://schemas.openxmlformats.org/officeDocument/2006/relationships/slide" Target="slides/slide68.xml"/><Relationship Id="rId38" Type="http://schemas.openxmlformats.org/officeDocument/2006/relationships/slide" Target="slides/slide70.xml"/><Relationship Id="rId40" Type="http://schemas.openxmlformats.org/officeDocument/2006/relationships/slide" Target="slides/slide73.xml"/><Relationship Id="rId41" Type="http://schemas.openxmlformats.org/officeDocument/2006/relationships/slide" Target="slides/slide75.xml"/><Relationship Id="rId42" Type="http://schemas.openxmlformats.org/officeDocument/2006/relationships/slide" Target="slides/slide74.xml"/><Relationship Id="rId44" Type="http://schemas.openxmlformats.org/officeDocument/2006/relationships/slide" Target="slides/slide79.xml"/><Relationship Id="rId45" Type="http://schemas.openxmlformats.org/officeDocument/2006/relationships/slide" Target="slides/slide80.xml"/><Relationship Id="rId46" Type="http://schemas.openxmlformats.org/officeDocument/2006/relationships/slide" Target="slides/slide81.xml"/><Relationship Id="rId47" Type="http://schemas.openxmlformats.org/officeDocument/2006/relationships/slide" Target="slides/slide83.xml"/><Relationship Id="rId48" Type="http://schemas.openxmlformats.org/officeDocument/2006/relationships/slide" Target="slides/slide86.xml"/><Relationship Id="rId49" Type="http://schemas.openxmlformats.org/officeDocument/2006/relationships/slide" Target="slides/slide87.xml"/><Relationship Id="rId50" Type="http://schemas.openxmlformats.org/officeDocument/2006/relationships/slide" Target="slides/slide93.xml"/><Relationship Id="rId51" Type="http://schemas.openxmlformats.org/officeDocument/2006/relationships/slide" Target="slides/slide94.xml"/><Relationship Id="rId52" Type="http://schemas.openxmlformats.org/officeDocument/2006/relationships/slide" Target="slides/slide96.xml"/><Relationship Id="rId53" Type="http://schemas.openxmlformats.org/officeDocument/2006/relationships/slide" Target="slides/slide102.xml"/><Relationship Id="rId54" Type="http://schemas.openxmlformats.org/officeDocument/2006/relationships/slide" Target="slides/slide103.xml"/><Relationship Id="rId55" Type="http://schemas.openxmlformats.org/officeDocument/2006/relationships/slide" Target="slides/slide105.xml"/><Relationship Id="rId56" Type="http://schemas.openxmlformats.org/officeDocument/2006/relationships/slide" Target="slides/slide106.xml"/><Relationship Id="rId57" Type="http://schemas.openxmlformats.org/officeDocument/2006/relationships/slide" Target="slides/slide110.xml"/><Relationship Id="rId58" Type="http://schemas.openxmlformats.org/officeDocument/2006/relationships/slide" Target="slides/slide113.xml"/><Relationship Id="rId59" Type="http://schemas.openxmlformats.org/officeDocument/2006/relationships/slide" Target="slides/slide118.xml"/><Relationship Id="rId61" Type="http://schemas.openxmlformats.org/officeDocument/2006/relationships/slide" Target="slides/slide114.xml"/><Relationship Id="rId62" Type="http://schemas.openxmlformats.org/officeDocument/2006/relationships/slide" Target="slides/slide117.xml"/><Relationship Id="rId63" Type="http://schemas.openxmlformats.org/officeDocument/2006/relationships/slide" Target="slides/slide119.xml"/><Relationship Id="rId64" Type="http://schemas.openxmlformats.org/officeDocument/2006/relationships/slide" Target="slides/slide121.xml"/><Relationship Id="rId65" Type="http://schemas.openxmlformats.org/officeDocument/2006/relationships/slide" Target="slides/slide122.xml"/><Relationship Id="rId66" Type="http://schemas.openxmlformats.org/officeDocument/2006/relationships/slide" Target="slides/slide125.xml"/><Relationship Id="rId67" Type="http://schemas.openxmlformats.org/officeDocument/2006/relationships/slide" Target="slides/slide126.xml"/><Relationship Id="rId68" Type="http://schemas.openxmlformats.org/officeDocument/2006/relationships/slide" Target="slides/slide127.xml"/><Relationship Id="rId69" Type="http://schemas.openxmlformats.org/officeDocument/2006/relationships/slide" Target="slides/slide128.xml"/><Relationship Id="rId70" Type="http://schemas.openxmlformats.org/officeDocument/2006/relationships/slide" Target="slides/slide130.xml"/><Relationship Id="rId71" Type="http://schemas.openxmlformats.org/officeDocument/2006/relationships/slide" Target="slides/slide131.xml"/><Relationship Id="rId72" Type="http://schemas.openxmlformats.org/officeDocument/2006/relationships/slide" Target="slides/slide135.xml"/><Relationship Id="rId73" Type="http://schemas.openxmlformats.org/officeDocument/2006/relationships/slide" Target="slides/slide137.xml"/><Relationship Id="rId74" Type="http://schemas.openxmlformats.org/officeDocument/2006/relationships/slide" Target="slides/slide139.xml"/><Relationship Id="rId75" Type="http://schemas.openxmlformats.org/officeDocument/2006/relationships/slide" Target="slides/slide140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openxmlformats.org/officeDocument/2006/relationships/slide" Target="slides/slide38.xml"/><Relationship Id="rId82" Type="http://schemas.openxmlformats.org/officeDocument/2006/relationships/slide" Target="slides/slide39.xml"/><Relationship Id="rId83" Type="http://schemas.openxmlformats.org/officeDocument/2006/relationships/slide" Target="slides/slide40.xml"/><Relationship Id="rId84" Type="http://schemas.openxmlformats.org/officeDocument/2006/relationships/slide" Target="slides/slide3.xml"/><Relationship Id="rId85" Type="http://schemas.openxmlformats.org/officeDocument/2006/relationships/slide" Target="slides/slide98.xml"/><Relationship Id="rId86" Type="http://schemas.openxmlformats.org/officeDocument/2006/relationships/slide" Target="slides/slide88.xml"/><Relationship Id="rId87" Type="http://schemas.openxmlformats.org/officeDocument/2006/relationships/slide" Target="slides/slide89.xml"/><Relationship Id="rId88" Type="http://schemas.openxmlformats.org/officeDocument/2006/relationships/slide" Target="slides/slide71.xml"/><Relationship Id="rId89" Type="http://schemas.openxmlformats.org/officeDocument/2006/relationships/slide" Target="slides/slide78.xml"/><Relationship Id="rId90" Type="http://schemas.openxmlformats.org/officeDocument/2006/relationships/slide" Target="slides/slide138.xml"/><Relationship Id="rId91" Type="http://schemas.openxmlformats.org/officeDocument/2006/relationships/slide" Target="slides/slide90.xml"/><Relationship Id="rId92" Type="http://schemas.openxmlformats.org/officeDocument/2006/relationships/slide" Target="slides/slide136.xml"/><Relationship Id="rId93" Type="http://schemas.openxmlformats.org/officeDocument/2006/relationships/slide" Target="slides/slide30.xml"/><Relationship Id="rId94" Type="http://schemas.openxmlformats.org/officeDocument/2006/relationships/slide" Target="slides/slide36.xml"/><Relationship Id="rId95" Type="http://schemas.openxmlformats.org/officeDocument/2006/relationships/slide" Target="slides/slide34.xml"/><Relationship Id="rId96" Type="http://schemas.openxmlformats.org/officeDocument/2006/relationships/slide" Target="slides/slide21.xml"/><Relationship Id="rId97" Type="http://schemas.openxmlformats.org/officeDocument/2006/relationships/slide" Target="slides/slide14.xml"/><Relationship Id="rId98" Type="http://schemas.openxmlformats.org/officeDocument/2006/relationships/slide" Target="slides/slide132.xml"/><Relationship Id="rId99" Type="http://schemas.openxmlformats.org/officeDocument/2006/relationships/slide" Target="slides/slide133.xml"/><Relationship Id="rId101" Type="http://schemas.openxmlformats.org/officeDocument/2006/relationships/slide" Target="slides/slide29.xml"/><Relationship Id="rId102" Type="http://schemas.openxmlformats.org/officeDocument/2006/relationships/slide" Target="slides/slide20.xml"/><Relationship Id="rId103" Type="http://schemas.openxmlformats.org/officeDocument/2006/relationships/slide" Target="slides/slide27.xml"/><Relationship Id="rId104" Type="http://schemas.openxmlformats.org/officeDocument/2006/relationships/slide" Target="slides/slide28.xml"/><Relationship Id="rId105" Type="http://schemas.openxmlformats.org/officeDocument/2006/relationships/slide" Target="slides/slide25.xml"/><Relationship Id="rId106" Type="http://schemas.openxmlformats.org/officeDocument/2006/relationships/slide" Target="slides/slide23.xml"/><Relationship Id="rId107" Type="http://schemas.openxmlformats.org/officeDocument/2006/relationships/slide" Target="slides/slide33.xml"/><Relationship Id="rId108" Type="http://schemas.openxmlformats.org/officeDocument/2006/relationships/slide" Target="slides/slide35.xml"/><Relationship Id="rId109" Type="http://schemas.openxmlformats.org/officeDocument/2006/relationships/slide" Target="slides/slide37.xml"/><Relationship Id="rId110" Type="http://schemas.openxmlformats.org/officeDocument/2006/relationships/slide" Target="slides/slide43.xml"/><Relationship Id="rId111" Type="http://schemas.openxmlformats.org/officeDocument/2006/relationships/slide" Target="slides/slide45.xml"/><Relationship Id="rId112" Type="http://schemas.openxmlformats.org/officeDocument/2006/relationships/slide" Target="slides/slide48.xml"/><Relationship Id="rId113" Type="http://schemas.openxmlformats.org/officeDocument/2006/relationships/slide" Target="slides/slide53.xml"/><Relationship Id="rId114" Type="http://schemas.openxmlformats.org/officeDocument/2006/relationships/slide" Target="slides/slide56.xml"/><Relationship Id="rId115" Type="http://schemas.openxmlformats.org/officeDocument/2006/relationships/slide" Target="slides/slide63.xml"/><Relationship Id="rId117" Type="http://schemas.openxmlformats.org/officeDocument/2006/relationships/slide" Target="slides/slide77.xml"/><Relationship Id="rId119" Type="http://schemas.openxmlformats.org/officeDocument/2006/relationships/slide" Target="slides/slide82.xml"/><Relationship Id="rId120" Type="http://schemas.openxmlformats.org/officeDocument/2006/relationships/slide" Target="slides/slide95.xml"/><Relationship Id="rId121" Type="http://schemas.openxmlformats.org/officeDocument/2006/relationships/slide" Target="slides/slide99.xml"/><Relationship Id="rId122" Type="http://schemas.openxmlformats.org/officeDocument/2006/relationships/slide" Target="slides/slide107.xml"/><Relationship Id="rId123" Type="http://schemas.openxmlformats.org/officeDocument/2006/relationships/slide" Target="slides/slide134.xml"/><Relationship Id="rId125" Type="http://schemas.openxmlformats.org/officeDocument/2006/relationships/slide" Target="slides/slide9.xml"/><Relationship Id="rId126" Type="http://schemas.openxmlformats.org/officeDocument/2006/relationships/slide" Target="slides/slide15.xml"/><Relationship Id="rId127" Type="http://schemas.openxmlformats.org/officeDocument/2006/relationships/slide" Target="slides/slide26.xml"/><Relationship Id="rId133" Type="http://schemas.openxmlformats.org/officeDocument/2006/relationships/slide" Target="slides/slide54.xml"/><Relationship Id="rId135" Type="http://schemas.openxmlformats.org/officeDocument/2006/relationships/slide" Target="slides/slide46.xml"/><Relationship Id="rId136" Type="http://schemas.openxmlformats.org/officeDocument/2006/relationships/slide" Target="slides/slide64.xml"/><Relationship Id="rId137" Type="http://schemas.openxmlformats.org/officeDocument/2006/relationships/slide" Target="slides/slide51.xml"/><Relationship Id="rId138" Type="http://schemas.openxmlformats.org/officeDocument/2006/relationships/slide" Target="slides/slide50.xml"/><Relationship Id="rId139" Type="http://schemas.openxmlformats.org/officeDocument/2006/relationships/slide" Target="slides/slide69.xml"/><Relationship Id="rId140" Type="http://schemas.openxmlformats.org/officeDocument/2006/relationships/slide" Target="slides/slide66.xml"/><Relationship Id="rId141" Type="http://schemas.openxmlformats.org/officeDocument/2006/relationships/slide" Target="slides/slide49.xml"/><Relationship Id="rId142" Type="http://schemas.openxmlformats.org/officeDocument/2006/relationships/slide" Target="slides/slide72.xml"/><Relationship Id="rId143" Type="http://schemas.openxmlformats.org/officeDocument/2006/relationships/slide" Target="slides/slide76.xml"/><Relationship Id="rId144" Type="http://schemas.openxmlformats.org/officeDocument/2006/relationships/slide" Target="slides/slide84.xml"/><Relationship Id="rId145" Type="http://schemas.openxmlformats.org/officeDocument/2006/relationships/slide" Target="slides/slide85.xml"/><Relationship Id="rId146" Type="http://schemas.openxmlformats.org/officeDocument/2006/relationships/slide" Target="slides/slide91.xml"/><Relationship Id="rId147" Type="http://schemas.openxmlformats.org/officeDocument/2006/relationships/slide" Target="slides/slide92.xml"/><Relationship Id="rId149" Type="http://schemas.openxmlformats.org/officeDocument/2006/relationships/slide" Target="slides/slide97.xml"/><Relationship Id="rId150" Type="http://schemas.openxmlformats.org/officeDocument/2006/relationships/slide" Target="slides/slide100.xml"/><Relationship Id="rId151" Type="http://schemas.openxmlformats.org/officeDocument/2006/relationships/slide" Target="slides/slide101.xml"/><Relationship Id="rId153" Type="http://schemas.openxmlformats.org/officeDocument/2006/relationships/slide" Target="slides/slide104.xml"/><Relationship Id="rId154" Type="http://schemas.openxmlformats.org/officeDocument/2006/relationships/slide" Target="slides/slide109.xml"/><Relationship Id="rId155" Type="http://schemas.openxmlformats.org/officeDocument/2006/relationships/slide" Target="slides/slide108.xml"/><Relationship Id="rId156" Type="http://schemas.openxmlformats.org/officeDocument/2006/relationships/slide" Target="slides/slide111.xml"/><Relationship Id="rId157" Type="http://schemas.openxmlformats.org/officeDocument/2006/relationships/slide" Target="slides/slide112.xml"/><Relationship Id="rId158" Type="http://schemas.openxmlformats.org/officeDocument/2006/relationships/slide" Target="slides/slide116.xml"/><Relationship Id="rId159" Type="http://schemas.openxmlformats.org/officeDocument/2006/relationships/slide" Target="slides/slide115.xml"/><Relationship Id="rId160" Type="http://schemas.openxmlformats.org/officeDocument/2006/relationships/slide" Target="slides/slide4.xml"/><Relationship Id="rId161" Type="http://schemas.openxmlformats.org/officeDocument/2006/relationships/slide" Target="slides/slide120.xml"/><Relationship Id="rId162" Type="http://schemas.openxmlformats.org/officeDocument/2006/relationships/slide" Target="slides/slide124.xml"/><Relationship Id="rId163" Type="http://schemas.openxmlformats.org/officeDocument/2006/relationships/slide" Target="slides/slide123.xml"/><Relationship Id="rId164" Type="http://schemas.openxmlformats.org/officeDocument/2006/relationships/slide" Target="slides/slide1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C511B-A8EB-FE48-BDC9-CB440061A3A1}" type="datetimeFigureOut">
              <a:rPr kumimoji="1" lang="ko-KR" altLang="en-US" smtClean="0"/>
              <a:t>2026. 9. 11.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9A726-48E3-C145-98E1-AAF59E8AF8F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608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14830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688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9609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826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6B330-E9F0-F716-3DC9-9A7FCAF9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EE8CED-5D80-E278-98EB-6BB7C744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F57F25-11CB-44CD-856F-0746B15A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8A5770-5811-5A5C-FB87-A9324AF3E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3901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61432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39207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2797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47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7977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C3EC-38DF-DFDD-3A05-262AEDD6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D3924C-CC65-32D7-7513-49F6909BA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4C3C96-DD1D-6D9B-2680-D8463A60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A03D88-333B-3A86-9AC7-C859EB3DE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53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6825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2248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9A726-48E3-C145-98E1-AAF59E8AF8F4}" type="slidenum">
              <a:rPr kumimoji="1" lang="ko-KR" altLang="en-US" smtClean="0"/>
              <a:t>65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36040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표지 하단 띠"/>
          <p:cNvSpPr/>
          <p:nvPr/>
        </p:nvSpPr>
        <p:spPr>
          <a:xfrm>
            <a:off x="0" y="6267450"/>
            <a:ext cx="12192000" cy="59055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표지 하단 구분선"/>
          <p:cNvSpPr/>
          <p:nvPr/>
        </p:nvSpPr>
        <p:spPr>
          <a:xfrm>
            <a:off x="0" y="6267450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영문 라벨"/>
          <p:cNvSpPr txBox="1"/>
          <p:nvPr/>
        </p:nvSpPr>
        <p:spPr>
          <a:xfrm>
            <a:off x="914400" y="2061018"/>
            <a:ext cx="47625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217" dirty="0">
                <a:solidFill>
                  <a:srgbClr val="8A94A3"/>
                </a:solidFill>
                <a:latin typeface="Pretendard"/>
              </a:rPr>
              <a:t>SEOUL DONGHAENG MAP</a:t>
            </a:r>
          </a:p>
        </p:txBody>
      </p:sp>
      <p:sp>
        <p:nvSpPr>
          <p:cNvPr id="6" name="표지 제목"/>
          <p:cNvSpPr txBox="1"/>
          <p:nvPr/>
        </p:nvSpPr>
        <p:spPr>
          <a:xfrm>
            <a:off x="914400" y="2381250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서울동행맵</a:t>
            </a:r>
            <a:r>
              <a:rPr sz="3900" b="1" spc="-172" dirty="0">
                <a:solidFill>
                  <a:srgbClr val="14181F"/>
                </a:solidFill>
                <a:latin typeface="Pretendard"/>
              </a:rPr>
              <a:t> </a:t>
            </a:r>
            <a:r>
              <a:rPr sz="3900" b="1" spc="-172" dirty="0" err="1">
                <a:solidFill>
                  <a:srgbClr val="14181F"/>
                </a:solidFill>
                <a:latin typeface="Pretendard"/>
              </a:rPr>
              <a:t>고도화</a:t>
            </a:r>
            <a:endParaRPr sz="3900" b="1" spc="-17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표지 부제"/>
          <p:cNvSpPr txBox="1"/>
          <p:nvPr/>
        </p:nvSpPr>
        <p:spPr>
          <a:xfrm>
            <a:off x="914400" y="2924175"/>
            <a:ext cx="8572500" cy="57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900" b="0" spc="-172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8" name="표지 구분선"/>
          <p:cNvSpPr/>
          <p:nvPr/>
        </p:nvSpPr>
        <p:spPr>
          <a:xfrm>
            <a:off x="914400" y="3857625"/>
            <a:ext cx="103632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지 메타 라벨"/>
          <p:cNvSpPr txBox="1"/>
          <p:nvPr/>
        </p:nvSpPr>
        <p:spPr>
          <a:xfrm>
            <a:off x="914400" y="4114800"/>
            <a:ext cx="666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버전</a:t>
            </a:r>
          </a:p>
        </p:txBody>
      </p:sp>
      <p:sp>
        <p:nvSpPr>
          <p:cNvPr id="10" name="표지 메타 값"/>
          <p:cNvSpPr txBox="1"/>
          <p:nvPr/>
        </p:nvSpPr>
        <p:spPr>
          <a:xfrm>
            <a:off x="914400" y="4295775"/>
            <a:ext cx="666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lang="ko-KR" altLang="en-US">
                <a:solidFill>
                  <a:srgbClr val="14181F"/>
                </a:solidFill>
                <a:latin typeface="Pretendard"/>
              </a:rPr>
              <a:t>v1.0</a:t>
            </a:r>
          </a:p>
        </p:txBody>
      </p:sp>
      <p:sp>
        <p:nvSpPr>
          <p:cNvPr id="11" name="표지 메타 라벨"/>
          <p:cNvSpPr txBox="1"/>
          <p:nvPr/>
        </p:nvSpPr>
        <p:spPr>
          <a:xfrm>
            <a:off x="2190750" y="4114800"/>
            <a:ext cx="12382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일자</a:t>
            </a:r>
          </a:p>
        </p:txBody>
      </p:sp>
      <p:sp>
        <p:nvSpPr>
          <p:cNvPr id="12" name="표지 메타 값"/>
          <p:cNvSpPr txBox="1"/>
          <p:nvPr/>
        </p:nvSpPr>
        <p:spPr>
          <a:xfrm>
            <a:off x="2190750" y="4295775"/>
            <a:ext cx="12382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 dirty="0" lang="ko-KR" altLang="en-US">
                <a:solidFill>
                  <a:srgbClr val="14181F"/>
                </a:solidFill>
                <a:latin typeface="Pretendard"/>
              </a:rPr>
              <a:t>2026. 09. 28</a:t>
            </a:r>
          </a:p>
        </p:txBody>
      </p:sp>
      <p:sp>
        <p:nvSpPr>
          <p:cNvPr id="13" name="표지 메타 라벨"/>
          <p:cNvSpPr txBox="1"/>
          <p:nvPr/>
        </p:nvSpPr>
        <p:spPr>
          <a:xfrm>
            <a:off x="4038600" y="4114800"/>
            <a:ext cx="1047750" cy="114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0" spc="105">
                <a:solidFill>
                  <a:srgbClr val="8A94A3"/>
                </a:solidFill>
                <a:latin typeface="Pretendard"/>
              </a:rPr>
              <a:t>문서</a:t>
            </a:r>
          </a:p>
        </p:txBody>
      </p:sp>
      <p:sp>
        <p:nvSpPr>
          <p:cNvPr id="14" name="표지 메타 값"/>
          <p:cNvSpPr txBox="1"/>
          <p:nvPr/>
        </p:nvSpPr>
        <p:spPr>
          <a:xfrm>
            <a:off x="4038600" y="4295775"/>
            <a:ext cx="10477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spc="-11">
                <a:solidFill>
                  <a:srgbClr val="14181F"/>
                </a:solidFill>
                <a:latin typeface="Pretendard"/>
              </a:rPr>
              <a:t>화면 기획서</a:t>
            </a:r>
          </a:p>
        </p:txBody>
      </p:sp>
      <p:sp>
        <p:nvSpPr>
          <p:cNvPr id="15" name="표지 푸터"/>
          <p:cNvSpPr txBox="1"/>
          <p:nvPr/>
        </p:nvSpPr>
        <p:spPr>
          <a:xfrm>
            <a:off x="914400" y="6486525"/>
            <a:ext cx="381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9">
                <a:solidFill>
                  <a:srgbClr val="5B6573"/>
                </a:solidFill>
                <a:latin typeface="Pretendard"/>
              </a:rPr>
              <a:t>교통약자 이동 지원 서비스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9165" y="228600"/>
            <a:ext cx="19202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문서 개정 이력 (1/3)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56692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표 행 구분선"/>
          <p:cNvSpPr/>
          <p:nvPr/>
        </p:nvSpPr>
        <p:spPr>
          <a:xfrm>
            <a:off x="419100" y="1867509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표 본문"/>
          <p:cNvSpPr txBox="1"/>
          <p:nvPr/>
        </p:nvSpPr>
        <p:spPr>
          <a:xfrm>
            <a:off x="552450" y="1562100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14181F"/>
                </a:solidFill>
                <a:latin typeface="Pretendard"/>
              </a:rPr>
              <a:t>v0.6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1257300" y="1562100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2026-08-19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2247900" y="1562100"/>
            <a:ext cx="5715000" cy="217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>
                <a:solidFill>
                  <a:srgbClr val="5B6573"/>
                </a:solidFill>
                <a:latin typeface="Pretendard"/>
              </a:rPr>
              <a:t>최초 작성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8229600" y="1562100"/>
            <a:ext cx="2590800" cy="21762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-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0" name="표 본문"/>
          <p:cNvSpPr txBox="1"/>
          <p:nvPr/>
        </p:nvSpPr>
        <p:spPr>
          <a:xfrm>
            <a:off x="11087100" y="1562100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1" name="표 본문"/>
          <p:cNvSpPr txBox="1"/>
          <p:nvPr/>
        </p:nvSpPr>
        <p:spPr>
          <a:xfrm>
            <a:off x="552450" y="2020214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v0.7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1257300" y="2020214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2026-08-2</a:t>
            </a:r>
            <a:r>
              <a:rPr lang="en-US" altLang="ko-KR" sz="825" b="0" dirty="0">
                <a:solidFill>
                  <a:srgbClr val="5B6573"/>
                </a:solidFill>
                <a:latin typeface="Pretendard"/>
              </a:rPr>
              <a:t>7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3" name="표 본문"/>
          <p:cNvSpPr txBox="1"/>
          <p:nvPr/>
        </p:nvSpPr>
        <p:spPr>
          <a:xfrm>
            <a:off x="2247900" y="2020214"/>
            <a:ext cx="5848350" cy="6528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메뉴 구조도 재구성 — 대메뉴 3탭(1-0 홈 · 2-0 길찾기 · 3-0 마이페이지)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홈 6메뉴 개편 — 마이페이지 · 서비스 정보 제외, 버스정류장 · 지하철역 추가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서비스 정보를 마이페이지 하위(3-4)로 이동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4" name="표 본문"/>
          <p:cNvSpPr txBox="1"/>
          <p:nvPr/>
        </p:nvSpPr>
        <p:spPr>
          <a:xfrm>
            <a:off x="8229600" y="2020214"/>
            <a:ext cx="2590800" cy="6528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 구조도 · 전체(화면번호 · 페이지명)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홈 1-0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 워크플로우 · 서비스 정보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11087100" y="2020214"/>
            <a:ext cx="5524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>
                <a:solidFill>
                  <a:srgbClr val="5B6573"/>
                </a:solidFill>
                <a:latin typeface="Pretendard"/>
              </a:rPr>
              <a:t>서찬영</a:t>
            </a:r>
          </a:p>
        </p:txBody>
      </p:sp>
      <p:sp>
        <p:nvSpPr>
          <p:cNvPr id="26" name="표 행 구분선"/>
          <p:cNvSpPr/>
          <p:nvPr/>
        </p:nvSpPr>
        <p:spPr>
          <a:xfrm>
            <a:off x="419100" y="2760878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본문"/>
          <p:cNvSpPr txBox="1"/>
          <p:nvPr/>
        </p:nvSpPr>
        <p:spPr>
          <a:xfrm>
            <a:off x="552450" y="2913583"/>
            <a:ext cx="43815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>
                <a:solidFill>
                  <a:srgbClr val="2D4CC8"/>
                </a:solidFill>
                <a:latin typeface="Pretendard"/>
              </a:rPr>
              <a:t>v0.8</a:t>
            </a:r>
          </a:p>
        </p:txBody>
      </p:sp>
      <p:sp>
        <p:nvSpPr>
          <p:cNvPr id="28" name="표 본문"/>
          <p:cNvSpPr txBox="1"/>
          <p:nvPr/>
        </p:nvSpPr>
        <p:spPr>
          <a:xfrm>
            <a:off x="1257300" y="2913583"/>
            <a:ext cx="723900" cy="190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2026-09-08</a:t>
            </a:r>
          </a:p>
        </p:txBody>
      </p:sp>
      <p:sp>
        <p:nvSpPr>
          <p:cNvPr id="29" name="표 본문"/>
          <p:cNvSpPr txBox="1"/>
          <p:nvPr/>
        </p:nvSpPr>
        <p:spPr>
          <a:xfrm>
            <a:off x="2247900" y="2913583"/>
            <a:ext cx="5848350" cy="1958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하단 탭바 순서 변경(홈 &gt; 길찾기 &gt; 마이페이지) · 홈 6버튼 배치 변경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길안내 — 경유지 최대 1개 · 실내 내비게이션 신설 · [안내시작] 라벨 통일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검색 필터 신설 — 버스정류장(전체 / 내 주변 300m) · 지하철역(전체 / 내 주변)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인근 편의시설 — 7종 표출 순서를 교통약자 유형별로 개인화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불편신고 — 입력 3종(유형 · 내용 · 사진) · 「기타」 유형 제외 · 위치는 현위치 ＋ 핀 지정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— 글자 크기 2단 신설 · 레이아웃 재편 · 서비스 정보 중간 메뉴 폐기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마이페이지 비회원 — 닉네임 수정 불가 · 로그인 / 회원가입 행 · 마일리지 · 즐겨찾기는 로그인 팝업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즐겨찾기 — 고정 슬롯 유형 선택 · 이름 변경 바텀시트 · 편집 모드 [이름수정]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>
                <a:solidFill>
                  <a:srgbClr val="5B6573"/>
                </a:solidFill>
                <a:latin typeface="Pretendard"/>
              </a:rPr>
              <a:t>· 저상버스 예약 — 「승하차 예약」 → 「승차 예약」 · 4단계(예약 → 확정 → 탑승 준비 → 탑승 완료)</a:t>
            </a:r>
          </a:p>
        </p:txBody>
      </p:sp>
      <p:sp>
        <p:nvSpPr>
          <p:cNvPr id="30" name="표 본문"/>
          <p:cNvSpPr txBox="1"/>
          <p:nvPr/>
        </p:nvSpPr>
        <p:spPr>
          <a:xfrm>
            <a:off x="8229600" y="2913583"/>
            <a:ext cx="2590800" cy="19586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전체(탭바) · 홈 1-0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 2-0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버스정류장 1-3 · 지하철역 1-4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인근 편의시설 1-2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불편신고 1-6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메뉴 구조도 · 마이페이지 3-0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마이페이지 3-0 (비회원)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즐겨찾기 3-3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길안내 2-0 · 버스정류장 1-3</a:t>
            </a:r>
          </a:p>
        </p:txBody>
      </p:sp>
      <p:sp>
        <p:nvSpPr>
          <p:cNvPr id="31" name="표 본문"/>
          <p:cNvSpPr txBox="1"/>
          <p:nvPr/>
        </p:nvSpPr>
        <p:spPr>
          <a:xfrm>
            <a:off x="11087100" y="2913583"/>
            <a:ext cx="552450" cy="2405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err="1">
                <a:solidFill>
                  <a:srgbClr val="5B6573"/>
                </a:solidFill>
                <a:latin typeface="Pretendard"/>
              </a:rPr>
              <a:t>이지호</a:t>
            </a:r>
            <a:endParaRPr sz="82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9165" y="228600"/>
            <a:ext cx="19202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lang="ko-KR" altLang="en-US">
                <a:solidFill>
                  <a:srgbClr val="14181F"/>
                </a:solidFill>
                <a:latin typeface="Pretendard"/>
              </a:rPr>
              <a:t>문서 개정 이력 (2/3)</a:t>
            </a: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56692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표 본문"/>
          <p:cNvSpPr txBox="1"/>
          <p:nvPr/>
        </p:nvSpPr>
        <p:spPr>
          <a:xfrm>
            <a:off x="548640" y="1563624"/>
            <a:ext cx="438912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 lang="ko-KR" altLang="en-US">
                <a:solidFill>
                  <a:srgbClr val="2D4CC8"/>
                </a:solidFill>
                <a:latin typeface="Pretendard"/>
              </a:rPr>
              <a:t>v0.8.1</a:t>
            </a:r>
          </a:p>
        </p:txBody>
      </p:sp>
      <p:sp>
        <p:nvSpPr>
          <p:cNvPr id="16" name="표 본문"/>
          <p:cNvSpPr txBox="1"/>
          <p:nvPr/>
        </p:nvSpPr>
        <p:spPr>
          <a:xfrm>
            <a:off x="1261872" y="1563624"/>
            <a:ext cx="722376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2026-09-14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2249424" y="1563624"/>
            <a:ext cx="5852160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실내 내비게이션 — 하단 버튼 2종을 바텀시트 안으로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상세경로 — 지하철 · 버스 구간 · 도착 정보 10초 자동 갱신 ＋ [새로고침]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저상버스 예약 — 2-6 폐기 · 노선 상세에서 신청 · 예약 내역 3-4 · 홈 위젯 신설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전맹 — 낭독 순서 · 지도 핀 음성 안내 · 역명 그룹 라벨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마이페이지 — 예약 내역 진입 행 신설 · 단계 번호 3-4~3-8 재부여</a:t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8229600" y="1563624"/>
            <a:ext cx="2587752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길안내 2-0 (실내 내비게이션)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상세경로 · 버스정류장 1-3 · 지하철역 1-4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버스정류장 1-3 · 홈 1-0 · 마이페이지 3-4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전체 (전맹)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마이페이지 3-0 · 메뉴 구조도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11082528" y="1563624"/>
            <a:ext cx="548640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이지호</a:t>
            </a:r>
          </a:p>
        </p:txBody>
      </p:sp>
      <p:sp>
        <p:nvSpPr>
          <p:cNvPr id="20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1" name="표 행 구분선"/>
          <p:cNvSpPr/>
          <p:nvPr/>
        </p:nvSpPr>
        <p:spPr>
          <a:xfrm>
            <a:off x="419100" y="2739542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표 본문"/>
          <p:cNvSpPr txBox="1"/>
          <p:nvPr/>
        </p:nvSpPr>
        <p:spPr>
          <a:xfrm>
            <a:off x="548640" y="2892247"/>
            <a:ext cx="438912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 lang="ko-KR" altLang="en-US">
                <a:solidFill>
                  <a:srgbClr val="2D4CC8"/>
                </a:solidFill>
                <a:latin typeface="Pretendard"/>
              </a:rPr>
              <a:t>v1.0</a:t>
            </a:r>
          </a:p>
        </p:txBody>
      </p:sp>
      <p:sp>
        <p:nvSpPr>
          <p:cNvPr id="23" name="표 본문"/>
          <p:cNvSpPr txBox="1"/>
          <p:nvPr/>
        </p:nvSpPr>
        <p:spPr>
          <a:xfrm>
            <a:off x="1261872" y="2892247"/>
            <a:ext cx="722376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2026-09-28</a:t>
            </a:r>
          </a:p>
        </p:txBody>
      </p:sp>
      <p:sp>
        <p:nvSpPr>
          <p:cNvPr id="24" name="표 본문"/>
          <p:cNvSpPr txBox="1"/>
          <p:nvPr/>
        </p:nvSpPr>
        <p:spPr>
          <a:xfrm>
            <a:off x="2249424" y="2892247"/>
            <a:ext cx="5852160" cy="3264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로그인 · 회원가입 — 버튼 라벨 통일 · 전맹 전환 예고 · 약관 [보기] 앱 내 이동 · 비회원 재진입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홈 1-0 — 예약 현황 위젯 · 6버튼 이동처 · 하단 탭 순서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길안내 2-0 — 최근 도착지 [편집] · 시트 전환 · 지도 조작 · 섹션별 동작 분리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장소 검색 2-1 신설 · 장소 상세 2-2 — 검색 3상태 · 상세 시트(업종 · 거리 · 접근성 3행) · 결과 건수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경로 리스트 2-9 독립 · 경로 편집 2-9-1 신설 — 지도 위 패널 · [안내시작] 하단 전폭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상세경로 2-3 — 시트 3단계 · 도착 시각 / 요금 · [승차 예약]은 2-5-1로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실외 내비 2-4-1 — 접힘 시트 · 낭독 주기 · 컨트롤 4종 재배치 · 전맹 버튼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실내 내비 2-4-2 — 컨트롤 5종([새로고침] → [재탐색]) · 층 전환 · 전맹 [다시 듣기] 폐지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음성인식 2-7 — 진입점 3곳 · 마이크 권한 필수(텍스트 입력 폐기) · 긴급 · 주변 안내 50m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인근 편의시설 1-2 — 카테고리 선택 화면 · 장소 상세는 2-2로 통합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버스정류장 1-3 / 2-5 / 2-5-1 분리 — 검색 3상태 · 「차기 · 차차기」 폐기 · 하차 안내 신설 · 결과 건수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지하철역 1-4 / 1-4-1 · 시간표 1-4-2 신설 — 도착 가로 2열 · 「전역 도착」 폐기 · 지선은 호선으로 표기 · 결과 건수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택시 호출 1-5 — 4종은 카드(하위 번호 폐기) · 자격 고지 · 바우처 신청 · 「전화 연결」 통일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불편신고 1-6 / 1-6-1 / 1-6-2 분리 — 신고 유형 · 지도 지정 · 상태 4종 · 수정 모드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마이페이지 3-0 — 신 레이아웃(개인 설정 / 서비스 정보 / 계정) · 앱 버전 · 비회원 규칙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8229600" y="2892247"/>
            <a:ext cx="2587752" cy="32644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로그인 0-1 · 회원가입 0-2 · 비회원 시작 0-3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홈 1-0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길안내 2-0 · 최근 도착지 편집 2-0-1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장소 검색 2-1 · 장소 상세 2-2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경로 리스트 2-9 · 경로 편집 2-9-1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상세경로 2-3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실외 내비게이션 2-4-1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실내 내비게이션 2-4-2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음성인식 2-7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인근 편의시설 1-2 · 장소 상세 2-2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버스정류장 1-3 · 정류장 정보 2-5 · 노선 상세 2-5-1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지하철역 1-4 · 역 정보 1-4-1 · 시간표 1-4-2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택시 호출 1-5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불편신고 1-6 · 1-6-1 · 1-6-2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마이페이지 3-0</a:t>
            </a:r>
          </a:p>
        </p:txBody>
      </p:sp>
      <p:sp>
        <p:nvSpPr>
          <p:cNvPr id="26" name="표 본문"/>
          <p:cNvSpPr txBox="1"/>
          <p:nvPr/>
        </p:nvSpPr>
        <p:spPr>
          <a:xfrm>
            <a:off x="11082528" y="2892247"/>
            <a:ext cx="548640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서찬영</a:t>
            </a:r>
          </a:p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>이지호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9624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DOC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9165" y="228600"/>
            <a:ext cx="19202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lang="ko-KR" altLang="en-US">
                <a:solidFill>
                  <a:srgbClr val="14181F"/>
                </a:solidFill>
                <a:latin typeface="Pretendard"/>
              </a:rPr>
              <a:t>문서 개정 이력 (3/3)</a:t>
            </a:r>
          </a:p>
        </p:txBody>
      </p:sp>
      <p:sp>
        <p:nvSpPr>
          <p:cNvPr id="7" name="개정 이력 표"/>
          <p:cNvSpPr/>
          <p:nvPr/>
        </p:nvSpPr>
        <p:spPr>
          <a:xfrm>
            <a:off x="419100" y="990600"/>
            <a:ext cx="11353800" cy="5669280"/>
          </a:xfrm>
          <a:prstGeom prst="roundRect">
            <a:avLst>
              <a:gd name="adj" fmla="val 568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000125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409700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 버전"/>
          <p:cNvSpPr txBox="1"/>
          <p:nvPr/>
        </p:nvSpPr>
        <p:spPr>
          <a:xfrm>
            <a:off x="552450" y="990600"/>
            <a:ext cx="4381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버전</a:t>
            </a:r>
          </a:p>
        </p:txBody>
      </p:sp>
      <p:sp>
        <p:nvSpPr>
          <p:cNvPr id="11" name="표 머리 일자"/>
          <p:cNvSpPr txBox="1"/>
          <p:nvPr/>
        </p:nvSpPr>
        <p:spPr>
          <a:xfrm>
            <a:off x="1257300" y="990600"/>
            <a:ext cx="7239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일자</a:t>
            </a:r>
          </a:p>
        </p:txBody>
      </p:sp>
      <p:sp>
        <p:nvSpPr>
          <p:cNvPr id="12" name="표 머리 주요 변경 내용"/>
          <p:cNvSpPr txBox="1"/>
          <p:nvPr/>
        </p:nvSpPr>
        <p:spPr>
          <a:xfrm>
            <a:off x="2247900" y="990600"/>
            <a:ext cx="57150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1">
                <a:solidFill>
                  <a:srgbClr val="14181F"/>
                </a:solidFill>
                <a:latin typeface="Pretendard"/>
              </a:rPr>
              <a:t>주요 변경 내용</a:t>
            </a:r>
          </a:p>
        </p:txBody>
      </p:sp>
      <p:sp>
        <p:nvSpPr>
          <p:cNvPr id="13" name="표 머리 변경 페이지"/>
          <p:cNvSpPr txBox="1"/>
          <p:nvPr/>
        </p:nvSpPr>
        <p:spPr>
          <a:xfrm>
            <a:off x="8229600" y="990600"/>
            <a:ext cx="25908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변경 페이지</a:t>
            </a:r>
          </a:p>
        </p:txBody>
      </p:sp>
      <p:sp>
        <p:nvSpPr>
          <p:cNvPr id="14" name="표 머리 작성자"/>
          <p:cNvSpPr txBox="1"/>
          <p:nvPr/>
        </p:nvSpPr>
        <p:spPr>
          <a:xfrm>
            <a:off x="11087100" y="990600"/>
            <a:ext cx="5524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작성자</a:t>
            </a:r>
          </a:p>
        </p:txBody>
      </p:sp>
      <p:sp>
        <p:nvSpPr>
          <p:cNvPr id="15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6" name="표 본문"/>
          <p:cNvSpPr txBox="1"/>
          <p:nvPr/>
        </p:nvSpPr>
        <p:spPr>
          <a:xfrm>
            <a:off x="548640" y="1563624"/>
            <a:ext cx="685800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1" lang="ko-KR" altLang="en-US">
                <a:solidFill>
                  <a:srgbClr val="2D4CC8"/>
                </a:solidFill>
                <a:latin typeface="Pretendard"/>
              </a:rPr>
              <a:t>v1.0 (계속)</a:t>
            </a:r>
          </a:p>
        </p:txBody>
      </p:sp>
      <p:sp>
        <p:nvSpPr>
          <p:cNvPr id="17" name="표 본문"/>
          <p:cNvSpPr txBox="1"/>
          <p:nvPr/>
        </p:nvSpPr>
        <p:spPr>
          <a:xfrm>
            <a:off x="1261872" y="1563624"/>
            <a:ext cx="722376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/>
            </a:r>
          </a:p>
        </p:txBody>
      </p:sp>
      <p:sp>
        <p:nvSpPr>
          <p:cNvPr id="18" name="표 본문"/>
          <p:cNvSpPr txBox="1"/>
          <p:nvPr/>
        </p:nvSpPr>
        <p:spPr>
          <a:xfrm>
            <a:off x="2249424" y="1563624"/>
            <a:ext cx="5852160" cy="17410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내 마일리지 3-2 — 내역 구분 탭 3분할 · 유효기간 · 만료 표기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즐겨찾기 3-3 — 미등록 슬롯 라벨 「추가」 · 즐겨찾기 선택 목록(슬롯 지정 모드)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저상버스 예약 내역 3-4 — 하차 정류장 지정(선택) · [탑승 확인] · 필터 칩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공지 상세 3-5-1 · 오픈소스 라이선스 3-7 신설 — 로그아웃 3-8 · 회원 탈퇴 3-9로 번호 이동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공지사항 3-5 · 이용약관 3-6 — 일자 「YYYY년 M월 D일」 · 시행일 · 로그아웃 · 회원 탈퇴 보강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전역 정비 — 「경유」 폐기 · 검색 필터 칩 폐기 · [&gt;] 상세보기 폐기 · 단계 번호 재부여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내비게이션 가로 화면 신설 — 지도 전체 ＋ 좌측 열 · 펼침 시 플로팅 뒤로가기 · 회전 시 상태 유지</a:t>
            </a:r>
          </a:p>
          <a:p>
            <a:pPr algn="l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· 마이페이지 3-0 — 언어 변경 신설(5개 언어 · 3-10 팝업) · 「언어 · Language」 행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8229600" y="1563624"/>
            <a:ext cx="2587752" cy="17410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내 마일리지 3-2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즐겨찾기 3-3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저상버스 예약 내역 3-4 · 상세경로 2-3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공지 상세 3-5-1 · 오픈소스 3-7 · 마이페이지 3-0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공지사항 3-5 · 이용약관 3-6 · 3-8 · 3-9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전체 (역할 버튼 · 필터 칩 · 단계 번호)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실내 2-4-2 · 실외 2-4-1 · 대중교통 2-4-3 내비게이션</a:t>
            </a:r>
          </a:p>
          <a:p>
            <a:pPr algn="ctr">
              <a:lnSpc>
                <a:spcPct val="150000"/>
              </a:lnSpc>
              <a:spcBef>
                <a:spcPts val="225"/>
              </a:spcBef>
            </a:pPr>
            <a:r>
              <a:rPr sz="825" b="0" spc="-8" dirty="0" lang="ko-KR" altLang="en-US">
                <a:solidFill>
                  <a:srgbClr val="5B6573"/>
                </a:solidFill>
                <a:latin typeface="Pretendard"/>
              </a:rPr>
              <a:t>마이페이지 3-0 · 언어 변경 3-10</a:t>
            </a:r>
          </a:p>
        </p:txBody>
      </p:sp>
      <p:sp>
        <p:nvSpPr>
          <p:cNvPr id="20" name="표 본문"/>
          <p:cNvSpPr txBox="1"/>
          <p:nvPr/>
        </p:nvSpPr>
        <p:spPr>
          <a:xfrm>
            <a:off x="11082528" y="1563624"/>
            <a:ext cx="548640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dirty="0" lang="ko-KR" altLang="en-US">
                <a:solidFill>
                  <a:srgbClr val="5B6573"/>
                </a:solidFill>
                <a:latin typeface="Pretendard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27660" cy="247650"/>
          </a:xfrm>
          <a:prstGeom prst="roundRect">
            <a:avLst>
              <a:gd name="adj" fmla="val 23076"/>
            </a:avLst>
          </a:prstGeom>
          <a:solidFill>
            <a:srgbClr val="F0F2F5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5B6573"/>
                </a:solidFill>
                <a:latin typeface="Pretendard"/>
              </a:rPr>
              <a:t>IA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870585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메뉴 구조도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" name="온보딩 스트립"/>
          <p:cNvSpPr/>
          <p:nvPr/>
        </p:nvSpPr>
        <p:spPr>
          <a:xfrm>
            <a:off x="419100" y="895350"/>
            <a:ext cx="11353800" cy="4191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온보딩 라벨"/>
          <p:cNvSpPr txBox="1"/>
          <p:nvPr/>
        </p:nvSpPr>
        <p:spPr>
          <a:xfrm>
            <a:off x="552450" y="895350"/>
            <a:ext cx="95250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spc="90">
                <a:solidFill>
                  <a:srgbClr val="8A94A3"/>
                </a:solidFill>
                <a:latin typeface="Pretendard"/>
              </a:rPr>
              <a:t>ONBOARDING</a:t>
            </a:r>
          </a:p>
        </p:txBody>
      </p:sp>
      <p:sp>
        <p:nvSpPr>
          <p:cNvPr id="10" name="메뉴 0-1 로그인"/>
          <p:cNvSpPr/>
          <p:nvPr/>
        </p:nvSpPr>
        <p:spPr>
          <a:xfrm>
            <a:off x="1466850" y="981075"/>
            <a:ext cx="73882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메뉴 라벨"/>
          <p:cNvSpPr txBox="1"/>
          <p:nvPr/>
        </p:nvSpPr>
        <p:spPr>
          <a:xfrm>
            <a:off x="1552575" y="1019175"/>
            <a:ext cx="56737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2" name="메뉴 0-2 회원가입"/>
          <p:cNvSpPr/>
          <p:nvPr/>
        </p:nvSpPr>
        <p:spPr>
          <a:xfrm>
            <a:off x="2300923" y="981075"/>
            <a:ext cx="851646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메뉴 라벨"/>
          <p:cNvSpPr txBox="1"/>
          <p:nvPr/>
        </p:nvSpPr>
        <p:spPr>
          <a:xfrm>
            <a:off x="2386648" y="1019175"/>
            <a:ext cx="680196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0-2 회원가입</a:t>
            </a:r>
          </a:p>
        </p:txBody>
      </p:sp>
      <p:sp>
        <p:nvSpPr>
          <p:cNvPr id="14" name="메뉴 0-3 비회원 시작"/>
          <p:cNvSpPr/>
          <p:nvPr/>
        </p:nvSpPr>
        <p:spPr>
          <a:xfrm>
            <a:off x="3247819" y="981075"/>
            <a:ext cx="998317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메뉴 라벨"/>
          <p:cNvSpPr txBox="1"/>
          <p:nvPr/>
        </p:nvSpPr>
        <p:spPr>
          <a:xfrm>
            <a:off x="3333544" y="1019175"/>
            <a:ext cx="826867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14181F"/>
                </a:solidFill>
                <a:latin typeface="Pretendard"/>
              </a:rPr>
              <a:t>0-3 비회원 시작</a:t>
            </a:r>
          </a:p>
        </p:txBody>
      </p:sp>
      <p:sp>
        <p:nvSpPr>
          <p:cNvPr id="16" name="온보딩 설명"/>
          <p:cNvSpPr txBox="1"/>
          <p:nvPr/>
        </p:nvSpPr>
        <p:spPr>
          <a:xfrm>
            <a:off x="8572500" y="895350"/>
            <a:ext cx="3067050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6">
                <a:solidFill>
                  <a:srgbClr val="8A94A3"/>
                </a:solidFill>
                <a:latin typeface="Pretendard"/>
              </a:rPr>
              <a:t>로그인 이후 대메뉴 3탭으로 진입</a:t>
            </a:r>
          </a:p>
        </p:txBody>
      </p:sp>
      <p:sp>
        <p:nvSpPr>
          <p:cNvPr id="17" name="1-0 홈 패널"/>
          <p:cNvSpPr/>
          <p:nvPr/>
        </p:nvSpPr>
        <p:spPr>
          <a:xfrm>
            <a:off x="419100" y="1428750"/>
            <a:ext cx="11353800" cy="291465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대메뉴 1-0 홈"/>
          <p:cNvSpPr/>
          <p:nvPr/>
        </p:nvSpPr>
        <p:spPr>
          <a:xfrm>
            <a:off x="542925" y="1543050"/>
            <a:ext cx="560284" cy="266700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sp>
        <p:nvSpPr>
          <p:cNvPr id="19" name="메뉴 1-1 길안내"/>
          <p:cNvSpPr/>
          <p:nvPr/>
        </p:nvSpPr>
        <p:spPr>
          <a:xfrm>
            <a:off x="542925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메뉴 라벨"/>
          <p:cNvSpPr txBox="1"/>
          <p:nvPr/>
        </p:nvSpPr>
        <p:spPr>
          <a:xfrm>
            <a:off x="628650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</a:t>
            </a:r>
          </a:p>
        </p:txBody>
      </p:sp>
      <p:sp>
        <p:nvSpPr>
          <p:cNvPr id="21" name="메뉴 → 2-0 길안내 바로가기"/>
          <p:cNvSpPr/>
          <p:nvPr/>
        </p:nvSpPr>
        <p:spPr>
          <a:xfrm>
            <a:off x="542925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메뉴 라벨"/>
          <p:cNvSpPr txBox="1"/>
          <p:nvPr/>
        </p:nvSpPr>
        <p:spPr>
          <a:xfrm>
            <a:off x="628650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 dirty="0">
                <a:solidFill>
                  <a:srgbClr val="8A94A3"/>
                </a:solidFill>
                <a:latin typeface="Pretendard"/>
              </a:rPr>
              <a:t>→ 2-0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길안내</a:t>
            </a:r>
            <a:r>
              <a:rPr sz="787" b="0" spc="-2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24" dirty="0" err="1">
                <a:solidFill>
                  <a:srgbClr val="8A94A3"/>
                </a:solidFill>
                <a:latin typeface="Pretendard"/>
              </a:rPr>
              <a:t>바로가기</a:t>
            </a:r>
            <a:endParaRPr sz="787" b="0" spc="-2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3" name="메뉴 1-2 인근 편의시설"/>
          <p:cNvSpPr/>
          <p:nvPr/>
        </p:nvSpPr>
        <p:spPr>
          <a:xfrm>
            <a:off x="2139043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메뉴 라벨"/>
          <p:cNvSpPr txBox="1"/>
          <p:nvPr/>
        </p:nvSpPr>
        <p:spPr>
          <a:xfrm>
            <a:off x="2224768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25" name="메뉴 1-2-1 지하철 내 수유"/>
          <p:cNvSpPr/>
          <p:nvPr/>
        </p:nvSpPr>
        <p:spPr>
          <a:xfrm>
            <a:off x="2139043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메뉴 라벨"/>
          <p:cNvSpPr txBox="1"/>
          <p:nvPr/>
        </p:nvSpPr>
        <p:spPr>
          <a:xfrm>
            <a:off x="2224768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1-2-1 지하철 내 수유실</a:t>
            </a:r>
          </a:p>
        </p:txBody>
      </p:sp>
      <p:sp>
        <p:nvSpPr>
          <p:cNvPr id="27" name="메뉴 1-2-2 장애인 화장실"/>
          <p:cNvSpPr/>
          <p:nvPr/>
        </p:nvSpPr>
        <p:spPr>
          <a:xfrm>
            <a:off x="2139043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메뉴 라벨"/>
          <p:cNvSpPr txBox="1"/>
          <p:nvPr/>
        </p:nvSpPr>
        <p:spPr>
          <a:xfrm>
            <a:off x="2224768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1-2-2 장애인 화장실</a:t>
            </a:r>
          </a:p>
        </p:txBody>
      </p:sp>
      <p:sp>
        <p:nvSpPr>
          <p:cNvPr id="29" name="메뉴 1-2-3 휠체어 충전소"/>
          <p:cNvSpPr/>
          <p:nvPr/>
        </p:nvSpPr>
        <p:spPr>
          <a:xfrm>
            <a:off x="2139043" y="27908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메뉴 라벨"/>
          <p:cNvSpPr txBox="1"/>
          <p:nvPr/>
        </p:nvSpPr>
        <p:spPr>
          <a:xfrm>
            <a:off x="2224768" y="28289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1-2-3 휠체어 충전소</a:t>
            </a:r>
          </a:p>
        </p:txBody>
      </p:sp>
      <p:sp>
        <p:nvSpPr>
          <p:cNvPr id="31" name="메뉴 1-2-4 엘리베이터 위치"/>
          <p:cNvSpPr/>
          <p:nvPr/>
        </p:nvSpPr>
        <p:spPr>
          <a:xfrm>
            <a:off x="2139043" y="30861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메뉴 라벨"/>
          <p:cNvSpPr txBox="1"/>
          <p:nvPr/>
        </p:nvSpPr>
        <p:spPr>
          <a:xfrm>
            <a:off x="2224768" y="31242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1-2-4 엘리베이터 위치</a:t>
            </a:r>
          </a:p>
        </p:txBody>
      </p:sp>
      <p:sp>
        <p:nvSpPr>
          <p:cNvPr id="33" name="메뉴 1-2-5 접근성 정보 조"/>
          <p:cNvSpPr/>
          <p:nvPr/>
        </p:nvSpPr>
        <p:spPr>
          <a:xfrm>
            <a:off x="2139043" y="33813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메뉴 라벨"/>
          <p:cNvSpPr txBox="1"/>
          <p:nvPr/>
        </p:nvSpPr>
        <p:spPr>
          <a:xfrm>
            <a:off x="2224768" y="34194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1-2-5 접근성 정보 조회</a:t>
            </a:r>
          </a:p>
        </p:txBody>
      </p:sp>
      <p:sp>
        <p:nvSpPr>
          <p:cNvPr id="35" name="메뉴 1-2-6 에스컬레이터 위"/>
          <p:cNvSpPr/>
          <p:nvPr/>
        </p:nvSpPr>
        <p:spPr>
          <a:xfrm>
            <a:off x="2139043" y="36766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메뉴 라벨"/>
          <p:cNvSpPr txBox="1"/>
          <p:nvPr/>
        </p:nvSpPr>
        <p:spPr>
          <a:xfrm>
            <a:off x="2224768" y="37147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1-2-6 에스컬레이터 위치</a:t>
            </a:r>
          </a:p>
        </p:txBody>
      </p:sp>
      <p:sp>
        <p:nvSpPr>
          <p:cNvPr id="37" name="메뉴 1-2-7 청계천 이동약자"/>
          <p:cNvSpPr/>
          <p:nvPr/>
        </p:nvSpPr>
        <p:spPr>
          <a:xfrm>
            <a:off x="2139043" y="397192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2224768" y="401002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1-2-7 청계천 이동약자 시설물</a:t>
            </a:r>
          </a:p>
        </p:txBody>
      </p:sp>
      <p:sp>
        <p:nvSpPr>
          <p:cNvPr id="39" name="메뉴 1-5 택시 호출"/>
          <p:cNvSpPr/>
          <p:nvPr/>
        </p:nvSpPr>
        <p:spPr>
          <a:xfrm>
            <a:off x="6927396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메뉴 라벨"/>
          <p:cNvSpPr txBox="1"/>
          <p:nvPr/>
        </p:nvSpPr>
        <p:spPr>
          <a:xfrm>
            <a:off x="7013121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41" name="메뉴 1-3 버스정류장"/>
          <p:cNvSpPr/>
          <p:nvPr/>
        </p:nvSpPr>
        <p:spPr>
          <a:xfrm>
            <a:off x="3735161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메뉴 라벨"/>
          <p:cNvSpPr txBox="1"/>
          <p:nvPr/>
        </p:nvSpPr>
        <p:spPr>
          <a:xfrm>
            <a:off x="3820886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43" name="메뉴 → 2-5 버스정류장 정보"/>
          <p:cNvSpPr/>
          <p:nvPr/>
        </p:nvSpPr>
        <p:spPr>
          <a:xfrm>
            <a:off x="3735161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3820886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8A94A3"/>
                </a:solidFill>
                <a:latin typeface="Pretendard"/>
              </a:rPr>
              <a:t>→ 2-5 버스정류장 정보 (공용)</a:t>
            </a:r>
          </a:p>
        </p:txBody>
      </p:sp>
      <p:sp>
        <p:nvSpPr>
          <p:cNvPr id="45" name="메뉴 1-4 지하철역"/>
          <p:cNvSpPr/>
          <p:nvPr/>
        </p:nvSpPr>
        <p:spPr>
          <a:xfrm>
            <a:off x="5331279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메뉴 라벨"/>
          <p:cNvSpPr txBox="1"/>
          <p:nvPr/>
        </p:nvSpPr>
        <p:spPr>
          <a:xfrm>
            <a:off x="5417004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 검색</a:t>
            </a:r>
          </a:p>
        </p:txBody>
      </p:sp>
      <p:sp>
        <p:nvSpPr>
          <p:cNvPr id="47" name="메뉴 1-6 불편신고"/>
          <p:cNvSpPr/>
          <p:nvPr/>
        </p:nvSpPr>
        <p:spPr>
          <a:xfrm>
            <a:off x="8523514" y="190500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메뉴 라벨"/>
          <p:cNvSpPr txBox="1"/>
          <p:nvPr/>
        </p:nvSpPr>
        <p:spPr>
          <a:xfrm>
            <a:off x="8609239" y="194310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49" name="메뉴 1-6-1 불편신고 등록"/>
          <p:cNvSpPr/>
          <p:nvPr/>
        </p:nvSpPr>
        <p:spPr>
          <a:xfrm>
            <a:off x="8523514" y="2200275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8609239" y="2238375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51" name="메뉴 1-6-2 내 신고 내역"/>
          <p:cNvSpPr/>
          <p:nvPr/>
        </p:nvSpPr>
        <p:spPr>
          <a:xfrm>
            <a:off x="8523514" y="2495550"/>
            <a:ext cx="1529443" cy="24765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메뉴 라벨"/>
          <p:cNvSpPr txBox="1"/>
          <p:nvPr/>
        </p:nvSpPr>
        <p:spPr>
          <a:xfrm>
            <a:off x="8609239" y="2533650"/>
            <a:ext cx="1357993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53" name="2-0 길안내 패널"/>
          <p:cNvSpPr/>
          <p:nvPr/>
        </p:nvSpPr>
        <p:spPr>
          <a:xfrm>
            <a:off x="41910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대메뉴 2-0 길안내"/>
          <p:cNvSpPr/>
          <p:nvPr/>
        </p:nvSpPr>
        <p:spPr>
          <a:xfrm>
            <a:off x="542925" y="4572000"/>
            <a:ext cx="805553" cy="266700"/>
          </a:xfrm>
          <a:prstGeom prst="roundRect">
            <a:avLst>
              <a:gd name="adj" fmla="val 25000"/>
            </a:avLst>
          </a:prstGeom>
          <a:solidFill>
            <a:srgbClr val="0B7D77"/>
          </a:solidFill>
          <a:ln w="9525">
            <a:solidFill>
              <a:srgbClr val="0B7D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2-0 길안내</a:t>
            </a:r>
          </a:p>
        </p:txBody>
      </p:sp>
      <p:sp>
        <p:nvSpPr>
          <p:cNvPr id="55" name="3-0 마이페이지 패널"/>
          <p:cNvSpPr/>
          <p:nvPr/>
        </p:nvSpPr>
        <p:spPr>
          <a:xfrm>
            <a:off x="6153150" y="4457700"/>
            <a:ext cx="561975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대메뉴 3-0 마이페이지"/>
          <p:cNvSpPr/>
          <p:nvPr/>
        </p:nvSpPr>
        <p:spPr>
          <a:xfrm>
            <a:off x="6276975" y="4572000"/>
            <a:ext cx="1050822" cy="266700"/>
          </a:xfrm>
          <a:prstGeom prst="roundRect">
            <a:avLst>
              <a:gd name="adj" fmla="val 25000"/>
            </a:avLst>
          </a:prstGeom>
          <a:solidFill>
            <a:srgbClr val="9A6410"/>
          </a:solidFill>
          <a:ln w="9525">
            <a:solidFill>
              <a:srgbClr val="9A64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37" b="1" spc="-26">
                <a:solidFill>
                  <a:srgbClr val="FFFFFF"/>
                </a:solidFill>
                <a:latin typeface="Pretendard"/>
              </a:rPr>
              <a:t>3-0 마이페이지</a:t>
            </a:r>
          </a:p>
        </p:txBody>
      </p:sp>
      <p:sp>
        <p:nvSpPr>
          <p:cNvPr id="57" name="메뉴 1-4-1 지하철역 정보"/>
          <p:cNvSpPr/>
          <p:nvPr/>
        </p:nvSpPr>
        <p:spPr>
          <a:xfrm>
            <a:off x="5330952" y="2203704"/>
            <a:ext cx="1527048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메뉴 라벨"/>
          <p:cNvSpPr txBox="1"/>
          <p:nvPr/>
        </p:nvSpPr>
        <p:spPr>
          <a:xfrm>
            <a:off x="5422392" y="2240280"/>
            <a:ext cx="1353312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1-4-1 지하철역 정보</a:t>
            </a:r>
          </a:p>
        </p:txBody>
      </p:sp>
      <p:sp>
        <p:nvSpPr>
          <p:cNvPr id="59" name="메뉴 1-4-2 지하철 시간표"/>
          <p:cNvSpPr/>
          <p:nvPr/>
        </p:nvSpPr>
        <p:spPr>
          <a:xfrm>
            <a:off x="5330952" y="2496312"/>
            <a:ext cx="1527048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메뉴 라벨"/>
          <p:cNvSpPr txBox="1"/>
          <p:nvPr/>
        </p:nvSpPr>
        <p:spPr>
          <a:xfrm>
            <a:off x="5422392" y="2532888"/>
            <a:ext cx="1353312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1-4-2 지하철 시간표</a:t>
            </a:r>
          </a:p>
        </p:txBody>
      </p:sp>
      <p:sp>
        <p:nvSpPr>
          <p:cNvPr id="61" name="메뉴 2-1 장소 검색"/>
          <p:cNvSpPr/>
          <p:nvPr/>
        </p:nvSpPr>
        <p:spPr>
          <a:xfrm>
            <a:off x="539496" y="4937760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메뉴 라벨"/>
          <p:cNvSpPr txBox="1"/>
          <p:nvPr/>
        </p:nvSpPr>
        <p:spPr>
          <a:xfrm>
            <a:off x="630936" y="4974336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2-0-1 최근 도착지 편집</a:t>
            </a:r>
          </a:p>
        </p:txBody>
      </p:sp>
      <p:sp>
        <p:nvSpPr>
          <p:cNvPr id="63" name="메뉴 2-2 장소 상세 (공용 · 1-2 진입)"/>
          <p:cNvSpPr/>
          <p:nvPr/>
        </p:nvSpPr>
        <p:spPr>
          <a:xfrm>
            <a:off x="539496" y="5202936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메뉴 라벨"/>
          <p:cNvSpPr txBox="1"/>
          <p:nvPr/>
        </p:nvSpPr>
        <p:spPr>
          <a:xfrm>
            <a:off x="630936" y="5239512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2-1 장소 검색</a:t>
            </a:r>
          </a:p>
        </p:txBody>
      </p:sp>
      <p:sp>
        <p:nvSpPr>
          <p:cNvPr id="65" name="메뉴 2-3 상세경로"/>
          <p:cNvSpPr/>
          <p:nvPr/>
        </p:nvSpPr>
        <p:spPr>
          <a:xfrm>
            <a:off x="539496" y="5468112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메뉴 라벨"/>
          <p:cNvSpPr txBox="1"/>
          <p:nvPr/>
        </p:nvSpPr>
        <p:spPr>
          <a:xfrm>
            <a:off x="630936" y="5504688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2-2 장소 상세 (공용 · 1-2 진입)</a:t>
            </a:r>
          </a:p>
        </p:txBody>
      </p:sp>
      <p:sp>
        <p:nvSpPr>
          <p:cNvPr id="67" name="메뉴 2-4 내비게이션"/>
          <p:cNvSpPr/>
          <p:nvPr/>
        </p:nvSpPr>
        <p:spPr>
          <a:xfrm>
            <a:off x="539496" y="5733288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메뉴 라벨"/>
          <p:cNvSpPr txBox="1"/>
          <p:nvPr/>
        </p:nvSpPr>
        <p:spPr>
          <a:xfrm>
            <a:off x="630936" y="5769864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2-3 상세경로</a:t>
            </a:r>
          </a:p>
        </p:txBody>
      </p:sp>
      <p:sp>
        <p:nvSpPr>
          <p:cNvPr id="69" name="메뉴 2-4-1 실외 내비게이션"/>
          <p:cNvSpPr/>
          <p:nvPr/>
        </p:nvSpPr>
        <p:spPr>
          <a:xfrm>
            <a:off x="539496" y="5998464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메뉴 라벨"/>
          <p:cNvSpPr txBox="1"/>
          <p:nvPr/>
        </p:nvSpPr>
        <p:spPr>
          <a:xfrm>
            <a:off x="630936" y="6035040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2-4 내비게이션</a:t>
            </a:r>
          </a:p>
        </p:txBody>
      </p:sp>
      <p:sp>
        <p:nvSpPr>
          <p:cNvPr id="71" name="메뉴 2-4-2 실내 내비게이션"/>
          <p:cNvSpPr/>
          <p:nvPr/>
        </p:nvSpPr>
        <p:spPr>
          <a:xfrm>
            <a:off x="539496" y="6263640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메뉴 라벨"/>
          <p:cNvSpPr txBox="1"/>
          <p:nvPr/>
        </p:nvSpPr>
        <p:spPr>
          <a:xfrm>
            <a:off x="630936" y="6300216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2-4-1 실외 내비게이션</a:t>
            </a:r>
          </a:p>
        </p:txBody>
      </p:sp>
      <p:sp>
        <p:nvSpPr>
          <p:cNvPr id="73" name="메뉴 2-5 버스정류장 정보 (공용 · 1-3 진입)"/>
          <p:cNvSpPr/>
          <p:nvPr/>
        </p:nvSpPr>
        <p:spPr>
          <a:xfrm>
            <a:off x="3264408" y="5202936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메뉴 라벨"/>
          <p:cNvSpPr txBox="1"/>
          <p:nvPr/>
        </p:nvSpPr>
        <p:spPr>
          <a:xfrm>
            <a:off x="3355848" y="5239512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2-4-2 실내 내비게이션</a:t>
            </a:r>
          </a:p>
        </p:txBody>
      </p:sp>
      <p:sp>
        <p:nvSpPr>
          <p:cNvPr id="75" name="메뉴 2-7 음성인식"/>
          <p:cNvSpPr/>
          <p:nvPr/>
        </p:nvSpPr>
        <p:spPr>
          <a:xfrm>
            <a:off x="3264408" y="5468112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메뉴 라벨"/>
          <p:cNvSpPr txBox="1"/>
          <p:nvPr/>
        </p:nvSpPr>
        <p:spPr>
          <a:xfrm>
            <a:off x="3355848" y="5504688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2-5 버스정류장 정보 (공용 · 1-3 진입)</a:t>
            </a:r>
          </a:p>
        </p:txBody>
      </p:sp>
      <p:sp>
        <p:nvSpPr>
          <p:cNvPr id="77" name="메뉴 2-8 최근 도착지 편집"/>
          <p:cNvSpPr/>
          <p:nvPr/>
        </p:nvSpPr>
        <p:spPr>
          <a:xfrm>
            <a:off x="3264408" y="5733288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메뉴 라벨"/>
          <p:cNvSpPr txBox="1"/>
          <p:nvPr/>
        </p:nvSpPr>
        <p:spPr>
          <a:xfrm>
            <a:off x="3355848" y="5769864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2-7 음성인식</a:t>
            </a:r>
          </a:p>
        </p:txBody>
      </p:sp>
      <p:sp>
        <p:nvSpPr>
          <p:cNvPr id="79" name="메뉴 2-9 경로 리스트"/>
          <p:cNvSpPr/>
          <p:nvPr/>
        </p:nvSpPr>
        <p:spPr>
          <a:xfrm>
            <a:off x="3264408" y="5998464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메뉴 라벨"/>
          <p:cNvSpPr txBox="1"/>
          <p:nvPr/>
        </p:nvSpPr>
        <p:spPr>
          <a:xfrm>
            <a:off x="3355848" y="6035040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2-9 경로 리스트</a:t>
            </a:r>
          </a:p>
        </p:txBody>
      </p:sp>
      <p:sp>
        <p:nvSpPr>
          <p:cNvPr id="81" name="메뉴 2-10 경로 편집"/>
          <p:cNvSpPr/>
          <p:nvPr/>
        </p:nvSpPr>
        <p:spPr>
          <a:xfrm>
            <a:off x="3264408" y="6263640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메뉴 라벨"/>
          <p:cNvSpPr txBox="1"/>
          <p:nvPr/>
        </p:nvSpPr>
        <p:spPr>
          <a:xfrm>
            <a:off x="3355848" y="6300216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2-9-1 경로 편집</a:t>
            </a:r>
          </a:p>
        </p:txBody>
      </p:sp>
      <p:sp>
        <p:nvSpPr>
          <p:cNvPr id="83" name="메뉴 3-1 교통약자 유형 변경"/>
          <p:cNvSpPr/>
          <p:nvPr/>
        </p:nvSpPr>
        <p:spPr>
          <a:xfrm>
            <a:off x="6272784" y="4937760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메뉴 라벨"/>
          <p:cNvSpPr txBox="1"/>
          <p:nvPr/>
        </p:nvSpPr>
        <p:spPr>
          <a:xfrm>
            <a:off x="6364224" y="4974336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85" name="메뉴 3-2 내 마일리지"/>
          <p:cNvSpPr/>
          <p:nvPr/>
        </p:nvSpPr>
        <p:spPr>
          <a:xfrm>
            <a:off x="6272784" y="5202936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메뉴 라벨"/>
          <p:cNvSpPr txBox="1"/>
          <p:nvPr/>
        </p:nvSpPr>
        <p:spPr>
          <a:xfrm>
            <a:off x="6364224" y="5239512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3-2 내 마일리지</a:t>
            </a:r>
          </a:p>
        </p:txBody>
      </p:sp>
      <p:sp>
        <p:nvSpPr>
          <p:cNvPr id="87" name="메뉴 3-3 즐겨찾기 관리"/>
          <p:cNvSpPr/>
          <p:nvPr/>
        </p:nvSpPr>
        <p:spPr>
          <a:xfrm>
            <a:off x="6272784" y="5468112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메뉴 라벨"/>
          <p:cNvSpPr txBox="1"/>
          <p:nvPr/>
        </p:nvSpPr>
        <p:spPr>
          <a:xfrm>
            <a:off x="6364224" y="5504688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89" name="메뉴 3-4 저상버스 예약 내역"/>
          <p:cNvSpPr/>
          <p:nvPr/>
        </p:nvSpPr>
        <p:spPr>
          <a:xfrm>
            <a:off x="6272784" y="5733288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" name="메뉴 라벨"/>
          <p:cNvSpPr txBox="1"/>
          <p:nvPr/>
        </p:nvSpPr>
        <p:spPr>
          <a:xfrm>
            <a:off x="6364224" y="5769864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3-4 저상버스 예약 내역</a:t>
            </a:r>
          </a:p>
        </p:txBody>
      </p:sp>
      <p:sp>
        <p:nvSpPr>
          <p:cNvPr id="91" name="메뉴 3-5 공지사항"/>
          <p:cNvSpPr/>
          <p:nvPr/>
        </p:nvSpPr>
        <p:spPr>
          <a:xfrm>
            <a:off x="6272784" y="5998464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메뉴 라벨"/>
          <p:cNvSpPr txBox="1"/>
          <p:nvPr/>
        </p:nvSpPr>
        <p:spPr>
          <a:xfrm>
            <a:off x="6364224" y="6035040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3-5 공지사항</a:t>
            </a:r>
          </a:p>
        </p:txBody>
      </p:sp>
      <p:sp>
        <p:nvSpPr>
          <p:cNvPr id="93" name="메뉴 3-5-1 공지 상세"/>
          <p:cNvSpPr/>
          <p:nvPr/>
        </p:nvSpPr>
        <p:spPr>
          <a:xfrm>
            <a:off x="6272784" y="6263640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메뉴 라벨"/>
          <p:cNvSpPr txBox="1"/>
          <p:nvPr/>
        </p:nvSpPr>
        <p:spPr>
          <a:xfrm>
            <a:off x="6364224" y="6300216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3-5-1 공지 상세</a:t>
            </a:r>
          </a:p>
        </p:txBody>
      </p:sp>
      <p:sp>
        <p:nvSpPr>
          <p:cNvPr id="95" name="메뉴 3-6 이용약관 및 정책"/>
          <p:cNvSpPr/>
          <p:nvPr/>
        </p:nvSpPr>
        <p:spPr>
          <a:xfrm>
            <a:off x="8997696" y="5202936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메뉴 라벨"/>
          <p:cNvSpPr txBox="1"/>
          <p:nvPr/>
        </p:nvSpPr>
        <p:spPr>
          <a:xfrm>
            <a:off x="9089136" y="5239512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3-6 이용약관 및 정책</a:t>
            </a:r>
          </a:p>
        </p:txBody>
      </p:sp>
      <p:sp>
        <p:nvSpPr>
          <p:cNvPr id="97" name="메뉴 3-7 오픈소스 라이선스"/>
          <p:cNvSpPr/>
          <p:nvPr/>
        </p:nvSpPr>
        <p:spPr>
          <a:xfrm>
            <a:off x="8997696" y="5468112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메뉴 라벨"/>
          <p:cNvSpPr txBox="1"/>
          <p:nvPr/>
        </p:nvSpPr>
        <p:spPr>
          <a:xfrm>
            <a:off x="9089136" y="5504688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3-7 오픈소스 라이선스</a:t>
            </a:r>
          </a:p>
        </p:txBody>
      </p:sp>
      <p:sp>
        <p:nvSpPr>
          <p:cNvPr id="99" name="메뉴 3-8 로그아웃"/>
          <p:cNvSpPr/>
          <p:nvPr/>
        </p:nvSpPr>
        <p:spPr>
          <a:xfrm>
            <a:off x="8997696" y="5733288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메뉴 라벨"/>
          <p:cNvSpPr txBox="1"/>
          <p:nvPr/>
        </p:nvSpPr>
        <p:spPr>
          <a:xfrm>
            <a:off x="9089136" y="5769864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3-8 로그아웃</a:t>
            </a:r>
          </a:p>
        </p:txBody>
      </p:sp>
      <p:sp>
        <p:nvSpPr>
          <p:cNvPr id="101" name="메뉴 3-9 회원 탈퇴"/>
          <p:cNvSpPr/>
          <p:nvPr/>
        </p:nvSpPr>
        <p:spPr>
          <a:xfrm>
            <a:off x="8997696" y="5998464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메뉴 라벨"/>
          <p:cNvSpPr txBox="1"/>
          <p:nvPr/>
        </p:nvSpPr>
        <p:spPr>
          <a:xfrm>
            <a:off x="9089136" y="6035040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3-9 회원 탈퇴</a:t>
            </a:r>
          </a:p>
        </p:txBody>
      </p:sp>
      <p:sp>
        <p:nvSpPr>
          <p:cNvPr id="103" name="메뉴 3-10 언어 변경"/>
          <p:cNvSpPr/>
          <p:nvPr/>
        </p:nvSpPr>
        <p:spPr>
          <a:xfrm>
            <a:off x="8997696" y="6263640"/>
            <a:ext cx="2651760" cy="2468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메뉴 라벨"/>
          <p:cNvSpPr txBox="1"/>
          <p:nvPr/>
        </p:nvSpPr>
        <p:spPr>
          <a:xfrm>
            <a:off x="9089136" y="6300216"/>
            <a:ext cx="2478024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787" b="0" spc="-24">
                <a:solidFill>
                  <a:srgbClr val="5B6573"/>
                </a:solidFill>
                <a:latin typeface="Pretendard"/>
              </a:rPr>
              <a:t>3-10 언어 변경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686562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 · 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229487" y="228600"/>
            <a:ext cx="288672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 / 비회원으로 시작하기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401143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>
                <a:solidFill>
                  <a:srgbClr val="5B6573"/>
                </a:solidFill>
                <a:latin typeface="Pretendard"/>
              </a:rPr>
              <a:t>각 단계는 튜토리얼 화면처럼 단계별 1페이지로 구성 · 비회원은 STEP 1만 진행 후 바로 홈 진입 · 비회원 닉네임은 시스템 자동 부여</a:t>
            </a:r>
          </a:p>
        </p:txBody>
      </p:sp>
      <p:sp>
        <p:nvSpPr>
          <p:cNvPr id="11" name="흐름 0-1 로그인"/>
          <p:cNvSpPr/>
          <p:nvPr/>
        </p:nvSpPr>
        <p:spPr>
          <a:xfrm>
            <a:off x="419100" y="3276600"/>
            <a:ext cx="1600200" cy="447675"/>
          </a:xfrm>
          <a:prstGeom prst="roundRect">
            <a:avLst>
              <a:gd name="adj" fmla="val 21276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533400" y="3352800"/>
            <a:ext cx="13716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3" name="흐름 설명"/>
          <p:cNvSpPr txBox="1"/>
          <p:nvPr/>
        </p:nvSpPr>
        <p:spPr>
          <a:xfrm>
            <a:off x="533400" y="3524250"/>
            <a:ext cx="137160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회원가입 · 비회원 선택</a:t>
            </a:r>
          </a:p>
        </p:txBody>
      </p:sp>
      <p:sp>
        <p:nvSpPr>
          <p:cNvPr id="14" name="레인 0-2 회원가입 (3단계)"/>
          <p:cNvSpPr/>
          <p:nvPr/>
        </p:nvSpPr>
        <p:spPr>
          <a:xfrm>
            <a:off x="3048000" y="134302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레인 라벨"/>
          <p:cNvSpPr/>
          <p:nvPr/>
        </p:nvSpPr>
        <p:spPr>
          <a:xfrm>
            <a:off x="3190875" y="1476375"/>
            <a:ext cx="1232615" cy="228600"/>
          </a:xfrm>
          <a:prstGeom prst="roundRect">
            <a:avLst>
              <a:gd name="adj" fmla="val 50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2D4CC8"/>
                </a:solidFill>
                <a:latin typeface="Pretendard"/>
              </a:rPr>
              <a:t>0-2 회원가입 (3단계)</a:t>
            </a:r>
          </a:p>
        </p:txBody>
      </p:sp>
      <p:sp>
        <p:nvSpPr>
          <p:cNvPr id="16" name="스텝 카드 STEP 1"/>
          <p:cNvSpPr/>
          <p:nvPr/>
        </p:nvSpPr>
        <p:spPr>
          <a:xfrm>
            <a:off x="31908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번호"/>
          <p:cNvSpPr txBox="1"/>
          <p:nvPr/>
        </p:nvSpPr>
        <p:spPr>
          <a:xfrm>
            <a:off x="33051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18" name="스텝 제목"/>
          <p:cNvSpPr txBox="1"/>
          <p:nvPr/>
        </p:nvSpPr>
        <p:spPr>
          <a:xfrm>
            <a:off x="33051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19" name="스텝 카드 STEP 2"/>
          <p:cNvSpPr/>
          <p:nvPr/>
        </p:nvSpPr>
        <p:spPr>
          <a:xfrm>
            <a:off x="562292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스텝 번호"/>
          <p:cNvSpPr txBox="1"/>
          <p:nvPr/>
        </p:nvSpPr>
        <p:spPr>
          <a:xfrm>
            <a:off x="573722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2</a:t>
            </a:r>
          </a:p>
        </p:txBody>
      </p:sp>
      <p:sp>
        <p:nvSpPr>
          <p:cNvPr id="21" name="스텝 제목"/>
          <p:cNvSpPr txBox="1"/>
          <p:nvPr/>
        </p:nvSpPr>
        <p:spPr>
          <a:xfrm>
            <a:off x="573722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닉네임 입력</a:t>
            </a:r>
          </a:p>
        </p:txBody>
      </p:sp>
      <p:sp>
        <p:nvSpPr>
          <p:cNvPr id="22" name="스텝 설명"/>
          <p:cNvSpPr txBox="1"/>
          <p:nvPr/>
        </p:nvSpPr>
        <p:spPr>
          <a:xfrm>
            <a:off x="573722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닉네임 입력 · 중복 체크</a:t>
            </a:r>
          </a:p>
        </p:txBody>
      </p:sp>
      <p:sp>
        <p:nvSpPr>
          <p:cNvPr id="23" name="스텝 카드 STEP 3"/>
          <p:cNvSpPr/>
          <p:nvPr/>
        </p:nvSpPr>
        <p:spPr>
          <a:xfrm>
            <a:off x="8054975" y="1809750"/>
            <a:ext cx="21463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스텝 번호"/>
          <p:cNvSpPr txBox="1"/>
          <p:nvPr/>
        </p:nvSpPr>
        <p:spPr>
          <a:xfrm>
            <a:off x="8169275" y="1914525"/>
            <a:ext cx="19177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3</a:t>
            </a:r>
          </a:p>
        </p:txBody>
      </p:sp>
      <p:sp>
        <p:nvSpPr>
          <p:cNvPr id="25" name="스텝 제목"/>
          <p:cNvSpPr txBox="1"/>
          <p:nvPr/>
        </p:nvSpPr>
        <p:spPr>
          <a:xfrm>
            <a:off x="8169275" y="2095500"/>
            <a:ext cx="191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약관 동의</a:t>
            </a:r>
          </a:p>
        </p:txBody>
      </p:sp>
      <p:sp>
        <p:nvSpPr>
          <p:cNvPr id="26" name="스텝 설명"/>
          <p:cNvSpPr txBox="1"/>
          <p:nvPr/>
        </p:nvSpPr>
        <p:spPr>
          <a:xfrm>
            <a:off x="816927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약관 3종 전부 필수 동의</a:t>
            </a:r>
          </a:p>
        </p:txBody>
      </p:sp>
      <p:sp>
        <p:nvSpPr>
          <p:cNvPr id="27" name="흐름 1-0 홈"/>
          <p:cNvSpPr/>
          <p:nvPr/>
        </p:nvSpPr>
        <p:spPr>
          <a:xfrm>
            <a:off x="10753725" y="221932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흐름 제목"/>
          <p:cNvSpPr txBox="1"/>
          <p:nvPr/>
        </p:nvSpPr>
        <p:spPr>
          <a:xfrm>
            <a:off x="10868025" y="229552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9" name="연결선"/>
          <p:cNvCxnSpPr>
            <a:stCxn id="16" idx="3"/>
            <a:endCxn id="23" idx="1"/>
          </p:cNvCxnSpPr>
          <p:nvPr/>
        </p:nvCxnSpPr>
        <p:spPr>
          <a:xfrm>
            <a:off x="533717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23" idx="3"/>
            <a:endCxn id="27" idx="1"/>
          </p:cNvCxnSpPr>
          <p:nvPr/>
        </p:nvCxnSpPr>
        <p:spPr>
          <a:xfrm>
            <a:off x="7769225" y="2371725"/>
            <a:ext cx="2857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"/>
          <p:cNvCxnSpPr>
            <a:stCxn id="27" idx="3"/>
            <a:endCxn id="31" idx="1"/>
          </p:cNvCxnSpPr>
          <p:nvPr/>
        </p:nvCxnSpPr>
        <p:spPr>
          <a:xfrm>
            <a:off x="10201276" y="2371725"/>
            <a:ext cx="55244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연결선 라벨 가입 완료"/>
          <p:cNvSpPr txBox="1"/>
          <p:nvPr/>
        </p:nvSpPr>
        <p:spPr>
          <a:xfrm>
            <a:off x="10235327" y="2162175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3" name="연결선"/>
          <p:cNvCxnSpPr>
            <a:cxnSpLocks/>
            <a:stCxn id="11" idx="3"/>
            <a:endCxn id="14" idx="1"/>
          </p:cNvCxnSpPr>
          <p:nvPr/>
        </p:nvCxnSpPr>
        <p:spPr>
          <a:xfrm flipV="1">
            <a:off x="2019300" y="2409825"/>
            <a:ext cx="1028700" cy="1090612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연결선 라벨 회원가입 선택"/>
          <p:cNvSpPr txBox="1"/>
          <p:nvPr/>
        </p:nvSpPr>
        <p:spPr>
          <a:xfrm>
            <a:off x="1800939" y="2852738"/>
            <a:ext cx="665321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회원가입 선택</a:t>
            </a:r>
          </a:p>
        </p:txBody>
      </p:sp>
      <p:sp>
        <p:nvSpPr>
          <p:cNvPr id="35" name="레인 0-3 비회원으로 시작하기 (1단계)"/>
          <p:cNvSpPr/>
          <p:nvPr/>
        </p:nvSpPr>
        <p:spPr>
          <a:xfrm>
            <a:off x="3048000" y="3609975"/>
            <a:ext cx="8724900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레인 라벨"/>
          <p:cNvSpPr/>
          <p:nvPr/>
        </p:nvSpPr>
        <p:spPr>
          <a:xfrm>
            <a:off x="3190875" y="3743325"/>
            <a:ext cx="1804582" cy="228600"/>
          </a:xfrm>
          <a:prstGeom prst="roundRect">
            <a:avLst>
              <a:gd name="adj" fmla="val 5000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-16">
                <a:solidFill>
                  <a:srgbClr val="0B7D77"/>
                </a:solidFill>
                <a:latin typeface="Pretendard"/>
              </a:rPr>
              <a:t>0-3 비회원으로 시작하기 (1단계)</a:t>
            </a:r>
          </a:p>
        </p:txBody>
      </p:sp>
      <p:sp>
        <p:nvSpPr>
          <p:cNvPr id="37" name="스텝 카드 STEP 1"/>
          <p:cNvSpPr/>
          <p:nvPr/>
        </p:nvSpPr>
        <p:spPr>
          <a:xfrm>
            <a:off x="3190875" y="4076700"/>
            <a:ext cx="7010400" cy="1123950"/>
          </a:xfrm>
          <a:prstGeom prst="roundRect">
            <a:avLst>
              <a:gd name="adj" fmla="val 847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스텝 번호"/>
          <p:cNvSpPr txBox="1"/>
          <p:nvPr/>
        </p:nvSpPr>
        <p:spPr>
          <a:xfrm>
            <a:off x="3305175" y="4181475"/>
            <a:ext cx="67818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12" b="1" spc="82">
                <a:solidFill>
                  <a:srgbClr val="2D4CC8"/>
                </a:solidFill>
                <a:latin typeface="Pretendard"/>
              </a:rPr>
              <a:t>STEP 1</a:t>
            </a:r>
          </a:p>
        </p:txBody>
      </p:sp>
      <p:sp>
        <p:nvSpPr>
          <p:cNvPr id="39" name="스텝 제목"/>
          <p:cNvSpPr txBox="1"/>
          <p:nvPr/>
        </p:nvSpPr>
        <p:spPr>
          <a:xfrm>
            <a:off x="3305175" y="4362450"/>
            <a:ext cx="6781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교통약자 유형 선택</a:t>
            </a:r>
          </a:p>
        </p:txBody>
      </p:sp>
      <p:sp>
        <p:nvSpPr>
          <p:cNvPr id="40" name="스텝 설명"/>
          <p:cNvSpPr txBox="1"/>
          <p:nvPr/>
        </p:nvSpPr>
        <p:spPr>
          <a:xfrm>
            <a:off x="3305175" y="4581525"/>
            <a:ext cx="67818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전맹 선택 시 음성 전용 모드 진입</a:t>
            </a:r>
          </a:p>
        </p:txBody>
      </p:sp>
      <p:sp>
        <p:nvSpPr>
          <p:cNvPr id="41" name="흐름 1-0 홈"/>
          <p:cNvSpPr/>
          <p:nvPr/>
        </p:nvSpPr>
        <p:spPr>
          <a:xfrm>
            <a:off x="10753725" y="4486275"/>
            <a:ext cx="8763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흐름 제목"/>
          <p:cNvSpPr txBox="1"/>
          <p:nvPr/>
        </p:nvSpPr>
        <p:spPr>
          <a:xfrm>
            <a:off x="10868025" y="4562475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43" name="연결선"/>
          <p:cNvCxnSpPr>
            <a:stCxn id="45" idx="3"/>
            <a:endCxn id="53" idx="1"/>
          </p:cNvCxnSpPr>
          <p:nvPr/>
        </p:nvCxnSpPr>
        <p:spPr>
          <a:xfrm>
            <a:off x="10201275" y="4638675"/>
            <a:ext cx="55245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연결선 라벨 시작하기"/>
          <p:cNvSpPr txBox="1"/>
          <p:nvPr/>
        </p:nvSpPr>
        <p:spPr>
          <a:xfrm>
            <a:off x="10248900" y="4429125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cxnSp>
        <p:nvCxnSpPr>
          <p:cNvPr id="45" name="연결선"/>
          <p:cNvCxnSpPr>
            <a:stCxn id="11" idx="3"/>
            <a:endCxn id="43" idx="1"/>
          </p:cNvCxnSpPr>
          <p:nvPr/>
        </p:nvCxnSpPr>
        <p:spPr>
          <a:xfrm>
            <a:off x="2019300" y="3500437"/>
            <a:ext cx="1028700" cy="1176338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연결선 라벨 비회원으로 시작"/>
          <p:cNvSpPr txBox="1"/>
          <p:nvPr/>
        </p:nvSpPr>
        <p:spPr>
          <a:xfrm>
            <a:off x="1755696" y="4014788"/>
            <a:ext cx="755809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비회원으로 시작</a:t>
            </a:r>
          </a:p>
        </p:txBody>
      </p:sp>
      <p:sp>
        <p:nvSpPr>
          <p:cNvPr id="47" name="스텝 설명"/>
          <p:cNvSpPr txBox="1"/>
          <p:nvPr/>
        </p:nvSpPr>
        <p:spPr>
          <a:xfrm>
            <a:off x="3305175" y="2314575"/>
            <a:ext cx="19177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교통약자 유형 택 1</a:t>
            </a:r>
          </a:p>
        </p:txBody>
      </p:sp>
      <p:sp>
        <p:nvSpPr>
          <p:cNvPr id="4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3038475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로고 타이틀"/>
          <p:cNvSpPr txBox="1"/>
          <p:nvPr/>
        </p:nvSpPr>
        <p:spPr>
          <a:xfrm>
            <a:off x="3038475" y="1752600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0" name="SNS 버튼 카카오로 로그인"/>
          <p:cNvSpPr/>
          <p:nvPr/>
        </p:nvSpPr>
        <p:spPr>
          <a:xfrm>
            <a:off x="3248025" y="24003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SNS 라벨"/>
          <p:cNvSpPr txBox="1"/>
          <p:nvPr/>
        </p:nvSpPr>
        <p:spPr>
          <a:xfrm>
            <a:off x="3248025" y="24003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로그인</a:t>
            </a:r>
          </a:p>
        </p:txBody>
      </p:sp>
      <p:sp>
        <p:nvSpPr>
          <p:cNvPr id="12" name="SNS 버튼 네이버로 로그인"/>
          <p:cNvSpPr/>
          <p:nvPr/>
        </p:nvSpPr>
        <p:spPr>
          <a:xfrm>
            <a:off x="3248025" y="29337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SNS 라벨"/>
          <p:cNvSpPr txBox="1"/>
          <p:nvPr/>
        </p:nvSpPr>
        <p:spPr>
          <a:xfrm>
            <a:off x="3248025" y="29337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로그인</a:t>
            </a:r>
          </a:p>
        </p:txBody>
      </p:sp>
      <p:sp>
        <p:nvSpPr>
          <p:cNvPr id="14" name="SNS 버튼 구글로 로그인"/>
          <p:cNvSpPr/>
          <p:nvPr/>
        </p:nvSpPr>
        <p:spPr>
          <a:xfrm>
            <a:off x="3248025" y="34671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/>
          <p:cNvSpPr txBox="1"/>
          <p:nvPr/>
        </p:nvSpPr>
        <p:spPr>
          <a:xfrm>
            <a:off x="3248025" y="34671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로그인</a:t>
            </a:r>
          </a:p>
        </p:txBody>
      </p:sp>
      <p:sp>
        <p:nvSpPr>
          <p:cNvPr id="16" name="SNS 버튼 애플로 로그인"/>
          <p:cNvSpPr/>
          <p:nvPr/>
        </p:nvSpPr>
        <p:spPr>
          <a:xfrm>
            <a:off x="3248025" y="400050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/>
          <p:cNvSpPr txBox="1"/>
          <p:nvPr/>
        </p:nvSpPr>
        <p:spPr>
          <a:xfrm>
            <a:off x="3248025" y="400050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로그인</a:t>
            </a:r>
          </a:p>
        </p:txBody>
      </p:sp>
      <p:sp>
        <p:nvSpPr>
          <p:cNvPr id="18" name="구분선"/>
          <p:cNvSpPr/>
          <p:nvPr/>
        </p:nvSpPr>
        <p:spPr>
          <a:xfrm>
            <a:off x="3248025" y="4648200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비회원 버튼"/>
          <p:cNvSpPr/>
          <p:nvPr/>
        </p:nvSpPr>
        <p:spPr>
          <a:xfrm>
            <a:off x="3248025" y="4781550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비회원 라벨"/>
          <p:cNvSpPr txBox="1"/>
          <p:nvPr/>
        </p:nvSpPr>
        <p:spPr>
          <a:xfrm>
            <a:off x="3248025" y="4781550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시작하기</a:t>
            </a:r>
          </a:p>
        </p:txBody>
      </p:sp>
      <p:sp>
        <p:nvSpPr>
          <p:cNvPr id="21" name="숫자배지 1"/>
          <p:cNvSpPr/>
          <p:nvPr/>
        </p:nvSpPr>
        <p:spPr>
          <a:xfrm>
            <a:off x="2914650" y="21717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5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69311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로그인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SNS 로그인 4종 — 카카오 · 네이버 · 구글 · 애플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각 버튼은 로고와 텍스트를 함께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애플 로그인은 iOS 전용 — Android에는 노출하지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비회원으로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가입 없이 앱을 사용할 수 있도록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교통약자 유형 선택 1단계(0-3)로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이전에 비회원으로 시작한 기록이 있으면 1단계를 건너뛰고 바로 홈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 설정은 이 기기에만 저장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숫자배지 2"/>
          <p:cNvSpPr/>
          <p:nvPr/>
        </p:nvSpPr>
        <p:spPr>
          <a:xfrm>
            <a:off x="2916936" y="49057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1 교통약자 유형 선택 (1/2)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9" name="선택 항목 휠체어•유모차"/>
          <p:cNvSpPr/>
          <p:nvPr/>
        </p:nvSpPr>
        <p:spPr>
          <a:xfrm>
            <a:off x="161925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라디오"/>
          <p:cNvSpPr/>
          <p:nvPr/>
        </p:nvSpPr>
        <p:spPr>
          <a:xfrm>
            <a:off x="175260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항목 라벨"/>
          <p:cNvSpPr txBox="1"/>
          <p:nvPr/>
        </p:nvSpPr>
        <p:spPr>
          <a:xfrm>
            <a:off x="198120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22" name="선택 항목 노약자•임산부"/>
          <p:cNvSpPr/>
          <p:nvPr/>
        </p:nvSpPr>
        <p:spPr>
          <a:xfrm>
            <a:off x="161925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라디오"/>
          <p:cNvSpPr/>
          <p:nvPr/>
        </p:nvSpPr>
        <p:spPr>
          <a:xfrm>
            <a:off x="175260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항목 라벨"/>
          <p:cNvSpPr txBox="1"/>
          <p:nvPr/>
        </p:nvSpPr>
        <p:spPr>
          <a:xfrm>
            <a:off x="198120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노약자•임산부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선택 항목 경증 시각장애인"/>
          <p:cNvSpPr/>
          <p:nvPr/>
        </p:nvSpPr>
        <p:spPr>
          <a:xfrm>
            <a:off x="161925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라디오"/>
          <p:cNvSpPr/>
          <p:nvPr/>
        </p:nvSpPr>
        <p:spPr>
          <a:xfrm>
            <a:off x="1752600" y="36459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항목 라벨"/>
          <p:cNvSpPr txBox="1"/>
          <p:nvPr/>
        </p:nvSpPr>
        <p:spPr>
          <a:xfrm>
            <a:off x="198120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 – 화면을 볼 수 있어요.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선택 항목 중증 시각장애인"/>
          <p:cNvSpPr/>
          <p:nvPr/>
        </p:nvSpPr>
        <p:spPr>
          <a:xfrm>
            <a:off x="161925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"/>
          <p:cNvSpPr/>
          <p:nvPr/>
        </p:nvSpPr>
        <p:spPr>
          <a:xfrm>
            <a:off x="175260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항목 라벨"/>
          <p:cNvSpPr txBox="1"/>
          <p:nvPr/>
        </p:nvSpPr>
        <p:spPr>
          <a:xfrm>
            <a:off x="198120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Selected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45" name="선택 항목 휠체어•유모차"/>
          <p:cNvSpPr/>
          <p:nvPr/>
        </p:nvSpPr>
        <p:spPr>
          <a:xfrm>
            <a:off x="472440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라디오"/>
          <p:cNvSpPr/>
          <p:nvPr/>
        </p:nvSpPr>
        <p:spPr>
          <a:xfrm>
            <a:off x="485775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항목 라벨"/>
          <p:cNvSpPr txBox="1"/>
          <p:nvPr/>
        </p:nvSpPr>
        <p:spPr>
          <a:xfrm>
            <a:off x="508635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48" name="선택 항목 노약자•임산부"/>
          <p:cNvSpPr/>
          <p:nvPr/>
        </p:nvSpPr>
        <p:spPr>
          <a:xfrm>
            <a:off x="472440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라디오"/>
          <p:cNvSpPr/>
          <p:nvPr/>
        </p:nvSpPr>
        <p:spPr>
          <a:xfrm>
            <a:off x="485775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항목 라벨"/>
          <p:cNvSpPr txBox="1"/>
          <p:nvPr/>
        </p:nvSpPr>
        <p:spPr>
          <a:xfrm>
            <a:off x="508635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51" name="선택 항목 경증 시각장애인"/>
          <p:cNvSpPr/>
          <p:nvPr/>
        </p:nvSpPr>
        <p:spPr>
          <a:xfrm>
            <a:off x="472440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EDF1FD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라디오"/>
          <p:cNvSpPr/>
          <p:nvPr/>
        </p:nvSpPr>
        <p:spPr>
          <a:xfrm>
            <a:off x="4857750" y="3645986"/>
            <a:ext cx="133350" cy="133350"/>
          </a:xfrm>
          <a:prstGeom prst="ellipse">
            <a:avLst/>
          </a:prstGeom>
          <a:solidFill>
            <a:srgbClr val="FFFFFF"/>
          </a:solidFill>
          <a:ln w="3429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항목 라벨"/>
          <p:cNvSpPr txBox="1"/>
          <p:nvPr/>
        </p:nvSpPr>
        <p:spPr>
          <a:xfrm>
            <a:off x="508635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1" spc="-19" dirty="0" err="1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1" spc="-19" dirty="0">
              <a:solidFill>
                <a:srgbClr val="2D4C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선택 항목 중증 시각장애인"/>
          <p:cNvSpPr/>
          <p:nvPr/>
        </p:nvSpPr>
        <p:spPr>
          <a:xfrm>
            <a:off x="472440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라디오"/>
          <p:cNvSpPr/>
          <p:nvPr/>
        </p:nvSpPr>
        <p:spPr>
          <a:xfrm>
            <a:off x="485775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항목 라벨"/>
          <p:cNvSpPr txBox="1"/>
          <p:nvPr/>
        </p:nvSpPr>
        <p:spPr>
          <a:xfrm>
            <a:off x="508635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5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6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63667"/>
              </p:ext>
            </p:extLst>
          </p:nvPr>
        </p:nvGraphicFramePr>
        <p:xfrm>
          <a:off x="8629192" y="1447800"/>
          <a:ext cx="2972409" cy="361954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전체 단계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회원가입은 총 3단계로 구성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단계에서 한 가지만 선택 ·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어떤 단계인지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06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유형 선택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 · 택 1 방식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유형은 전맹과 전맹 외 모든 유형으로 분기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저시력 선택 시 글자 크기 초기값이 확대 적용 (조절은 마이페이지)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선택 시 선택지 목록 아래에 ‘다음 단계부터 음성 안내 중심 화면으로 바뀝니다.’ 표출 — 다른 항목 선택 시 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항목 선택 완료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선택하지 않은 다른 항목과 구별되도록 디자인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다른 항목을 선택하면 기존 선택 자동 해제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66" name="숫자배지 1"/>
          <p:cNvSpPr/>
          <p:nvPr/>
        </p:nvSpPr>
        <p:spPr>
          <a:xfrm>
            <a:off x="1362075" y="1619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1362075" y="23315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13620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39528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2-1"/>
          <p:cNvSpPr/>
          <p:nvPr/>
        </p:nvSpPr>
        <p:spPr>
          <a:xfrm>
            <a:off x="4400550" y="360788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1 교통약자 유형 선택 (2/2)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9" name="선택 항목 휠체어•유모차"/>
          <p:cNvSpPr/>
          <p:nvPr/>
        </p:nvSpPr>
        <p:spPr>
          <a:xfrm>
            <a:off x="161925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라디오"/>
          <p:cNvSpPr/>
          <p:nvPr/>
        </p:nvSpPr>
        <p:spPr>
          <a:xfrm>
            <a:off x="175260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항목 라벨"/>
          <p:cNvSpPr txBox="1"/>
          <p:nvPr/>
        </p:nvSpPr>
        <p:spPr>
          <a:xfrm>
            <a:off x="198120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22" name="선택 항목 노약자•임산부"/>
          <p:cNvSpPr/>
          <p:nvPr/>
        </p:nvSpPr>
        <p:spPr>
          <a:xfrm>
            <a:off x="161925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라디오"/>
          <p:cNvSpPr/>
          <p:nvPr/>
        </p:nvSpPr>
        <p:spPr>
          <a:xfrm>
            <a:off x="175260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항목 라벨"/>
          <p:cNvSpPr txBox="1"/>
          <p:nvPr/>
        </p:nvSpPr>
        <p:spPr>
          <a:xfrm>
            <a:off x="198120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 dirty="0" err="1">
                <a:solidFill>
                  <a:srgbClr val="14181F"/>
                </a:solidFill>
                <a:latin typeface="Pretendard"/>
              </a:rPr>
              <a:t>노약자•임산부</a:t>
            </a:r>
            <a:endParaRPr sz="937" b="0" spc="-1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5" name="선택 항목 경증 시각장애인"/>
          <p:cNvSpPr/>
          <p:nvPr/>
        </p:nvSpPr>
        <p:spPr>
          <a:xfrm>
            <a:off x="161925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라디오"/>
          <p:cNvSpPr/>
          <p:nvPr/>
        </p:nvSpPr>
        <p:spPr>
          <a:xfrm>
            <a:off x="1752600" y="36459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항목 라벨"/>
          <p:cNvSpPr txBox="1"/>
          <p:nvPr/>
        </p:nvSpPr>
        <p:spPr>
          <a:xfrm>
            <a:off x="198120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 – 화면을 볼 수 있어요.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선택 항목 중증 시각장애인"/>
          <p:cNvSpPr/>
          <p:nvPr/>
        </p:nvSpPr>
        <p:spPr>
          <a:xfrm>
            <a:off x="161925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라디오"/>
          <p:cNvSpPr/>
          <p:nvPr/>
        </p:nvSpPr>
        <p:spPr>
          <a:xfrm>
            <a:off x="175260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항목 라벨"/>
          <p:cNvSpPr txBox="1"/>
          <p:nvPr/>
        </p:nvSpPr>
        <p:spPr>
          <a:xfrm>
            <a:off x="198120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Selected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45" name="선택 항목 휠체어•유모차"/>
          <p:cNvSpPr/>
          <p:nvPr/>
        </p:nvSpPr>
        <p:spPr>
          <a:xfrm>
            <a:off x="4724400" y="24648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라디오"/>
          <p:cNvSpPr/>
          <p:nvPr/>
        </p:nvSpPr>
        <p:spPr>
          <a:xfrm>
            <a:off x="4857750" y="261728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항목 라벨"/>
          <p:cNvSpPr txBox="1"/>
          <p:nvPr/>
        </p:nvSpPr>
        <p:spPr>
          <a:xfrm>
            <a:off x="5086350" y="25982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48" name="선택 항목 노약자•임산부"/>
          <p:cNvSpPr/>
          <p:nvPr/>
        </p:nvSpPr>
        <p:spPr>
          <a:xfrm>
            <a:off x="4724400" y="29792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라디오"/>
          <p:cNvSpPr/>
          <p:nvPr/>
        </p:nvSpPr>
        <p:spPr>
          <a:xfrm>
            <a:off x="4857750" y="31316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항목 라벨"/>
          <p:cNvSpPr txBox="1"/>
          <p:nvPr/>
        </p:nvSpPr>
        <p:spPr>
          <a:xfrm>
            <a:off x="5086350" y="31125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51" name="선택 항목 경증 시각장애인"/>
          <p:cNvSpPr/>
          <p:nvPr/>
        </p:nvSpPr>
        <p:spPr>
          <a:xfrm>
            <a:off x="4724400" y="349358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EDF1FD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라디오"/>
          <p:cNvSpPr/>
          <p:nvPr/>
        </p:nvSpPr>
        <p:spPr>
          <a:xfrm>
            <a:off x="4857750" y="3645986"/>
            <a:ext cx="133350" cy="133350"/>
          </a:xfrm>
          <a:prstGeom prst="ellipse">
            <a:avLst/>
          </a:prstGeom>
          <a:solidFill>
            <a:srgbClr val="FFFFFF"/>
          </a:solidFill>
          <a:ln w="3429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항목 라벨"/>
          <p:cNvSpPr txBox="1"/>
          <p:nvPr/>
        </p:nvSpPr>
        <p:spPr>
          <a:xfrm>
            <a:off x="5086350" y="362693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1" spc="-19" dirty="0" err="1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있어요</a:t>
            </a:r>
            <a:r>
              <a:rPr lang="en-US" altLang="ko-KR" sz="937" b="1" spc="-19" dirty="0">
                <a:solidFill>
                  <a:srgbClr val="2D4C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1" spc="-19" dirty="0">
              <a:solidFill>
                <a:srgbClr val="2D4C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선택 항목 중증 시각장애인"/>
          <p:cNvSpPr/>
          <p:nvPr/>
        </p:nvSpPr>
        <p:spPr>
          <a:xfrm>
            <a:off x="4724400" y="4007936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라디오"/>
          <p:cNvSpPr/>
          <p:nvPr/>
        </p:nvSpPr>
        <p:spPr>
          <a:xfrm>
            <a:off x="4857750" y="4160336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항목 라벨"/>
          <p:cNvSpPr txBox="1"/>
          <p:nvPr/>
        </p:nvSpPr>
        <p:spPr>
          <a:xfrm>
            <a:off x="5086350" y="4141286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37" b="0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b="0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937" b="0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5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6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6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6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063667"/>
              </p:ext>
            </p:extLst>
          </p:nvPr>
        </p:nvGraphicFramePr>
        <p:xfrm>
          <a:off x="8629192" y="1447800"/>
          <a:ext cx="2972409" cy="152166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0-1 로그인으로 되돌아감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선택값은 남지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비활성화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필수 항목이 모두 선택되어야 활성화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66" name="숫자배지 1"/>
          <p:cNvSpPr/>
          <p:nvPr/>
        </p:nvSpPr>
        <p:spPr>
          <a:xfrm>
            <a:off x="1362075" y="16192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1362075" y="23315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13620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395287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2-1"/>
          <p:cNvSpPr/>
          <p:nvPr/>
        </p:nvSpPr>
        <p:spPr>
          <a:xfrm>
            <a:off x="4400550" y="360788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2 닉네임 입력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19" name="닉네임 입력란"/>
          <p:cNvSpPr/>
          <p:nvPr/>
        </p:nvSpPr>
        <p:spPr>
          <a:xfrm>
            <a:off x="161925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닉네임 값"/>
          <p:cNvSpPr txBox="1"/>
          <p:nvPr/>
        </p:nvSpPr>
        <p:spPr>
          <a:xfrm>
            <a:off x="175260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A9B2BE"/>
                </a:solidFill>
                <a:latin typeface="Pretendard"/>
              </a:rPr>
              <a:t>한글,영문 최대 8글자</a:t>
            </a:r>
          </a:p>
        </p:txBody>
      </p:sp>
      <p:sp>
        <p:nvSpPr>
          <p:cNvPr id="2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2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입력 완료</a:t>
            </a:r>
          </a:p>
        </p:txBody>
      </p:sp>
      <p:sp>
        <p:nvSpPr>
          <p:cNvPr id="2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2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3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3</a:t>
            </a:r>
          </a:p>
        </p:txBody>
      </p:sp>
      <p:sp>
        <p:nvSpPr>
          <p:cNvPr id="34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닉네임을 입력해주세요.</a:t>
            </a:r>
          </a:p>
        </p:txBody>
      </p:sp>
      <p:sp>
        <p:nvSpPr>
          <p:cNvPr id="35" name="닉네임 입력란"/>
          <p:cNvSpPr/>
          <p:nvPr/>
        </p:nvSpPr>
        <p:spPr>
          <a:xfrm>
            <a:off x="4724400" y="2409825"/>
            <a:ext cx="23241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닉네임 값"/>
          <p:cNvSpPr txBox="1"/>
          <p:nvPr/>
        </p:nvSpPr>
        <p:spPr>
          <a:xfrm>
            <a:off x="4857750" y="240982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>
                <a:solidFill>
                  <a:srgbClr val="14181F"/>
                </a:solidFill>
                <a:latin typeface="Pretendard"/>
              </a:rPr>
              <a:t>김나비</a:t>
            </a:r>
          </a:p>
        </p:txBody>
      </p:sp>
      <p:sp>
        <p:nvSpPr>
          <p:cNvPr id="37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9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다음</a:t>
            </a:r>
          </a:p>
        </p:txBody>
      </p:sp>
      <p:sp>
        <p:nvSpPr>
          <p:cNvPr id="4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4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462538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978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닉네임 입력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없음, 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한글, 영어 입력 가능 — 자음·모음 단독 입력도 가능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특수기호, 숫자, 이모지, 공백 입력 불가 — 입력 시도 시 입력되지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입력 가능 글자수: 8글자 — 8글자가 넘어가면 더 이상 입력되지 않음 (최소 1글자)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회원가입하는 경우에도 입력란은 빈 칸으로 열림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576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비활성 — ① 입력값 있음 ② 중복 확인 중 아님 ③ 중복 오류 아님 3가지를 모두 만족할 때 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닉네임 중복 체크 (입력 중 실시간 체크 아님)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중복인 경우 비활성 + 입력란 하단에 ‘중복된 닉네임입니다.’ 오류 메시지 도출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입력값이 바뀌면 오류가 해제되고 다시 활성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 선택 단계로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6" name="숫자배지 1"/>
          <p:cNvSpPr/>
          <p:nvPr/>
        </p:nvSpPr>
        <p:spPr>
          <a:xfrm>
            <a:off x="1362075" y="24574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7" name="숫자배지 2"/>
          <p:cNvSpPr/>
          <p:nvPr/>
        </p:nvSpPr>
        <p:spPr>
          <a:xfrm>
            <a:off x="3952951" y="57534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8" name="숫자배지 3"/>
          <p:cNvSpPr/>
          <p:nvPr/>
        </p:nvSpPr>
        <p:spPr>
          <a:xfrm>
            <a:off x="1362456" y="57534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회원가입 — STEP 3 약관 동의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Default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스텝 1"/>
          <p:cNvSpPr/>
          <p:nvPr/>
        </p:nvSpPr>
        <p:spPr>
          <a:xfrm>
            <a:off x="22002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14" name="스텝 연결선"/>
          <p:cNvSpPr/>
          <p:nvPr/>
        </p:nvSpPr>
        <p:spPr>
          <a:xfrm>
            <a:off x="24669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스텝 2"/>
          <p:cNvSpPr/>
          <p:nvPr/>
        </p:nvSpPr>
        <p:spPr>
          <a:xfrm>
            <a:off x="26765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16" name="스텝 연결선"/>
          <p:cNvSpPr/>
          <p:nvPr/>
        </p:nvSpPr>
        <p:spPr>
          <a:xfrm>
            <a:off x="29432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스텝 3"/>
          <p:cNvSpPr/>
          <p:nvPr/>
        </p:nvSpPr>
        <p:spPr>
          <a:xfrm>
            <a:off x="315277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167640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19" name="약관 항목"/>
          <p:cNvSpPr/>
          <p:nvPr/>
        </p:nvSpPr>
        <p:spPr>
          <a:xfrm>
            <a:off x="161925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체크박스"/>
          <p:cNvSpPr/>
          <p:nvPr/>
        </p:nvSpPr>
        <p:spPr>
          <a:xfrm>
            <a:off x="173355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약관명"/>
          <p:cNvSpPr txBox="1"/>
          <p:nvPr/>
        </p:nvSpPr>
        <p:spPr>
          <a:xfrm>
            <a:off x="201930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b="0" spc="-18" dirty="0">
                <a:solidFill>
                  <a:srgbClr val="14181F"/>
                </a:solidFill>
                <a:latin typeface="Pretendard"/>
              </a:rPr>
              <a:t>]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보기"/>
          <p:cNvSpPr txBox="1"/>
          <p:nvPr/>
        </p:nvSpPr>
        <p:spPr>
          <a:xfrm>
            <a:off x="348615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3" name="약관 항목"/>
          <p:cNvSpPr/>
          <p:nvPr/>
        </p:nvSpPr>
        <p:spPr>
          <a:xfrm>
            <a:off x="161925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체크박스"/>
          <p:cNvSpPr/>
          <p:nvPr/>
        </p:nvSpPr>
        <p:spPr>
          <a:xfrm>
            <a:off x="173355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약관명"/>
          <p:cNvSpPr txBox="1"/>
          <p:nvPr/>
        </p:nvSpPr>
        <p:spPr>
          <a:xfrm>
            <a:off x="201930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보기"/>
          <p:cNvSpPr txBox="1"/>
          <p:nvPr/>
        </p:nvSpPr>
        <p:spPr>
          <a:xfrm>
            <a:off x="348615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27" name="약관 항목"/>
          <p:cNvSpPr/>
          <p:nvPr/>
        </p:nvSpPr>
        <p:spPr>
          <a:xfrm>
            <a:off x="161925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체크박스"/>
          <p:cNvSpPr/>
          <p:nvPr/>
        </p:nvSpPr>
        <p:spPr>
          <a:xfrm>
            <a:off x="173355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약관명"/>
          <p:cNvSpPr txBox="1"/>
          <p:nvPr/>
        </p:nvSpPr>
        <p:spPr>
          <a:xfrm>
            <a:off x="201930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0" name="보기"/>
          <p:cNvSpPr txBox="1"/>
          <p:nvPr/>
        </p:nvSpPr>
        <p:spPr>
          <a:xfrm>
            <a:off x="348615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31" name="이전 버튼"/>
          <p:cNvSpPr/>
          <p:nvPr/>
        </p:nvSpPr>
        <p:spPr>
          <a:xfrm>
            <a:off x="161925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이전 라벨"/>
          <p:cNvSpPr txBox="1"/>
          <p:nvPr/>
        </p:nvSpPr>
        <p:spPr>
          <a:xfrm>
            <a:off x="161925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33" name="다음 버튼"/>
          <p:cNvSpPr/>
          <p:nvPr/>
        </p:nvSpPr>
        <p:spPr>
          <a:xfrm>
            <a:off x="257175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다음 라벨"/>
          <p:cNvSpPr txBox="1"/>
          <p:nvPr/>
        </p:nvSpPr>
        <p:spPr>
          <a:xfrm>
            <a:off x="257175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5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전체 동의</a:t>
            </a:r>
          </a:p>
        </p:txBody>
      </p:sp>
      <p:sp>
        <p:nvSpPr>
          <p:cNvPr id="37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회원가입</a:t>
            </a:r>
          </a:p>
        </p:txBody>
      </p:sp>
      <p:sp>
        <p:nvSpPr>
          <p:cNvPr id="38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스텝 1"/>
          <p:cNvSpPr/>
          <p:nvPr/>
        </p:nvSpPr>
        <p:spPr>
          <a:xfrm>
            <a:off x="530542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1</a:t>
            </a:r>
          </a:p>
        </p:txBody>
      </p:sp>
      <p:sp>
        <p:nvSpPr>
          <p:cNvPr id="40" name="스텝 연결선"/>
          <p:cNvSpPr/>
          <p:nvPr/>
        </p:nvSpPr>
        <p:spPr>
          <a:xfrm>
            <a:off x="557212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스텝 2"/>
          <p:cNvSpPr/>
          <p:nvPr/>
        </p:nvSpPr>
        <p:spPr>
          <a:xfrm>
            <a:off x="5781675" y="1676400"/>
            <a:ext cx="209550" cy="209550"/>
          </a:xfrm>
          <a:prstGeom prst="ellipse">
            <a:avLst/>
          </a:prstGeom>
          <a:solidFill>
            <a:srgbClr val="EF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8A94A3"/>
                </a:solidFill>
                <a:latin typeface="Pretendard"/>
              </a:rPr>
              <a:t>2</a:t>
            </a:r>
          </a:p>
        </p:txBody>
      </p:sp>
      <p:sp>
        <p:nvSpPr>
          <p:cNvPr id="42" name="스텝 연결선"/>
          <p:cNvSpPr/>
          <p:nvPr/>
        </p:nvSpPr>
        <p:spPr>
          <a:xfrm>
            <a:off x="6048375" y="1781175"/>
            <a:ext cx="1524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스텝 3"/>
          <p:cNvSpPr/>
          <p:nvPr/>
        </p:nvSpPr>
        <p:spPr>
          <a:xfrm>
            <a:off x="6257925" y="1676400"/>
            <a:ext cx="209550" cy="209550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4" name="안내 문구"/>
          <p:cNvSpPr txBox="1"/>
          <p:nvPr/>
        </p:nvSpPr>
        <p:spPr>
          <a:xfrm>
            <a:off x="4781550" y="2057400"/>
            <a:ext cx="2209800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>
                <a:solidFill>
                  <a:srgbClr val="14181F"/>
                </a:solidFill>
                <a:latin typeface="Pretendard"/>
              </a:rPr>
              <a:t>약관에 동의해주세요.</a:t>
            </a:r>
          </a:p>
        </p:txBody>
      </p:sp>
      <p:sp>
        <p:nvSpPr>
          <p:cNvPr id="45" name="약관 항목"/>
          <p:cNvSpPr/>
          <p:nvPr/>
        </p:nvSpPr>
        <p:spPr>
          <a:xfrm>
            <a:off x="4724400" y="27443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체크박스"/>
          <p:cNvSpPr/>
          <p:nvPr/>
        </p:nvSpPr>
        <p:spPr>
          <a:xfrm>
            <a:off x="4838700" y="28586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아이콘 check"/>
          <p:cNvSpPr/>
          <p:nvPr/>
        </p:nvSpPr>
        <p:spPr>
          <a:xfrm rot="2700000">
            <a:off x="4891278" y="29512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아이콘 check"/>
          <p:cNvSpPr/>
          <p:nvPr/>
        </p:nvSpPr>
        <p:spPr>
          <a:xfrm rot="18900000">
            <a:off x="4915281" y="29432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약관명"/>
          <p:cNvSpPr txBox="1"/>
          <p:nvPr/>
        </p:nvSpPr>
        <p:spPr>
          <a:xfrm>
            <a:off x="5124450" y="28586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0" name="보기"/>
          <p:cNvSpPr txBox="1"/>
          <p:nvPr/>
        </p:nvSpPr>
        <p:spPr>
          <a:xfrm>
            <a:off x="6591300" y="28586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1" name="약관 항목"/>
          <p:cNvSpPr/>
          <p:nvPr/>
        </p:nvSpPr>
        <p:spPr>
          <a:xfrm>
            <a:off x="4724400" y="32396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체크박스"/>
          <p:cNvSpPr/>
          <p:nvPr/>
        </p:nvSpPr>
        <p:spPr>
          <a:xfrm>
            <a:off x="4838700" y="33539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아이콘 check"/>
          <p:cNvSpPr/>
          <p:nvPr/>
        </p:nvSpPr>
        <p:spPr>
          <a:xfrm rot="2700000">
            <a:off x="4891278" y="34465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아이콘 check"/>
          <p:cNvSpPr/>
          <p:nvPr/>
        </p:nvSpPr>
        <p:spPr>
          <a:xfrm rot="18900000">
            <a:off x="4915281" y="34385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약관명"/>
          <p:cNvSpPr txBox="1"/>
          <p:nvPr/>
        </p:nvSpPr>
        <p:spPr>
          <a:xfrm>
            <a:off x="5124450" y="33539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위치기반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서비스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이용약관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보기"/>
          <p:cNvSpPr txBox="1"/>
          <p:nvPr/>
        </p:nvSpPr>
        <p:spPr>
          <a:xfrm>
            <a:off x="6591300" y="33539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57" name="약관 항목"/>
          <p:cNvSpPr/>
          <p:nvPr/>
        </p:nvSpPr>
        <p:spPr>
          <a:xfrm>
            <a:off x="4724400" y="3734962"/>
            <a:ext cx="232410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체크박스"/>
          <p:cNvSpPr/>
          <p:nvPr/>
        </p:nvSpPr>
        <p:spPr>
          <a:xfrm>
            <a:off x="4838700" y="3849262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check"/>
          <p:cNvSpPr/>
          <p:nvPr/>
        </p:nvSpPr>
        <p:spPr>
          <a:xfrm rot="2700000">
            <a:off x="4891278" y="3941845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check"/>
          <p:cNvSpPr/>
          <p:nvPr/>
        </p:nvSpPr>
        <p:spPr>
          <a:xfrm rot="18900000">
            <a:off x="4915281" y="3933844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약관명"/>
          <p:cNvSpPr txBox="1"/>
          <p:nvPr/>
        </p:nvSpPr>
        <p:spPr>
          <a:xfrm>
            <a:off x="5124450" y="3849262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개인정보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처리방침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[</a:t>
            </a:r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필수</a:t>
            </a:r>
            <a:r>
              <a:rPr lang="en-US" altLang="ko-KR" sz="900" spc="-18" dirty="0">
                <a:solidFill>
                  <a:srgbClr val="14181F"/>
                </a:solidFill>
                <a:latin typeface="Pretendard"/>
              </a:rPr>
              <a:t>]</a:t>
            </a:r>
            <a:endParaRPr lang="ko-KR" altLang="en-US" sz="90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보기"/>
          <p:cNvSpPr txBox="1"/>
          <p:nvPr/>
        </p:nvSpPr>
        <p:spPr>
          <a:xfrm>
            <a:off x="6591300" y="3849262"/>
            <a:ext cx="3238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>
                <a:solidFill>
                  <a:srgbClr val="8A94A3"/>
                </a:solidFill>
                <a:latin typeface="Pretendard"/>
              </a:rPr>
              <a:t>보기</a:t>
            </a:r>
          </a:p>
        </p:txBody>
      </p:sp>
      <p:sp>
        <p:nvSpPr>
          <p:cNvPr id="63" name="이전 버튼"/>
          <p:cNvSpPr/>
          <p:nvPr/>
        </p:nvSpPr>
        <p:spPr>
          <a:xfrm>
            <a:off x="4724400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이전 라벨"/>
          <p:cNvSpPr txBox="1"/>
          <p:nvPr/>
        </p:nvSpPr>
        <p:spPr>
          <a:xfrm>
            <a:off x="4724400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65" name="다음 버튼"/>
          <p:cNvSpPr/>
          <p:nvPr/>
        </p:nvSpPr>
        <p:spPr>
          <a:xfrm>
            <a:off x="5676900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다음 라벨"/>
          <p:cNvSpPr txBox="1"/>
          <p:nvPr/>
        </p:nvSpPr>
        <p:spPr>
          <a:xfrm>
            <a:off x="5676900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1362075" y="3153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7058025" y="5753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2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480999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전체 동의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약관 3종을 한 번에 동의 · 해제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개별 항목의 체크 상태가 기준 — 하나라도 해제하면 전체 동의도 해제되고, 3종이 모두 체크되면 자동으로 다시 체크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약관 동의 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선택된 항목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모든 항목이 필수 선택 항목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보기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 내 약관 화면으로 이동 (3-6 이용약관 및 정책과 같은 화면)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시 이 단계로 돌아오며 체크 상태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시작하기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마지막 단계에서는 ‘다음’ 대신 ‘시작하기’ 버튼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모든 약관 동의 상태에서만 활성화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가입 완료 후 홈(1-0) 진입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이전으로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닉네임 입력 단계로 되돌아감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체크박스">
            <a:extLst>
              <a:ext uri="{FF2B5EF4-FFF2-40B4-BE49-F238E27FC236}">
                <a16:creationId xmlns:a16="http://schemas.microsoft.com/office/drawing/2014/main" id="{6CB0FE31-728F-A718-E93E-178DAC7B9B6C}"/>
              </a:ext>
            </a:extLst>
          </p:cNvPr>
          <p:cNvSpPr/>
          <p:nvPr/>
        </p:nvSpPr>
        <p:spPr>
          <a:xfrm>
            <a:off x="1743862" y="244165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4287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약관명">
            <a:extLst>
              <a:ext uri="{FF2B5EF4-FFF2-40B4-BE49-F238E27FC236}">
                <a16:creationId xmlns:a16="http://schemas.microsoft.com/office/drawing/2014/main" id="{62E76FB7-96B0-D7A7-2141-601F28EF0EC1}"/>
              </a:ext>
            </a:extLst>
          </p:cNvPr>
          <p:cNvSpPr txBox="1"/>
          <p:nvPr/>
        </p:nvSpPr>
        <p:spPr>
          <a:xfrm>
            <a:off x="2029612" y="244165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전체</a:t>
            </a:r>
            <a:r>
              <a:rPr lang="en-US" sz="90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sz="900" spc="-18" dirty="0" err="1">
                <a:solidFill>
                  <a:srgbClr val="14181F"/>
                </a:solidFill>
                <a:latin typeface="Pretendard"/>
              </a:rPr>
              <a:t>동의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5" name="체크박스">
            <a:extLst>
              <a:ext uri="{FF2B5EF4-FFF2-40B4-BE49-F238E27FC236}">
                <a16:creationId xmlns:a16="http://schemas.microsoft.com/office/drawing/2014/main" id="{E498746C-FB93-F6F7-AE00-2641A31DC271}"/>
              </a:ext>
            </a:extLst>
          </p:cNvPr>
          <p:cNvSpPr/>
          <p:nvPr/>
        </p:nvSpPr>
        <p:spPr>
          <a:xfrm>
            <a:off x="4831032" y="2442233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아이콘 check">
            <a:extLst>
              <a:ext uri="{FF2B5EF4-FFF2-40B4-BE49-F238E27FC236}">
                <a16:creationId xmlns:a16="http://schemas.microsoft.com/office/drawing/2014/main" id="{CB618DB7-7136-83FC-30DE-0CB4BEBA20AB}"/>
              </a:ext>
            </a:extLst>
          </p:cNvPr>
          <p:cNvSpPr/>
          <p:nvPr/>
        </p:nvSpPr>
        <p:spPr>
          <a:xfrm rot="2700000">
            <a:off x="4883610" y="2534816"/>
            <a:ext cx="4000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아이콘 check">
            <a:extLst>
              <a:ext uri="{FF2B5EF4-FFF2-40B4-BE49-F238E27FC236}">
                <a16:creationId xmlns:a16="http://schemas.microsoft.com/office/drawing/2014/main" id="{01C36620-26FD-D7A5-3841-874DDC4350EB}"/>
              </a:ext>
            </a:extLst>
          </p:cNvPr>
          <p:cNvSpPr/>
          <p:nvPr/>
        </p:nvSpPr>
        <p:spPr>
          <a:xfrm rot="18900000">
            <a:off x="4907613" y="2526815"/>
            <a:ext cx="66675" cy="133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약관명">
            <a:extLst>
              <a:ext uri="{FF2B5EF4-FFF2-40B4-BE49-F238E27FC236}">
                <a16:creationId xmlns:a16="http://schemas.microsoft.com/office/drawing/2014/main" id="{4A96CF73-06A1-3BA7-2BE9-36A55C3A0972}"/>
              </a:ext>
            </a:extLst>
          </p:cNvPr>
          <p:cNvSpPr txBox="1"/>
          <p:nvPr/>
        </p:nvSpPr>
        <p:spPr>
          <a:xfrm>
            <a:off x="5116782" y="2442233"/>
            <a:ext cx="1428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/>
              </a:rPr>
              <a:t>전체 동의</a:t>
            </a:r>
          </a:p>
        </p:txBody>
      </p:sp>
      <p:sp>
        <p:nvSpPr>
          <p:cNvPr id="79" name="숫자배지 1"/>
          <p:cNvSpPr/>
          <p:nvPr/>
        </p:nvSpPr>
        <p:spPr>
          <a:xfrm>
            <a:off x="1362456" y="2441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0" name="숫자배지 4"/>
          <p:cNvSpPr/>
          <p:nvPr/>
        </p:nvSpPr>
        <p:spPr>
          <a:xfrm>
            <a:off x="4467758" y="57534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1" name="숫자배지 2-1"/>
          <p:cNvSpPr/>
          <p:nvPr/>
        </p:nvSpPr>
        <p:spPr>
          <a:xfrm>
            <a:off x="6949440" y="286573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0-3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71237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비회원 시작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1933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비회원으로 시작하기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158582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2872832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>
                <a:solidFill>
                  <a:srgbClr val="8A94A3"/>
                </a:solidFill>
                <a:latin typeface="Pretendard"/>
              </a:rPr>
              <a:t>STEP 1 · 교통약자 유형</a:t>
            </a:r>
          </a:p>
        </p:txBody>
      </p:sp>
      <p:sp>
        <p:nvSpPr>
          <p:cNvPr id="11" name="앱바 타이틀"/>
          <p:cNvSpPr txBox="1"/>
          <p:nvPr/>
        </p:nvSpPr>
        <p:spPr>
          <a:xfrm>
            <a:off x="3158582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정보 입력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3168107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안내 문구"/>
          <p:cNvSpPr txBox="1"/>
          <p:nvPr/>
        </p:nvSpPr>
        <p:spPr>
          <a:xfrm>
            <a:off x="3349082" y="2168910"/>
            <a:ext cx="22098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유형을</a:t>
            </a:r>
            <a:r>
              <a:rPr lang="ko-KR" altLang="en-US"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선택해주세요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4" name="선택 항목 휠체어•유모차"/>
          <p:cNvSpPr/>
          <p:nvPr/>
        </p:nvSpPr>
        <p:spPr>
          <a:xfrm>
            <a:off x="3291932" y="26098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라디오"/>
          <p:cNvSpPr/>
          <p:nvPr/>
        </p:nvSpPr>
        <p:spPr>
          <a:xfrm>
            <a:off x="3425282" y="27622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항목 라벨"/>
          <p:cNvSpPr txBox="1"/>
          <p:nvPr/>
        </p:nvSpPr>
        <p:spPr>
          <a:xfrm>
            <a:off x="3653882" y="27432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17" name="선택 항목 노약자•임산부"/>
          <p:cNvSpPr/>
          <p:nvPr/>
        </p:nvSpPr>
        <p:spPr>
          <a:xfrm>
            <a:off x="3291932" y="31242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라디오"/>
          <p:cNvSpPr/>
          <p:nvPr/>
        </p:nvSpPr>
        <p:spPr>
          <a:xfrm>
            <a:off x="3425282" y="32766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항목 라벨"/>
          <p:cNvSpPr txBox="1"/>
          <p:nvPr/>
        </p:nvSpPr>
        <p:spPr>
          <a:xfrm>
            <a:off x="3653882" y="32575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37" b="0" spc="-19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20" name="선택 항목 경증 시각장애인"/>
          <p:cNvSpPr/>
          <p:nvPr/>
        </p:nvSpPr>
        <p:spPr>
          <a:xfrm>
            <a:off x="3291932" y="363855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라디오"/>
          <p:cNvSpPr/>
          <p:nvPr/>
        </p:nvSpPr>
        <p:spPr>
          <a:xfrm>
            <a:off x="3425282" y="379095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항목 라벨"/>
          <p:cNvSpPr txBox="1"/>
          <p:nvPr/>
        </p:nvSpPr>
        <p:spPr>
          <a:xfrm>
            <a:off x="3653882" y="377190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저시력 – 화면을 볼 수 있어요.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선택 항목 중증 시각장애인"/>
          <p:cNvSpPr/>
          <p:nvPr/>
        </p:nvSpPr>
        <p:spPr>
          <a:xfrm>
            <a:off x="3291932" y="4152900"/>
            <a:ext cx="2324100" cy="43815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라디오"/>
          <p:cNvSpPr/>
          <p:nvPr/>
        </p:nvSpPr>
        <p:spPr>
          <a:xfrm>
            <a:off x="3425282" y="4305300"/>
            <a:ext cx="133350" cy="133350"/>
          </a:xfrm>
          <a:prstGeom prst="ellipse">
            <a:avLst/>
          </a:prstGeom>
          <a:solidFill>
            <a:srgbClr val="FFFFFF"/>
          </a:solidFill>
          <a:ln w="11429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항목 라벨"/>
          <p:cNvSpPr txBox="1"/>
          <p:nvPr/>
        </p:nvSpPr>
        <p:spPr>
          <a:xfrm>
            <a:off x="3653882" y="4286250"/>
            <a:ext cx="18288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37" spc="-19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전맹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화면을 볼 수 없어요</a:t>
            </a:r>
            <a:r>
              <a:rPr lang="en-US" altLang="ko-KR" sz="937" spc="-19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937" spc="-19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이전 버튼"/>
          <p:cNvSpPr/>
          <p:nvPr/>
        </p:nvSpPr>
        <p:spPr>
          <a:xfrm>
            <a:off x="3291932" y="5657850"/>
            <a:ext cx="8763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이전 라벨"/>
          <p:cNvSpPr txBox="1"/>
          <p:nvPr/>
        </p:nvSpPr>
        <p:spPr>
          <a:xfrm>
            <a:off x="3291932" y="5657850"/>
            <a:ext cx="8763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>
                <a:solidFill>
                  <a:srgbClr val="5B6573"/>
                </a:solidFill>
                <a:latin typeface="Pretendard"/>
              </a:rPr>
              <a:t>이전으로</a:t>
            </a:r>
          </a:p>
        </p:txBody>
      </p:sp>
      <p:sp>
        <p:nvSpPr>
          <p:cNvPr id="28" name="다음 버튼"/>
          <p:cNvSpPr/>
          <p:nvPr/>
        </p:nvSpPr>
        <p:spPr>
          <a:xfrm>
            <a:off x="4244432" y="5657850"/>
            <a:ext cx="1371600" cy="438150"/>
          </a:xfrm>
          <a:prstGeom prst="roundRect">
            <a:avLst>
              <a:gd name="adj" fmla="val 23913"/>
            </a:avLst>
          </a:prstGeom>
          <a:solidFill>
            <a:srgbClr val="CBD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다음 라벨"/>
          <p:cNvSpPr txBox="1"/>
          <p:nvPr/>
        </p:nvSpPr>
        <p:spPr>
          <a:xfrm>
            <a:off x="4244432" y="5657850"/>
            <a:ext cx="13716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75" b="1">
                <a:solidFill>
                  <a:srgbClr val="FFFFFF"/>
                </a:solidFill>
                <a:latin typeface="Pretendard"/>
              </a:rPr>
              <a:t>시작하기</a:t>
            </a:r>
          </a:p>
        </p:txBody>
      </p:sp>
      <p:sp>
        <p:nvSpPr>
          <p:cNvPr id="3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06731"/>
              </p:ext>
            </p:extLst>
          </p:nvPr>
        </p:nvGraphicFramePr>
        <p:xfrm>
          <a:off x="8629192" y="1447800"/>
          <a:ext cx="2972409" cy="305292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29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 시나리오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교통약자 유형 선택 단계만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‘다음’ 대신 ‘시작하기’ 버튼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기본적으로 동작 사양은 회원가입 시나리오와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닉네임을 입력받지 않고 시스템이 자동 부여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회원가입하면 자동 부여됐던 닉네임은 승계되지 않고 새로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닉네임 변경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약관 동의 단계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비회원으로 시작한 기록이 있으면 다시 실행할 때 이 단계를 표출하지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회원가입하면 교통약자 유형은 현재 값이 선택된 상태로 열림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41500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22196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하단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Nav 3탭: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홈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길안내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2-0)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마이페이지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(→ 3-0)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각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대메뉴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첫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진입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페이지까지만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노출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12" name="워크플로우 스테이지"/>
          <p:cNvSpPr/>
          <p:nvPr/>
        </p:nvSpPr>
        <p:spPr>
          <a:xfrm>
            <a:off x="419100" y="1638300"/>
            <a:ext cx="11353800" cy="381000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앱 실행"/>
          <p:cNvSpPr/>
          <p:nvPr/>
        </p:nvSpPr>
        <p:spPr>
          <a:xfrm>
            <a:off x="628650" y="3352800"/>
            <a:ext cx="1123950" cy="304800"/>
          </a:xfrm>
          <a:prstGeom prst="roundRect">
            <a:avLst>
              <a:gd name="adj" fmla="val 31250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742950" y="3429000"/>
            <a:ext cx="895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앱 실행</a:t>
            </a:r>
          </a:p>
        </p:txBody>
      </p:sp>
      <p:sp>
        <p:nvSpPr>
          <p:cNvPr id="15" name="흐름 0-1 로그인"/>
          <p:cNvSpPr/>
          <p:nvPr/>
        </p:nvSpPr>
        <p:spPr>
          <a:xfrm>
            <a:off x="2152650" y="3276600"/>
            <a:ext cx="150495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2266950" y="3352800"/>
            <a:ext cx="127635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</a:t>
            </a:r>
          </a:p>
        </p:txBody>
      </p:sp>
      <p:sp>
        <p:nvSpPr>
          <p:cNvPr id="17" name="흐름 설명"/>
          <p:cNvSpPr txBox="1"/>
          <p:nvPr/>
        </p:nvSpPr>
        <p:spPr>
          <a:xfrm>
            <a:off x="2266950" y="3524250"/>
            <a:ext cx="1276350" cy="180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spc="-15">
                <a:solidFill>
                  <a:srgbClr val="8A94A3"/>
                </a:solidFill>
                <a:latin typeface="Pretendard"/>
              </a:rPr>
              <a:t>소셜 4종 · 비회원 선택</a:t>
            </a:r>
          </a:p>
        </p:txBody>
      </p:sp>
      <p:sp>
        <p:nvSpPr>
          <p:cNvPr id="18" name="흐름 0-2 회원가입"/>
          <p:cNvSpPr/>
          <p:nvPr/>
        </p:nvSpPr>
        <p:spPr>
          <a:xfrm>
            <a:off x="4762500" y="27051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4876800" y="27813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0-2 회원가입</a:t>
            </a:r>
          </a:p>
        </p:txBody>
      </p:sp>
      <p:sp>
        <p:nvSpPr>
          <p:cNvPr id="20" name="흐름 0-3 비회원 시작"/>
          <p:cNvSpPr/>
          <p:nvPr/>
        </p:nvSpPr>
        <p:spPr>
          <a:xfrm>
            <a:off x="4762500" y="4076700"/>
            <a:ext cx="1676400" cy="304800"/>
          </a:xfrm>
          <a:prstGeom prst="roundRect">
            <a:avLst>
              <a:gd name="adj" fmla="val 31250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4876800" y="4152900"/>
            <a:ext cx="14478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0-3 비회원 시작</a:t>
            </a:r>
          </a:p>
        </p:txBody>
      </p:sp>
      <p:sp>
        <p:nvSpPr>
          <p:cNvPr id="22" name="흐름 1-0 홈"/>
          <p:cNvSpPr/>
          <p:nvPr/>
        </p:nvSpPr>
        <p:spPr>
          <a:xfrm>
            <a:off x="7543800" y="3352800"/>
            <a:ext cx="1028700" cy="304800"/>
          </a:xfrm>
          <a:prstGeom prst="roundRect">
            <a:avLst>
              <a:gd name="adj" fmla="val 31250"/>
            </a:avLst>
          </a:prstGeom>
          <a:solidFill>
            <a:srgbClr val="14181F"/>
          </a:solidFill>
          <a:ln w="9525">
            <a:solidFill>
              <a:srgbClr val="1418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7658100" y="3429000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-17">
                <a:solidFill>
                  <a:srgbClr val="FFFFFF"/>
                </a:solidFill>
                <a:latin typeface="Pretendard"/>
              </a:rPr>
              <a:t>1-0 홈</a:t>
            </a:r>
          </a:p>
        </p:txBody>
      </p:sp>
      <p:cxnSp>
        <p:nvCxnSpPr>
          <p:cNvPr id="24" name="연결선"/>
          <p:cNvCxnSpPr>
            <a:stCxn id="12" idx="3"/>
            <a:endCxn id="14" idx="1"/>
          </p:cNvCxnSpPr>
          <p:nvPr/>
        </p:nvCxnSpPr>
        <p:spPr>
          <a:xfrm flipV="1">
            <a:off x="1752600" y="3500437"/>
            <a:ext cx="400050" cy="476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연결선 라벨 로그인 성공"/>
          <p:cNvSpPr txBox="1"/>
          <p:nvPr/>
        </p:nvSpPr>
        <p:spPr>
          <a:xfrm>
            <a:off x="3810000" y="3276600"/>
            <a:ext cx="8763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로그인 성공</a:t>
            </a:r>
          </a:p>
        </p:txBody>
      </p:sp>
      <p:cxnSp>
        <p:nvCxnSpPr>
          <p:cNvPr id="26" name="연결선"/>
          <p:cNvCxnSpPr>
            <a:stCxn id="14" idx="3"/>
            <a:endCxn id="17" idx="1"/>
          </p:cNvCxnSpPr>
          <p:nvPr/>
        </p:nvCxnSpPr>
        <p:spPr>
          <a:xfrm flipV="1">
            <a:off x="3657600" y="2857500"/>
            <a:ext cx="1104900" cy="64293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연결선 라벨 신규 회원"/>
          <p:cNvSpPr txBox="1"/>
          <p:nvPr/>
        </p:nvSpPr>
        <p:spPr>
          <a:xfrm>
            <a:off x="424410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신규 회원</a:t>
            </a:r>
          </a:p>
        </p:txBody>
      </p:sp>
      <p:cxnSp>
        <p:nvCxnSpPr>
          <p:cNvPr id="28" name="연결선"/>
          <p:cNvCxnSpPr>
            <a:stCxn id="14" idx="3"/>
            <a:endCxn id="19" idx="1"/>
          </p:cNvCxnSpPr>
          <p:nvPr/>
        </p:nvCxnSpPr>
        <p:spPr>
          <a:xfrm>
            <a:off x="3657600" y="3500437"/>
            <a:ext cx="1104900" cy="72866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연결선 라벨 비회원"/>
          <p:cNvSpPr txBox="1"/>
          <p:nvPr/>
        </p:nvSpPr>
        <p:spPr>
          <a:xfrm>
            <a:off x="4302919" y="4062412"/>
            <a:ext cx="36671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비회원</a:t>
            </a:r>
          </a:p>
        </p:txBody>
      </p:sp>
      <p:cxnSp>
        <p:nvCxnSpPr>
          <p:cNvPr id="30" name="연결선"/>
          <p:cNvCxnSpPr>
            <a:stCxn id="17" idx="3"/>
            <a:endCxn id="21" idx="1"/>
          </p:cNvCxnSpPr>
          <p:nvPr/>
        </p:nvCxnSpPr>
        <p:spPr>
          <a:xfrm>
            <a:off x="6438900" y="2857500"/>
            <a:ext cx="1104900" cy="6477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연결선 라벨 가입 완료"/>
          <p:cNvSpPr txBox="1"/>
          <p:nvPr/>
        </p:nvSpPr>
        <p:spPr>
          <a:xfrm>
            <a:off x="6472952" y="2690812"/>
            <a:ext cx="484346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가입 완료</a:t>
            </a:r>
          </a:p>
        </p:txBody>
      </p:sp>
      <p:cxnSp>
        <p:nvCxnSpPr>
          <p:cNvPr id="32" name="연결선"/>
          <p:cNvCxnSpPr>
            <a:stCxn id="19" idx="3"/>
            <a:endCxn id="21" idx="1"/>
          </p:cNvCxnSpPr>
          <p:nvPr/>
        </p:nvCxnSpPr>
        <p:spPr>
          <a:xfrm flipV="1">
            <a:off x="6438900" y="3505200"/>
            <a:ext cx="1104900" cy="72390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연결선 라벨 시작하기"/>
          <p:cNvSpPr txBox="1"/>
          <p:nvPr/>
        </p:nvSpPr>
        <p:spPr>
          <a:xfrm>
            <a:off x="6486525" y="4062412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시작하기</a:t>
            </a:r>
          </a:p>
        </p:txBody>
      </p:sp>
      <p:sp>
        <p:nvSpPr>
          <p:cNvPr id="34" name="메뉴 1-1 길안내 (→ 2-0"/>
          <p:cNvSpPr/>
          <p:nvPr/>
        </p:nvSpPr>
        <p:spPr>
          <a:xfrm>
            <a:off x="9258300" y="24955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메뉴 라벨"/>
          <p:cNvSpPr txBox="1"/>
          <p:nvPr/>
        </p:nvSpPr>
        <p:spPr>
          <a:xfrm>
            <a:off x="9344025" y="25336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1-1 길안내 (→ 2-0)</a:t>
            </a:r>
          </a:p>
        </p:txBody>
      </p:sp>
      <p:cxnSp>
        <p:nvCxnSpPr>
          <p:cNvPr id="36" name="연결선"/>
          <p:cNvCxnSpPr>
            <a:stCxn id="21" idx="3"/>
            <a:endCxn id="33" idx="1"/>
          </p:cNvCxnSpPr>
          <p:nvPr/>
        </p:nvCxnSpPr>
        <p:spPr>
          <a:xfrm flipV="1">
            <a:off x="8572500" y="2619375"/>
            <a:ext cx="685800" cy="8858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메뉴 1-2 인근 편의시설"/>
          <p:cNvSpPr/>
          <p:nvPr/>
        </p:nvSpPr>
        <p:spPr>
          <a:xfrm>
            <a:off x="9258300" y="28575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메뉴 라벨"/>
          <p:cNvSpPr txBox="1"/>
          <p:nvPr/>
        </p:nvSpPr>
        <p:spPr>
          <a:xfrm>
            <a:off x="9344025" y="28956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cxnSp>
        <p:nvCxnSpPr>
          <p:cNvPr id="39" name="연결선"/>
          <p:cNvCxnSpPr>
            <a:stCxn id="21" idx="3"/>
            <a:endCxn id="36" idx="1"/>
          </p:cNvCxnSpPr>
          <p:nvPr/>
        </p:nvCxnSpPr>
        <p:spPr>
          <a:xfrm flipV="1">
            <a:off x="8572500" y="2981325"/>
            <a:ext cx="685800" cy="5238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메뉴 1-3 버스정류장 검색 (→ 2-5)"/>
          <p:cNvSpPr/>
          <p:nvPr/>
        </p:nvSpPr>
        <p:spPr>
          <a:xfrm>
            <a:off x="9258300" y="32194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메뉴 라벨"/>
          <p:cNvSpPr txBox="1"/>
          <p:nvPr/>
        </p:nvSpPr>
        <p:spPr>
          <a:xfrm>
            <a:off x="9344025" y="32575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1-3 버스정류장 검색 (→ 2-5)</a:t>
            </a:r>
          </a:p>
        </p:txBody>
      </p:sp>
      <p:cxnSp>
        <p:nvCxnSpPr>
          <p:cNvPr id="42" name="연결선"/>
          <p:cNvCxnSpPr>
            <a:stCxn id="21" idx="3"/>
            <a:endCxn id="39" idx="1"/>
          </p:cNvCxnSpPr>
          <p:nvPr/>
        </p:nvCxnSpPr>
        <p:spPr>
          <a:xfrm flipV="1">
            <a:off x="8572500" y="3343275"/>
            <a:ext cx="685800" cy="161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메뉴 1-4 지하철역 검색"/>
          <p:cNvSpPr/>
          <p:nvPr/>
        </p:nvSpPr>
        <p:spPr>
          <a:xfrm>
            <a:off x="9258300" y="35814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메뉴 라벨"/>
          <p:cNvSpPr txBox="1"/>
          <p:nvPr/>
        </p:nvSpPr>
        <p:spPr>
          <a:xfrm>
            <a:off x="9344025" y="36195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1-4 지하철역 검색</a:t>
            </a:r>
          </a:p>
        </p:txBody>
      </p:sp>
      <p:cxnSp>
        <p:nvCxnSpPr>
          <p:cNvPr id="45" name="연결선"/>
          <p:cNvCxnSpPr>
            <a:stCxn id="21" idx="3"/>
            <a:endCxn id="42" idx="1"/>
          </p:cNvCxnSpPr>
          <p:nvPr/>
        </p:nvCxnSpPr>
        <p:spPr>
          <a:xfrm>
            <a:off x="8572500" y="3505200"/>
            <a:ext cx="685800" cy="2000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메뉴 1-5 택시 호출"/>
          <p:cNvSpPr/>
          <p:nvPr/>
        </p:nvSpPr>
        <p:spPr>
          <a:xfrm>
            <a:off x="9258300" y="394335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메뉴 라벨"/>
          <p:cNvSpPr txBox="1"/>
          <p:nvPr/>
        </p:nvSpPr>
        <p:spPr>
          <a:xfrm>
            <a:off x="9344025" y="398145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cxnSp>
        <p:nvCxnSpPr>
          <p:cNvPr id="48" name="연결선"/>
          <p:cNvCxnSpPr>
            <a:stCxn id="21" idx="3"/>
            <a:endCxn id="45" idx="1"/>
          </p:cNvCxnSpPr>
          <p:nvPr/>
        </p:nvCxnSpPr>
        <p:spPr>
          <a:xfrm>
            <a:off x="8572500" y="3505200"/>
            <a:ext cx="685800" cy="56197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메뉴 1-6 불편신고"/>
          <p:cNvSpPr/>
          <p:nvPr/>
        </p:nvSpPr>
        <p:spPr>
          <a:xfrm>
            <a:off x="9258300" y="4305300"/>
            <a:ext cx="2266950" cy="247650"/>
          </a:xfrm>
          <a:prstGeom prst="roundRect">
            <a:avLst>
              <a:gd name="adj" fmla="val 2692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메뉴 라벨"/>
          <p:cNvSpPr txBox="1"/>
          <p:nvPr/>
        </p:nvSpPr>
        <p:spPr>
          <a:xfrm>
            <a:off x="9344025" y="4343400"/>
            <a:ext cx="2095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62" b="1" spc="-24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cxnSp>
        <p:nvCxnSpPr>
          <p:cNvPr id="51" name="연결선"/>
          <p:cNvCxnSpPr>
            <a:stCxn id="21" idx="3"/>
            <a:endCxn id="48" idx="1"/>
          </p:cNvCxnSpPr>
          <p:nvPr/>
        </p:nvCxnSpPr>
        <p:spPr>
          <a:xfrm>
            <a:off x="8572500" y="3505200"/>
            <a:ext cx="685800" cy="92392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630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 화면 (1/2)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787" b="0" spc="38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홈 메뉴 길안내"/>
          <p:cNvSpPr/>
          <p:nvPr/>
        </p:nvSpPr>
        <p:spPr>
          <a:xfrm>
            <a:off x="1619250" y="237058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2089880" y="2623947"/>
            <a:ext cx="168402" cy="1981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홈 메뉴 라벨"/>
          <p:cNvSpPr txBox="1"/>
          <p:nvPr/>
        </p:nvSpPr>
        <p:spPr>
          <a:xfrm>
            <a:off x="1619250" y="296113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6" name="홈 메뉴 인근 편의시설"/>
          <p:cNvSpPr/>
          <p:nvPr/>
        </p:nvSpPr>
        <p:spPr>
          <a:xfrm>
            <a:off x="2833688" y="237058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pin"/>
          <p:cNvSpPr/>
          <p:nvPr/>
        </p:nvSpPr>
        <p:spPr>
          <a:xfrm rot="8100000">
            <a:off x="3309271" y="2623947"/>
            <a:ext cx="158496" cy="158496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pin"/>
          <p:cNvSpPr/>
          <p:nvPr/>
        </p:nvSpPr>
        <p:spPr>
          <a:xfrm>
            <a:off x="3363754" y="2673477"/>
            <a:ext cx="49530" cy="4953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홈 메뉴 라벨"/>
          <p:cNvSpPr txBox="1"/>
          <p:nvPr/>
        </p:nvSpPr>
        <p:spPr>
          <a:xfrm>
            <a:off x="2833688" y="296113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0" name="홈 메뉴 택시 호출"/>
          <p:cNvSpPr/>
          <p:nvPr/>
        </p:nvSpPr>
        <p:spPr>
          <a:xfrm>
            <a:off x="1619250" y="444703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taxi"/>
          <p:cNvSpPr/>
          <p:nvPr/>
        </p:nvSpPr>
        <p:spPr>
          <a:xfrm>
            <a:off x="2079974" y="4764786"/>
            <a:ext cx="188214" cy="84201"/>
          </a:xfrm>
          <a:prstGeom prst="roundRect">
            <a:avLst>
              <a:gd name="adj" fmla="val 5000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아이콘 taxi"/>
          <p:cNvSpPr/>
          <p:nvPr/>
        </p:nvSpPr>
        <p:spPr>
          <a:xfrm>
            <a:off x="2119598" y="4725162"/>
            <a:ext cx="108966" cy="44577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아이콘 taxi"/>
          <p:cNvSpPr/>
          <p:nvPr/>
        </p:nvSpPr>
        <p:spPr>
          <a:xfrm>
            <a:off x="2099786" y="4829175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아이콘 taxi"/>
          <p:cNvSpPr/>
          <p:nvPr/>
        </p:nvSpPr>
        <p:spPr>
          <a:xfrm>
            <a:off x="2208752" y="4829175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홈 메뉴 라벨"/>
          <p:cNvSpPr txBox="1"/>
          <p:nvPr/>
        </p:nvSpPr>
        <p:spPr>
          <a:xfrm>
            <a:off x="1619250" y="5049305"/>
            <a:ext cx="1109662" cy="190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900" b="0" spc="-27" dirty="0">
                <a:solidFill>
                  <a:srgbClr val="14181F"/>
                </a:solidFill>
                <a:latin typeface="Pretendard"/>
              </a:rPr>
              <a:t>택시 호출</a:t>
            </a:r>
            <a:endParaRPr sz="900" b="0" spc="-2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홈 메뉴 버스정류장"/>
          <p:cNvSpPr/>
          <p:nvPr/>
        </p:nvSpPr>
        <p:spPr>
          <a:xfrm>
            <a:off x="1619250" y="3408807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bus"/>
          <p:cNvSpPr/>
          <p:nvPr/>
        </p:nvSpPr>
        <p:spPr>
          <a:xfrm>
            <a:off x="2084927" y="3672078"/>
            <a:ext cx="178308" cy="14859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bus"/>
          <p:cNvSpPr/>
          <p:nvPr/>
        </p:nvSpPr>
        <p:spPr>
          <a:xfrm>
            <a:off x="2084927" y="3746373"/>
            <a:ext cx="178308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bus"/>
          <p:cNvSpPr/>
          <p:nvPr/>
        </p:nvSpPr>
        <p:spPr>
          <a:xfrm>
            <a:off x="2104739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bus"/>
          <p:cNvSpPr/>
          <p:nvPr/>
        </p:nvSpPr>
        <p:spPr>
          <a:xfrm>
            <a:off x="2208752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홈 메뉴 라벨"/>
          <p:cNvSpPr txBox="1"/>
          <p:nvPr/>
        </p:nvSpPr>
        <p:spPr>
          <a:xfrm>
            <a:off x="1619250" y="3999357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32" name="홈 메뉴 지하철역"/>
          <p:cNvSpPr/>
          <p:nvPr/>
        </p:nvSpPr>
        <p:spPr>
          <a:xfrm>
            <a:off x="2833688" y="3408807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아이콘 train"/>
          <p:cNvSpPr/>
          <p:nvPr/>
        </p:nvSpPr>
        <p:spPr>
          <a:xfrm>
            <a:off x="3304318" y="3662172"/>
            <a:ext cx="168402" cy="1535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train"/>
          <p:cNvSpPr/>
          <p:nvPr/>
        </p:nvSpPr>
        <p:spPr>
          <a:xfrm>
            <a:off x="3304318" y="3751326"/>
            <a:ext cx="168402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아이콘 train"/>
          <p:cNvSpPr/>
          <p:nvPr/>
        </p:nvSpPr>
        <p:spPr>
          <a:xfrm>
            <a:off x="3329083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아이콘 train"/>
          <p:cNvSpPr/>
          <p:nvPr/>
        </p:nvSpPr>
        <p:spPr>
          <a:xfrm>
            <a:off x="3413284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홈 메뉴 라벨"/>
          <p:cNvSpPr txBox="1"/>
          <p:nvPr/>
        </p:nvSpPr>
        <p:spPr>
          <a:xfrm>
            <a:off x="2833688" y="3999357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38" name="홈 메뉴 불편신고"/>
          <p:cNvSpPr/>
          <p:nvPr/>
        </p:nvSpPr>
        <p:spPr>
          <a:xfrm>
            <a:off x="2833688" y="444703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아이콘 alert"/>
          <p:cNvSpPr/>
          <p:nvPr/>
        </p:nvSpPr>
        <p:spPr>
          <a:xfrm>
            <a:off x="3284506" y="4705350"/>
            <a:ext cx="208026" cy="188214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아이콘 alert"/>
          <p:cNvSpPr txBox="1"/>
          <p:nvPr/>
        </p:nvSpPr>
        <p:spPr>
          <a:xfrm>
            <a:off x="3284506" y="4769739"/>
            <a:ext cx="208026" cy="891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19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41" name="홈 메뉴 라벨"/>
          <p:cNvSpPr txBox="1"/>
          <p:nvPr/>
        </p:nvSpPr>
        <p:spPr>
          <a:xfrm>
            <a:off x="2833688" y="503758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하단 Nav 구분선"/>
          <p:cNvSpPr/>
          <p:nvPr/>
        </p:nvSpPr>
        <p:spPr>
          <a:xfrm>
            <a:off x="1495425" y="618744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아이콘 nav"/>
          <p:cNvSpPr/>
          <p:nvPr/>
        </p:nvSpPr>
        <p:spPr>
          <a:xfrm>
            <a:off x="271329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Nav 길안내"/>
          <p:cNvSpPr txBox="1"/>
          <p:nvPr/>
        </p:nvSpPr>
        <p:spPr>
          <a:xfrm>
            <a:off x="23495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5" name="아이콘 home"/>
          <p:cNvSpPr/>
          <p:nvPr/>
        </p:nvSpPr>
        <p:spPr>
          <a:xfrm>
            <a:off x="1833690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home"/>
          <p:cNvSpPr/>
          <p:nvPr/>
        </p:nvSpPr>
        <p:spPr>
          <a:xfrm>
            <a:off x="186169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Nav 홈"/>
          <p:cNvSpPr txBox="1"/>
          <p:nvPr/>
        </p:nvSpPr>
        <p:spPr>
          <a:xfrm>
            <a:off x="14859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48" name="아이콘 user"/>
          <p:cNvSpPr/>
          <p:nvPr/>
        </p:nvSpPr>
        <p:spPr>
          <a:xfrm>
            <a:off x="360889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user"/>
          <p:cNvSpPr/>
          <p:nvPr/>
        </p:nvSpPr>
        <p:spPr>
          <a:xfrm>
            <a:off x="357289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마이페이지"/>
          <p:cNvSpPr txBox="1"/>
          <p:nvPr/>
        </p:nvSpPr>
        <p:spPr>
          <a:xfrm>
            <a:off x="32131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1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3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54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홈 메뉴 길안내"/>
          <p:cNvSpPr/>
          <p:nvPr/>
        </p:nvSpPr>
        <p:spPr>
          <a:xfrm>
            <a:off x="4724400" y="237058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아이콘 nav"/>
          <p:cNvSpPr/>
          <p:nvPr/>
        </p:nvSpPr>
        <p:spPr>
          <a:xfrm>
            <a:off x="4891278" y="2534412"/>
            <a:ext cx="142494" cy="16764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홈 메뉴 라벨"/>
          <p:cNvSpPr txBox="1"/>
          <p:nvPr/>
        </p:nvSpPr>
        <p:spPr>
          <a:xfrm>
            <a:off x="5181600" y="253250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58" name="홈 메뉴 인근 편의시설"/>
          <p:cNvSpPr/>
          <p:nvPr/>
        </p:nvSpPr>
        <p:spPr>
          <a:xfrm>
            <a:off x="4724400" y="295160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pin"/>
          <p:cNvSpPr/>
          <p:nvPr/>
        </p:nvSpPr>
        <p:spPr>
          <a:xfrm rot="8100000">
            <a:off x="4895469" y="3115437"/>
            <a:ext cx="134112" cy="134112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pin"/>
          <p:cNvSpPr/>
          <p:nvPr/>
        </p:nvSpPr>
        <p:spPr>
          <a:xfrm>
            <a:off x="4941570" y="3157347"/>
            <a:ext cx="41910" cy="4191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홈 메뉴 라벨"/>
          <p:cNvSpPr txBox="1"/>
          <p:nvPr/>
        </p:nvSpPr>
        <p:spPr>
          <a:xfrm>
            <a:off x="5181600" y="311353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2" name="홈 메뉴 택시 호출"/>
          <p:cNvSpPr/>
          <p:nvPr/>
        </p:nvSpPr>
        <p:spPr>
          <a:xfrm>
            <a:off x="4724400" y="469468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taxi"/>
          <p:cNvSpPr/>
          <p:nvPr/>
        </p:nvSpPr>
        <p:spPr>
          <a:xfrm>
            <a:off x="4882896" y="4912995"/>
            <a:ext cx="159258" cy="71247"/>
          </a:xfrm>
          <a:prstGeom prst="roundRect">
            <a:avLst>
              <a:gd name="adj" fmla="val 5000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taxi"/>
          <p:cNvSpPr/>
          <p:nvPr/>
        </p:nvSpPr>
        <p:spPr>
          <a:xfrm>
            <a:off x="4916424" y="4879467"/>
            <a:ext cx="92202" cy="37719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아이콘 taxi"/>
          <p:cNvSpPr/>
          <p:nvPr/>
        </p:nvSpPr>
        <p:spPr>
          <a:xfrm>
            <a:off x="4899660" y="4967478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taxi"/>
          <p:cNvSpPr/>
          <p:nvPr/>
        </p:nvSpPr>
        <p:spPr>
          <a:xfrm>
            <a:off x="4991862" y="4967478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홈 메뉴 라벨"/>
          <p:cNvSpPr txBox="1"/>
          <p:nvPr/>
        </p:nvSpPr>
        <p:spPr>
          <a:xfrm>
            <a:off x="5181600" y="485660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1000" spc="-27" dirty="0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8" name="홈 메뉴 버스정류장"/>
          <p:cNvSpPr/>
          <p:nvPr/>
        </p:nvSpPr>
        <p:spPr>
          <a:xfrm>
            <a:off x="4724400" y="353263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bus"/>
          <p:cNvSpPr/>
          <p:nvPr/>
        </p:nvSpPr>
        <p:spPr>
          <a:xfrm>
            <a:off x="4887087" y="3704844"/>
            <a:ext cx="150876" cy="12573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아이콘 bus"/>
          <p:cNvSpPr/>
          <p:nvPr/>
        </p:nvSpPr>
        <p:spPr>
          <a:xfrm>
            <a:off x="4887087" y="3767709"/>
            <a:ext cx="150876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bus"/>
          <p:cNvSpPr/>
          <p:nvPr/>
        </p:nvSpPr>
        <p:spPr>
          <a:xfrm>
            <a:off x="4903851" y="3834765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bus"/>
          <p:cNvSpPr/>
          <p:nvPr/>
        </p:nvSpPr>
        <p:spPr>
          <a:xfrm>
            <a:off x="4991862" y="3834765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홈 메뉴 라벨"/>
          <p:cNvSpPr txBox="1"/>
          <p:nvPr/>
        </p:nvSpPr>
        <p:spPr>
          <a:xfrm>
            <a:off x="5181600" y="369455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4" name="홈 메뉴 지하철역"/>
          <p:cNvSpPr/>
          <p:nvPr/>
        </p:nvSpPr>
        <p:spPr>
          <a:xfrm>
            <a:off x="4724400" y="411365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train"/>
          <p:cNvSpPr/>
          <p:nvPr/>
        </p:nvSpPr>
        <p:spPr>
          <a:xfrm>
            <a:off x="4891278" y="4277487"/>
            <a:ext cx="142494" cy="129921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아이콘 train"/>
          <p:cNvSpPr/>
          <p:nvPr/>
        </p:nvSpPr>
        <p:spPr>
          <a:xfrm>
            <a:off x="4891278" y="4352925"/>
            <a:ext cx="142494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train"/>
          <p:cNvSpPr/>
          <p:nvPr/>
        </p:nvSpPr>
        <p:spPr>
          <a:xfrm>
            <a:off x="4912233" y="4415790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train"/>
          <p:cNvSpPr/>
          <p:nvPr/>
        </p:nvSpPr>
        <p:spPr>
          <a:xfrm>
            <a:off x="4983480" y="4415790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홈 메뉴 라벨"/>
          <p:cNvSpPr txBox="1"/>
          <p:nvPr/>
        </p:nvSpPr>
        <p:spPr>
          <a:xfrm>
            <a:off x="5181600" y="427558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0" name="홈 메뉴 불편신고"/>
          <p:cNvSpPr/>
          <p:nvPr/>
        </p:nvSpPr>
        <p:spPr>
          <a:xfrm>
            <a:off x="4724400" y="527570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alert"/>
          <p:cNvSpPr/>
          <p:nvPr/>
        </p:nvSpPr>
        <p:spPr>
          <a:xfrm>
            <a:off x="4874514" y="5443728"/>
            <a:ext cx="176022" cy="159258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아이콘 alert"/>
          <p:cNvSpPr txBox="1"/>
          <p:nvPr/>
        </p:nvSpPr>
        <p:spPr>
          <a:xfrm>
            <a:off x="4874514" y="5498211"/>
            <a:ext cx="176022" cy="754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93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83" name="홈 메뉴 라벨"/>
          <p:cNvSpPr txBox="1"/>
          <p:nvPr/>
        </p:nvSpPr>
        <p:spPr>
          <a:xfrm>
            <a:off x="5181600" y="543763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84" name="하단 Nav 구분선"/>
          <p:cNvSpPr/>
          <p:nvPr/>
        </p:nvSpPr>
        <p:spPr>
          <a:xfrm>
            <a:off x="4600575" y="618744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아이콘 nav"/>
          <p:cNvSpPr/>
          <p:nvPr/>
        </p:nvSpPr>
        <p:spPr>
          <a:xfrm>
            <a:off x="581844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Nav 길안내"/>
          <p:cNvSpPr txBox="1"/>
          <p:nvPr/>
        </p:nvSpPr>
        <p:spPr>
          <a:xfrm>
            <a:off x="54546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87" name="아이콘 home"/>
          <p:cNvSpPr/>
          <p:nvPr/>
        </p:nvSpPr>
        <p:spPr>
          <a:xfrm>
            <a:off x="4938839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아이콘 home"/>
          <p:cNvSpPr/>
          <p:nvPr/>
        </p:nvSpPr>
        <p:spPr>
          <a:xfrm>
            <a:off x="496684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Nav 홈"/>
          <p:cNvSpPr txBox="1"/>
          <p:nvPr/>
        </p:nvSpPr>
        <p:spPr>
          <a:xfrm>
            <a:off x="45910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90" name="아이콘 user"/>
          <p:cNvSpPr/>
          <p:nvPr/>
        </p:nvSpPr>
        <p:spPr>
          <a:xfrm>
            <a:off x="671404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user"/>
          <p:cNvSpPr/>
          <p:nvPr/>
        </p:nvSpPr>
        <p:spPr>
          <a:xfrm>
            <a:off x="667804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Nav 마이페이지"/>
          <p:cNvSpPr txBox="1"/>
          <p:nvPr/>
        </p:nvSpPr>
        <p:spPr>
          <a:xfrm>
            <a:off x="63182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6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381375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전맹 외 모든 유형의 홈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메뉴 6버튼을 2열 × 3행 그리드로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음성인식은 제공하지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30529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예약 현황 위젯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진행 중 예약이 있을 때만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 전용 · 노선번호 + 승차 정류장 + 상태 + 안내 + [&gt;]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 4단 — 신청 완료 · 확정됨 · 예약되지 않음 · 탑승 확인 필요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상태별 안내 — 확정됨 ‘기사님께 전달되었습니다. 정류장에서 기다려 주세요.’ · 예약되지 않음은 사유 1줄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진행 중 2건 이상이면 최신 1건만 본문에 표출 + 건수 태그 (1건이면 태그 없음)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전체가 3-4로 가는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소멸 — 확인 즉시 · 거절 1시간 · 무응답 30분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조회 실패 시 ‘예약 정보를 불러오지 못했습니다.’ + [다시 시도]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" name="예약 현황 위젯"/>
          <p:cNvSpPr/>
          <p:nvPr/>
        </p:nvSpPr>
        <p:spPr>
          <a:xfrm>
            <a:off x="1618488" y="1655064"/>
            <a:ext cx="2322576" cy="6583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위젯 노선·정류장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737360" y="1682496"/>
            <a:ext cx="1645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99" name="위젯 상태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737360" y="1865376"/>
            <a:ext cx="137160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예약 신청 완료</a:t>
            </a:r>
          </a:p>
        </p:txBody>
      </p:sp>
      <p:sp>
        <p:nvSpPr>
          <p:cNvPr id="100" name="위젯 안내"/>
          <p:cNvSpPr/>
          <p:nvPr/>
        </p:nvSpPr>
        <p:spPr>
          <a:xfrm>
            <a:off x="1737360" y="2002536"/>
            <a:ext cx="18288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정류장에서 기다려 주세요. 버스가 도착할 때쯤 예약이 확정됩니다.</a:t>
            </a:r>
          </a:p>
        </p:txBody>
      </p:sp>
      <p:sp>
        <p:nvSpPr>
          <p:cNvPr id="101" name="위젯 이동 표식"/>
          <p:cNvSpPr/>
          <p:nvPr/>
        </p:nvSpPr>
        <p:spPr>
          <a:xfrm>
            <a:off x="3666744" y="1828800"/>
            <a:ext cx="182880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＞</a:t>
            </a:r>
          </a:p>
        </p:txBody>
      </p:sp>
      <p:sp>
        <p:nvSpPr>
          <p:cNvPr id="102" name="예약 현황 위젯"/>
          <p:cNvSpPr/>
          <p:nvPr/>
        </p:nvSpPr>
        <p:spPr>
          <a:xfrm>
            <a:off x="4727448" y="1655064"/>
            <a:ext cx="2322576" cy="6583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위젯 노선·정류장"/>
          <p:cNvSpPr/>
          <p:nvPr/>
        </p:nvSpPr>
        <p:spPr>
          <a:xfrm>
            <a:off x="4846320" y="1682496"/>
            <a:ext cx="1645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104" name="위젯 상태"/>
          <p:cNvSpPr/>
          <p:nvPr/>
        </p:nvSpPr>
        <p:spPr>
          <a:xfrm>
            <a:off x="4846320" y="1865376"/>
            <a:ext cx="137160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예약 신청 완료</a:t>
            </a:r>
          </a:p>
        </p:txBody>
      </p:sp>
      <p:sp>
        <p:nvSpPr>
          <p:cNvPr id="105" name="위젯 안내"/>
          <p:cNvSpPr/>
          <p:nvPr/>
        </p:nvSpPr>
        <p:spPr>
          <a:xfrm>
            <a:off x="4846320" y="2002536"/>
            <a:ext cx="18288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정류장에서 기다려 주세요. 버스가 도착할 때쯤 예약이 확정됩니다.</a:t>
            </a:r>
          </a:p>
        </p:txBody>
      </p:sp>
      <p:sp>
        <p:nvSpPr>
          <p:cNvPr id="106" name="위젯 이동 표식"/>
          <p:cNvSpPr/>
          <p:nvPr/>
        </p:nvSpPr>
        <p:spPr>
          <a:xfrm>
            <a:off x="6775704" y="1828800"/>
            <a:ext cx="182880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＞</a:t>
            </a:r>
          </a:p>
        </p:txBody>
      </p:sp>
      <p:sp>
        <p:nvSpPr>
          <p:cNvPr id="107" name="숫자배지 1"/>
          <p:cNvSpPr/>
          <p:nvPr/>
        </p:nvSpPr>
        <p:spPr>
          <a:xfrm>
            <a:off x="136207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8" name="숫자배지 2"/>
          <p:cNvSpPr/>
          <p:nvPr/>
        </p:nvSpPr>
        <p:spPr>
          <a:xfrm>
            <a:off x="705802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9" name="숫자배지 1-2"/>
          <p:cNvSpPr/>
          <p:nvPr/>
        </p:nvSpPr>
        <p:spPr>
          <a:xfrm>
            <a:off x="1295400" y="280873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10" name="숫자배지 1-3"/>
          <p:cNvSpPr/>
          <p:nvPr/>
        </p:nvSpPr>
        <p:spPr>
          <a:xfrm>
            <a:off x="129540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11" name="숫자배지 1-1"/>
          <p:cNvSpPr/>
          <p:nvPr/>
        </p:nvSpPr>
        <p:spPr>
          <a:xfrm>
            <a:off x="1298448" y="180136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630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홈 화면 (2/2)</a:t>
            </a:r>
          </a:p>
        </p:txBody>
      </p:sp>
      <p:sp>
        <p:nvSpPr>
          <p:cNvPr id="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48590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캡션"/>
          <p:cNvSpPr txBox="1"/>
          <p:nvPr/>
        </p:nvSpPr>
        <p:spPr>
          <a:xfrm>
            <a:off x="120015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r>
              <a:rPr lang="ko-KR" altLang="en-US" sz="787" b="0" spc="38" dirty="0">
                <a:solidFill>
                  <a:srgbClr val="8A94A3"/>
                </a:solidFill>
                <a:latin typeface="Pretendard"/>
              </a:rPr>
              <a:t> 외 모든 유형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1" name="앱바 타이틀"/>
          <p:cNvSpPr txBox="1"/>
          <p:nvPr/>
        </p:nvSpPr>
        <p:spPr>
          <a:xfrm>
            <a:off x="148590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2" name="앱바 구분선"/>
          <p:cNvSpPr/>
          <p:nvPr/>
        </p:nvSpPr>
        <p:spPr>
          <a:xfrm>
            <a:off x="149542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홈 메뉴 길안내"/>
          <p:cNvSpPr/>
          <p:nvPr/>
        </p:nvSpPr>
        <p:spPr>
          <a:xfrm>
            <a:off x="1619250" y="237058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아이콘 nav"/>
          <p:cNvSpPr/>
          <p:nvPr/>
        </p:nvSpPr>
        <p:spPr>
          <a:xfrm>
            <a:off x="2089880" y="2623947"/>
            <a:ext cx="168402" cy="1981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홈 메뉴 라벨"/>
          <p:cNvSpPr txBox="1"/>
          <p:nvPr/>
        </p:nvSpPr>
        <p:spPr>
          <a:xfrm>
            <a:off x="1619250" y="296113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16" name="홈 메뉴 인근 편의시설"/>
          <p:cNvSpPr/>
          <p:nvPr/>
        </p:nvSpPr>
        <p:spPr>
          <a:xfrm>
            <a:off x="2833688" y="237058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아이콘 pin"/>
          <p:cNvSpPr/>
          <p:nvPr/>
        </p:nvSpPr>
        <p:spPr>
          <a:xfrm rot="8100000">
            <a:off x="3309271" y="2623947"/>
            <a:ext cx="158496" cy="158496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pin"/>
          <p:cNvSpPr/>
          <p:nvPr/>
        </p:nvSpPr>
        <p:spPr>
          <a:xfrm>
            <a:off x="3363754" y="2673477"/>
            <a:ext cx="49530" cy="4953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홈 메뉴 라벨"/>
          <p:cNvSpPr txBox="1"/>
          <p:nvPr/>
        </p:nvSpPr>
        <p:spPr>
          <a:xfrm>
            <a:off x="2833688" y="296113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0" name="홈 메뉴 택시 호출"/>
          <p:cNvSpPr/>
          <p:nvPr/>
        </p:nvSpPr>
        <p:spPr>
          <a:xfrm>
            <a:off x="1619250" y="444703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아이콘 taxi"/>
          <p:cNvSpPr/>
          <p:nvPr/>
        </p:nvSpPr>
        <p:spPr>
          <a:xfrm>
            <a:off x="2079974" y="4764786"/>
            <a:ext cx="188214" cy="84201"/>
          </a:xfrm>
          <a:prstGeom prst="roundRect">
            <a:avLst>
              <a:gd name="adj" fmla="val 5000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아이콘 taxi"/>
          <p:cNvSpPr/>
          <p:nvPr/>
        </p:nvSpPr>
        <p:spPr>
          <a:xfrm>
            <a:off x="2119598" y="4725162"/>
            <a:ext cx="108966" cy="44577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아이콘 taxi"/>
          <p:cNvSpPr/>
          <p:nvPr/>
        </p:nvSpPr>
        <p:spPr>
          <a:xfrm>
            <a:off x="2099786" y="4829175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아이콘 taxi"/>
          <p:cNvSpPr/>
          <p:nvPr/>
        </p:nvSpPr>
        <p:spPr>
          <a:xfrm>
            <a:off x="2208752" y="4829175"/>
            <a:ext cx="39624" cy="39624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홈 메뉴 라벨"/>
          <p:cNvSpPr txBox="1"/>
          <p:nvPr/>
        </p:nvSpPr>
        <p:spPr>
          <a:xfrm>
            <a:off x="1619250" y="5049305"/>
            <a:ext cx="1109662" cy="19096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ko-KR" altLang="en-US" sz="900" b="0" spc="-27" dirty="0">
                <a:solidFill>
                  <a:srgbClr val="14181F"/>
                </a:solidFill>
                <a:latin typeface="Pretendard"/>
              </a:rPr>
              <a:t>택시 호출</a:t>
            </a:r>
            <a:endParaRPr sz="900" b="0" spc="-2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홈 메뉴 버스정류장"/>
          <p:cNvSpPr/>
          <p:nvPr/>
        </p:nvSpPr>
        <p:spPr>
          <a:xfrm>
            <a:off x="1619250" y="3408807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아이콘 bus"/>
          <p:cNvSpPr/>
          <p:nvPr/>
        </p:nvSpPr>
        <p:spPr>
          <a:xfrm>
            <a:off x="2084927" y="3672078"/>
            <a:ext cx="178308" cy="14859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bus"/>
          <p:cNvSpPr/>
          <p:nvPr/>
        </p:nvSpPr>
        <p:spPr>
          <a:xfrm>
            <a:off x="2084927" y="3746373"/>
            <a:ext cx="178308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아이콘 bus"/>
          <p:cNvSpPr/>
          <p:nvPr/>
        </p:nvSpPr>
        <p:spPr>
          <a:xfrm>
            <a:off x="2104739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아이콘 bus"/>
          <p:cNvSpPr/>
          <p:nvPr/>
        </p:nvSpPr>
        <p:spPr>
          <a:xfrm>
            <a:off x="2208752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홈 메뉴 라벨"/>
          <p:cNvSpPr txBox="1"/>
          <p:nvPr/>
        </p:nvSpPr>
        <p:spPr>
          <a:xfrm>
            <a:off x="1619250" y="3999357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32" name="홈 메뉴 지하철역"/>
          <p:cNvSpPr/>
          <p:nvPr/>
        </p:nvSpPr>
        <p:spPr>
          <a:xfrm>
            <a:off x="2833688" y="3408807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아이콘 train"/>
          <p:cNvSpPr/>
          <p:nvPr/>
        </p:nvSpPr>
        <p:spPr>
          <a:xfrm>
            <a:off x="3304318" y="3662172"/>
            <a:ext cx="168402" cy="153543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train"/>
          <p:cNvSpPr/>
          <p:nvPr/>
        </p:nvSpPr>
        <p:spPr>
          <a:xfrm>
            <a:off x="3304318" y="3751326"/>
            <a:ext cx="168402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아이콘 train"/>
          <p:cNvSpPr/>
          <p:nvPr/>
        </p:nvSpPr>
        <p:spPr>
          <a:xfrm>
            <a:off x="3329083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아이콘 train"/>
          <p:cNvSpPr/>
          <p:nvPr/>
        </p:nvSpPr>
        <p:spPr>
          <a:xfrm>
            <a:off x="3413284" y="3825621"/>
            <a:ext cx="34671" cy="34671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홈 메뉴 라벨"/>
          <p:cNvSpPr txBox="1"/>
          <p:nvPr/>
        </p:nvSpPr>
        <p:spPr>
          <a:xfrm>
            <a:off x="2833688" y="3999357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38" name="홈 메뉴 불편신고"/>
          <p:cNvSpPr/>
          <p:nvPr/>
        </p:nvSpPr>
        <p:spPr>
          <a:xfrm>
            <a:off x="2833688" y="4447032"/>
            <a:ext cx="1109662" cy="9334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아이콘 alert"/>
          <p:cNvSpPr/>
          <p:nvPr/>
        </p:nvSpPr>
        <p:spPr>
          <a:xfrm>
            <a:off x="3284506" y="4705350"/>
            <a:ext cx="208026" cy="188214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아이콘 alert"/>
          <p:cNvSpPr txBox="1"/>
          <p:nvPr/>
        </p:nvSpPr>
        <p:spPr>
          <a:xfrm>
            <a:off x="3284506" y="4769739"/>
            <a:ext cx="208026" cy="8915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19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41" name="홈 메뉴 라벨"/>
          <p:cNvSpPr txBox="1"/>
          <p:nvPr/>
        </p:nvSpPr>
        <p:spPr>
          <a:xfrm>
            <a:off x="2833688" y="5037582"/>
            <a:ext cx="1109662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spc="-27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하단 Nav 구분선"/>
          <p:cNvSpPr/>
          <p:nvPr/>
        </p:nvSpPr>
        <p:spPr>
          <a:xfrm>
            <a:off x="1495425" y="618744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아이콘 nav"/>
          <p:cNvSpPr/>
          <p:nvPr/>
        </p:nvSpPr>
        <p:spPr>
          <a:xfrm>
            <a:off x="271329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Nav 길안내"/>
          <p:cNvSpPr txBox="1"/>
          <p:nvPr/>
        </p:nvSpPr>
        <p:spPr>
          <a:xfrm>
            <a:off x="23495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45" name="아이콘 home"/>
          <p:cNvSpPr/>
          <p:nvPr/>
        </p:nvSpPr>
        <p:spPr>
          <a:xfrm>
            <a:off x="1833690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아이콘 home"/>
          <p:cNvSpPr/>
          <p:nvPr/>
        </p:nvSpPr>
        <p:spPr>
          <a:xfrm>
            <a:off x="186169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Nav 홈"/>
          <p:cNvSpPr txBox="1"/>
          <p:nvPr/>
        </p:nvSpPr>
        <p:spPr>
          <a:xfrm>
            <a:off x="14859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48" name="아이콘 user"/>
          <p:cNvSpPr/>
          <p:nvPr/>
        </p:nvSpPr>
        <p:spPr>
          <a:xfrm>
            <a:off x="360889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user"/>
          <p:cNvSpPr/>
          <p:nvPr/>
        </p:nvSpPr>
        <p:spPr>
          <a:xfrm>
            <a:off x="357289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Nav 마이페이지"/>
          <p:cNvSpPr txBox="1"/>
          <p:nvPr/>
        </p:nvSpPr>
        <p:spPr>
          <a:xfrm>
            <a:off x="321310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1" name="목업 프레임"/>
          <p:cNvSpPr/>
          <p:nvPr/>
        </p:nvSpPr>
        <p:spPr>
          <a:xfrm>
            <a:off x="4591050" y="1047750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목업 캡션"/>
          <p:cNvSpPr txBox="1"/>
          <p:nvPr/>
        </p:nvSpPr>
        <p:spPr>
          <a:xfrm>
            <a:off x="4305300" y="6353175"/>
            <a:ext cx="3162300" cy="1333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87" b="0" spc="38" dirty="0" err="1">
                <a:solidFill>
                  <a:srgbClr val="8A94A3"/>
                </a:solidFill>
                <a:latin typeface="Pretendard"/>
              </a:rPr>
              <a:t>전맹</a:t>
            </a:r>
            <a:endParaRPr sz="787" b="0" spc="38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53" name="앱바 타이틀"/>
          <p:cNvSpPr txBox="1"/>
          <p:nvPr/>
        </p:nvSpPr>
        <p:spPr>
          <a:xfrm>
            <a:off x="4591050" y="1190625"/>
            <a:ext cx="2590800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54" name="앱바 구분선"/>
          <p:cNvSpPr/>
          <p:nvPr/>
        </p:nvSpPr>
        <p:spPr>
          <a:xfrm>
            <a:off x="4600575" y="1495425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홈 메뉴 길안내"/>
          <p:cNvSpPr/>
          <p:nvPr/>
        </p:nvSpPr>
        <p:spPr>
          <a:xfrm>
            <a:off x="4724400" y="237058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아이콘 nav"/>
          <p:cNvSpPr/>
          <p:nvPr/>
        </p:nvSpPr>
        <p:spPr>
          <a:xfrm>
            <a:off x="4891278" y="2534412"/>
            <a:ext cx="142494" cy="16764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홈 메뉴 라벨"/>
          <p:cNvSpPr txBox="1"/>
          <p:nvPr/>
        </p:nvSpPr>
        <p:spPr>
          <a:xfrm>
            <a:off x="5181600" y="253250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58" name="홈 메뉴 인근 편의시설"/>
          <p:cNvSpPr/>
          <p:nvPr/>
        </p:nvSpPr>
        <p:spPr>
          <a:xfrm>
            <a:off x="4724400" y="295160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아이콘 pin"/>
          <p:cNvSpPr/>
          <p:nvPr/>
        </p:nvSpPr>
        <p:spPr>
          <a:xfrm rot="8100000">
            <a:off x="4895469" y="3115437"/>
            <a:ext cx="134112" cy="134112"/>
          </a:xfrm>
          <a:prstGeom prst="teardrop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아이콘 pin"/>
          <p:cNvSpPr/>
          <p:nvPr/>
        </p:nvSpPr>
        <p:spPr>
          <a:xfrm>
            <a:off x="4941570" y="3157347"/>
            <a:ext cx="41910" cy="41910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홈 메뉴 라벨"/>
          <p:cNvSpPr txBox="1"/>
          <p:nvPr/>
        </p:nvSpPr>
        <p:spPr>
          <a:xfrm>
            <a:off x="5181600" y="311353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62" name="홈 메뉴 택시 호출"/>
          <p:cNvSpPr/>
          <p:nvPr/>
        </p:nvSpPr>
        <p:spPr>
          <a:xfrm>
            <a:off x="4724400" y="469468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taxi"/>
          <p:cNvSpPr/>
          <p:nvPr/>
        </p:nvSpPr>
        <p:spPr>
          <a:xfrm>
            <a:off x="4882896" y="4912995"/>
            <a:ext cx="159258" cy="71247"/>
          </a:xfrm>
          <a:prstGeom prst="roundRect">
            <a:avLst>
              <a:gd name="adj" fmla="val 5000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아이콘 taxi"/>
          <p:cNvSpPr/>
          <p:nvPr/>
        </p:nvSpPr>
        <p:spPr>
          <a:xfrm>
            <a:off x="4916424" y="4879467"/>
            <a:ext cx="92202" cy="37719"/>
          </a:xfrm>
          <a:prstGeom prst="roundRect">
            <a:avLst>
              <a:gd name="adj" fmla="val 3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아이콘 taxi"/>
          <p:cNvSpPr/>
          <p:nvPr/>
        </p:nvSpPr>
        <p:spPr>
          <a:xfrm>
            <a:off x="4899660" y="4967478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taxi"/>
          <p:cNvSpPr/>
          <p:nvPr/>
        </p:nvSpPr>
        <p:spPr>
          <a:xfrm>
            <a:off x="4991862" y="4967478"/>
            <a:ext cx="33528" cy="33528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홈 메뉴 라벨"/>
          <p:cNvSpPr txBox="1"/>
          <p:nvPr/>
        </p:nvSpPr>
        <p:spPr>
          <a:xfrm>
            <a:off x="5181600" y="485660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1000" spc="-27" dirty="0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68" name="홈 메뉴 버스정류장"/>
          <p:cNvSpPr/>
          <p:nvPr/>
        </p:nvSpPr>
        <p:spPr>
          <a:xfrm>
            <a:off x="4724400" y="3532632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아이콘 bus"/>
          <p:cNvSpPr/>
          <p:nvPr/>
        </p:nvSpPr>
        <p:spPr>
          <a:xfrm>
            <a:off x="4887087" y="3704844"/>
            <a:ext cx="150876" cy="125730"/>
          </a:xfrm>
          <a:prstGeom prst="roundRect">
            <a:avLst>
              <a:gd name="adj" fmla="val 13333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아이콘 bus"/>
          <p:cNvSpPr/>
          <p:nvPr/>
        </p:nvSpPr>
        <p:spPr>
          <a:xfrm>
            <a:off x="4887087" y="3767709"/>
            <a:ext cx="150876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아이콘 bus"/>
          <p:cNvSpPr/>
          <p:nvPr/>
        </p:nvSpPr>
        <p:spPr>
          <a:xfrm>
            <a:off x="4903851" y="3834765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아이콘 bus"/>
          <p:cNvSpPr/>
          <p:nvPr/>
        </p:nvSpPr>
        <p:spPr>
          <a:xfrm>
            <a:off x="4991862" y="3834765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홈 메뉴 라벨"/>
          <p:cNvSpPr txBox="1"/>
          <p:nvPr/>
        </p:nvSpPr>
        <p:spPr>
          <a:xfrm>
            <a:off x="5181600" y="3694557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4" name="홈 메뉴 지하철역"/>
          <p:cNvSpPr/>
          <p:nvPr/>
        </p:nvSpPr>
        <p:spPr>
          <a:xfrm>
            <a:off x="4724400" y="411365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아이콘 train"/>
          <p:cNvSpPr/>
          <p:nvPr/>
        </p:nvSpPr>
        <p:spPr>
          <a:xfrm>
            <a:off x="4891278" y="4277487"/>
            <a:ext cx="142494" cy="129921"/>
          </a:xfrm>
          <a:prstGeom prst="round2SameRect">
            <a:avLst>
              <a:gd name="adj1" fmla="val 48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아이콘 train"/>
          <p:cNvSpPr/>
          <p:nvPr/>
        </p:nvSpPr>
        <p:spPr>
          <a:xfrm>
            <a:off x="4891278" y="4352925"/>
            <a:ext cx="142494" cy="9525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아이콘 train"/>
          <p:cNvSpPr/>
          <p:nvPr/>
        </p:nvSpPr>
        <p:spPr>
          <a:xfrm>
            <a:off x="4912233" y="4415790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아이콘 train"/>
          <p:cNvSpPr/>
          <p:nvPr/>
        </p:nvSpPr>
        <p:spPr>
          <a:xfrm>
            <a:off x="4983480" y="4415790"/>
            <a:ext cx="29337" cy="29337"/>
          </a:xfrm>
          <a:prstGeom prst="ellipse">
            <a:avLst/>
          </a:prstGeom>
          <a:solidFill>
            <a:srgbClr val="2D4CC8"/>
          </a:solidFill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홈 메뉴 라벨"/>
          <p:cNvSpPr txBox="1"/>
          <p:nvPr/>
        </p:nvSpPr>
        <p:spPr>
          <a:xfrm>
            <a:off x="5181600" y="427558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지하철역</a:t>
            </a:r>
          </a:p>
        </p:txBody>
      </p:sp>
      <p:sp>
        <p:nvSpPr>
          <p:cNvPr id="80" name="홈 메뉴 불편신고"/>
          <p:cNvSpPr/>
          <p:nvPr/>
        </p:nvSpPr>
        <p:spPr>
          <a:xfrm>
            <a:off x="4724400" y="5275707"/>
            <a:ext cx="2324100" cy="4953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아이콘 alert"/>
          <p:cNvSpPr/>
          <p:nvPr/>
        </p:nvSpPr>
        <p:spPr>
          <a:xfrm>
            <a:off x="4874514" y="5443728"/>
            <a:ext cx="176022" cy="159258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아이콘 alert"/>
          <p:cNvSpPr txBox="1"/>
          <p:nvPr/>
        </p:nvSpPr>
        <p:spPr>
          <a:xfrm>
            <a:off x="4874514" y="5498211"/>
            <a:ext cx="176022" cy="7543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693" b="1">
                <a:solidFill>
                  <a:srgbClr val="2D4CC8"/>
                </a:solidFill>
                <a:latin typeface="Pretendard"/>
              </a:rPr>
              <a:t>!</a:t>
            </a:r>
          </a:p>
        </p:txBody>
      </p:sp>
      <p:sp>
        <p:nvSpPr>
          <p:cNvPr id="83" name="홈 메뉴 라벨"/>
          <p:cNvSpPr txBox="1"/>
          <p:nvPr/>
        </p:nvSpPr>
        <p:spPr>
          <a:xfrm>
            <a:off x="5181600" y="5437632"/>
            <a:ext cx="1524000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84" name="하단 Nav 구분선"/>
          <p:cNvSpPr/>
          <p:nvPr/>
        </p:nvSpPr>
        <p:spPr>
          <a:xfrm>
            <a:off x="4600575" y="6187440"/>
            <a:ext cx="25717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아이콘 nav"/>
          <p:cNvSpPr/>
          <p:nvPr/>
        </p:nvSpPr>
        <p:spPr>
          <a:xfrm>
            <a:off x="5818442" y="579215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Nav 길안내"/>
          <p:cNvSpPr txBox="1"/>
          <p:nvPr/>
        </p:nvSpPr>
        <p:spPr>
          <a:xfrm>
            <a:off x="54546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87" name="아이콘 home"/>
          <p:cNvSpPr/>
          <p:nvPr/>
        </p:nvSpPr>
        <p:spPr>
          <a:xfrm>
            <a:off x="4938839" y="5796153"/>
            <a:ext cx="168021" cy="88011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아이콘 home"/>
          <p:cNvSpPr/>
          <p:nvPr/>
        </p:nvSpPr>
        <p:spPr>
          <a:xfrm>
            <a:off x="4966843" y="5872162"/>
            <a:ext cx="112014" cy="80010"/>
          </a:xfrm>
          <a:prstGeom prst="rect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Nav 홈"/>
          <p:cNvSpPr txBox="1"/>
          <p:nvPr/>
        </p:nvSpPr>
        <p:spPr>
          <a:xfrm>
            <a:off x="45910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홈</a:t>
            </a:r>
          </a:p>
        </p:txBody>
      </p:sp>
      <p:sp>
        <p:nvSpPr>
          <p:cNvPr id="90" name="아이콘 user"/>
          <p:cNvSpPr/>
          <p:nvPr/>
        </p:nvSpPr>
        <p:spPr>
          <a:xfrm>
            <a:off x="6714046" y="579215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아이콘 user"/>
          <p:cNvSpPr/>
          <p:nvPr/>
        </p:nvSpPr>
        <p:spPr>
          <a:xfrm>
            <a:off x="6678041" y="588016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Nav 마이페이지"/>
          <p:cNvSpPr txBox="1"/>
          <p:nvPr/>
        </p:nvSpPr>
        <p:spPr>
          <a:xfrm>
            <a:off x="6318250" y="6019800"/>
            <a:ext cx="863600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9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 dirty="0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96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68991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홈 메뉴 6버튼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 → 2-0 · 인근 편의시설 → 1-2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버스정류장 → 1-3 검색 · 지하철역 → 1-4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택시 호출 → 1-5 · 불편신고 → 1-6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홈 하단메뉴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· 길안내 · 마이페이지 (좌 → 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홈에서 홈은 변화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각 대메뉴 첫 진입 페이지까지만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전맹 유형의 홈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메뉴 6버튼을 1열 6행으로 직렬 배치 · 구성은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7" name="예약 현황 위젯"/>
          <p:cNvSpPr/>
          <p:nvPr/>
        </p:nvSpPr>
        <p:spPr>
          <a:xfrm>
            <a:off x="1618488" y="1655064"/>
            <a:ext cx="2322576" cy="6583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위젯 노선·정류장"/>
          <p:cNvSpPr/>
          <p:nvPr/>
        </p:nvSpPr>
        <p:spPr>
          <a:xfrm>
            <a:off x="1737360" y="1682496"/>
            <a:ext cx="1645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99" name="위젯 상태"/>
          <p:cNvSpPr/>
          <p:nvPr/>
        </p:nvSpPr>
        <p:spPr>
          <a:xfrm>
            <a:off x="1737360" y="1865376"/>
            <a:ext cx="137160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예약 신청 완료</a:t>
            </a:r>
          </a:p>
        </p:txBody>
      </p:sp>
      <p:sp>
        <p:nvSpPr>
          <p:cNvPr id="100" name="위젯 안내"/>
          <p:cNvSpPr/>
          <p:nvPr/>
        </p:nvSpPr>
        <p:spPr>
          <a:xfrm>
            <a:off x="1737360" y="2002536"/>
            <a:ext cx="18288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정류장에서 기다려 주세요. 버스가 도착할 때쯤 예약이 확정됩니다.</a:t>
            </a:r>
          </a:p>
        </p:txBody>
      </p:sp>
      <p:sp>
        <p:nvSpPr>
          <p:cNvPr id="101" name="위젯 이동 표식"/>
          <p:cNvSpPr/>
          <p:nvPr/>
        </p:nvSpPr>
        <p:spPr>
          <a:xfrm>
            <a:off x="3666744" y="1828800"/>
            <a:ext cx="182880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＞</a:t>
            </a:r>
          </a:p>
        </p:txBody>
      </p:sp>
      <p:sp>
        <p:nvSpPr>
          <p:cNvPr id="102" name="예약 현황 위젯"/>
          <p:cNvSpPr/>
          <p:nvPr/>
        </p:nvSpPr>
        <p:spPr>
          <a:xfrm>
            <a:off x="4727448" y="1655064"/>
            <a:ext cx="2322576" cy="6583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위젯 노선·정류장"/>
          <p:cNvSpPr/>
          <p:nvPr/>
        </p:nvSpPr>
        <p:spPr>
          <a:xfrm>
            <a:off x="4846320" y="1682496"/>
            <a:ext cx="16459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104" name="위젯 상태"/>
          <p:cNvSpPr/>
          <p:nvPr/>
        </p:nvSpPr>
        <p:spPr>
          <a:xfrm>
            <a:off x="4846320" y="1865376"/>
            <a:ext cx="1371600" cy="137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예약 신청 완료</a:t>
            </a:r>
          </a:p>
        </p:txBody>
      </p:sp>
      <p:sp>
        <p:nvSpPr>
          <p:cNvPr id="105" name="위젯 안내"/>
          <p:cNvSpPr/>
          <p:nvPr/>
        </p:nvSpPr>
        <p:spPr>
          <a:xfrm>
            <a:off x="4846320" y="2002536"/>
            <a:ext cx="182880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정류장에서 기다려 주세요. 버스가 도착할 때쯤 예약이 확정됩니다.</a:t>
            </a:r>
          </a:p>
        </p:txBody>
      </p:sp>
      <p:sp>
        <p:nvSpPr>
          <p:cNvPr id="106" name="위젯 이동 표식"/>
          <p:cNvSpPr/>
          <p:nvPr/>
        </p:nvSpPr>
        <p:spPr>
          <a:xfrm>
            <a:off x="6775704" y="1828800"/>
            <a:ext cx="182880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＞</a:t>
            </a:r>
          </a:p>
        </p:txBody>
      </p:sp>
      <p:sp>
        <p:nvSpPr>
          <p:cNvPr id="107" name="숫자배지 1"/>
          <p:cNvSpPr/>
          <p:nvPr/>
        </p:nvSpPr>
        <p:spPr>
          <a:xfrm>
            <a:off x="136207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8" name="숫자배지 2"/>
          <p:cNvSpPr/>
          <p:nvPr/>
        </p:nvSpPr>
        <p:spPr>
          <a:xfrm>
            <a:off x="7058025" y="11811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9" name="숫자배지 1-2"/>
          <p:cNvSpPr/>
          <p:nvPr/>
        </p:nvSpPr>
        <p:spPr>
          <a:xfrm>
            <a:off x="1295400" y="280873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110" name="숫자배지 1-3"/>
          <p:cNvSpPr/>
          <p:nvPr/>
        </p:nvSpPr>
        <p:spPr>
          <a:xfrm>
            <a:off x="1295400" y="57531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111" name="숫자배지 1-1"/>
          <p:cNvSpPr/>
          <p:nvPr/>
        </p:nvSpPr>
        <p:spPr>
          <a:xfrm>
            <a:off x="1298448" y="180136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685800" y="1463040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790575" y="1463040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2-0 길안내"/>
          <p:cNvSpPr/>
          <p:nvPr/>
        </p:nvSpPr>
        <p:spPr>
          <a:xfrm>
            <a:off x="2424988" y="146304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2529763" y="146304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</a:t>
            </a:r>
          </a:p>
        </p:txBody>
      </p:sp>
      <p:sp>
        <p:nvSpPr>
          <p:cNvPr id="14" name="흐름 2-1 장소 검색"/>
          <p:cNvSpPr/>
          <p:nvPr/>
        </p:nvSpPr>
        <p:spPr>
          <a:xfrm>
            <a:off x="4454042" y="146304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4558817" y="146304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</a:t>
            </a:r>
          </a:p>
        </p:txBody>
      </p:sp>
      <p:sp>
        <p:nvSpPr>
          <p:cNvPr id="16" name="흐름 2-2 장소 상세"/>
          <p:cNvSpPr/>
          <p:nvPr/>
        </p:nvSpPr>
        <p:spPr>
          <a:xfrm>
            <a:off x="6482181" y="146304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6586956" y="146304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8" name="흐름 2-3 상세경로"/>
          <p:cNvSpPr/>
          <p:nvPr/>
        </p:nvSpPr>
        <p:spPr>
          <a:xfrm>
            <a:off x="8511235" y="146304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8616010" y="146304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20" name="흐름 2-5 버스정류장 정보"/>
          <p:cNvSpPr/>
          <p:nvPr/>
        </p:nvSpPr>
        <p:spPr>
          <a:xfrm>
            <a:off x="6482181" y="251460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6586956" y="251460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22" name="흐름 2-5-1 노선 상세"/>
          <p:cNvSpPr/>
          <p:nvPr/>
        </p:nvSpPr>
        <p:spPr>
          <a:xfrm>
            <a:off x="6482181" y="342900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6586956" y="342900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lang="ko-KR" altLang="en-US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24" name="흐름 2-4 내비게이션"/>
          <p:cNvSpPr/>
          <p:nvPr/>
        </p:nvSpPr>
        <p:spPr>
          <a:xfrm>
            <a:off x="8511235" y="544068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8616010" y="544068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6" name="흐름 2-4-1 실외 내비게이션"/>
          <p:cNvSpPr/>
          <p:nvPr/>
        </p:nvSpPr>
        <p:spPr>
          <a:xfrm>
            <a:off x="6482181" y="544068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6586956" y="544068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2-4-1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실외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28" name="흐름 2-4-2 실내 내비게이션"/>
          <p:cNvSpPr/>
          <p:nvPr/>
        </p:nvSpPr>
        <p:spPr>
          <a:xfrm>
            <a:off x="4454042" y="5440680"/>
            <a:ext cx="157337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4558817" y="5440680"/>
            <a:ext cx="136382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2-4-2 </a:t>
            </a:r>
            <a:r>
              <a:rPr sz="862" b="1" spc="-17" dirty="0" err="1">
                <a:solidFill>
                  <a:srgbClr val="0B7D77"/>
                </a:solidFill>
                <a:latin typeface="Pretendard"/>
              </a:rPr>
              <a:t>실내</a:t>
            </a:r>
            <a:r>
              <a:rPr sz="862" b="1" spc="-17" dirty="0">
                <a:solidFill>
                  <a:srgbClr val="0B7D77"/>
                </a:solidFill>
                <a:latin typeface="Pretendard"/>
              </a:rPr>
              <a:t> </a:t>
            </a:r>
            <a:r>
              <a:rPr lang="ko-KR" altLang="en-US" sz="862" b="1" spc="-17" dirty="0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sp>
        <p:nvSpPr>
          <p:cNvPr id="30" name="흐름 안내 종료"/>
          <p:cNvSpPr/>
          <p:nvPr/>
        </p:nvSpPr>
        <p:spPr>
          <a:xfrm>
            <a:off x="2424988" y="5440680"/>
            <a:ext cx="1407756" cy="513417"/>
          </a:xfrm>
          <a:prstGeom prst="roundRect">
            <a:avLst>
              <a:gd name="adj" fmla="val 2226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2529763" y="5440680"/>
            <a:ext cx="1198206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32" name="주석"/>
          <p:cNvSpPr/>
          <p:nvPr/>
        </p:nvSpPr>
        <p:spPr>
          <a:xfrm>
            <a:off x="419100" y="6286500"/>
            <a:ext cx="11353800" cy="323850"/>
          </a:xfrm>
          <a:prstGeom prst="roundRect">
            <a:avLst>
              <a:gd name="adj" fmla="val 23529"/>
            </a:avLst>
          </a:prstGeom>
          <a:solidFill>
            <a:srgbClr val="F7F9F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주석 점"/>
          <p:cNvSpPr/>
          <p:nvPr/>
        </p:nvSpPr>
        <p:spPr>
          <a:xfrm>
            <a:off x="523875" y="6429375"/>
            <a:ext cx="38100" cy="3810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주석 내용"/>
          <p:cNvSpPr txBox="1"/>
          <p:nvPr/>
        </p:nvSpPr>
        <p:spPr>
          <a:xfrm>
            <a:off x="638175" y="6286500"/>
            <a:ext cx="1102995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실내·실외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전환은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seamless —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실외→실내→실외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순환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가능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·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도착은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마지막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(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실내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또는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실외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)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에서</a:t>
            </a:r>
            <a:r>
              <a:rPr sz="787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5B6573"/>
                </a:solidFill>
                <a:latin typeface="Pretendard"/>
              </a:rPr>
              <a:t>발생</a:t>
            </a:r>
            <a:endParaRPr sz="787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5" name="흐름 예약 신청 팝업"/>
          <p:cNvSpPr/>
          <p:nvPr/>
        </p:nvSpPr>
        <p:spPr>
          <a:xfrm>
            <a:off x="6482181" y="4343400"/>
            <a:ext cx="1656184" cy="513417"/>
          </a:xfrm>
          <a:prstGeom prst="roundRect">
            <a:avLst>
              <a:gd name="adj" fmla="val 22262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흐름 제목"/>
          <p:cNvSpPr txBox="1"/>
          <p:nvPr/>
        </p:nvSpPr>
        <p:spPr>
          <a:xfrm>
            <a:off x="6582765" y="4343400"/>
            <a:ext cx="1446634" cy="51341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lang="ko-KR" altLang="en-US">
                <a:solidFill>
                  <a:srgbClr val="0B7D77"/>
                </a:solidFill>
                <a:latin typeface="Pretendard"/>
              </a:rPr>
              <a:t>예약 신청 팝업</a:t>
            </a:r>
          </a:p>
        </p:txBody>
      </p:sp>
      <p:cxnSp>
        <p:nvCxnSpPr>
          <p:cNvPr id="37" name="연결선"/>
          <p:cNvCxnSpPr>
            <a:stCxn id="10" idx="3"/>
            <a:endCxn id="12" idx="1"/>
          </p:cNvCxnSpPr>
          <p:nvPr/>
        </p:nvCxnSpPr>
        <p:spPr>
          <a:xfrm>
            <a:off x="2093556" y="1719748"/>
            <a:ext cx="33143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"/>
          <p:cNvCxnSpPr>
            <a:stCxn id="12" idx="3"/>
            <a:endCxn id="14" idx="1"/>
          </p:cNvCxnSpPr>
          <p:nvPr/>
        </p:nvCxnSpPr>
        <p:spPr>
          <a:xfrm>
            <a:off x="4081172" y="1719748"/>
            <a:ext cx="3728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연결선"/>
          <p:cNvCxnSpPr>
            <a:stCxn id="14" idx="3"/>
            <a:endCxn id="16" idx="1"/>
          </p:cNvCxnSpPr>
          <p:nvPr/>
        </p:nvCxnSpPr>
        <p:spPr>
          <a:xfrm>
            <a:off x="6110226" y="1719748"/>
            <a:ext cx="371955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"/>
          <p:cNvCxnSpPr>
            <a:stCxn id="16" idx="3"/>
            <a:endCxn id="18" idx="1"/>
          </p:cNvCxnSpPr>
          <p:nvPr/>
        </p:nvCxnSpPr>
        <p:spPr>
          <a:xfrm>
            <a:off x="8138365" y="1719748"/>
            <a:ext cx="3728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"/>
          <p:cNvCxnSpPr>
            <a:stCxn id="16" idx="2"/>
            <a:endCxn id="20" idx="0"/>
          </p:cNvCxnSpPr>
          <p:nvPr/>
        </p:nvCxnSpPr>
        <p:spPr>
          <a:xfrm>
            <a:off x="7310273" y="1976457"/>
            <a:ext cx="0" cy="53814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"/>
          <p:cNvCxnSpPr>
            <a:stCxn id="20" idx="2"/>
            <a:endCxn id="22" idx="0"/>
          </p:cNvCxnSpPr>
          <p:nvPr/>
        </p:nvCxnSpPr>
        <p:spPr>
          <a:xfrm>
            <a:off x="7310273" y="3028017"/>
            <a:ext cx="0" cy="40098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"/>
          <p:cNvCxnSpPr>
            <a:stCxn id="22" idx="2"/>
            <a:endCxn id="46" idx="0"/>
          </p:cNvCxnSpPr>
          <p:nvPr/>
        </p:nvCxnSpPr>
        <p:spPr>
          <a:xfrm>
            <a:off x="7310273" y="3942417"/>
            <a:ext cx="0" cy="40098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"/>
          <p:cNvCxnSpPr>
            <a:stCxn id="18" idx="2"/>
            <a:endCxn id="24" idx="0"/>
          </p:cNvCxnSpPr>
          <p:nvPr/>
        </p:nvCxnSpPr>
        <p:spPr>
          <a:xfrm>
            <a:off x="9339327" y="1976457"/>
            <a:ext cx="0" cy="3464223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"/>
          <p:cNvCxnSpPr>
            <a:stCxn id="24" idx="1"/>
            <a:endCxn id="26" idx="3"/>
          </p:cNvCxnSpPr>
          <p:nvPr/>
        </p:nvCxnSpPr>
        <p:spPr>
          <a:xfrm flipH="1">
            <a:off x="8138365" y="5697388"/>
            <a:ext cx="3728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"/>
          <p:cNvCxnSpPr>
            <a:stCxn id="26" idx="3"/>
            <a:endCxn id="24" idx="1"/>
          </p:cNvCxnSpPr>
          <p:nvPr/>
        </p:nvCxnSpPr>
        <p:spPr>
          <a:xfrm>
            <a:off x="8138365" y="5697388"/>
            <a:ext cx="372869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"/>
          <p:cNvCxnSpPr>
            <a:cxnSpLocks/>
            <a:stCxn id="26" idx="1"/>
            <a:endCxn id="28" idx="3"/>
          </p:cNvCxnSpPr>
          <p:nvPr/>
        </p:nvCxnSpPr>
        <p:spPr>
          <a:xfrm flipH="1">
            <a:off x="6027416" y="5697388"/>
            <a:ext cx="454764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연결선"/>
          <p:cNvCxnSpPr>
            <a:stCxn id="28" idx="1"/>
            <a:endCxn id="30" idx="3"/>
          </p:cNvCxnSpPr>
          <p:nvPr/>
        </p:nvCxnSpPr>
        <p:spPr>
          <a:xfrm flipH="1">
            <a:off x="3832744" y="5697388"/>
            <a:ext cx="621297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메인화면_전맹 외 모든 유형 (1/4)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1400175" y="179403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2586038" y="187976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1543050" y="21545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86200" y="221440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86200" y="224983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154305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158115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2378075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2416175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321310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325120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1543050" y="295547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154305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158115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2378075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2416175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321310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325120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154305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158115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2378075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2416175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/>
          <p:cNvSpPr/>
          <p:nvPr/>
        </p:nvSpPr>
        <p:spPr>
          <a:xfrm>
            <a:off x="321310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325120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1543050" y="398854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1581150" y="398854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1543050" y="456082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1543050" y="4789429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1676400" y="4789429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1543050" y="5250824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1676400" y="5250824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1" name="탑바 구분선"/>
          <p:cNvSpPr/>
          <p:nvPr/>
        </p:nvSpPr>
        <p:spPr>
          <a:xfrm>
            <a:off x="1400175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/>
          <p:cNvSpPr/>
          <p:nvPr/>
        </p:nvSpPr>
        <p:spPr>
          <a:xfrm>
            <a:off x="1548765" y="129568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/>
          <p:cNvSpPr txBox="1"/>
          <p:nvPr/>
        </p:nvSpPr>
        <p:spPr>
          <a:xfrm>
            <a:off x="1695069" y="137341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/>
          <p:cNvSpPr/>
          <p:nvPr/>
        </p:nvSpPr>
        <p:spPr>
          <a:xfrm>
            <a:off x="1400175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/>
          <p:cNvSpPr/>
          <p:nvPr/>
        </p:nvSpPr>
        <p:spPr>
          <a:xfrm>
            <a:off x="1400175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/>
          <p:cNvSpPr/>
          <p:nvPr/>
        </p:nvSpPr>
        <p:spPr>
          <a:xfrm>
            <a:off x="2689479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/>
          <p:cNvSpPr txBox="1"/>
          <p:nvPr/>
        </p:nvSpPr>
        <p:spPr>
          <a:xfrm>
            <a:off x="2301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/>
          <p:cNvSpPr/>
          <p:nvPr/>
        </p:nvSpPr>
        <p:spPr>
          <a:xfrm>
            <a:off x="1762252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/>
          <p:cNvSpPr/>
          <p:nvPr/>
        </p:nvSpPr>
        <p:spPr>
          <a:xfrm>
            <a:off x="1790255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/>
          <p:cNvSpPr txBox="1"/>
          <p:nvPr/>
        </p:nvSpPr>
        <p:spPr>
          <a:xfrm>
            <a:off x="1390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/>
          <p:cNvSpPr/>
          <p:nvPr/>
        </p:nvSpPr>
        <p:spPr>
          <a:xfrm>
            <a:off x="3632708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/>
          <p:cNvSpPr/>
          <p:nvPr/>
        </p:nvSpPr>
        <p:spPr>
          <a:xfrm>
            <a:off x="3596704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/>
          <p:cNvSpPr txBox="1"/>
          <p:nvPr/>
        </p:nvSpPr>
        <p:spPr>
          <a:xfrm>
            <a:off x="321310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"/>
          <p:cNvSpPr/>
          <p:nvPr/>
        </p:nvSpPr>
        <p:spPr>
          <a:xfrm>
            <a:off x="4543425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바텀시트(최소화)"/>
          <p:cNvSpPr/>
          <p:nvPr/>
        </p:nvSpPr>
        <p:spPr>
          <a:xfrm>
            <a:off x="4552950" y="5527835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시트 손잡이"/>
          <p:cNvSpPr/>
          <p:nvPr/>
        </p:nvSpPr>
        <p:spPr>
          <a:xfrm>
            <a:off x="5738812" y="562784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안내"/>
          <p:cNvSpPr txBox="1"/>
          <p:nvPr/>
        </p:nvSpPr>
        <p:spPr>
          <a:xfrm>
            <a:off x="4695825" y="1774985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58" name="탑바 구분선"/>
          <p:cNvSpPr/>
          <p:nvPr/>
        </p:nvSpPr>
        <p:spPr>
          <a:xfrm>
            <a:off x="4552950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검색창"/>
          <p:cNvSpPr/>
          <p:nvPr/>
        </p:nvSpPr>
        <p:spPr>
          <a:xfrm>
            <a:off x="4701540" y="1295687"/>
            <a:ext cx="244220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검색창 문구"/>
          <p:cNvSpPr txBox="1"/>
          <p:nvPr/>
        </p:nvSpPr>
        <p:spPr>
          <a:xfrm>
            <a:off x="4847844" y="1373411"/>
            <a:ext cx="2186176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1" name="하단 Nav 바탕"/>
          <p:cNvSpPr/>
          <p:nvPr/>
        </p:nvSpPr>
        <p:spPr>
          <a:xfrm>
            <a:off x="4552950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하단 Nav 구분선"/>
          <p:cNvSpPr/>
          <p:nvPr/>
        </p:nvSpPr>
        <p:spPr>
          <a:xfrm>
            <a:off x="4552950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nav"/>
          <p:cNvSpPr/>
          <p:nvPr/>
        </p:nvSpPr>
        <p:spPr>
          <a:xfrm>
            <a:off x="5842254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길안내"/>
          <p:cNvSpPr txBox="1"/>
          <p:nvPr/>
        </p:nvSpPr>
        <p:spPr>
          <a:xfrm>
            <a:off x="5454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5" name="아이콘 home"/>
          <p:cNvSpPr/>
          <p:nvPr/>
        </p:nvSpPr>
        <p:spPr>
          <a:xfrm>
            <a:off x="4915027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home"/>
          <p:cNvSpPr/>
          <p:nvPr/>
        </p:nvSpPr>
        <p:spPr>
          <a:xfrm>
            <a:off x="4943031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Nav 홈"/>
          <p:cNvSpPr txBox="1"/>
          <p:nvPr/>
        </p:nvSpPr>
        <p:spPr>
          <a:xfrm>
            <a:off x="454342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8" name="아이콘 user"/>
          <p:cNvSpPr/>
          <p:nvPr/>
        </p:nvSpPr>
        <p:spPr>
          <a:xfrm>
            <a:off x="6785483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아이콘 user"/>
          <p:cNvSpPr/>
          <p:nvPr/>
        </p:nvSpPr>
        <p:spPr>
          <a:xfrm>
            <a:off x="6749479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마이페이지"/>
          <p:cNvSpPr txBox="1"/>
          <p:nvPr/>
        </p:nvSpPr>
        <p:spPr>
          <a:xfrm>
            <a:off x="6365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71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내위치</a:t>
            </a:r>
          </a:p>
        </p:txBody>
      </p:sp>
      <p:sp>
        <p:nvSpPr>
          <p:cNvPr id="75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7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0342"/>
              </p:ext>
            </p:extLst>
          </p:nvPr>
        </p:nvGraphicFramePr>
        <p:xfrm>
          <a:off x="8629192" y="1447801"/>
          <a:ext cx="2972409" cy="309732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길안내 접속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Nav 가운데 [길안내] 또는 홈의 [길안내] 선택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길안내 화면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최대화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영역을 누르면 시트 최소화 — 이 상태에서 지도 조작(이동 · 확대 · 회전)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경로 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검색창에 장소 혹은 주소 검색 → 장소 검색 화면으로 이동하는 프로세스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Default: 입력된 값 없음, input text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· 검색 실행 버튼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홈으로는 하단 Nav 3탭으로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0" name="지도 컨트롤"/>
          <p:cNvSpPr/>
          <p:nvPr/>
        </p:nvSpPr>
        <p:spPr>
          <a:xfrm>
            <a:off x="6656832" y="414223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지도 컨트롤 라벨"/>
          <p:cNvSpPr txBox="1"/>
          <p:nvPr/>
        </p:nvSpPr>
        <p:spPr>
          <a:xfrm>
            <a:off x="6611112" y="4261104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6656832" y="458114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6611112" y="4700016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섹션 액션 편집"/>
          <p:cNvSpPr txBox="1"/>
          <p:nvPr/>
        </p:nvSpPr>
        <p:spPr>
          <a:xfrm>
            <a:off x="3504438" y="454254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85" name="숫자배지 1"/>
          <p:cNvSpPr/>
          <p:nvPr/>
        </p:nvSpPr>
        <p:spPr>
          <a:xfrm>
            <a:off x="1162050" y="24985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6" name="숫자배지 2-1"/>
          <p:cNvSpPr/>
          <p:nvPr/>
        </p:nvSpPr>
        <p:spPr>
          <a:xfrm>
            <a:off x="6382512" y="42245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7" name="숫자배지 1-1"/>
          <p:cNvSpPr/>
          <p:nvPr/>
        </p:nvSpPr>
        <p:spPr>
          <a:xfrm>
            <a:off x="1042415" y="13478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88" name="숫자배지 1-2"/>
          <p:cNvSpPr/>
          <p:nvPr/>
        </p:nvSpPr>
        <p:spPr>
          <a:xfrm>
            <a:off x="1038225" y="20981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89" name="숫자배지 3">
            <a:extLst>
              <a:ext uri="{FF2B5EF4-FFF2-40B4-BE49-F238E27FC236}">
                <a16:creationId xmlns:a16="http://schemas.microsoft.com/office/drawing/2014/main" id="{60A7C5ED-BC3B-D9CE-35A9-37B4837BAEB7}"/>
              </a:ext>
            </a:extLst>
          </p:cNvPr>
          <p:cNvSpPr/>
          <p:nvPr/>
        </p:nvSpPr>
        <p:spPr>
          <a:xfrm>
            <a:off x="7361428" y="58770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0" name="숫자배지 2">
            <a:extLst>
              <a:ext uri="{FF2B5EF4-FFF2-40B4-BE49-F238E27FC236}">
                <a16:creationId xmlns:a16="http://schemas.microsoft.com/office/drawing/2014/main" id="{9A193110-80E7-8E37-4CA5-3D3D840D0F70}"/>
              </a:ext>
            </a:extLst>
          </p:cNvPr>
          <p:cNvSpPr/>
          <p:nvPr/>
        </p:nvSpPr>
        <p:spPr>
          <a:xfrm>
            <a:off x="7334250" y="17497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메인화면_전맹 외 모든 유형 (2/4)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90650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/>
          <p:cNvSpPr/>
          <p:nvPr/>
        </p:nvSpPr>
        <p:spPr>
          <a:xfrm>
            <a:off x="1400175" y="179403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/>
          <p:cNvSpPr/>
          <p:nvPr/>
        </p:nvSpPr>
        <p:spPr>
          <a:xfrm>
            <a:off x="2586038" y="187976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/>
          <p:cNvSpPr txBox="1"/>
          <p:nvPr/>
        </p:nvSpPr>
        <p:spPr>
          <a:xfrm>
            <a:off x="1543050" y="2154587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86200" y="2214404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86200" y="224983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/>
          <p:cNvSpPr/>
          <p:nvPr/>
        </p:nvSpPr>
        <p:spPr>
          <a:xfrm>
            <a:off x="154305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/>
          <p:cNvSpPr txBox="1"/>
          <p:nvPr/>
        </p:nvSpPr>
        <p:spPr>
          <a:xfrm>
            <a:off x="158115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/>
          <p:cNvSpPr/>
          <p:nvPr/>
        </p:nvSpPr>
        <p:spPr>
          <a:xfrm>
            <a:off x="2378075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/>
          <p:cNvSpPr txBox="1"/>
          <p:nvPr/>
        </p:nvSpPr>
        <p:spPr>
          <a:xfrm>
            <a:off x="2416175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/>
          <p:cNvSpPr/>
          <p:nvPr/>
        </p:nvSpPr>
        <p:spPr>
          <a:xfrm>
            <a:off x="3213100" y="2383187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/>
          <p:cNvSpPr txBox="1"/>
          <p:nvPr/>
        </p:nvSpPr>
        <p:spPr>
          <a:xfrm>
            <a:off x="3251200" y="2383187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/>
          <p:cNvSpPr txBox="1"/>
          <p:nvPr/>
        </p:nvSpPr>
        <p:spPr>
          <a:xfrm>
            <a:off x="1543050" y="295547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/>
          <p:cNvSpPr/>
          <p:nvPr/>
        </p:nvSpPr>
        <p:spPr>
          <a:xfrm>
            <a:off x="154305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/>
          <p:cNvSpPr txBox="1"/>
          <p:nvPr/>
        </p:nvSpPr>
        <p:spPr>
          <a:xfrm>
            <a:off x="158115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/>
          <p:cNvSpPr/>
          <p:nvPr/>
        </p:nvSpPr>
        <p:spPr>
          <a:xfrm>
            <a:off x="2378075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/>
          <p:cNvSpPr txBox="1"/>
          <p:nvPr/>
        </p:nvSpPr>
        <p:spPr>
          <a:xfrm>
            <a:off x="2416175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/>
          <p:cNvSpPr/>
          <p:nvPr/>
        </p:nvSpPr>
        <p:spPr>
          <a:xfrm>
            <a:off x="3213100" y="318407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/>
          <p:cNvSpPr txBox="1"/>
          <p:nvPr/>
        </p:nvSpPr>
        <p:spPr>
          <a:xfrm>
            <a:off x="3251200" y="318407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/>
          <p:cNvSpPr/>
          <p:nvPr/>
        </p:nvSpPr>
        <p:spPr>
          <a:xfrm>
            <a:off x="154305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/>
          <p:cNvSpPr txBox="1"/>
          <p:nvPr/>
        </p:nvSpPr>
        <p:spPr>
          <a:xfrm>
            <a:off x="158115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/>
          <p:cNvSpPr/>
          <p:nvPr/>
        </p:nvSpPr>
        <p:spPr>
          <a:xfrm>
            <a:off x="2378075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/>
          <p:cNvSpPr txBox="1"/>
          <p:nvPr/>
        </p:nvSpPr>
        <p:spPr>
          <a:xfrm>
            <a:off x="2416175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/>
          <p:cNvSpPr/>
          <p:nvPr/>
        </p:nvSpPr>
        <p:spPr>
          <a:xfrm>
            <a:off x="3213100" y="3586308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/>
          <p:cNvSpPr txBox="1"/>
          <p:nvPr/>
        </p:nvSpPr>
        <p:spPr>
          <a:xfrm>
            <a:off x="3251200" y="3586308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/>
          <p:cNvSpPr/>
          <p:nvPr/>
        </p:nvSpPr>
        <p:spPr>
          <a:xfrm>
            <a:off x="1543050" y="398854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/>
          <p:cNvSpPr txBox="1"/>
          <p:nvPr/>
        </p:nvSpPr>
        <p:spPr>
          <a:xfrm>
            <a:off x="1581150" y="398854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/>
          <p:cNvSpPr txBox="1"/>
          <p:nvPr/>
        </p:nvSpPr>
        <p:spPr>
          <a:xfrm>
            <a:off x="1543050" y="456082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1543050" y="4789429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1676400" y="4789429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1543050" y="5250824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1676400" y="5250824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1" name="탑바 구분선"/>
          <p:cNvSpPr/>
          <p:nvPr/>
        </p:nvSpPr>
        <p:spPr>
          <a:xfrm>
            <a:off x="1400175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/>
          <p:cNvSpPr/>
          <p:nvPr/>
        </p:nvSpPr>
        <p:spPr>
          <a:xfrm>
            <a:off x="1548765" y="129568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/>
          <p:cNvSpPr txBox="1"/>
          <p:nvPr/>
        </p:nvSpPr>
        <p:spPr>
          <a:xfrm>
            <a:off x="1695069" y="137341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/>
          <p:cNvSpPr/>
          <p:nvPr/>
        </p:nvSpPr>
        <p:spPr>
          <a:xfrm>
            <a:off x="1400175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/>
          <p:cNvSpPr/>
          <p:nvPr/>
        </p:nvSpPr>
        <p:spPr>
          <a:xfrm>
            <a:off x="1400175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/>
          <p:cNvSpPr/>
          <p:nvPr/>
        </p:nvSpPr>
        <p:spPr>
          <a:xfrm>
            <a:off x="2689479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/>
          <p:cNvSpPr txBox="1"/>
          <p:nvPr/>
        </p:nvSpPr>
        <p:spPr>
          <a:xfrm>
            <a:off x="2301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/>
          <p:cNvSpPr/>
          <p:nvPr/>
        </p:nvSpPr>
        <p:spPr>
          <a:xfrm>
            <a:off x="1762252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/>
          <p:cNvSpPr/>
          <p:nvPr/>
        </p:nvSpPr>
        <p:spPr>
          <a:xfrm>
            <a:off x="1790255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/>
          <p:cNvSpPr txBox="1"/>
          <p:nvPr/>
        </p:nvSpPr>
        <p:spPr>
          <a:xfrm>
            <a:off x="1390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/>
          <p:cNvSpPr/>
          <p:nvPr/>
        </p:nvSpPr>
        <p:spPr>
          <a:xfrm>
            <a:off x="3632708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/>
          <p:cNvSpPr/>
          <p:nvPr/>
        </p:nvSpPr>
        <p:spPr>
          <a:xfrm>
            <a:off x="3596704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/>
          <p:cNvSpPr txBox="1"/>
          <p:nvPr/>
        </p:nvSpPr>
        <p:spPr>
          <a:xfrm>
            <a:off x="321310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"/>
          <p:cNvSpPr/>
          <p:nvPr/>
        </p:nvSpPr>
        <p:spPr>
          <a:xfrm>
            <a:off x="4543425" y="12034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바텀시트(최소화)"/>
          <p:cNvSpPr/>
          <p:nvPr/>
        </p:nvSpPr>
        <p:spPr>
          <a:xfrm>
            <a:off x="4552950" y="5527835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시트 손잡이"/>
          <p:cNvSpPr/>
          <p:nvPr/>
        </p:nvSpPr>
        <p:spPr>
          <a:xfrm>
            <a:off x="5738812" y="5627848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안내"/>
          <p:cNvSpPr txBox="1"/>
          <p:nvPr/>
        </p:nvSpPr>
        <p:spPr>
          <a:xfrm>
            <a:off x="4695825" y="1774985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58" name="탑바 구분선"/>
          <p:cNvSpPr/>
          <p:nvPr/>
        </p:nvSpPr>
        <p:spPr>
          <a:xfrm>
            <a:off x="4552950" y="16987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검색창"/>
          <p:cNvSpPr/>
          <p:nvPr/>
        </p:nvSpPr>
        <p:spPr>
          <a:xfrm>
            <a:off x="4701540" y="1295687"/>
            <a:ext cx="244220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검색창 문구"/>
          <p:cNvSpPr txBox="1"/>
          <p:nvPr/>
        </p:nvSpPr>
        <p:spPr>
          <a:xfrm>
            <a:off x="4847844" y="1373411"/>
            <a:ext cx="2186176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1" name="하단 Nav 바탕"/>
          <p:cNvSpPr/>
          <p:nvPr/>
        </p:nvSpPr>
        <p:spPr>
          <a:xfrm>
            <a:off x="4552950" y="575643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하단 Nav 구분선"/>
          <p:cNvSpPr/>
          <p:nvPr/>
        </p:nvSpPr>
        <p:spPr>
          <a:xfrm>
            <a:off x="4552950" y="575643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nav"/>
          <p:cNvSpPr/>
          <p:nvPr/>
        </p:nvSpPr>
        <p:spPr>
          <a:xfrm>
            <a:off x="5842254" y="590026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길안내"/>
          <p:cNvSpPr txBox="1"/>
          <p:nvPr/>
        </p:nvSpPr>
        <p:spPr>
          <a:xfrm>
            <a:off x="5454650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5" name="아이콘 home"/>
          <p:cNvSpPr/>
          <p:nvPr/>
        </p:nvSpPr>
        <p:spPr>
          <a:xfrm>
            <a:off x="4915027" y="590426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home"/>
          <p:cNvSpPr/>
          <p:nvPr/>
        </p:nvSpPr>
        <p:spPr>
          <a:xfrm>
            <a:off x="4943031" y="598027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Nav 홈"/>
          <p:cNvSpPr txBox="1"/>
          <p:nvPr/>
        </p:nvSpPr>
        <p:spPr>
          <a:xfrm>
            <a:off x="454342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8" name="아이콘 user"/>
          <p:cNvSpPr/>
          <p:nvPr/>
        </p:nvSpPr>
        <p:spPr>
          <a:xfrm>
            <a:off x="6785483" y="590026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아이콘 user"/>
          <p:cNvSpPr/>
          <p:nvPr/>
        </p:nvSpPr>
        <p:spPr>
          <a:xfrm>
            <a:off x="6749479" y="598827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마이페이지"/>
          <p:cNvSpPr txBox="1"/>
          <p:nvPr/>
        </p:nvSpPr>
        <p:spPr>
          <a:xfrm>
            <a:off x="6365875" y="612791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71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내위치</a:t>
            </a:r>
          </a:p>
        </p:txBody>
      </p:sp>
      <p:sp>
        <p:nvSpPr>
          <p:cNvPr id="75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7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0342"/>
              </p:ext>
            </p:extLst>
          </p:nvPr>
        </p:nvGraphicFramePr>
        <p:xfrm>
          <a:off x="8629192" y="1447801"/>
          <a:ext cx="2972409" cy="481959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135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최대화 · 최소화 2단계 — 전환은 손잡이 누르기 토글 (드래그 미제공)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3개 · 인근 편의시설 7개 · 최근 도착지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더보기(&gt;)는 즐겨찾기에만 표출 · 최근 도착지는 [편집]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등록 칩 선택 시 도착지로 설정 · [추가] 칩은 프리셋 시트 → 장소 검색(슬롯 지정)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칩은 도착지로 설정되지 않고 해당 항목 페이지로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 행 선택 시 도착지 설정 + 출발지는 현재 위치 → 2-9 경로 리스트로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 0건이면 [편집] 비활성 + ‘최근 도착지가 없습니다.’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 저장 — 단말 30건 상한 · 최신순 · 같은 장소 재설정 시 기존 행을 지우고 최신으로 올림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크기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최대화: 모든 정보가 표출되는 크기 · 정보량에 따라 달라짐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정보가 더 많으면 시트 내부 스크롤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최소화: 손잡이까지만 보이는 크기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0" name="지도 컨트롤"/>
          <p:cNvSpPr/>
          <p:nvPr/>
        </p:nvSpPr>
        <p:spPr>
          <a:xfrm>
            <a:off x="6656832" y="414223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지도 컨트롤 라벨"/>
          <p:cNvSpPr txBox="1"/>
          <p:nvPr/>
        </p:nvSpPr>
        <p:spPr>
          <a:xfrm>
            <a:off x="6611112" y="4261104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6656832" y="458114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6611112" y="4700016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숫자배지 1"/>
          <p:cNvSpPr/>
          <p:nvPr/>
        </p:nvSpPr>
        <p:spPr>
          <a:xfrm>
            <a:off x="1162050" y="249857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5" name="숫자배지 2-1"/>
          <p:cNvSpPr/>
          <p:nvPr/>
        </p:nvSpPr>
        <p:spPr>
          <a:xfrm>
            <a:off x="6382512" y="42245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6" name="숫자배지 1-1"/>
          <p:cNvSpPr/>
          <p:nvPr/>
        </p:nvSpPr>
        <p:spPr>
          <a:xfrm>
            <a:off x="1042415" y="134788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87" name="숫자배지 1-2"/>
          <p:cNvSpPr/>
          <p:nvPr/>
        </p:nvSpPr>
        <p:spPr>
          <a:xfrm>
            <a:off x="1038225" y="20981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88" name="숫자배지 3">
            <a:extLst>
              <a:ext uri="{FF2B5EF4-FFF2-40B4-BE49-F238E27FC236}">
                <a16:creationId xmlns:a16="http://schemas.microsoft.com/office/drawing/2014/main" id="{60A7C5ED-BC3B-D9CE-35A9-37B4837BAEB7}"/>
              </a:ext>
            </a:extLst>
          </p:cNvPr>
          <p:cNvSpPr/>
          <p:nvPr/>
        </p:nvSpPr>
        <p:spPr>
          <a:xfrm>
            <a:off x="7361428" y="587702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2">
            <a:extLst>
              <a:ext uri="{FF2B5EF4-FFF2-40B4-BE49-F238E27FC236}">
                <a16:creationId xmlns:a16="http://schemas.microsoft.com/office/drawing/2014/main" id="{9A193110-80E7-8E37-4CA5-3D3D840D0F70}"/>
              </a:ext>
            </a:extLst>
          </p:cNvPr>
          <p:cNvSpPr/>
          <p:nvPr/>
        </p:nvSpPr>
        <p:spPr>
          <a:xfrm>
            <a:off x="7334250" y="174979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0" name="섹션 액션 편집"/>
          <p:cNvSpPr txBox="1"/>
          <p:nvPr/>
        </p:nvSpPr>
        <p:spPr>
          <a:xfrm>
            <a:off x="3504438" y="454254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E06F4F22-ED4B-9FF1-FE50-E62733E0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메인화면_전맹 외 모든 유형 (3/4)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548765" y="1295353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695069" y="1373077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268947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1762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1790255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58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701540" y="1295353"/>
            <a:ext cx="244220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4847844" y="1373077"/>
            <a:ext cx="2186176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1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5842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5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491502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4943031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8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71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72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76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8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9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29192" y="1447800"/>
          <a:ext cx="2972409" cy="34539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시트 최소화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· 주변 장소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툴을 쓰지 않고 지도에서 직접 영역을 눌러도 장소 상세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최소화 상태에서만 노출 — 최대화에서는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 상태는 「내 위치」 ＋ 확대 · 축소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「정북 복원」은 방위가 정북이 아닐 때만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하단 Nav 3탭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홈 · 길안내 · 마이페이지 (좌 → 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각 대메뉴 첫 진입 페이지까지만 노출 · 이후 노출하지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길안내에서 [길안내] 선택 시 변화 없음 — 현재 화면에 그대로 머무름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1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내위치</a:t>
            </a:r>
          </a:p>
        </p:txBody>
      </p:sp>
      <p:sp>
        <p:nvSpPr>
          <p:cNvPr id="85" name="지도 컨트롤"/>
          <p:cNvSpPr/>
          <p:nvPr/>
        </p:nvSpPr>
        <p:spPr>
          <a:xfrm>
            <a:off x="6656832" y="414223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지도 컨트롤 라벨"/>
          <p:cNvSpPr txBox="1"/>
          <p:nvPr/>
        </p:nvSpPr>
        <p:spPr>
          <a:xfrm>
            <a:off x="6611112" y="4261104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7" name="지도 컨트롤"/>
          <p:cNvSpPr/>
          <p:nvPr/>
        </p:nvSpPr>
        <p:spPr>
          <a:xfrm>
            <a:off x="6656832" y="458114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지도 컨트롤 라벨"/>
          <p:cNvSpPr txBox="1"/>
          <p:nvPr/>
        </p:nvSpPr>
        <p:spPr>
          <a:xfrm>
            <a:off x="6611112" y="4700016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9" name="섹션 액션 편집"/>
          <p:cNvSpPr txBox="1"/>
          <p:nvPr/>
        </p:nvSpPr>
        <p:spPr>
          <a:xfrm>
            <a:off x="3504438" y="4542207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90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1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2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3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4" name="숫자배지 2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5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6382512" y="42245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  <p:extLst>
      <p:ext uri="{BB962C8B-B14F-4D97-AF65-F5344CB8AC3E}">
        <p14:creationId xmlns:p14="http://schemas.microsoft.com/office/powerpoint/2010/main" val="993732900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87D05AB6-A059-B773-D5C6-2E35FF8B9A47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54E907AC-077C-5D99-05CE-0B8FEA37733A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A491853E-A406-6681-9A31-9B2B3EC8D6F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40CD6AD-C4A7-C3AE-566F-69514411F81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A04D675B-7B87-3FB7-59D0-096326DD477A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메인화면_전맹 외 모든 유형 (4/4)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E8F01BB4-99CF-206A-30EC-C6C04069BAD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946C9255-BD2A-72DC-1CCB-0B30C1FE2DA3}"/>
              </a:ext>
            </a:extLst>
          </p:cNvPr>
          <p:cNvSpPr/>
          <p:nvPr/>
        </p:nvSpPr>
        <p:spPr>
          <a:xfrm>
            <a:off x="1390650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54F27B22-BC89-8721-F3AF-5B1354FBA800}"/>
              </a:ext>
            </a:extLst>
          </p:cNvPr>
          <p:cNvSpPr/>
          <p:nvPr/>
        </p:nvSpPr>
        <p:spPr>
          <a:xfrm>
            <a:off x="1400175" y="1793701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612FE16B-5D77-0F79-DA7D-CC23BE6104DE}"/>
              </a:ext>
            </a:extLst>
          </p:cNvPr>
          <p:cNvSpPr/>
          <p:nvPr/>
        </p:nvSpPr>
        <p:spPr>
          <a:xfrm>
            <a:off x="2586038" y="1879426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섹션 제목">
            <a:extLst>
              <a:ext uri="{FF2B5EF4-FFF2-40B4-BE49-F238E27FC236}">
                <a16:creationId xmlns:a16="http://schemas.microsoft.com/office/drawing/2014/main" id="{4EE93518-B3F1-D54D-1240-770E55E8CB4D}"/>
              </a:ext>
            </a:extLst>
          </p:cNvPr>
          <p:cNvSpPr txBox="1"/>
          <p:nvPr/>
        </p:nvSpPr>
        <p:spPr>
          <a:xfrm>
            <a:off x="1543050" y="2154253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더보기">
            <a:extLst>
              <a:ext uri="{FF2B5EF4-FFF2-40B4-BE49-F238E27FC236}">
                <a16:creationId xmlns:a16="http://schemas.microsoft.com/office/drawing/2014/main" id="{D1727A01-FA64-4AD0-6908-525F4254AACA}"/>
              </a:ext>
            </a:extLst>
          </p:cNvPr>
          <p:cNvCxnSpPr/>
          <p:nvPr/>
        </p:nvCxnSpPr>
        <p:spPr>
          <a:xfrm>
            <a:off x="3886200" y="221407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>
            <a:extLst>
              <a:ext uri="{FF2B5EF4-FFF2-40B4-BE49-F238E27FC236}">
                <a16:creationId xmlns:a16="http://schemas.microsoft.com/office/drawing/2014/main" id="{690FDC38-63A7-DB3B-5639-434E6E152E86}"/>
              </a:ext>
            </a:extLst>
          </p:cNvPr>
          <p:cNvCxnSpPr/>
          <p:nvPr/>
        </p:nvCxnSpPr>
        <p:spPr>
          <a:xfrm flipV="1">
            <a:off x="3886200" y="2249503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칩 집">
            <a:extLst>
              <a:ext uri="{FF2B5EF4-FFF2-40B4-BE49-F238E27FC236}">
                <a16:creationId xmlns:a16="http://schemas.microsoft.com/office/drawing/2014/main" id="{F48DFB97-41E8-6E90-DACD-75540B2DB7D5}"/>
              </a:ext>
            </a:extLst>
          </p:cNvPr>
          <p:cNvSpPr/>
          <p:nvPr/>
        </p:nvSpPr>
        <p:spPr>
          <a:xfrm>
            <a:off x="154305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칩 라벨">
            <a:extLst>
              <a:ext uri="{FF2B5EF4-FFF2-40B4-BE49-F238E27FC236}">
                <a16:creationId xmlns:a16="http://schemas.microsoft.com/office/drawing/2014/main" id="{2479C2C4-8525-8191-F524-20F3719DC5C6}"/>
              </a:ext>
            </a:extLst>
          </p:cNvPr>
          <p:cNvSpPr txBox="1"/>
          <p:nvPr/>
        </p:nvSpPr>
        <p:spPr>
          <a:xfrm>
            <a:off x="158115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7" name="칩 추가">
            <a:extLst>
              <a:ext uri="{FF2B5EF4-FFF2-40B4-BE49-F238E27FC236}">
                <a16:creationId xmlns:a16="http://schemas.microsoft.com/office/drawing/2014/main" id="{5D00A59B-EA65-2528-CF8F-A91DF1C3AE52}"/>
              </a:ext>
            </a:extLst>
          </p:cNvPr>
          <p:cNvSpPr/>
          <p:nvPr/>
        </p:nvSpPr>
        <p:spPr>
          <a:xfrm>
            <a:off x="2378075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4451A5A6-36B5-A642-2AFD-7B9EDB5D9E85}"/>
              </a:ext>
            </a:extLst>
          </p:cNvPr>
          <p:cNvSpPr txBox="1"/>
          <p:nvPr/>
        </p:nvSpPr>
        <p:spPr>
          <a:xfrm>
            <a:off x="2416175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3D1F9DC6-7D56-FA75-F14A-7144BD5A10DA}"/>
              </a:ext>
            </a:extLst>
          </p:cNvPr>
          <p:cNvSpPr/>
          <p:nvPr/>
        </p:nvSpPr>
        <p:spPr>
          <a:xfrm>
            <a:off x="3213100" y="2382853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F6896080-CDA6-10F6-2A5F-72E30C5715CF}"/>
              </a:ext>
            </a:extLst>
          </p:cNvPr>
          <p:cNvSpPr txBox="1"/>
          <p:nvPr/>
        </p:nvSpPr>
        <p:spPr>
          <a:xfrm>
            <a:off x="3251200" y="2382853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섹션 제목">
            <a:extLst>
              <a:ext uri="{FF2B5EF4-FFF2-40B4-BE49-F238E27FC236}">
                <a16:creationId xmlns:a16="http://schemas.microsoft.com/office/drawing/2014/main" id="{7ADACA3F-5841-D64A-A392-BBED52D89E1B}"/>
              </a:ext>
            </a:extLst>
          </p:cNvPr>
          <p:cNvSpPr txBox="1"/>
          <p:nvPr/>
        </p:nvSpPr>
        <p:spPr>
          <a:xfrm>
            <a:off x="1543050" y="295513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2" name="칩 지하철 내 수유실">
            <a:extLst>
              <a:ext uri="{FF2B5EF4-FFF2-40B4-BE49-F238E27FC236}">
                <a16:creationId xmlns:a16="http://schemas.microsoft.com/office/drawing/2014/main" id="{D8CEE667-0DB9-2C28-37C6-A6395D0110EA}"/>
              </a:ext>
            </a:extLst>
          </p:cNvPr>
          <p:cNvSpPr/>
          <p:nvPr/>
        </p:nvSpPr>
        <p:spPr>
          <a:xfrm>
            <a:off x="154305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칩 라벨">
            <a:extLst>
              <a:ext uri="{FF2B5EF4-FFF2-40B4-BE49-F238E27FC236}">
                <a16:creationId xmlns:a16="http://schemas.microsoft.com/office/drawing/2014/main" id="{4201DED3-27EC-C615-6A32-862EAE09AB6E}"/>
              </a:ext>
            </a:extLst>
          </p:cNvPr>
          <p:cNvSpPr txBox="1"/>
          <p:nvPr/>
        </p:nvSpPr>
        <p:spPr>
          <a:xfrm>
            <a:off x="158115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4" name="칩 장애인 화장실">
            <a:extLst>
              <a:ext uri="{FF2B5EF4-FFF2-40B4-BE49-F238E27FC236}">
                <a16:creationId xmlns:a16="http://schemas.microsoft.com/office/drawing/2014/main" id="{4ACAED80-4AE8-1877-8277-78F5B6AE974A}"/>
              </a:ext>
            </a:extLst>
          </p:cNvPr>
          <p:cNvSpPr/>
          <p:nvPr/>
        </p:nvSpPr>
        <p:spPr>
          <a:xfrm>
            <a:off x="2378075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2A86D1D6-495C-92FB-1E30-F5C95F13B90C}"/>
              </a:ext>
            </a:extLst>
          </p:cNvPr>
          <p:cNvSpPr txBox="1"/>
          <p:nvPr/>
        </p:nvSpPr>
        <p:spPr>
          <a:xfrm>
            <a:off x="2416175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26" name="칩 휠체어 충전소">
            <a:extLst>
              <a:ext uri="{FF2B5EF4-FFF2-40B4-BE49-F238E27FC236}">
                <a16:creationId xmlns:a16="http://schemas.microsoft.com/office/drawing/2014/main" id="{E55C082C-12F1-A2F6-52D6-D5245D91601E}"/>
              </a:ext>
            </a:extLst>
          </p:cNvPr>
          <p:cNvSpPr/>
          <p:nvPr/>
        </p:nvSpPr>
        <p:spPr>
          <a:xfrm>
            <a:off x="3213100" y="318373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F81F5287-5236-58D4-3DB3-B240E0A4C4A1}"/>
              </a:ext>
            </a:extLst>
          </p:cNvPr>
          <p:cNvSpPr txBox="1"/>
          <p:nvPr/>
        </p:nvSpPr>
        <p:spPr>
          <a:xfrm>
            <a:off x="3251200" y="318373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28" name="칩 엘리베이터 위치">
            <a:extLst>
              <a:ext uri="{FF2B5EF4-FFF2-40B4-BE49-F238E27FC236}">
                <a16:creationId xmlns:a16="http://schemas.microsoft.com/office/drawing/2014/main" id="{DEE8A109-D017-50DD-80E7-AD4B0110B92B}"/>
              </a:ext>
            </a:extLst>
          </p:cNvPr>
          <p:cNvSpPr/>
          <p:nvPr/>
        </p:nvSpPr>
        <p:spPr>
          <a:xfrm>
            <a:off x="154305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2D3096E4-F31C-12D3-063F-899B6490AD1B}"/>
              </a:ext>
            </a:extLst>
          </p:cNvPr>
          <p:cNvSpPr txBox="1"/>
          <p:nvPr/>
        </p:nvSpPr>
        <p:spPr>
          <a:xfrm>
            <a:off x="158115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0" name="칩 접근성 정보 조회">
            <a:extLst>
              <a:ext uri="{FF2B5EF4-FFF2-40B4-BE49-F238E27FC236}">
                <a16:creationId xmlns:a16="http://schemas.microsoft.com/office/drawing/2014/main" id="{F5844F75-9EFF-7EA1-C2C7-164665CEBAF2}"/>
              </a:ext>
            </a:extLst>
          </p:cNvPr>
          <p:cNvSpPr/>
          <p:nvPr/>
        </p:nvSpPr>
        <p:spPr>
          <a:xfrm>
            <a:off x="2378075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22C6008C-B32E-2B6B-BE41-7C7682D2957A}"/>
              </a:ext>
            </a:extLst>
          </p:cNvPr>
          <p:cNvSpPr txBox="1"/>
          <p:nvPr/>
        </p:nvSpPr>
        <p:spPr>
          <a:xfrm>
            <a:off x="2416175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에스컬레이터 위치">
            <a:extLst>
              <a:ext uri="{FF2B5EF4-FFF2-40B4-BE49-F238E27FC236}">
                <a16:creationId xmlns:a16="http://schemas.microsoft.com/office/drawing/2014/main" id="{5643CFDF-7E76-BC28-8604-4127B45A9E8E}"/>
              </a:ext>
            </a:extLst>
          </p:cNvPr>
          <p:cNvSpPr/>
          <p:nvPr/>
        </p:nvSpPr>
        <p:spPr>
          <a:xfrm>
            <a:off x="3213100" y="3585974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0015F4D0-5730-72CF-C923-61243ADD9F7C}"/>
              </a:ext>
            </a:extLst>
          </p:cNvPr>
          <p:cNvSpPr txBox="1"/>
          <p:nvPr/>
        </p:nvSpPr>
        <p:spPr>
          <a:xfrm>
            <a:off x="3251200" y="3585974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4" name="칩 청계천 이동 약자 ">
            <a:extLst>
              <a:ext uri="{FF2B5EF4-FFF2-40B4-BE49-F238E27FC236}">
                <a16:creationId xmlns:a16="http://schemas.microsoft.com/office/drawing/2014/main" id="{4CD0F474-11AE-0153-6566-805EEF9D2CF7}"/>
              </a:ext>
            </a:extLst>
          </p:cNvPr>
          <p:cNvSpPr/>
          <p:nvPr/>
        </p:nvSpPr>
        <p:spPr>
          <a:xfrm>
            <a:off x="1543050" y="3988209"/>
            <a:ext cx="758825" cy="335560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B6E54A36-8F17-4CE2-AB47-B3DCD3829BF2}"/>
              </a:ext>
            </a:extLst>
          </p:cNvPr>
          <p:cNvSpPr txBox="1"/>
          <p:nvPr/>
        </p:nvSpPr>
        <p:spPr>
          <a:xfrm>
            <a:off x="1581150" y="3988209"/>
            <a:ext cx="682625" cy="335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6" name="섹션 제목">
            <a:extLst>
              <a:ext uri="{FF2B5EF4-FFF2-40B4-BE49-F238E27FC236}">
                <a16:creationId xmlns:a16="http://schemas.microsoft.com/office/drawing/2014/main" id="{DC2D83C0-EC1D-7628-5F3F-982DB7EC5D86}"/>
              </a:ext>
            </a:extLst>
          </p:cNvPr>
          <p:cNvSpPr txBox="1"/>
          <p:nvPr/>
        </p:nvSpPr>
        <p:spPr>
          <a:xfrm>
            <a:off x="1543050" y="4560495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7" name="리스트 행">
            <a:extLst>
              <a:ext uri="{FF2B5EF4-FFF2-40B4-BE49-F238E27FC236}">
                <a16:creationId xmlns:a16="http://schemas.microsoft.com/office/drawing/2014/main" id="{F947BB68-9E81-F653-FE20-070F2B575D63}"/>
              </a:ext>
            </a:extLst>
          </p:cNvPr>
          <p:cNvSpPr/>
          <p:nvPr/>
        </p:nvSpPr>
        <p:spPr>
          <a:xfrm>
            <a:off x="1543050" y="4789095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>
            <a:extLst>
              <a:ext uri="{FF2B5EF4-FFF2-40B4-BE49-F238E27FC236}">
                <a16:creationId xmlns:a16="http://schemas.microsoft.com/office/drawing/2014/main" id="{229D2E26-CC50-E583-6D97-2DC104FB2752}"/>
              </a:ext>
            </a:extLst>
          </p:cNvPr>
          <p:cNvSpPr txBox="1"/>
          <p:nvPr/>
        </p:nvSpPr>
        <p:spPr>
          <a:xfrm>
            <a:off x="1676400" y="4789095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리스트 행">
            <a:extLst>
              <a:ext uri="{FF2B5EF4-FFF2-40B4-BE49-F238E27FC236}">
                <a16:creationId xmlns:a16="http://schemas.microsoft.com/office/drawing/2014/main" id="{A9D778BE-7B70-8B0B-EB84-105B0CC63A13}"/>
              </a:ext>
            </a:extLst>
          </p:cNvPr>
          <p:cNvSpPr/>
          <p:nvPr/>
        </p:nvSpPr>
        <p:spPr>
          <a:xfrm>
            <a:off x="1543050" y="5250490"/>
            <a:ext cx="2428875" cy="385894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611471FA-B9A7-312B-F580-ABCFC8103AC8}"/>
              </a:ext>
            </a:extLst>
          </p:cNvPr>
          <p:cNvSpPr txBox="1"/>
          <p:nvPr/>
        </p:nvSpPr>
        <p:spPr>
          <a:xfrm>
            <a:off x="1676400" y="5250490"/>
            <a:ext cx="1990725" cy="38589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AEF8898E-C1B2-A71C-AF3B-AC5460CED43E}"/>
              </a:ext>
            </a:extLst>
          </p:cNvPr>
          <p:cNvSpPr/>
          <p:nvPr/>
        </p:nvSpPr>
        <p:spPr>
          <a:xfrm>
            <a:off x="1400175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>
            <a:extLst>
              <a:ext uri="{FF2B5EF4-FFF2-40B4-BE49-F238E27FC236}">
                <a16:creationId xmlns:a16="http://schemas.microsoft.com/office/drawing/2014/main" id="{9DF07951-7BE2-937F-BC4F-E17006B3D35E}"/>
              </a:ext>
            </a:extLst>
          </p:cNvPr>
          <p:cNvSpPr/>
          <p:nvPr/>
        </p:nvSpPr>
        <p:spPr>
          <a:xfrm>
            <a:off x="1548765" y="1295353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CBF1F6A5-F5FE-0259-54DE-A49C34FA6A00}"/>
              </a:ext>
            </a:extLst>
          </p:cNvPr>
          <p:cNvSpPr txBox="1"/>
          <p:nvPr/>
        </p:nvSpPr>
        <p:spPr>
          <a:xfrm>
            <a:off x="1695069" y="1373077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>
            <a:extLst>
              <a:ext uri="{FF2B5EF4-FFF2-40B4-BE49-F238E27FC236}">
                <a16:creationId xmlns:a16="http://schemas.microsoft.com/office/drawing/2014/main" id="{AF91BB66-7CEB-F9C0-627E-F79F673DB409}"/>
              </a:ext>
            </a:extLst>
          </p:cNvPr>
          <p:cNvSpPr/>
          <p:nvPr/>
        </p:nvSpPr>
        <p:spPr>
          <a:xfrm>
            <a:off x="1400175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>
            <a:extLst>
              <a:ext uri="{FF2B5EF4-FFF2-40B4-BE49-F238E27FC236}">
                <a16:creationId xmlns:a16="http://schemas.microsoft.com/office/drawing/2014/main" id="{C851FE2B-D62A-9A2D-8C3F-6069A50F40E7}"/>
              </a:ext>
            </a:extLst>
          </p:cNvPr>
          <p:cNvSpPr/>
          <p:nvPr/>
        </p:nvSpPr>
        <p:spPr>
          <a:xfrm>
            <a:off x="1400175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>
            <a:extLst>
              <a:ext uri="{FF2B5EF4-FFF2-40B4-BE49-F238E27FC236}">
                <a16:creationId xmlns:a16="http://schemas.microsoft.com/office/drawing/2014/main" id="{F6CC000D-A9E7-1BBD-FE39-09DFEC1928A2}"/>
              </a:ext>
            </a:extLst>
          </p:cNvPr>
          <p:cNvSpPr/>
          <p:nvPr/>
        </p:nvSpPr>
        <p:spPr>
          <a:xfrm>
            <a:off x="2689479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>
            <a:extLst>
              <a:ext uri="{FF2B5EF4-FFF2-40B4-BE49-F238E27FC236}">
                <a16:creationId xmlns:a16="http://schemas.microsoft.com/office/drawing/2014/main" id="{C0C08AD6-F47A-4CBF-714B-F872889845F5}"/>
              </a:ext>
            </a:extLst>
          </p:cNvPr>
          <p:cNvSpPr txBox="1"/>
          <p:nvPr/>
        </p:nvSpPr>
        <p:spPr>
          <a:xfrm>
            <a:off x="2301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>
            <a:extLst>
              <a:ext uri="{FF2B5EF4-FFF2-40B4-BE49-F238E27FC236}">
                <a16:creationId xmlns:a16="http://schemas.microsoft.com/office/drawing/2014/main" id="{93D16229-49A8-0F6D-1B1F-A5FD9B5B13E6}"/>
              </a:ext>
            </a:extLst>
          </p:cNvPr>
          <p:cNvSpPr/>
          <p:nvPr/>
        </p:nvSpPr>
        <p:spPr>
          <a:xfrm>
            <a:off x="1762252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>
            <a:extLst>
              <a:ext uri="{FF2B5EF4-FFF2-40B4-BE49-F238E27FC236}">
                <a16:creationId xmlns:a16="http://schemas.microsoft.com/office/drawing/2014/main" id="{04E70B58-B5D2-652E-E284-2F13B0194D2B}"/>
              </a:ext>
            </a:extLst>
          </p:cNvPr>
          <p:cNvSpPr/>
          <p:nvPr/>
        </p:nvSpPr>
        <p:spPr>
          <a:xfrm>
            <a:off x="1790255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>
            <a:extLst>
              <a:ext uri="{FF2B5EF4-FFF2-40B4-BE49-F238E27FC236}">
                <a16:creationId xmlns:a16="http://schemas.microsoft.com/office/drawing/2014/main" id="{073F1F17-C6F6-98AB-E5EF-F3150233A883}"/>
              </a:ext>
            </a:extLst>
          </p:cNvPr>
          <p:cNvSpPr txBox="1"/>
          <p:nvPr/>
        </p:nvSpPr>
        <p:spPr>
          <a:xfrm>
            <a:off x="1390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>
            <a:extLst>
              <a:ext uri="{FF2B5EF4-FFF2-40B4-BE49-F238E27FC236}">
                <a16:creationId xmlns:a16="http://schemas.microsoft.com/office/drawing/2014/main" id="{0644AD93-59FA-1B5D-0E42-9E07190927F6}"/>
              </a:ext>
            </a:extLst>
          </p:cNvPr>
          <p:cNvSpPr/>
          <p:nvPr/>
        </p:nvSpPr>
        <p:spPr>
          <a:xfrm>
            <a:off x="3632708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>
            <a:extLst>
              <a:ext uri="{FF2B5EF4-FFF2-40B4-BE49-F238E27FC236}">
                <a16:creationId xmlns:a16="http://schemas.microsoft.com/office/drawing/2014/main" id="{71197D20-D3A1-60BE-F345-EF4B73D17195}"/>
              </a:ext>
            </a:extLst>
          </p:cNvPr>
          <p:cNvSpPr/>
          <p:nvPr/>
        </p:nvSpPr>
        <p:spPr>
          <a:xfrm>
            <a:off x="3596704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>
            <a:extLst>
              <a:ext uri="{FF2B5EF4-FFF2-40B4-BE49-F238E27FC236}">
                <a16:creationId xmlns:a16="http://schemas.microsoft.com/office/drawing/2014/main" id="{74BEE795-56C5-8D9F-8E40-A1CFF0F65BC4}"/>
              </a:ext>
            </a:extLst>
          </p:cNvPr>
          <p:cNvSpPr txBox="1"/>
          <p:nvPr/>
        </p:nvSpPr>
        <p:spPr>
          <a:xfrm>
            <a:off x="321310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">
            <a:extLst>
              <a:ext uri="{FF2B5EF4-FFF2-40B4-BE49-F238E27FC236}">
                <a16:creationId xmlns:a16="http://schemas.microsoft.com/office/drawing/2014/main" id="{C385A06A-0F52-1D27-A27C-249465428922}"/>
              </a:ext>
            </a:extLst>
          </p:cNvPr>
          <p:cNvSpPr/>
          <p:nvPr/>
        </p:nvSpPr>
        <p:spPr>
          <a:xfrm>
            <a:off x="4543425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바텀시트(최소화)">
            <a:extLst>
              <a:ext uri="{FF2B5EF4-FFF2-40B4-BE49-F238E27FC236}">
                <a16:creationId xmlns:a16="http://schemas.microsoft.com/office/drawing/2014/main" id="{D716F932-A32F-8FC4-F7C3-89D2EF092297}"/>
              </a:ext>
            </a:extLst>
          </p:cNvPr>
          <p:cNvSpPr/>
          <p:nvPr/>
        </p:nvSpPr>
        <p:spPr>
          <a:xfrm>
            <a:off x="4552950" y="5527501"/>
            <a:ext cx="2714625" cy="809625"/>
          </a:xfrm>
          <a:prstGeom prst="roundRect">
            <a:avLst>
              <a:gd name="adj" fmla="val 211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54000" dist="508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시트 손잡이">
            <a:extLst>
              <a:ext uri="{FF2B5EF4-FFF2-40B4-BE49-F238E27FC236}">
                <a16:creationId xmlns:a16="http://schemas.microsoft.com/office/drawing/2014/main" id="{EBEF9D8A-0A44-A4EE-4866-0410E844A97E}"/>
              </a:ext>
            </a:extLst>
          </p:cNvPr>
          <p:cNvSpPr/>
          <p:nvPr/>
        </p:nvSpPr>
        <p:spPr>
          <a:xfrm>
            <a:off x="5738812" y="5627514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안내">
            <a:extLst>
              <a:ext uri="{FF2B5EF4-FFF2-40B4-BE49-F238E27FC236}">
                <a16:creationId xmlns:a16="http://schemas.microsoft.com/office/drawing/2014/main" id="{6E2E8F13-634A-F419-57E7-39C999C92164}"/>
              </a:ext>
            </a:extLst>
          </p:cNvPr>
          <p:cNvSpPr txBox="1"/>
          <p:nvPr/>
        </p:nvSpPr>
        <p:spPr>
          <a:xfrm>
            <a:off x="4695825" y="1774651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58" name="탑바 구분선">
            <a:extLst>
              <a:ext uri="{FF2B5EF4-FFF2-40B4-BE49-F238E27FC236}">
                <a16:creationId xmlns:a16="http://schemas.microsoft.com/office/drawing/2014/main" id="{3406F556-B701-A3EA-617D-B311682805D4}"/>
              </a:ext>
            </a:extLst>
          </p:cNvPr>
          <p:cNvSpPr/>
          <p:nvPr/>
        </p:nvSpPr>
        <p:spPr>
          <a:xfrm>
            <a:off x="4552950" y="16984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검색창">
            <a:extLst>
              <a:ext uri="{FF2B5EF4-FFF2-40B4-BE49-F238E27FC236}">
                <a16:creationId xmlns:a16="http://schemas.microsoft.com/office/drawing/2014/main" id="{DA91F3A5-D1EE-EEB8-3671-6A499014A6D1}"/>
              </a:ext>
            </a:extLst>
          </p:cNvPr>
          <p:cNvSpPr/>
          <p:nvPr/>
        </p:nvSpPr>
        <p:spPr>
          <a:xfrm>
            <a:off x="4701540" y="1295353"/>
            <a:ext cx="244220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검색창 문구">
            <a:extLst>
              <a:ext uri="{FF2B5EF4-FFF2-40B4-BE49-F238E27FC236}">
                <a16:creationId xmlns:a16="http://schemas.microsoft.com/office/drawing/2014/main" id="{4FFE3441-F8B3-A276-96E4-BF6423250616}"/>
              </a:ext>
            </a:extLst>
          </p:cNvPr>
          <p:cNvSpPr txBox="1"/>
          <p:nvPr/>
        </p:nvSpPr>
        <p:spPr>
          <a:xfrm>
            <a:off x="4847844" y="1373077"/>
            <a:ext cx="2186176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61" name="하단 Nav 바탕">
            <a:extLst>
              <a:ext uri="{FF2B5EF4-FFF2-40B4-BE49-F238E27FC236}">
                <a16:creationId xmlns:a16="http://schemas.microsoft.com/office/drawing/2014/main" id="{4F8D6CA6-3623-3A98-6AD1-E41CA0958ACD}"/>
              </a:ext>
            </a:extLst>
          </p:cNvPr>
          <p:cNvSpPr/>
          <p:nvPr/>
        </p:nvSpPr>
        <p:spPr>
          <a:xfrm>
            <a:off x="4552950" y="5756101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하단 Nav 구분선">
            <a:extLst>
              <a:ext uri="{FF2B5EF4-FFF2-40B4-BE49-F238E27FC236}">
                <a16:creationId xmlns:a16="http://schemas.microsoft.com/office/drawing/2014/main" id="{B013BAFD-1D12-CCDB-BFF0-AFE4D66A093D}"/>
              </a:ext>
            </a:extLst>
          </p:cNvPr>
          <p:cNvSpPr/>
          <p:nvPr/>
        </p:nvSpPr>
        <p:spPr>
          <a:xfrm>
            <a:off x="4552950" y="575610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아이콘 nav">
            <a:extLst>
              <a:ext uri="{FF2B5EF4-FFF2-40B4-BE49-F238E27FC236}">
                <a16:creationId xmlns:a16="http://schemas.microsoft.com/office/drawing/2014/main" id="{5C76EBD1-53FD-BFAC-6BC0-EC285AA7C759}"/>
              </a:ext>
            </a:extLst>
          </p:cNvPr>
          <p:cNvSpPr/>
          <p:nvPr/>
        </p:nvSpPr>
        <p:spPr>
          <a:xfrm>
            <a:off x="5842254" y="5899928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Nav 길안내">
            <a:extLst>
              <a:ext uri="{FF2B5EF4-FFF2-40B4-BE49-F238E27FC236}">
                <a16:creationId xmlns:a16="http://schemas.microsoft.com/office/drawing/2014/main" id="{BB60CBE4-7C2F-2C01-A860-BBF39D7C96A9}"/>
              </a:ext>
            </a:extLst>
          </p:cNvPr>
          <p:cNvSpPr txBox="1"/>
          <p:nvPr/>
        </p:nvSpPr>
        <p:spPr>
          <a:xfrm>
            <a:off x="5454650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65" name="아이콘 home">
            <a:extLst>
              <a:ext uri="{FF2B5EF4-FFF2-40B4-BE49-F238E27FC236}">
                <a16:creationId xmlns:a16="http://schemas.microsoft.com/office/drawing/2014/main" id="{64788F60-044F-ACE3-F512-A16A2D18416A}"/>
              </a:ext>
            </a:extLst>
          </p:cNvPr>
          <p:cNvSpPr/>
          <p:nvPr/>
        </p:nvSpPr>
        <p:spPr>
          <a:xfrm>
            <a:off x="4915027" y="5903929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아이콘 home">
            <a:extLst>
              <a:ext uri="{FF2B5EF4-FFF2-40B4-BE49-F238E27FC236}">
                <a16:creationId xmlns:a16="http://schemas.microsoft.com/office/drawing/2014/main" id="{73E22BA0-69E9-2F89-B603-7C3C7C2D9F5D}"/>
              </a:ext>
            </a:extLst>
          </p:cNvPr>
          <p:cNvSpPr/>
          <p:nvPr/>
        </p:nvSpPr>
        <p:spPr>
          <a:xfrm>
            <a:off x="4943031" y="5979938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Nav 홈">
            <a:extLst>
              <a:ext uri="{FF2B5EF4-FFF2-40B4-BE49-F238E27FC236}">
                <a16:creationId xmlns:a16="http://schemas.microsoft.com/office/drawing/2014/main" id="{8EB1A64A-2B8F-0187-08C1-71F16009AF16}"/>
              </a:ext>
            </a:extLst>
          </p:cNvPr>
          <p:cNvSpPr txBox="1"/>
          <p:nvPr/>
        </p:nvSpPr>
        <p:spPr>
          <a:xfrm>
            <a:off x="454342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68" name="아이콘 user">
            <a:extLst>
              <a:ext uri="{FF2B5EF4-FFF2-40B4-BE49-F238E27FC236}">
                <a16:creationId xmlns:a16="http://schemas.microsoft.com/office/drawing/2014/main" id="{B1DDEF02-7348-90D5-2404-16E89441C064}"/>
              </a:ext>
            </a:extLst>
          </p:cNvPr>
          <p:cNvSpPr/>
          <p:nvPr/>
        </p:nvSpPr>
        <p:spPr>
          <a:xfrm>
            <a:off x="6785483" y="5899928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아이콘 user">
            <a:extLst>
              <a:ext uri="{FF2B5EF4-FFF2-40B4-BE49-F238E27FC236}">
                <a16:creationId xmlns:a16="http://schemas.microsoft.com/office/drawing/2014/main" id="{004B620B-5C67-BC74-9EB9-0D5B91DDCD0B}"/>
              </a:ext>
            </a:extLst>
          </p:cNvPr>
          <p:cNvSpPr/>
          <p:nvPr/>
        </p:nvSpPr>
        <p:spPr>
          <a:xfrm>
            <a:off x="6749479" y="5987940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av 마이페이지">
            <a:extLst>
              <a:ext uri="{FF2B5EF4-FFF2-40B4-BE49-F238E27FC236}">
                <a16:creationId xmlns:a16="http://schemas.microsoft.com/office/drawing/2014/main" id="{47AB4553-FB07-EA1E-9D1A-2804ED57A185}"/>
              </a:ext>
            </a:extLst>
          </p:cNvPr>
          <p:cNvSpPr txBox="1"/>
          <p:nvPr/>
        </p:nvSpPr>
        <p:spPr>
          <a:xfrm>
            <a:off x="6365875" y="6127576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grpSp>
        <p:nvGrpSpPr>
          <p:cNvPr id="71" name="그룹 6">
            <a:extLst>
              <a:ext uri="{FF2B5EF4-FFF2-40B4-BE49-F238E27FC236}">
                <a16:creationId xmlns:a16="http://schemas.microsoft.com/office/drawing/2014/main" id="{076E34A1-11FA-1CFF-9253-F073CF3C1A74}"/>
              </a:ext>
            </a:extLst>
          </p:cNvPr>
          <p:cNvGrpSpPr/>
          <p:nvPr/>
        </p:nvGrpSpPr>
        <p:grpSpPr>
          <a:xfrm>
            <a:off x="6610350" y="5022676"/>
            <a:ext cx="495300" cy="400050"/>
            <a:chOff x="6610350" y="5022676"/>
            <a:chExt cx="495300" cy="400050"/>
          </a:xfrm>
        </p:grpSpPr>
        <p:sp>
          <p:nvSpPr>
            <p:cNvPr id="72" name="내 위치 버튼">
              <a:extLst>
                <a:ext uri="{FF2B5EF4-FFF2-40B4-BE49-F238E27FC236}">
                  <a16:creationId xmlns:a16="http://schemas.microsoft.com/office/drawing/2014/main" id="{DD1588EF-0258-7D09-1EA6-92CBB0BC6D06}"/>
                </a:ext>
              </a:extLst>
            </p:cNvPr>
            <p:cNvSpPr/>
            <p:nvPr/>
          </p:nvSpPr>
          <p:spPr>
            <a:xfrm>
              <a:off x="6657975" y="5022676"/>
              <a:ext cx="400050" cy="4000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152400" dist="38100" dir="5400000" rotWithShape="0">
                <a:srgbClr val="1A2330">
                  <a:alpha val="22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내 위치 표식">
              <a:extLst>
                <a:ext uri="{FF2B5EF4-FFF2-40B4-BE49-F238E27FC236}">
                  <a16:creationId xmlns:a16="http://schemas.microsoft.com/office/drawing/2014/main" id="{D58E4F4D-3B88-82BC-AE79-9325F5639DEC}"/>
                </a:ext>
              </a:extLst>
            </p:cNvPr>
            <p:cNvSpPr/>
            <p:nvPr/>
          </p:nvSpPr>
          <p:spPr>
            <a:xfrm>
              <a:off x="6781800" y="5108401"/>
              <a:ext cx="152400" cy="152400"/>
            </a:xfrm>
            <a:prstGeom prst="ellipse">
              <a:avLst/>
            </a:prstGeom>
            <a:noFill/>
            <a:ln w="15240">
              <a:solidFill>
                <a:srgbClr val="2D4C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내 위치 점">
              <a:extLst>
                <a:ext uri="{FF2B5EF4-FFF2-40B4-BE49-F238E27FC236}">
                  <a16:creationId xmlns:a16="http://schemas.microsoft.com/office/drawing/2014/main" id="{E8ACCC52-98DD-344F-401A-B8F4A3E763ED}"/>
                </a:ext>
              </a:extLst>
            </p:cNvPr>
            <p:cNvSpPr/>
            <p:nvPr/>
          </p:nvSpPr>
          <p:spPr>
            <a:xfrm>
              <a:off x="6834188" y="5160788"/>
              <a:ext cx="47625" cy="47625"/>
            </a:xfrm>
            <a:prstGeom prst="ellipse">
              <a:avLst/>
            </a:prstGeom>
            <a:solidFill>
              <a:srgbClr val="2D4CC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내 위치 라벨">
              <a:extLst>
                <a:ext uri="{FF2B5EF4-FFF2-40B4-BE49-F238E27FC236}">
                  <a16:creationId xmlns:a16="http://schemas.microsoft.com/office/drawing/2014/main" id="{46CFDCF2-1721-BEE2-4180-B2D6BB5C3DA5}"/>
                </a:ext>
              </a:extLst>
            </p:cNvPr>
            <p:cNvSpPr txBox="1"/>
            <p:nvPr/>
          </p:nvSpPr>
          <p:spPr>
            <a:xfrm>
              <a:off x="6610350" y="5279851"/>
              <a:ext cx="495300" cy="1143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62" b="1" spc="-11">
                  <a:solidFill>
                    <a:srgbClr val="5B6573"/>
                  </a:solidFill>
                  <a:latin typeface="Pretendard"/>
                </a:rPr>
                <a:t>내위치</a:t>
              </a:r>
            </a:p>
          </p:txBody>
        </p:sp>
      </p:grpSp>
      <p:sp>
        <p:nvSpPr>
          <p:cNvPr id="76" name="Description 패널">
            <a:extLst>
              <a:ext uri="{FF2B5EF4-FFF2-40B4-BE49-F238E27FC236}">
                <a16:creationId xmlns:a16="http://schemas.microsoft.com/office/drawing/2014/main" id="{794A74E5-2F38-AEC6-DC7D-67F048C26CC4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Description 제목">
            <a:extLst>
              <a:ext uri="{FF2B5EF4-FFF2-40B4-BE49-F238E27FC236}">
                <a16:creationId xmlns:a16="http://schemas.microsoft.com/office/drawing/2014/main" id="{E57EBFB5-C3AB-CBFF-07D4-A93837BB84E5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8" name="Description 밑줄">
            <a:extLst>
              <a:ext uri="{FF2B5EF4-FFF2-40B4-BE49-F238E27FC236}">
                <a16:creationId xmlns:a16="http://schemas.microsoft.com/office/drawing/2014/main" id="{5A8AB465-41CF-E075-2348-3C1F01DB6F2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9" name="Description 표">
            <a:extLst>
              <a:ext uri="{FF2B5EF4-FFF2-40B4-BE49-F238E27FC236}">
                <a16:creationId xmlns:a16="http://schemas.microsoft.com/office/drawing/2014/main" id="{0A339BD1-FDE5-E1AF-04C6-58EFDE13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92541"/>
              </p:ext>
            </p:extLst>
          </p:nvPr>
        </p:nvGraphicFramePr>
        <p:xfrm>
          <a:off x="8629192" y="1447800"/>
          <a:ext cx="2972409" cy="290951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인근 편의시설 7칩 표출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7칩의 번호 · 명칭 · 개수는 고정이며 표출 순서만 교통약자 유형별로 다름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유형별 순위표는 [1-2 인근 편의시설] 유형별 표출 순서 장표 참조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 표출 규칙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섹션은 비회원에게 표출하지 않음 — 헤더 · [&gt;] 더보기 · 칩 3개 전부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로그인 팝업도 띄우지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· 최근 도착지는 비회원에게도 그대로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도착지는 단말에 저장되어 계정 없이도 쌓임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81" name="내 위치 버튼"/>
          <p:cNvSpPr/>
          <p:nvPr/>
        </p:nvSpPr>
        <p:spPr>
          <a:xfrm>
            <a:off x="6657975" y="5023010"/>
            <a:ext cx="400050" cy="4000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내 위치 표식"/>
          <p:cNvSpPr/>
          <p:nvPr/>
        </p:nvSpPr>
        <p:spPr>
          <a:xfrm>
            <a:off x="6781800" y="5108735"/>
            <a:ext cx="152400" cy="152400"/>
          </a:xfrm>
          <a:prstGeom prst="ellipse">
            <a:avLst/>
          </a:prstGeom>
          <a:noFill/>
          <a:ln w="15240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내 위치 점"/>
          <p:cNvSpPr/>
          <p:nvPr/>
        </p:nvSpPr>
        <p:spPr>
          <a:xfrm>
            <a:off x="6834188" y="5161122"/>
            <a:ext cx="47625" cy="47625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내 위치 라벨"/>
          <p:cNvSpPr txBox="1"/>
          <p:nvPr/>
        </p:nvSpPr>
        <p:spPr>
          <a:xfrm>
            <a:off x="6610350" y="5280185"/>
            <a:ext cx="495300" cy="114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562" b="1" spc="-11">
                <a:solidFill>
                  <a:srgbClr val="5B6573"/>
                </a:solidFill>
                <a:latin typeface="Pretendard"/>
              </a:rPr>
              <a:t>내위치</a:t>
            </a:r>
          </a:p>
        </p:txBody>
      </p:sp>
      <p:sp>
        <p:nvSpPr>
          <p:cNvPr id="85" name="지도 컨트롤"/>
          <p:cNvSpPr/>
          <p:nvPr/>
        </p:nvSpPr>
        <p:spPr>
          <a:xfrm>
            <a:off x="6656832" y="4142232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지도 컨트롤 라벨"/>
          <p:cNvSpPr txBox="1"/>
          <p:nvPr/>
        </p:nvSpPr>
        <p:spPr>
          <a:xfrm>
            <a:off x="6611112" y="4261104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7" name="지도 컨트롤"/>
          <p:cNvSpPr/>
          <p:nvPr/>
        </p:nvSpPr>
        <p:spPr>
          <a:xfrm>
            <a:off x="6656832" y="4581144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52400" dist="38100" dir="5400000" rotWithShape="0">
              <a:srgbClr val="1A233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지도 컨트롤 라벨"/>
          <p:cNvSpPr txBox="1"/>
          <p:nvPr/>
        </p:nvSpPr>
        <p:spPr>
          <a:xfrm>
            <a:off x="6611112" y="4700016"/>
            <a:ext cx="493776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spc="-11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9" name="섹션 액션 편집"/>
          <p:cNvSpPr txBox="1"/>
          <p:nvPr/>
        </p:nvSpPr>
        <p:spPr>
          <a:xfrm>
            <a:off x="3504438" y="4542207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90" name="숫자배지 1">
            <a:extLst>
              <a:ext uri="{FF2B5EF4-FFF2-40B4-BE49-F238E27FC236}">
                <a16:creationId xmlns:a16="http://schemas.microsoft.com/office/drawing/2014/main" id="{343A826B-DF67-266E-1CBB-A17AB5514938}"/>
              </a:ext>
            </a:extLst>
          </p:cNvPr>
          <p:cNvSpPr/>
          <p:nvPr/>
        </p:nvSpPr>
        <p:spPr>
          <a:xfrm>
            <a:off x="1162050" y="24982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1" name="숫자배지 3">
            <a:extLst>
              <a:ext uri="{FF2B5EF4-FFF2-40B4-BE49-F238E27FC236}">
                <a16:creationId xmlns:a16="http://schemas.microsoft.com/office/drawing/2014/main" id="{7C7A2159-4722-C569-4565-976F7262A016}"/>
              </a:ext>
            </a:extLst>
          </p:cNvPr>
          <p:cNvSpPr/>
          <p:nvPr/>
        </p:nvSpPr>
        <p:spPr>
          <a:xfrm>
            <a:off x="7361428" y="58766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2" name="숫자배지 1-1">
            <a:extLst>
              <a:ext uri="{FF2B5EF4-FFF2-40B4-BE49-F238E27FC236}">
                <a16:creationId xmlns:a16="http://schemas.microsoft.com/office/drawing/2014/main" id="{6F5AACF7-A900-8735-BF07-ED7E5F8F0048}"/>
              </a:ext>
            </a:extLst>
          </p:cNvPr>
          <p:cNvSpPr/>
          <p:nvPr/>
        </p:nvSpPr>
        <p:spPr>
          <a:xfrm>
            <a:off x="1042415" y="1347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93" name="숫자배지 1-2">
            <a:extLst>
              <a:ext uri="{FF2B5EF4-FFF2-40B4-BE49-F238E27FC236}">
                <a16:creationId xmlns:a16="http://schemas.microsoft.com/office/drawing/2014/main" id="{27EB435C-C23A-487E-1432-FB714E7CF440}"/>
              </a:ext>
            </a:extLst>
          </p:cNvPr>
          <p:cNvSpPr/>
          <p:nvPr/>
        </p:nvSpPr>
        <p:spPr>
          <a:xfrm>
            <a:off x="1038225" y="209780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94" name="숫자배지 2">
            <a:extLst>
              <a:ext uri="{FF2B5EF4-FFF2-40B4-BE49-F238E27FC236}">
                <a16:creationId xmlns:a16="http://schemas.microsoft.com/office/drawing/2014/main" id="{D1045D32-5962-0812-FB9C-AE9A4EE6CCF0}"/>
              </a:ext>
            </a:extLst>
          </p:cNvPr>
          <p:cNvSpPr/>
          <p:nvPr/>
        </p:nvSpPr>
        <p:spPr>
          <a:xfrm>
            <a:off x="7334250" y="174946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5" name="숫자배지 2-1">
            <a:extLst>
              <a:ext uri="{FF2B5EF4-FFF2-40B4-BE49-F238E27FC236}">
                <a16:creationId xmlns:a16="http://schemas.microsoft.com/office/drawing/2014/main" id="{85DB0EC3-EAAE-E7FF-ED65-D928FEE6BD5D}"/>
              </a:ext>
            </a:extLst>
          </p:cNvPr>
          <p:cNvSpPr/>
          <p:nvPr/>
        </p:nvSpPr>
        <p:spPr>
          <a:xfrm>
            <a:off x="6382512" y="42245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6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2-0-1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4182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최근 도착지 편집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88712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선택 삭제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40578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탑앱바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＋ 제목 「최근 도착지 편집」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→ 2-0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[전체 선택] 토글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 상단 우측 1개 · 아이콘 ＋ 텍스트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전부 선택되면 라벨이 「전체 해제」로 변경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저장분 전량 · 최대 30건 · 최신순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기본값 전부 미선택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 · 순번 · 날짜 · 주소 보조줄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고정 1개 · 라벨에 선택 개수 표기 · 0개면 비활성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본문 「선택한 N개를 삭제할까요?」 · 보조 「삭제하면 되돌릴 수 없습니다.」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[취소] · [삭제]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확인하면 2-0 자동 복귀 · 취소하면 선택 상태 그대로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탑바 구분선"/>
          <p:cNvSpPr/>
          <p:nvPr/>
        </p:nvSpPr>
        <p:spPr>
          <a:xfrm>
            <a:off x="2971800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탑바 타이틀"/>
          <p:cNvSpPr txBox="1"/>
          <p:nvPr/>
        </p:nvSpPr>
        <p:spPr>
          <a:xfrm>
            <a:off x="3383280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최근 도착지 편집</a:t>
            </a:r>
          </a:p>
        </p:txBody>
      </p:sp>
      <p:cxnSp>
        <p:nvCxnSpPr>
          <p:cNvPr id="18" name="뒤로가기"/>
          <p:cNvCxnSpPr/>
          <p:nvPr/>
        </p:nvCxnSpPr>
        <p:spPr>
          <a:xfrm flipH="1">
            <a:off x="3118104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뒤로가기"/>
          <p:cNvCxnSpPr/>
          <p:nvPr/>
        </p:nvCxnSpPr>
        <p:spPr>
          <a:xfrm flipH="1" flipV="1">
            <a:off x="3118104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전체 선택"/>
          <p:cNvSpPr txBox="1"/>
          <p:nvPr/>
        </p:nvSpPr>
        <p:spPr>
          <a:xfrm>
            <a:off x="4681728" y="1719072"/>
            <a:ext cx="822960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25" b="0" spc="-18">
                <a:solidFill>
                  <a:srgbClr val="3E4652"/>
                </a:solidFill>
                <a:latin typeface="Pretendard"/>
              </a:rPr>
              <a:t>전체 선택</a:t>
            </a:r>
          </a:p>
        </p:txBody>
      </p:sp>
      <p:sp>
        <p:nvSpPr>
          <p:cNvPr id="21" name="구분선"/>
          <p:cNvSpPr/>
          <p:nvPr/>
        </p:nvSpPr>
        <p:spPr>
          <a:xfrm>
            <a:off x="3118104" y="1975104"/>
            <a:ext cx="2432304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체크박스"/>
          <p:cNvSpPr/>
          <p:nvPr/>
        </p:nvSpPr>
        <p:spPr>
          <a:xfrm>
            <a:off x="3163824" y="2130551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3374136" y="2121408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4" name="체크박스"/>
          <p:cNvSpPr/>
          <p:nvPr/>
        </p:nvSpPr>
        <p:spPr>
          <a:xfrm>
            <a:off x="3163824" y="2514599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행 제목"/>
          <p:cNvSpPr txBox="1"/>
          <p:nvPr/>
        </p:nvSpPr>
        <p:spPr>
          <a:xfrm>
            <a:off x="3374136" y="250545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26" name="체크박스"/>
          <p:cNvSpPr/>
          <p:nvPr/>
        </p:nvSpPr>
        <p:spPr>
          <a:xfrm>
            <a:off x="3163824" y="2898647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행 제목"/>
          <p:cNvSpPr txBox="1"/>
          <p:nvPr/>
        </p:nvSpPr>
        <p:spPr>
          <a:xfrm>
            <a:off x="3374136" y="2889503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광진구 자양로 43길</a:t>
            </a:r>
          </a:p>
        </p:txBody>
      </p:sp>
      <p:sp>
        <p:nvSpPr>
          <p:cNvPr id="28" name="체크박스"/>
          <p:cNvSpPr/>
          <p:nvPr/>
        </p:nvSpPr>
        <p:spPr>
          <a:xfrm>
            <a:off x="3163824" y="3282695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/>
          <p:cNvSpPr txBox="1"/>
          <p:nvPr/>
        </p:nvSpPr>
        <p:spPr>
          <a:xfrm>
            <a:off x="3374136" y="3273551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31" name="하단 버튼 삭제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163824" y="5760720"/>
            <a:ext cx="234086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하단 버튼 삭제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163824" y="5760720"/>
            <a:ext cx="234086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1개 삭제</a:t>
            </a:r>
          </a:p>
        </p:txBody>
      </p:sp>
      <p:sp>
        <p:nvSpPr>
          <p:cNvPr id="33" name="숫자배지 1"/>
          <p:cNvSpPr/>
          <p:nvPr/>
        </p:nvSpPr>
        <p:spPr>
          <a:xfrm>
            <a:off x="2734056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4" name="숫자배지 2"/>
          <p:cNvSpPr/>
          <p:nvPr/>
        </p:nvSpPr>
        <p:spPr>
          <a:xfrm>
            <a:off x="5568696" y="173736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5" name="숫자배지 3"/>
          <p:cNvSpPr/>
          <p:nvPr/>
        </p:nvSpPr>
        <p:spPr>
          <a:xfrm>
            <a:off x="2734056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6" name="숫자배지 4"/>
          <p:cNvSpPr/>
          <p:nvPr/>
        </p:nvSpPr>
        <p:spPr>
          <a:xfrm>
            <a:off x="2734056" y="58155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7" name="전체 선택 체크박스"/>
          <p:cNvSpPr/>
          <p:nvPr/>
        </p:nvSpPr>
        <p:spPr>
          <a:xfrm>
            <a:off x="4942551" y="1764792"/>
            <a:ext cx="128016" cy="128016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① 빈 상태 · ② 입력 중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24017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앱바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· 검색창 · 바로가기가 한 묶음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수 — 일반 검색 · 역할 지정(도착지 · 경유지 · 출발지) 3행 · 슬롯 지정 2행 · 즐겨찾기 추가 1행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 중 · 검색 결과에서는 1행으로 축소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placeholder 「어디로 갈까요?」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글자 입력 시 ② 입력 중 상태로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즉시 한글 키패드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현위치로 설정 / 현위치로 등록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 지정만 「현위치로 등록」 · 그 외는 「현위치로 설정」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일반 검색은 현위치를 도착지로 설정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즐겨찾기에서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라벨은 모드 공통 · 즐겨찾기 선택 목록으로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고르면 그 역할로 설정 후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9" name="검색창"/>
          <p:cNvSpPr/>
          <p:nvPr/>
        </p:nvSpPr>
        <p:spPr>
          <a:xfrm>
            <a:off x="173736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 문구"/>
          <p:cNvSpPr txBox="1"/>
          <p:nvPr/>
        </p:nvSpPr>
        <p:spPr>
          <a:xfrm>
            <a:off x="188366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8A94A3"/>
                </a:solidFill>
                <a:latin typeface="Pretendard"/>
              </a:rPr>
              <a:t>어디로 갈까요?</a:t>
            </a:r>
          </a:p>
        </p:txBody>
      </p:sp>
      <p:sp>
        <p:nvSpPr>
          <p:cNvPr id="21" name="바로가기 칩"/>
          <p:cNvSpPr/>
          <p:nvPr/>
        </p:nvSpPr>
        <p:spPr>
          <a:xfrm>
            <a:off x="1545336" y="201168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바로가기 칩 라벨"/>
          <p:cNvSpPr txBox="1"/>
          <p:nvPr/>
        </p:nvSpPr>
        <p:spPr>
          <a:xfrm>
            <a:off x="1545336" y="2052827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집</a:t>
            </a:r>
          </a:p>
        </p:txBody>
      </p:sp>
      <p:sp>
        <p:nvSpPr>
          <p:cNvPr id="23" name="바로가기 칩"/>
          <p:cNvSpPr/>
          <p:nvPr/>
        </p:nvSpPr>
        <p:spPr>
          <a:xfrm>
            <a:off x="2093976" y="2011680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바로가기 칩 라벨"/>
          <p:cNvSpPr txBox="1"/>
          <p:nvPr/>
        </p:nvSpPr>
        <p:spPr>
          <a:xfrm>
            <a:off x="2093976" y="2052827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회사</a:t>
            </a:r>
          </a:p>
        </p:txBody>
      </p:sp>
      <p:sp>
        <p:nvSpPr>
          <p:cNvPr id="25" name="바로가기 칩"/>
          <p:cNvSpPr/>
          <p:nvPr/>
        </p:nvSpPr>
        <p:spPr>
          <a:xfrm>
            <a:off x="2705862" y="2011680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바로가기 칩 라벨"/>
          <p:cNvSpPr txBox="1"/>
          <p:nvPr/>
        </p:nvSpPr>
        <p:spPr>
          <a:xfrm>
            <a:off x="2705862" y="2052827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9AA4B2"/>
                </a:solidFill>
                <a:latin typeface="Pretendard"/>
              </a:rPr>
              <a:t>추가</a:t>
            </a:r>
          </a:p>
        </p:txBody>
      </p:sp>
      <p:sp>
        <p:nvSpPr>
          <p:cNvPr id="27" name="앱바 구분선"/>
          <p:cNvSpPr/>
          <p:nvPr/>
        </p:nvSpPr>
        <p:spPr>
          <a:xfrm>
            <a:off x="1399032" y="2322575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최근 검색 아이콘"/>
          <p:cNvSpPr txBox="1"/>
          <p:nvPr/>
        </p:nvSpPr>
        <p:spPr>
          <a:xfrm>
            <a:off x="1572768" y="2432304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29" name="최근 검색어"/>
          <p:cNvSpPr txBox="1"/>
          <p:nvPr/>
        </p:nvSpPr>
        <p:spPr>
          <a:xfrm>
            <a:off x="1792224" y="2432304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30" name="검색 날짜"/>
          <p:cNvSpPr txBox="1"/>
          <p:nvPr/>
        </p:nvSpPr>
        <p:spPr>
          <a:xfrm>
            <a:off x="3291840" y="2432304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31" name="검색 삭제"/>
          <p:cNvSpPr txBox="1"/>
          <p:nvPr/>
        </p:nvSpPr>
        <p:spPr>
          <a:xfrm>
            <a:off x="3785616" y="243230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2" name="최근 검색 아이콘"/>
          <p:cNvSpPr txBox="1"/>
          <p:nvPr/>
        </p:nvSpPr>
        <p:spPr>
          <a:xfrm>
            <a:off x="1572768" y="2724911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33" name="최근 검색어"/>
          <p:cNvSpPr txBox="1"/>
          <p:nvPr/>
        </p:nvSpPr>
        <p:spPr>
          <a:xfrm>
            <a:off x="1792224" y="2724911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4" name="검색 날짜"/>
          <p:cNvSpPr txBox="1"/>
          <p:nvPr/>
        </p:nvSpPr>
        <p:spPr>
          <a:xfrm>
            <a:off x="3291840" y="2724911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35" name="검색 삭제"/>
          <p:cNvSpPr txBox="1"/>
          <p:nvPr/>
        </p:nvSpPr>
        <p:spPr>
          <a:xfrm>
            <a:off x="3785616" y="2724911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6" name="최근 검색 아이콘"/>
          <p:cNvSpPr txBox="1"/>
          <p:nvPr/>
        </p:nvSpPr>
        <p:spPr>
          <a:xfrm>
            <a:off x="1572768" y="3017519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37" name="최근 검색어"/>
          <p:cNvSpPr txBox="1"/>
          <p:nvPr/>
        </p:nvSpPr>
        <p:spPr>
          <a:xfrm>
            <a:off x="1792224" y="301751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중구 태평로1가</a:t>
            </a:r>
          </a:p>
        </p:txBody>
      </p:sp>
      <p:sp>
        <p:nvSpPr>
          <p:cNvPr id="38" name="검색 날짜"/>
          <p:cNvSpPr txBox="1"/>
          <p:nvPr/>
        </p:nvSpPr>
        <p:spPr>
          <a:xfrm>
            <a:off x="3291840" y="3017519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09.10</a:t>
            </a:r>
          </a:p>
        </p:txBody>
      </p:sp>
      <p:sp>
        <p:nvSpPr>
          <p:cNvPr id="39" name="검색 삭제"/>
          <p:cNvSpPr txBox="1"/>
          <p:nvPr/>
        </p:nvSpPr>
        <p:spPr>
          <a:xfrm>
            <a:off x="3785616" y="3017519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40" name="키패드"/>
          <p:cNvSpPr/>
          <p:nvPr/>
        </p:nvSpPr>
        <p:spPr>
          <a:xfrm>
            <a:off x="1399032" y="5166359"/>
            <a:ext cx="2715768" cy="1261872"/>
          </a:xfrm>
          <a:prstGeom prst="roundRect">
            <a:avLst>
              <a:gd name="adj" fmla="val 13587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키패드 안내"/>
          <p:cNvSpPr txBox="1"/>
          <p:nvPr/>
        </p:nvSpPr>
        <p:spPr>
          <a:xfrm>
            <a:off x="1938528" y="5705855"/>
            <a:ext cx="17373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진입 즉시 한글 키패드</a:t>
            </a:r>
          </a:p>
        </p:txBody>
      </p:sp>
      <p:sp>
        <p:nvSpPr>
          <p:cNvPr id="44" name="검색창"/>
          <p:cNvSpPr/>
          <p:nvPr/>
        </p:nvSpPr>
        <p:spPr>
          <a:xfrm>
            <a:off x="489204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검색창 문구"/>
          <p:cNvSpPr txBox="1"/>
          <p:nvPr/>
        </p:nvSpPr>
        <p:spPr>
          <a:xfrm>
            <a:off x="503834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시청</a:t>
            </a:r>
          </a:p>
        </p:txBody>
      </p:sp>
      <p:sp>
        <p:nvSpPr>
          <p:cNvPr id="46" name="앱바 구분선"/>
          <p:cNvSpPr/>
          <p:nvPr/>
        </p:nvSpPr>
        <p:spPr>
          <a:xfrm>
            <a:off x="4553712" y="16276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입력 키워드 아이콘"/>
          <p:cNvSpPr txBox="1"/>
          <p:nvPr/>
        </p:nvSpPr>
        <p:spPr>
          <a:xfrm>
            <a:off x="4727448" y="173736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48" name="입력 키워드"/>
          <p:cNvSpPr txBox="1"/>
          <p:nvPr/>
        </p:nvSpPr>
        <p:spPr>
          <a:xfrm>
            <a:off x="4946904" y="1682496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</a:t>
            </a:r>
          </a:p>
        </p:txBody>
      </p:sp>
      <p:sp>
        <p:nvSpPr>
          <p:cNvPr id="49" name="구분선"/>
          <p:cNvSpPr/>
          <p:nvPr/>
        </p:nvSpPr>
        <p:spPr>
          <a:xfrm>
            <a:off x="4553712" y="2029968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섹션 헤더"/>
          <p:cNvSpPr txBox="1"/>
          <p:nvPr/>
        </p:nvSpPr>
        <p:spPr>
          <a:xfrm>
            <a:off x="4727448" y="213969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51" name="관련 아이콘"/>
          <p:cNvSpPr txBox="1"/>
          <p:nvPr/>
        </p:nvSpPr>
        <p:spPr>
          <a:xfrm>
            <a:off x="4764024" y="2377439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★</a:t>
            </a:r>
          </a:p>
        </p:txBody>
      </p:sp>
      <p:sp>
        <p:nvSpPr>
          <p:cNvPr id="52" name="관련 검색어"/>
          <p:cNvSpPr txBox="1"/>
          <p:nvPr/>
        </p:nvSpPr>
        <p:spPr>
          <a:xfrm>
            <a:off x="4983479" y="2377439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  (집)</a:t>
            </a:r>
          </a:p>
        </p:txBody>
      </p:sp>
      <p:sp>
        <p:nvSpPr>
          <p:cNvPr id="53" name="섹션 헤더"/>
          <p:cNvSpPr txBox="1"/>
          <p:nvPr/>
        </p:nvSpPr>
        <p:spPr>
          <a:xfrm>
            <a:off x="4727448" y="268833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검색어</a:t>
            </a:r>
          </a:p>
        </p:txBody>
      </p:sp>
      <p:sp>
        <p:nvSpPr>
          <p:cNvPr id="54" name="관련 아이콘"/>
          <p:cNvSpPr txBox="1"/>
          <p:nvPr/>
        </p:nvSpPr>
        <p:spPr>
          <a:xfrm>
            <a:off x="4764024" y="292608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55" name="관련 검색어"/>
          <p:cNvSpPr txBox="1"/>
          <p:nvPr/>
        </p:nvSpPr>
        <p:spPr>
          <a:xfrm>
            <a:off x="4983479" y="292608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56" name="관련 아이콘"/>
          <p:cNvSpPr txBox="1"/>
          <p:nvPr/>
        </p:nvSpPr>
        <p:spPr>
          <a:xfrm>
            <a:off x="4764024" y="3182112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57" name="관련 검색어"/>
          <p:cNvSpPr txBox="1"/>
          <p:nvPr/>
        </p:nvSpPr>
        <p:spPr>
          <a:xfrm>
            <a:off x="4983479" y="318211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2호선</a:t>
            </a:r>
          </a:p>
        </p:txBody>
      </p:sp>
      <p:sp>
        <p:nvSpPr>
          <p:cNvPr id="58" name="숫자배지 1"/>
          <p:cNvSpPr/>
          <p:nvPr/>
        </p:nvSpPr>
        <p:spPr>
          <a:xfrm>
            <a:off x="1161288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2"/>
          <p:cNvSpPr/>
          <p:nvPr/>
        </p:nvSpPr>
        <p:spPr>
          <a:xfrm>
            <a:off x="4005072" y="13258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0" name="숫자배지 5"/>
          <p:cNvSpPr/>
          <p:nvPr/>
        </p:nvSpPr>
        <p:spPr>
          <a:xfrm>
            <a:off x="1161288" y="194767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1" name="숫자배지 6"/>
          <p:cNvSpPr/>
          <p:nvPr/>
        </p:nvSpPr>
        <p:spPr>
          <a:xfrm>
            <a:off x="1161288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2" name="숫자배지 7"/>
          <p:cNvSpPr/>
          <p:nvPr/>
        </p:nvSpPr>
        <p:spPr>
          <a:xfrm>
            <a:off x="4315968" y="21579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63" name="숫자배지 7-1"/>
          <p:cNvSpPr/>
          <p:nvPr/>
        </p:nvSpPr>
        <p:spPr>
          <a:xfrm>
            <a:off x="4251959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7-1</a:t>
            </a:r>
          </a:p>
        </p:txBody>
      </p:sp>
      <p:sp>
        <p:nvSpPr>
          <p:cNvPr id="64" name="바로가기 버튼"/>
          <p:cNvSpPr/>
          <p:nvPr/>
        </p:nvSpPr>
        <p:spPr>
          <a:xfrm>
            <a:off x="1545336" y="170078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바로가기 버튼 라벨"/>
          <p:cNvSpPr txBox="1"/>
          <p:nvPr/>
        </p:nvSpPr>
        <p:spPr>
          <a:xfrm>
            <a:off x="1545336" y="1737360"/>
            <a:ext cx="10789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📍 현위치로 설정</a:t>
            </a:r>
          </a:p>
        </p:txBody>
      </p:sp>
      <p:sp>
        <p:nvSpPr>
          <p:cNvPr id="66" name="바로가기 버튼"/>
          <p:cNvSpPr/>
          <p:nvPr/>
        </p:nvSpPr>
        <p:spPr>
          <a:xfrm>
            <a:off x="2697480" y="170078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바로가기 버튼 라벨"/>
          <p:cNvSpPr txBox="1"/>
          <p:nvPr/>
        </p:nvSpPr>
        <p:spPr>
          <a:xfrm>
            <a:off x="2697480" y="1737360"/>
            <a:ext cx="10789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☆ 즐겨찾기에서 선택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1197864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3803904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18" name="뒤로가기"/>
          <p:cNvCxnSpPr/>
          <p:nvPr/>
        </p:nvCxnSpPr>
        <p:spPr>
          <a:xfrm flipH="1">
            <a:off x="154533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/>
          <p:cNvCxnSpPr/>
          <p:nvPr/>
        </p:nvCxnSpPr>
        <p:spPr>
          <a:xfrm flipH="1" flipV="1">
            <a:off x="154533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>
            <a:off x="470001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 flipV="1">
            <a:off x="470001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① 빈 상태 · ② 입력 중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2179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바로가기 칩 3개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「집」 1슬롯 고정 ＋ 사용자 지정 2슬롯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미등록 슬롯은 「추가」 · 회색 표기 · 선택 시 프리셋 시트로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칩이 빠져 앱바가 한 행 줄어듦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최근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헤더 없이 앱바 바로 아래 리스트로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🔍 검색어 → 검색 실행 · 📍 장소 → 2-2 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[✕]는 확인 없이 그 행만 삭제 · 되돌리기 · 전체 삭제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0건이면 「서울 안에서 갈 곳을 검색해 보세요」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관련 검색어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순서 고정 — ①입력 키워드 → ②즐겨찾기 → ③검색어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7-1 입력 키워드 행이 검색 실행 수단 · 헤더 없이 맨 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아래 두 묶음은 섹션 헤더로 구분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9" name="검색창"/>
          <p:cNvSpPr/>
          <p:nvPr/>
        </p:nvSpPr>
        <p:spPr>
          <a:xfrm>
            <a:off x="173736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 문구"/>
          <p:cNvSpPr txBox="1"/>
          <p:nvPr/>
        </p:nvSpPr>
        <p:spPr>
          <a:xfrm>
            <a:off x="188366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8A94A3"/>
                </a:solidFill>
                <a:latin typeface="Pretendard"/>
              </a:rPr>
              <a:t>어디로 갈까요?</a:t>
            </a:r>
          </a:p>
        </p:txBody>
      </p:sp>
      <p:sp>
        <p:nvSpPr>
          <p:cNvPr id="21" name="바로가기 칩"/>
          <p:cNvSpPr/>
          <p:nvPr/>
        </p:nvSpPr>
        <p:spPr>
          <a:xfrm>
            <a:off x="1545336" y="201168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바로가기 칩 라벨"/>
          <p:cNvSpPr txBox="1"/>
          <p:nvPr/>
        </p:nvSpPr>
        <p:spPr>
          <a:xfrm>
            <a:off x="1545336" y="2052827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집</a:t>
            </a:r>
          </a:p>
        </p:txBody>
      </p:sp>
      <p:sp>
        <p:nvSpPr>
          <p:cNvPr id="23" name="바로가기 칩"/>
          <p:cNvSpPr/>
          <p:nvPr/>
        </p:nvSpPr>
        <p:spPr>
          <a:xfrm>
            <a:off x="2093976" y="2011680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바로가기 칩 라벨"/>
          <p:cNvSpPr txBox="1"/>
          <p:nvPr/>
        </p:nvSpPr>
        <p:spPr>
          <a:xfrm>
            <a:off x="2093976" y="2052827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회사</a:t>
            </a:r>
          </a:p>
        </p:txBody>
      </p:sp>
      <p:sp>
        <p:nvSpPr>
          <p:cNvPr id="25" name="바로가기 칩"/>
          <p:cNvSpPr/>
          <p:nvPr/>
        </p:nvSpPr>
        <p:spPr>
          <a:xfrm>
            <a:off x="2705862" y="2011680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바로가기 칩 라벨"/>
          <p:cNvSpPr txBox="1"/>
          <p:nvPr/>
        </p:nvSpPr>
        <p:spPr>
          <a:xfrm>
            <a:off x="2705862" y="2052827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9AA4B2"/>
                </a:solidFill>
                <a:latin typeface="Pretendard"/>
              </a:rPr>
              <a:t>추가</a:t>
            </a:r>
          </a:p>
        </p:txBody>
      </p:sp>
      <p:sp>
        <p:nvSpPr>
          <p:cNvPr id="27" name="앱바 구분선"/>
          <p:cNvSpPr/>
          <p:nvPr/>
        </p:nvSpPr>
        <p:spPr>
          <a:xfrm>
            <a:off x="1399032" y="2322575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최근 검색 아이콘"/>
          <p:cNvSpPr txBox="1"/>
          <p:nvPr/>
        </p:nvSpPr>
        <p:spPr>
          <a:xfrm>
            <a:off x="1572768" y="2432304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29" name="최근 검색어"/>
          <p:cNvSpPr txBox="1"/>
          <p:nvPr/>
        </p:nvSpPr>
        <p:spPr>
          <a:xfrm>
            <a:off x="1792224" y="2432304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30" name="검색 날짜"/>
          <p:cNvSpPr txBox="1"/>
          <p:nvPr/>
        </p:nvSpPr>
        <p:spPr>
          <a:xfrm>
            <a:off x="3291840" y="2432304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31" name="검색 삭제"/>
          <p:cNvSpPr txBox="1"/>
          <p:nvPr/>
        </p:nvSpPr>
        <p:spPr>
          <a:xfrm>
            <a:off x="3785616" y="243230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2" name="최근 검색 아이콘"/>
          <p:cNvSpPr txBox="1"/>
          <p:nvPr/>
        </p:nvSpPr>
        <p:spPr>
          <a:xfrm>
            <a:off x="1572768" y="2724911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33" name="최근 검색어"/>
          <p:cNvSpPr txBox="1"/>
          <p:nvPr/>
        </p:nvSpPr>
        <p:spPr>
          <a:xfrm>
            <a:off x="1792224" y="2724911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4" name="검색 날짜"/>
          <p:cNvSpPr txBox="1"/>
          <p:nvPr/>
        </p:nvSpPr>
        <p:spPr>
          <a:xfrm>
            <a:off x="3291840" y="2724911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35" name="검색 삭제"/>
          <p:cNvSpPr txBox="1"/>
          <p:nvPr/>
        </p:nvSpPr>
        <p:spPr>
          <a:xfrm>
            <a:off x="3785616" y="2724911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36" name="최근 검색 아이콘"/>
          <p:cNvSpPr txBox="1"/>
          <p:nvPr/>
        </p:nvSpPr>
        <p:spPr>
          <a:xfrm>
            <a:off x="1572768" y="3017519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37" name="최근 검색어"/>
          <p:cNvSpPr txBox="1"/>
          <p:nvPr/>
        </p:nvSpPr>
        <p:spPr>
          <a:xfrm>
            <a:off x="1792224" y="301751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중구 태평로1가</a:t>
            </a:r>
          </a:p>
        </p:txBody>
      </p:sp>
      <p:sp>
        <p:nvSpPr>
          <p:cNvPr id="38" name="검색 날짜"/>
          <p:cNvSpPr txBox="1"/>
          <p:nvPr/>
        </p:nvSpPr>
        <p:spPr>
          <a:xfrm>
            <a:off x="3291840" y="3017519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09.10</a:t>
            </a:r>
          </a:p>
        </p:txBody>
      </p:sp>
      <p:sp>
        <p:nvSpPr>
          <p:cNvPr id="39" name="검색 삭제"/>
          <p:cNvSpPr txBox="1"/>
          <p:nvPr/>
        </p:nvSpPr>
        <p:spPr>
          <a:xfrm>
            <a:off x="3785616" y="3017519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40" name="키패드"/>
          <p:cNvSpPr/>
          <p:nvPr/>
        </p:nvSpPr>
        <p:spPr>
          <a:xfrm>
            <a:off x="1399032" y="5166359"/>
            <a:ext cx="2715768" cy="1261872"/>
          </a:xfrm>
          <a:prstGeom prst="roundRect">
            <a:avLst>
              <a:gd name="adj" fmla="val 13587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키패드 안내"/>
          <p:cNvSpPr txBox="1"/>
          <p:nvPr/>
        </p:nvSpPr>
        <p:spPr>
          <a:xfrm>
            <a:off x="1938528" y="5705855"/>
            <a:ext cx="17373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진입 즉시 한글 키패드</a:t>
            </a:r>
          </a:p>
        </p:txBody>
      </p:sp>
      <p:sp>
        <p:nvSpPr>
          <p:cNvPr id="44" name="검색창"/>
          <p:cNvSpPr/>
          <p:nvPr/>
        </p:nvSpPr>
        <p:spPr>
          <a:xfrm>
            <a:off x="489204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검색창 문구"/>
          <p:cNvSpPr txBox="1"/>
          <p:nvPr/>
        </p:nvSpPr>
        <p:spPr>
          <a:xfrm>
            <a:off x="503834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시청</a:t>
            </a:r>
          </a:p>
        </p:txBody>
      </p:sp>
      <p:sp>
        <p:nvSpPr>
          <p:cNvPr id="46" name="앱바 구분선"/>
          <p:cNvSpPr/>
          <p:nvPr/>
        </p:nvSpPr>
        <p:spPr>
          <a:xfrm>
            <a:off x="4553712" y="16276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입력 키워드 아이콘"/>
          <p:cNvSpPr txBox="1"/>
          <p:nvPr/>
        </p:nvSpPr>
        <p:spPr>
          <a:xfrm>
            <a:off x="4727448" y="173736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48" name="입력 키워드"/>
          <p:cNvSpPr txBox="1"/>
          <p:nvPr/>
        </p:nvSpPr>
        <p:spPr>
          <a:xfrm>
            <a:off x="4946904" y="1682496"/>
            <a:ext cx="16459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</a:t>
            </a:r>
          </a:p>
        </p:txBody>
      </p:sp>
      <p:sp>
        <p:nvSpPr>
          <p:cNvPr id="49" name="구분선"/>
          <p:cNvSpPr/>
          <p:nvPr/>
        </p:nvSpPr>
        <p:spPr>
          <a:xfrm>
            <a:off x="4553712" y="2029968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섹션 헤더"/>
          <p:cNvSpPr txBox="1"/>
          <p:nvPr/>
        </p:nvSpPr>
        <p:spPr>
          <a:xfrm>
            <a:off x="4727448" y="213969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51" name="관련 아이콘"/>
          <p:cNvSpPr txBox="1"/>
          <p:nvPr/>
        </p:nvSpPr>
        <p:spPr>
          <a:xfrm>
            <a:off x="4764024" y="2377439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★</a:t>
            </a:r>
          </a:p>
        </p:txBody>
      </p:sp>
      <p:sp>
        <p:nvSpPr>
          <p:cNvPr id="52" name="관련 검색어"/>
          <p:cNvSpPr txBox="1"/>
          <p:nvPr/>
        </p:nvSpPr>
        <p:spPr>
          <a:xfrm>
            <a:off x="4983479" y="2377439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  (집)</a:t>
            </a:r>
          </a:p>
        </p:txBody>
      </p:sp>
      <p:sp>
        <p:nvSpPr>
          <p:cNvPr id="53" name="섹션 헤더"/>
          <p:cNvSpPr txBox="1"/>
          <p:nvPr/>
        </p:nvSpPr>
        <p:spPr>
          <a:xfrm>
            <a:off x="4727448" y="268833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검색어</a:t>
            </a:r>
          </a:p>
        </p:txBody>
      </p:sp>
      <p:sp>
        <p:nvSpPr>
          <p:cNvPr id="54" name="관련 아이콘"/>
          <p:cNvSpPr txBox="1"/>
          <p:nvPr/>
        </p:nvSpPr>
        <p:spPr>
          <a:xfrm>
            <a:off x="4764024" y="292608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55" name="관련 검색어"/>
          <p:cNvSpPr txBox="1"/>
          <p:nvPr/>
        </p:nvSpPr>
        <p:spPr>
          <a:xfrm>
            <a:off x="4983479" y="292608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56" name="관련 아이콘"/>
          <p:cNvSpPr txBox="1"/>
          <p:nvPr/>
        </p:nvSpPr>
        <p:spPr>
          <a:xfrm>
            <a:off x="4764024" y="3182112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57" name="관련 검색어"/>
          <p:cNvSpPr txBox="1"/>
          <p:nvPr/>
        </p:nvSpPr>
        <p:spPr>
          <a:xfrm>
            <a:off x="4983479" y="318211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2호선</a:t>
            </a:r>
          </a:p>
        </p:txBody>
      </p:sp>
      <p:sp>
        <p:nvSpPr>
          <p:cNvPr id="58" name="숫자배지 1"/>
          <p:cNvSpPr/>
          <p:nvPr/>
        </p:nvSpPr>
        <p:spPr>
          <a:xfrm>
            <a:off x="1161288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2"/>
          <p:cNvSpPr/>
          <p:nvPr/>
        </p:nvSpPr>
        <p:spPr>
          <a:xfrm>
            <a:off x="4005072" y="13258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0" name="숫자배지 5"/>
          <p:cNvSpPr/>
          <p:nvPr/>
        </p:nvSpPr>
        <p:spPr>
          <a:xfrm>
            <a:off x="1161288" y="194767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1" name="숫자배지 6"/>
          <p:cNvSpPr/>
          <p:nvPr/>
        </p:nvSpPr>
        <p:spPr>
          <a:xfrm>
            <a:off x="1161288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2" name="숫자배지 7"/>
          <p:cNvSpPr/>
          <p:nvPr/>
        </p:nvSpPr>
        <p:spPr>
          <a:xfrm>
            <a:off x="4315968" y="21579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63" name="숫자배지 7-1"/>
          <p:cNvSpPr/>
          <p:nvPr/>
        </p:nvSpPr>
        <p:spPr>
          <a:xfrm>
            <a:off x="4251959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7-1</a:t>
            </a:r>
          </a:p>
        </p:txBody>
      </p:sp>
      <p:sp>
        <p:nvSpPr>
          <p:cNvPr id="64" name="바로가기 버튼"/>
          <p:cNvSpPr/>
          <p:nvPr/>
        </p:nvSpPr>
        <p:spPr>
          <a:xfrm>
            <a:off x="1545336" y="170078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바로가기 버튼 라벨"/>
          <p:cNvSpPr txBox="1"/>
          <p:nvPr/>
        </p:nvSpPr>
        <p:spPr>
          <a:xfrm>
            <a:off x="1545336" y="1737360"/>
            <a:ext cx="10789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📍 현위치로 설정</a:t>
            </a:r>
          </a:p>
        </p:txBody>
      </p:sp>
      <p:sp>
        <p:nvSpPr>
          <p:cNvPr id="66" name="바로가기 버튼"/>
          <p:cNvSpPr/>
          <p:nvPr/>
        </p:nvSpPr>
        <p:spPr>
          <a:xfrm>
            <a:off x="2697480" y="1700784"/>
            <a:ext cx="1078992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바로가기 버튼 라벨"/>
          <p:cNvSpPr txBox="1"/>
          <p:nvPr/>
        </p:nvSpPr>
        <p:spPr>
          <a:xfrm>
            <a:off x="2697480" y="1737360"/>
            <a:ext cx="10789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☆ 즐겨찾기에서 선택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1197864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3803904" y="1700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18" name="뒤로가기"/>
          <p:cNvCxnSpPr/>
          <p:nvPr/>
        </p:nvCxnSpPr>
        <p:spPr>
          <a:xfrm flipH="1">
            <a:off x="154533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/>
          <p:cNvCxnSpPr/>
          <p:nvPr/>
        </p:nvCxnSpPr>
        <p:spPr>
          <a:xfrm flipH="1" flipV="1">
            <a:off x="154533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>
            <a:off x="470001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 flipV="1">
            <a:off x="470001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검색 결과 — 지도 ＋ 바텀시트 (1/3)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2433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③ 검색 결과에서만 표출 — ①② 빈 상태 · 입력 중에는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리스트에 오른 장소 전량을 핀으로 표출 · 20건을 더 받으면 핀도 증가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초기 뷰는 첫 20건이 바텀시트에 가리지 않는 영역에 들어오도록 설정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핀 선택 시 목록에서 해당 항목으로 스크롤 · 선택 표시는 핀 크기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핀이 없는 지도 영역 선택 시 시트 최소화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3종 — 내 위치 · 정북 복원 · 확대 ·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단계와 무관하게 상시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/ 최소 2단계 · 진입 기본값 최대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손잡이 누르기 토글 · 드래그 미제공 · 지도 탭 = 최소화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검색창은 지도 위에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3529584" y="1865376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8" name="검색창"/>
          <p:cNvSpPr/>
          <p:nvPr/>
        </p:nvSpPr>
        <p:spPr>
          <a:xfrm>
            <a:off x="3310128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검색창 문구"/>
          <p:cNvSpPr txBox="1"/>
          <p:nvPr/>
        </p:nvSpPr>
        <p:spPr>
          <a:xfrm>
            <a:off x="3456432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48656" y="188366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48656" y="188366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2" name="지도 컨트롤"/>
          <p:cNvSpPr/>
          <p:nvPr/>
        </p:nvSpPr>
        <p:spPr>
          <a:xfrm>
            <a:off x="5248656" y="223113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지도 컨트롤 라벨"/>
          <p:cNvSpPr txBox="1"/>
          <p:nvPr/>
        </p:nvSpPr>
        <p:spPr>
          <a:xfrm>
            <a:off x="5248656" y="223113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4" name="지도 컨트롤"/>
          <p:cNvSpPr/>
          <p:nvPr/>
        </p:nvSpPr>
        <p:spPr>
          <a:xfrm>
            <a:off x="4882896" y="257860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컨트롤 라벨"/>
          <p:cNvSpPr txBox="1"/>
          <p:nvPr/>
        </p:nvSpPr>
        <p:spPr>
          <a:xfrm>
            <a:off x="4882896" y="257860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26" name="바텀시트"/>
          <p:cNvSpPr/>
          <p:nvPr/>
        </p:nvSpPr>
        <p:spPr>
          <a:xfrm>
            <a:off x="2971800" y="2962656"/>
            <a:ext cx="2715768" cy="337413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4151376" y="305409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"/>
          <p:cNvSpPr/>
          <p:nvPr/>
        </p:nvSpPr>
        <p:spPr>
          <a:xfrm>
            <a:off x="4681728" y="3127248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정렬 드롭다운 라벨"/>
          <p:cNvSpPr txBox="1"/>
          <p:nvPr/>
        </p:nvSpPr>
        <p:spPr>
          <a:xfrm>
            <a:off x="4681728" y="3127248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30" name="행 제목"/>
          <p:cNvSpPr txBox="1"/>
          <p:nvPr/>
        </p:nvSpPr>
        <p:spPr>
          <a:xfrm>
            <a:off x="3145536" y="351129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1" name="행 메타"/>
          <p:cNvSpPr txBox="1"/>
          <p:nvPr/>
        </p:nvSpPr>
        <p:spPr>
          <a:xfrm>
            <a:off x="3145536" y="3712463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350m · 공공기관</a:t>
            </a:r>
          </a:p>
        </p:txBody>
      </p:sp>
      <p:sp>
        <p:nvSpPr>
          <p:cNvPr id="32" name="행 주소"/>
          <p:cNvSpPr txBox="1"/>
          <p:nvPr/>
        </p:nvSpPr>
        <p:spPr>
          <a:xfrm>
            <a:off x="3145536" y="3867911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 31</a:t>
            </a:r>
          </a:p>
        </p:txBody>
      </p:sp>
      <p:sp>
        <p:nvSpPr>
          <p:cNvPr id="33" name="주소 펼침"/>
          <p:cNvSpPr txBox="1"/>
          <p:nvPr/>
        </p:nvSpPr>
        <p:spPr>
          <a:xfrm>
            <a:off x="4055363" y="3867911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4" name="즐겨찾기 토글"/>
          <p:cNvSpPr txBox="1"/>
          <p:nvPr/>
        </p:nvSpPr>
        <p:spPr>
          <a:xfrm>
            <a:off x="3145536" y="410565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5" name="역할 버튼"/>
          <p:cNvSpPr/>
          <p:nvPr/>
        </p:nvSpPr>
        <p:spPr>
          <a:xfrm>
            <a:off x="3986784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역할 버튼 라벨"/>
          <p:cNvSpPr txBox="1"/>
          <p:nvPr/>
        </p:nvSpPr>
        <p:spPr>
          <a:xfrm>
            <a:off x="3986784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7" name="역할 버튼"/>
          <p:cNvSpPr/>
          <p:nvPr/>
        </p:nvSpPr>
        <p:spPr>
          <a:xfrm>
            <a:off x="4773168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역할 버튼 라벨"/>
          <p:cNvSpPr txBox="1"/>
          <p:nvPr/>
        </p:nvSpPr>
        <p:spPr>
          <a:xfrm>
            <a:off x="4773168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39" name="행 구분선"/>
          <p:cNvSpPr/>
          <p:nvPr/>
        </p:nvSpPr>
        <p:spPr>
          <a:xfrm>
            <a:off x="2971800" y="4425696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145536" y="4480559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[2호선] 시청역</a:t>
            </a:r>
          </a:p>
        </p:txBody>
      </p:sp>
      <p:sp>
        <p:nvSpPr>
          <p:cNvPr id="41" name="행 메타"/>
          <p:cNvSpPr txBox="1"/>
          <p:nvPr/>
        </p:nvSpPr>
        <p:spPr>
          <a:xfrm>
            <a:off x="3145536" y="468172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420m · 지하철역</a:t>
            </a:r>
          </a:p>
        </p:txBody>
      </p:sp>
      <p:sp>
        <p:nvSpPr>
          <p:cNvPr id="42" name="행 주소"/>
          <p:cNvSpPr txBox="1"/>
          <p:nvPr/>
        </p:nvSpPr>
        <p:spPr>
          <a:xfrm>
            <a:off x="3145536" y="483717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정동</a:t>
            </a:r>
          </a:p>
        </p:txBody>
      </p:sp>
      <p:sp>
        <p:nvSpPr>
          <p:cNvPr id="43" name="즐겨찾기 토글"/>
          <p:cNvSpPr txBox="1"/>
          <p:nvPr/>
        </p:nvSpPr>
        <p:spPr>
          <a:xfrm>
            <a:off x="3145536" y="5074920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4" name="역할 버튼"/>
          <p:cNvSpPr/>
          <p:nvPr/>
        </p:nvSpPr>
        <p:spPr>
          <a:xfrm>
            <a:off x="3986784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역할 버튼 라벨"/>
          <p:cNvSpPr txBox="1"/>
          <p:nvPr/>
        </p:nvSpPr>
        <p:spPr>
          <a:xfrm>
            <a:off x="3986784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6" name="역할 버튼"/>
          <p:cNvSpPr/>
          <p:nvPr/>
        </p:nvSpPr>
        <p:spPr>
          <a:xfrm>
            <a:off x="4773168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역할 버튼 라벨"/>
          <p:cNvSpPr txBox="1"/>
          <p:nvPr/>
        </p:nvSpPr>
        <p:spPr>
          <a:xfrm>
            <a:off x="4773168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8" name="행 구분선"/>
          <p:cNvSpPr/>
          <p:nvPr/>
        </p:nvSpPr>
        <p:spPr>
          <a:xfrm>
            <a:off x="2971800" y="539496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/>
          <p:cNvSpPr txBox="1"/>
          <p:nvPr/>
        </p:nvSpPr>
        <p:spPr>
          <a:xfrm>
            <a:off x="3145536" y="544982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          02128</a:t>
            </a:r>
          </a:p>
        </p:txBody>
      </p:sp>
      <p:sp>
        <p:nvSpPr>
          <p:cNvPr id="50" name="행 메타"/>
          <p:cNvSpPr txBox="1"/>
          <p:nvPr/>
        </p:nvSpPr>
        <p:spPr>
          <a:xfrm>
            <a:off x="3145536" y="56509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180m · 버스정류장 · 능동 방면</a:t>
            </a:r>
          </a:p>
        </p:txBody>
      </p:sp>
      <p:sp>
        <p:nvSpPr>
          <p:cNvPr id="51" name="행 주소"/>
          <p:cNvSpPr txBox="1"/>
          <p:nvPr/>
        </p:nvSpPr>
        <p:spPr>
          <a:xfrm>
            <a:off x="3145536" y="58064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</a:t>
            </a:r>
          </a:p>
        </p:txBody>
      </p:sp>
      <p:sp>
        <p:nvSpPr>
          <p:cNvPr id="52" name="즐겨찾기 토글"/>
          <p:cNvSpPr txBox="1"/>
          <p:nvPr/>
        </p:nvSpPr>
        <p:spPr>
          <a:xfrm>
            <a:off x="3145536" y="60441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53" name="역할 버튼"/>
          <p:cNvSpPr/>
          <p:nvPr/>
        </p:nvSpPr>
        <p:spPr>
          <a:xfrm>
            <a:off x="3986784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버튼 라벨"/>
          <p:cNvSpPr txBox="1"/>
          <p:nvPr/>
        </p:nvSpPr>
        <p:spPr>
          <a:xfrm>
            <a:off x="3986784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5" name="역할 버튼"/>
          <p:cNvSpPr/>
          <p:nvPr/>
        </p:nvSpPr>
        <p:spPr>
          <a:xfrm>
            <a:off x="4773168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역할 버튼 라벨"/>
          <p:cNvSpPr txBox="1"/>
          <p:nvPr/>
        </p:nvSpPr>
        <p:spPr>
          <a:xfrm>
            <a:off x="4773168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7" name="뒤로가기 플로팅"/>
          <p:cNvSpPr/>
          <p:nvPr/>
        </p:nvSpPr>
        <p:spPr>
          <a:xfrm>
            <a:off x="3009900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/>
          <p:cNvCxnSpPr/>
          <p:nvPr/>
        </p:nvCxnSpPr>
        <p:spPr>
          <a:xfrm flipH="1">
            <a:off x="3118104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3118104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결과 건수"/>
          <p:cNvSpPr txBox="1"/>
          <p:nvPr/>
        </p:nvSpPr>
        <p:spPr>
          <a:xfrm>
            <a:off x="3145536" y="3127248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61" name="숫자배지 1"/>
          <p:cNvSpPr/>
          <p:nvPr/>
        </p:nvSpPr>
        <p:spPr>
          <a:xfrm>
            <a:off x="2734056" y="186537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5577840" y="19019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2734056" y="30175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숫자배지 4"/>
          <p:cNvSpPr/>
          <p:nvPr/>
        </p:nvSpPr>
        <p:spPr>
          <a:xfrm>
            <a:off x="5577840" y="31455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5" name="숫자배지 5"/>
          <p:cNvSpPr/>
          <p:nvPr/>
        </p:nvSpPr>
        <p:spPr>
          <a:xfrm>
            <a:off x="2734056" y="35295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6" name="숫자배지 6"/>
          <p:cNvSpPr/>
          <p:nvPr/>
        </p:nvSpPr>
        <p:spPr>
          <a:xfrm>
            <a:off x="2734056" y="40965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검색 결과 — 지도 ＋ 바텀시트 (2/3)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70479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04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건수 · 정렬 드롭다운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「검색 결과 N건」 — 드롭다운 왼쪽 · N은 전체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0건 · 검색 실패에는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「정확도순」/「거리순」 2종 · Default 정확도순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최상단 · 단일 선택 · 해제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순서만 변경 — 결과 개수는 불변 · 필터 칩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현위치를 알 수 없으면 「거리순」 비활성 — 사유 함께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3142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3줄 ＋ 컨트롤 줄 · 행 자체가 장소 상세 진입 · [&gt;]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1줄 POI명 — 지하철역은 노선 배지 ＋ 역명 · 정류장은 정류장명 ＋ 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 거리 → 업종 → 방면 · 3줄 지번(광역 1개 생략) ＋ [∨]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현위치를 알 수 없으면 거리를 생략하고 업종부터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20건씩 스크롤로 이어 받음 · 서울 밖 결과 미포함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3529584" y="1865376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8" name="검색창"/>
          <p:cNvSpPr/>
          <p:nvPr/>
        </p:nvSpPr>
        <p:spPr>
          <a:xfrm>
            <a:off x="3310128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검색창 문구"/>
          <p:cNvSpPr txBox="1"/>
          <p:nvPr/>
        </p:nvSpPr>
        <p:spPr>
          <a:xfrm>
            <a:off x="3456432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48656" y="188366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48656" y="188366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2" name="지도 컨트롤"/>
          <p:cNvSpPr/>
          <p:nvPr/>
        </p:nvSpPr>
        <p:spPr>
          <a:xfrm>
            <a:off x="5248656" y="223113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지도 컨트롤 라벨"/>
          <p:cNvSpPr txBox="1"/>
          <p:nvPr/>
        </p:nvSpPr>
        <p:spPr>
          <a:xfrm>
            <a:off x="5248656" y="223113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4" name="지도 컨트롤"/>
          <p:cNvSpPr/>
          <p:nvPr/>
        </p:nvSpPr>
        <p:spPr>
          <a:xfrm>
            <a:off x="4882896" y="257860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컨트롤 라벨"/>
          <p:cNvSpPr txBox="1"/>
          <p:nvPr/>
        </p:nvSpPr>
        <p:spPr>
          <a:xfrm>
            <a:off x="4882896" y="257860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26" name="바텀시트"/>
          <p:cNvSpPr/>
          <p:nvPr/>
        </p:nvSpPr>
        <p:spPr>
          <a:xfrm>
            <a:off x="2971800" y="2962656"/>
            <a:ext cx="2715768" cy="337413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4151376" y="305409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"/>
          <p:cNvSpPr/>
          <p:nvPr/>
        </p:nvSpPr>
        <p:spPr>
          <a:xfrm>
            <a:off x="4681728" y="3127248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정렬 드롭다운 라벨"/>
          <p:cNvSpPr txBox="1"/>
          <p:nvPr/>
        </p:nvSpPr>
        <p:spPr>
          <a:xfrm>
            <a:off x="4681728" y="3127248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30" name="행 제목"/>
          <p:cNvSpPr txBox="1"/>
          <p:nvPr/>
        </p:nvSpPr>
        <p:spPr>
          <a:xfrm>
            <a:off x="3145536" y="351129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1" name="행 메타"/>
          <p:cNvSpPr txBox="1"/>
          <p:nvPr/>
        </p:nvSpPr>
        <p:spPr>
          <a:xfrm>
            <a:off x="3145536" y="3712463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350m · 공공기관</a:t>
            </a:r>
          </a:p>
        </p:txBody>
      </p:sp>
      <p:sp>
        <p:nvSpPr>
          <p:cNvPr id="32" name="행 주소"/>
          <p:cNvSpPr txBox="1"/>
          <p:nvPr/>
        </p:nvSpPr>
        <p:spPr>
          <a:xfrm>
            <a:off x="3145536" y="3867911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 31</a:t>
            </a:r>
          </a:p>
        </p:txBody>
      </p:sp>
      <p:sp>
        <p:nvSpPr>
          <p:cNvPr id="33" name="주소 펼침"/>
          <p:cNvSpPr txBox="1"/>
          <p:nvPr/>
        </p:nvSpPr>
        <p:spPr>
          <a:xfrm>
            <a:off x="4055363" y="3867911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4" name="즐겨찾기 토글"/>
          <p:cNvSpPr txBox="1"/>
          <p:nvPr/>
        </p:nvSpPr>
        <p:spPr>
          <a:xfrm>
            <a:off x="3145536" y="410565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5" name="역할 버튼"/>
          <p:cNvSpPr/>
          <p:nvPr/>
        </p:nvSpPr>
        <p:spPr>
          <a:xfrm>
            <a:off x="3986784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역할 버튼 라벨"/>
          <p:cNvSpPr txBox="1"/>
          <p:nvPr/>
        </p:nvSpPr>
        <p:spPr>
          <a:xfrm>
            <a:off x="3986784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7" name="역할 버튼"/>
          <p:cNvSpPr/>
          <p:nvPr/>
        </p:nvSpPr>
        <p:spPr>
          <a:xfrm>
            <a:off x="4773168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역할 버튼 라벨"/>
          <p:cNvSpPr txBox="1"/>
          <p:nvPr/>
        </p:nvSpPr>
        <p:spPr>
          <a:xfrm>
            <a:off x="4773168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39" name="행 구분선"/>
          <p:cNvSpPr/>
          <p:nvPr/>
        </p:nvSpPr>
        <p:spPr>
          <a:xfrm>
            <a:off x="2971800" y="4425696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145536" y="4480559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[2호선] 시청역</a:t>
            </a:r>
          </a:p>
        </p:txBody>
      </p:sp>
      <p:sp>
        <p:nvSpPr>
          <p:cNvPr id="41" name="행 메타"/>
          <p:cNvSpPr txBox="1"/>
          <p:nvPr/>
        </p:nvSpPr>
        <p:spPr>
          <a:xfrm>
            <a:off x="3145536" y="468172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420m · 지하철역</a:t>
            </a:r>
          </a:p>
        </p:txBody>
      </p:sp>
      <p:sp>
        <p:nvSpPr>
          <p:cNvPr id="42" name="행 주소"/>
          <p:cNvSpPr txBox="1"/>
          <p:nvPr/>
        </p:nvSpPr>
        <p:spPr>
          <a:xfrm>
            <a:off x="3145536" y="483717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정동</a:t>
            </a:r>
          </a:p>
        </p:txBody>
      </p:sp>
      <p:sp>
        <p:nvSpPr>
          <p:cNvPr id="43" name="즐겨찾기 토글"/>
          <p:cNvSpPr txBox="1"/>
          <p:nvPr/>
        </p:nvSpPr>
        <p:spPr>
          <a:xfrm>
            <a:off x="3145536" y="5074920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4" name="역할 버튼"/>
          <p:cNvSpPr/>
          <p:nvPr/>
        </p:nvSpPr>
        <p:spPr>
          <a:xfrm>
            <a:off x="3986784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역할 버튼 라벨"/>
          <p:cNvSpPr txBox="1"/>
          <p:nvPr/>
        </p:nvSpPr>
        <p:spPr>
          <a:xfrm>
            <a:off x="3986784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6" name="역할 버튼"/>
          <p:cNvSpPr/>
          <p:nvPr/>
        </p:nvSpPr>
        <p:spPr>
          <a:xfrm>
            <a:off x="4773168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역할 버튼 라벨"/>
          <p:cNvSpPr txBox="1"/>
          <p:nvPr/>
        </p:nvSpPr>
        <p:spPr>
          <a:xfrm>
            <a:off x="4773168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8" name="행 구분선"/>
          <p:cNvSpPr/>
          <p:nvPr/>
        </p:nvSpPr>
        <p:spPr>
          <a:xfrm>
            <a:off x="2971800" y="539496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/>
          <p:cNvSpPr txBox="1"/>
          <p:nvPr/>
        </p:nvSpPr>
        <p:spPr>
          <a:xfrm>
            <a:off x="3145536" y="544982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          02128</a:t>
            </a:r>
          </a:p>
        </p:txBody>
      </p:sp>
      <p:sp>
        <p:nvSpPr>
          <p:cNvPr id="50" name="행 메타"/>
          <p:cNvSpPr txBox="1"/>
          <p:nvPr/>
        </p:nvSpPr>
        <p:spPr>
          <a:xfrm>
            <a:off x="3145536" y="56509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180m · 버스정류장 · 능동 방면</a:t>
            </a:r>
          </a:p>
        </p:txBody>
      </p:sp>
      <p:sp>
        <p:nvSpPr>
          <p:cNvPr id="51" name="행 주소"/>
          <p:cNvSpPr txBox="1"/>
          <p:nvPr/>
        </p:nvSpPr>
        <p:spPr>
          <a:xfrm>
            <a:off x="3145536" y="58064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</a:t>
            </a:r>
          </a:p>
        </p:txBody>
      </p:sp>
      <p:sp>
        <p:nvSpPr>
          <p:cNvPr id="52" name="즐겨찾기 토글"/>
          <p:cNvSpPr txBox="1"/>
          <p:nvPr/>
        </p:nvSpPr>
        <p:spPr>
          <a:xfrm>
            <a:off x="3145536" y="60441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53" name="역할 버튼"/>
          <p:cNvSpPr/>
          <p:nvPr/>
        </p:nvSpPr>
        <p:spPr>
          <a:xfrm>
            <a:off x="3986784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버튼 라벨"/>
          <p:cNvSpPr txBox="1"/>
          <p:nvPr/>
        </p:nvSpPr>
        <p:spPr>
          <a:xfrm>
            <a:off x="3986784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5" name="역할 버튼"/>
          <p:cNvSpPr/>
          <p:nvPr/>
        </p:nvSpPr>
        <p:spPr>
          <a:xfrm>
            <a:off x="4773168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역할 버튼 라벨"/>
          <p:cNvSpPr txBox="1"/>
          <p:nvPr/>
        </p:nvSpPr>
        <p:spPr>
          <a:xfrm>
            <a:off x="4773168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7" name="뒤로가기 플로팅"/>
          <p:cNvSpPr/>
          <p:nvPr/>
        </p:nvSpPr>
        <p:spPr>
          <a:xfrm>
            <a:off x="3009900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/>
          <p:cNvCxnSpPr/>
          <p:nvPr/>
        </p:nvCxnSpPr>
        <p:spPr>
          <a:xfrm flipH="1">
            <a:off x="3118104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3118104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결과 건수"/>
          <p:cNvSpPr txBox="1"/>
          <p:nvPr/>
        </p:nvSpPr>
        <p:spPr>
          <a:xfrm>
            <a:off x="3145536" y="3127248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61" name="숫자배지 1"/>
          <p:cNvSpPr/>
          <p:nvPr/>
        </p:nvSpPr>
        <p:spPr>
          <a:xfrm>
            <a:off x="2734056" y="186537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5577840" y="19019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2734056" y="30175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숫자배지 4"/>
          <p:cNvSpPr/>
          <p:nvPr/>
        </p:nvSpPr>
        <p:spPr>
          <a:xfrm>
            <a:off x="5577840" y="31455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5" name="숫자배지 5"/>
          <p:cNvSpPr/>
          <p:nvPr/>
        </p:nvSpPr>
        <p:spPr>
          <a:xfrm>
            <a:off x="2734056" y="35295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6" name="숫자배지 6"/>
          <p:cNvSpPr/>
          <p:nvPr/>
        </p:nvSpPr>
        <p:spPr>
          <a:xfrm>
            <a:off x="2734056" y="40965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검색 결과 — 지도 ＋ 바텀시트 (3/3)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192907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2버튼 · ☆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「출발」 · 「도착」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일반 검색에서만 2버튼 표출 · 역할 지정은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 토글은 슬롯 지정을 제외한 4종 공통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복귀 처리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 상세에서 돌아오면 검색어 · 정렬 · 스크롤 · 지도 뷰 · 시트 단계 유지 — 재조회하지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3529584" y="1865376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8" name="검색창"/>
          <p:cNvSpPr/>
          <p:nvPr/>
        </p:nvSpPr>
        <p:spPr>
          <a:xfrm>
            <a:off x="3310128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검색창 문구"/>
          <p:cNvSpPr txBox="1"/>
          <p:nvPr/>
        </p:nvSpPr>
        <p:spPr>
          <a:xfrm>
            <a:off x="3456432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0" name="지도 컨트롤"/>
          <p:cNvSpPr/>
          <p:nvPr/>
        </p:nvSpPr>
        <p:spPr>
          <a:xfrm>
            <a:off x="5248656" y="188366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지도 컨트롤 라벨"/>
          <p:cNvSpPr txBox="1"/>
          <p:nvPr/>
        </p:nvSpPr>
        <p:spPr>
          <a:xfrm>
            <a:off x="5248656" y="188366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2" name="지도 컨트롤"/>
          <p:cNvSpPr/>
          <p:nvPr/>
        </p:nvSpPr>
        <p:spPr>
          <a:xfrm>
            <a:off x="5248656" y="223113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지도 컨트롤 라벨"/>
          <p:cNvSpPr txBox="1"/>
          <p:nvPr/>
        </p:nvSpPr>
        <p:spPr>
          <a:xfrm>
            <a:off x="5248656" y="223113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4" name="지도 컨트롤"/>
          <p:cNvSpPr/>
          <p:nvPr/>
        </p:nvSpPr>
        <p:spPr>
          <a:xfrm>
            <a:off x="4882896" y="257860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컨트롤 라벨"/>
          <p:cNvSpPr txBox="1"/>
          <p:nvPr/>
        </p:nvSpPr>
        <p:spPr>
          <a:xfrm>
            <a:off x="4882896" y="257860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26" name="바텀시트"/>
          <p:cNvSpPr/>
          <p:nvPr/>
        </p:nvSpPr>
        <p:spPr>
          <a:xfrm>
            <a:off x="2971800" y="2962656"/>
            <a:ext cx="2715768" cy="337413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4151376" y="305409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"/>
          <p:cNvSpPr/>
          <p:nvPr/>
        </p:nvSpPr>
        <p:spPr>
          <a:xfrm>
            <a:off x="4681728" y="3127248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정렬 드롭다운 라벨"/>
          <p:cNvSpPr txBox="1"/>
          <p:nvPr/>
        </p:nvSpPr>
        <p:spPr>
          <a:xfrm>
            <a:off x="4681728" y="3127248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30" name="행 제목"/>
          <p:cNvSpPr txBox="1"/>
          <p:nvPr/>
        </p:nvSpPr>
        <p:spPr>
          <a:xfrm>
            <a:off x="3145536" y="351129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1" name="행 메타"/>
          <p:cNvSpPr txBox="1"/>
          <p:nvPr/>
        </p:nvSpPr>
        <p:spPr>
          <a:xfrm>
            <a:off x="3145536" y="3712463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350m · 공공기관</a:t>
            </a:r>
          </a:p>
        </p:txBody>
      </p:sp>
      <p:sp>
        <p:nvSpPr>
          <p:cNvPr id="32" name="행 주소"/>
          <p:cNvSpPr txBox="1"/>
          <p:nvPr/>
        </p:nvSpPr>
        <p:spPr>
          <a:xfrm>
            <a:off x="3145536" y="3867911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 31</a:t>
            </a:r>
          </a:p>
        </p:txBody>
      </p:sp>
      <p:sp>
        <p:nvSpPr>
          <p:cNvPr id="33" name="주소 펼침"/>
          <p:cNvSpPr txBox="1"/>
          <p:nvPr/>
        </p:nvSpPr>
        <p:spPr>
          <a:xfrm>
            <a:off x="4055363" y="3867911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4" name="즐겨찾기 토글"/>
          <p:cNvSpPr txBox="1"/>
          <p:nvPr/>
        </p:nvSpPr>
        <p:spPr>
          <a:xfrm>
            <a:off x="3145536" y="410565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5" name="역할 버튼"/>
          <p:cNvSpPr/>
          <p:nvPr/>
        </p:nvSpPr>
        <p:spPr>
          <a:xfrm>
            <a:off x="3986784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역할 버튼 라벨"/>
          <p:cNvSpPr txBox="1"/>
          <p:nvPr/>
        </p:nvSpPr>
        <p:spPr>
          <a:xfrm>
            <a:off x="3986784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7" name="역할 버튼"/>
          <p:cNvSpPr/>
          <p:nvPr/>
        </p:nvSpPr>
        <p:spPr>
          <a:xfrm>
            <a:off x="4773168" y="402335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역할 버튼 라벨"/>
          <p:cNvSpPr txBox="1"/>
          <p:nvPr/>
        </p:nvSpPr>
        <p:spPr>
          <a:xfrm>
            <a:off x="4773168" y="402335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39" name="행 구분선"/>
          <p:cNvSpPr/>
          <p:nvPr/>
        </p:nvSpPr>
        <p:spPr>
          <a:xfrm>
            <a:off x="2971800" y="4425696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145536" y="4480559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[2호선] 시청역</a:t>
            </a:r>
          </a:p>
        </p:txBody>
      </p:sp>
      <p:sp>
        <p:nvSpPr>
          <p:cNvPr id="41" name="행 메타"/>
          <p:cNvSpPr txBox="1"/>
          <p:nvPr/>
        </p:nvSpPr>
        <p:spPr>
          <a:xfrm>
            <a:off x="3145536" y="468172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420m · 지하철역</a:t>
            </a:r>
          </a:p>
        </p:txBody>
      </p:sp>
      <p:sp>
        <p:nvSpPr>
          <p:cNvPr id="42" name="행 주소"/>
          <p:cNvSpPr txBox="1"/>
          <p:nvPr/>
        </p:nvSpPr>
        <p:spPr>
          <a:xfrm>
            <a:off x="3145536" y="483717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정동</a:t>
            </a:r>
          </a:p>
        </p:txBody>
      </p:sp>
      <p:sp>
        <p:nvSpPr>
          <p:cNvPr id="43" name="즐겨찾기 토글"/>
          <p:cNvSpPr txBox="1"/>
          <p:nvPr/>
        </p:nvSpPr>
        <p:spPr>
          <a:xfrm>
            <a:off x="3145536" y="5074920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4" name="역할 버튼"/>
          <p:cNvSpPr/>
          <p:nvPr/>
        </p:nvSpPr>
        <p:spPr>
          <a:xfrm>
            <a:off x="3986784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역할 버튼 라벨"/>
          <p:cNvSpPr txBox="1"/>
          <p:nvPr/>
        </p:nvSpPr>
        <p:spPr>
          <a:xfrm>
            <a:off x="3986784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6" name="역할 버튼"/>
          <p:cNvSpPr/>
          <p:nvPr/>
        </p:nvSpPr>
        <p:spPr>
          <a:xfrm>
            <a:off x="4773168" y="4992624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역할 버튼 라벨"/>
          <p:cNvSpPr txBox="1"/>
          <p:nvPr/>
        </p:nvSpPr>
        <p:spPr>
          <a:xfrm>
            <a:off x="4773168" y="4992624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8" name="행 구분선"/>
          <p:cNvSpPr/>
          <p:nvPr/>
        </p:nvSpPr>
        <p:spPr>
          <a:xfrm>
            <a:off x="2971800" y="539496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행 제목"/>
          <p:cNvSpPr txBox="1"/>
          <p:nvPr/>
        </p:nvSpPr>
        <p:spPr>
          <a:xfrm>
            <a:off x="3145536" y="544982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          02128</a:t>
            </a:r>
          </a:p>
        </p:txBody>
      </p:sp>
      <p:sp>
        <p:nvSpPr>
          <p:cNvPr id="50" name="행 메타"/>
          <p:cNvSpPr txBox="1"/>
          <p:nvPr/>
        </p:nvSpPr>
        <p:spPr>
          <a:xfrm>
            <a:off x="3145536" y="56509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180m · 버스정류장 · 능동 방면</a:t>
            </a:r>
          </a:p>
        </p:txBody>
      </p:sp>
      <p:sp>
        <p:nvSpPr>
          <p:cNvPr id="51" name="행 주소"/>
          <p:cNvSpPr txBox="1"/>
          <p:nvPr/>
        </p:nvSpPr>
        <p:spPr>
          <a:xfrm>
            <a:off x="3145536" y="58064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중구 태평로1가</a:t>
            </a:r>
          </a:p>
        </p:txBody>
      </p:sp>
      <p:sp>
        <p:nvSpPr>
          <p:cNvPr id="52" name="즐겨찾기 토글"/>
          <p:cNvSpPr txBox="1"/>
          <p:nvPr/>
        </p:nvSpPr>
        <p:spPr>
          <a:xfrm>
            <a:off x="3145536" y="60441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53" name="역할 버튼"/>
          <p:cNvSpPr/>
          <p:nvPr/>
        </p:nvSpPr>
        <p:spPr>
          <a:xfrm>
            <a:off x="3986784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버튼 라벨"/>
          <p:cNvSpPr txBox="1"/>
          <p:nvPr/>
        </p:nvSpPr>
        <p:spPr>
          <a:xfrm>
            <a:off x="3986784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5" name="역할 버튼"/>
          <p:cNvSpPr/>
          <p:nvPr/>
        </p:nvSpPr>
        <p:spPr>
          <a:xfrm>
            <a:off x="4773168" y="5961888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역할 버튼 라벨"/>
          <p:cNvSpPr txBox="1"/>
          <p:nvPr/>
        </p:nvSpPr>
        <p:spPr>
          <a:xfrm>
            <a:off x="4773168" y="5961888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7" name="뒤로가기 플로팅"/>
          <p:cNvSpPr/>
          <p:nvPr/>
        </p:nvSpPr>
        <p:spPr>
          <a:xfrm>
            <a:off x="3009900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58" name="뒤로가기"/>
          <p:cNvCxnSpPr/>
          <p:nvPr/>
        </p:nvCxnSpPr>
        <p:spPr>
          <a:xfrm flipH="1">
            <a:off x="3118104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3118104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결과 건수"/>
          <p:cNvSpPr txBox="1"/>
          <p:nvPr/>
        </p:nvSpPr>
        <p:spPr>
          <a:xfrm>
            <a:off x="3145536" y="3127248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61" name="숫자배지 1"/>
          <p:cNvSpPr/>
          <p:nvPr/>
        </p:nvSpPr>
        <p:spPr>
          <a:xfrm>
            <a:off x="2734056" y="186537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2" name="숫자배지 2"/>
          <p:cNvSpPr/>
          <p:nvPr/>
        </p:nvSpPr>
        <p:spPr>
          <a:xfrm>
            <a:off x="5577840" y="19019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3" name="숫자배지 3"/>
          <p:cNvSpPr/>
          <p:nvPr/>
        </p:nvSpPr>
        <p:spPr>
          <a:xfrm>
            <a:off x="2734056" y="30175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4" name="숫자배지 4"/>
          <p:cNvSpPr/>
          <p:nvPr/>
        </p:nvSpPr>
        <p:spPr>
          <a:xfrm>
            <a:off x="5577840" y="31455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5" name="숫자배지 5"/>
          <p:cNvSpPr/>
          <p:nvPr/>
        </p:nvSpPr>
        <p:spPr>
          <a:xfrm>
            <a:off x="2734056" y="35295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6" name="숫자배지 6"/>
          <p:cNvSpPr/>
          <p:nvPr/>
        </p:nvSpPr>
        <p:spPr>
          <a:xfrm>
            <a:off x="2734056" y="40965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＋ 바텀시트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4285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선택한 장소만 핀 · 다른 장소 선택 시 무반응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지도 좌상단 원형 플로팅 1개 · 탑바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화면으로 복귀 — 장소 검색에서 왔으면 ③ 검색 결과로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장소명 · 업종 · 거리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 1줄 · 업종명은 다음 줄에 보조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업종 · 거리는 같은 줄 · 가운뎃점으로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거리는 현위치 기준 직선거리 · m 단위 정수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현위치가 바뀌면 재계산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기본은 지번 풀주소 — 광역 포함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뒤에 도로명 하위주소를 괄호로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도로명이 없으면 괄호째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3602736" y="2011680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장소만 핀 표출</a:t>
            </a:r>
          </a:p>
        </p:txBody>
      </p:sp>
      <p:sp>
        <p:nvSpPr>
          <p:cNvPr id="18" name="뒤로가기 플로팅"/>
          <p:cNvSpPr/>
          <p:nvPr/>
        </p:nvSpPr>
        <p:spPr>
          <a:xfrm>
            <a:off x="3099815" y="1325880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바텀시트"/>
          <p:cNvSpPr/>
          <p:nvPr/>
        </p:nvSpPr>
        <p:spPr>
          <a:xfrm>
            <a:off x="2971800" y="3145536"/>
            <a:ext cx="2715768" cy="319125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시트 손잡이"/>
          <p:cNvSpPr/>
          <p:nvPr/>
        </p:nvSpPr>
        <p:spPr>
          <a:xfrm>
            <a:off x="4151376" y="323697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장소명"/>
          <p:cNvSpPr txBox="1"/>
          <p:nvPr/>
        </p:nvSpPr>
        <p:spPr>
          <a:xfrm>
            <a:off x="3145536" y="332841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3" name="업종 · 거리"/>
          <p:cNvSpPr txBox="1"/>
          <p:nvPr/>
        </p:nvSpPr>
        <p:spPr>
          <a:xfrm>
            <a:off x="3145536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공공기관 · 350m</a:t>
            </a:r>
          </a:p>
        </p:txBody>
      </p:sp>
      <p:sp>
        <p:nvSpPr>
          <p:cNvPr id="24" name="지번 주소"/>
          <p:cNvSpPr txBox="1"/>
          <p:nvPr/>
        </p:nvSpPr>
        <p:spPr>
          <a:xfrm>
            <a:off x="3145536" y="37673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중구 태평로1가 31</a:t>
            </a:r>
          </a:p>
        </p:txBody>
      </p:sp>
      <p:sp>
        <p:nvSpPr>
          <p:cNvPr id="25" name="도로명 주소"/>
          <p:cNvSpPr txBox="1"/>
          <p:nvPr/>
        </p:nvSpPr>
        <p:spPr>
          <a:xfrm>
            <a:off x="3145536" y="39319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(중구 세종대로 110)</a:t>
            </a:r>
          </a:p>
        </p:txBody>
      </p:sp>
      <p:sp>
        <p:nvSpPr>
          <p:cNvPr id="26" name="장소 이미지"/>
          <p:cNvSpPr/>
          <p:nvPr/>
        </p:nvSpPr>
        <p:spPr>
          <a:xfrm>
            <a:off x="3145536" y="4151376"/>
            <a:ext cx="1554480" cy="786384"/>
          </a:xfrm>
          <a:prstGeom prst="roundRect">
            <a:avLst>
              <a:gd name="adj" fmla="val 21802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장수 표시"/>
          <p:cNvSpPr txBox="1"/>
          <p:nvPr/>
        </p:nvSpPr>
        <p:spPr>
          <a:xfrm>
            <a:off x="4279392" y="4754880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28" name="사진 이동"/>
          <p:cNvSpPr txBox="1"/>
          <p:nvPr/>
        </p:nvSpPr>
        <p:spPr>
          <a:xfrm>
            <a:off x="3182112" y="446684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29" name="사진 이동"/>
          <p:cNvSpPr txBox="1"/>
          <p:nvPr/>
        </p:nvSpPr>
        <p:spPr>
          <a:xfrm>
            <a:off x="4443983" y="446684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30" name="접근성 항목"/>
          <p:cNvSpPr txBox="1"/>
          <p:nvPr/>
        </p:nvSpPr>
        <p:spPr>
          <a:xfrm>
            <a:off x="3145536" y="506577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31" name="접근성 값"/>
          <p:cNvSpPr txBox="1"/>
          <p:nvPr/>
        </p:nvSpPr>
        <p:spPr>
          <a:xfrm>
            <a:off x="4608576" y="5065776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2" name="접근성 항목"/>
          <p:cNvSpPr txBox="1"/>
          <p:nvPr/>
        </p:nvSpPr>
        <p:spPr>
          <a:xfrm>
            <a:off x="3145536" y="5285232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점자 안내계단</a:t>
            </a:r>
          </a:p>
        </p:txBody>
      </p:sp>
      <p:sp>
        <p:nvSpPr>
          <p:cNvPr id="33" name="접근성 값"/>
          <p:cNvSpPr txBox="1"/>
          <p:nvPr/>
        </p:nvSpPr>
        <p:spPr>
          <a:xfrm>
            <a:off x="4608576" y="5285232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34" name="접근성 항목"/>
          <p:cNvSpPr txBox="1"/>
          <p:nvPr/>
        </p:nvSpPr>
        <p:spPr>
          <a:xfrm>
            <a:off x="3145536" y="5504688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35" name="접근성 값"/>
          <p:cNvSpPr txBox="1"/>
          <p:nvPr/>
        </p:nvSpPr>
        <p:spPr>
          <a:xfrm>
            <a:off x="4608576" y="5504688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6" name="즐겨찾기 토글"/>
          <p:cNvSpPr txBox="1"/>
          <p:nvPr/>
        </p:nvSpPr>
        <p:spPr>
          <a:xfrm>
            <a:off x="3145536" y="588873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7" name="역할 버튼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986784" y="5852160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역할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986784" y="5852160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9" name="역할 버튼"/>
          <p:cNvSpPr/>
          <p:nvPr/>
        </p:nvSpPr>
        <p:spPr>
          <a:xfrm>
            <a:off x="4773168" y="5852160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역할 버튼 라벨"/>
          <p:cNvSpPr txBox="1"/>
          <p:nvPr/>
        </p:nvSpPr>
        <p:spPr>
          <a:xfrm>
            <a:off x="4773168" y="5852160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1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2734056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2" name="숫자배지 2"/>
          <p:cNvSpPr/>
          <p:nvPr/>
        </p:nvSpPr>
        <p:spPr>
          <a:xfrm>
            <a:off x="2734056" y="334670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3" name="숫자배지 3"/>
          <p:cNvSpPr/>
          <p:nvPr/>
        </p:nvSpPr>
        <p:spPr>
          <a:xfrm>
            <a:off x="2734056" y="378561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4" name="숫자배지 4"/>
          <p:cNvSpPr/>
          <p:nvPr/>
        </p:nvSpPr>
        <p:spPr>
          <a:xfrm>
            <a:off x="2734056" y="4169663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5" name="숫자배지 5"/>
          <p:cNvSpPr/>
          <p:nvPr/>
        </p:nvSpPr>
        <p:spPr>
          <a:xfrm>
            <a:off x="2734056" y="508406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cxnSp>
        <p:nvCxnSpPr>
          <p:cNvPr id="46" name="뒤로가기"/>
          <p:cNvCxnSpPr/>
          <p:nvPr/>
        </p:nvCxnSpPr>
        <p:spPr>
          <a:xfrm flipH="1">
            <a:off x="3208019" y="14257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뒤로가기"/>
          <p:cNvCxnSpPr/>
          <p:nvPr/>
        </p:nvCxnSpPr>
        <p:spPr>
          <a:xfrm flipH="1" flipV="1">
            <a:off x="3208019" y="147142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장소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9124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＋ 바텀시트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2344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61954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6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 이미지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공급되는 장수를 그대로 사용 · 상한 미설정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여러 장이면 가로 스와이프 캐러셀 · 한 번에 한 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장수 표시 「1 / 4」 · 사진 우측 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좌우 이동 버튼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원본 비율 유지 · 잘라내지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사진 선택 시 전체보기 오버레이 — 누른 장부터 표출 · 닫으면 마지막에 본 장으로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접근성 정보 · 하단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3행 — 여닫이문 · 점자 안내계단 · 경사도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미조사 항목도 그대로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역할 2버튼 「출발」 · 「도착」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역할 지정은 1버튼 · ☆ 토글은 슬롯 지정 제외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바텀시트 기본값은 올린 상태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1243583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지도 안내"/>
          <p:cNvSpPr txBox="1"/>
          <p:nvPr/>
        </p:nvSpPr>
        <p:spPr>
          <a:xfrm>
            <a:off x="1874519" y="2011680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장소만 핀 표출</a:t>
            </a:r>
          </a:p>
        </p:txBody>
      </p:sp>
      <p:sp>
        <p:nvSpPr>
          <p:cNvPr id="18" name="뒤로가기 플로팅"/>
          <p:cNvSpPr/>
          <p:nvPr/>
        </p:nvSpPr>
        <p:spPr>
          <a:xfrm>
            <a:off x="1371598" y="1325880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바텀시트"/>
          <p:cNvSpPr/>
          <p:nvPr/>
        </p:nvSpPr>
        <p:spPr>
          <a:xfrm>
            <a:off x="1243583" y="3145536"/>
            <a:ext cx="2715768" cy="319125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시트 손잡이"/>
          <p:cNvSpPr/>
          <p:nvPr/>
        </p:nvSpPr>
        <p:spPr>
          <a:xfrm>
            <a:off x="2423160" y="3236976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장소명"/>
          <p:cNvSpPr txBox="1"/>
          <p:nvPr/>
        </p:nvSpPr>
        <p:spPr>
          <a:xfrm>
            <a:off x="1417319" y="3328416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2" name="업종 · 거리"/>
          <p:cNvSpPr txBox="1"/>
          <p:nvPr/>
        </p:nvSpPr>
        <p:spPr>
          <a:xfrm>
            <a:off x="1417319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공공기관 · 350m</a:t>
            </a:r>
          </a:p>
        </p:txBody>
      </p:sp>
      <p:sp>
        <p:nvSpPr>
          <p:cNvPr id="23" name="지번 주소"/>
          <p:cNvSpPr txBox="1"/>
          <p:nvPr/>
        </p:nvSpPr>
        <p:spPr>
          <a:xfrm>
            <a:off x="1417319" y="37673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중구 태평로1가 31</a:t>
            </a:r>
          </a:p>
        </p:txBody>
      </p:sp>
      <p:sp>
        <p:nvSpPr>
          <p:cNvPr id="24" name="도로명 주소"/>
          <p:cNvSpPr txBox="1"/>
          <p:nvPr/>
        </p:nvSpPr>
        <p:spPr>
          <a:xfrm>
            <a:off x="1417319" y="39319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(중구 세종대로 110)</a:t>
            </a:r>
          </a:p>
        </p:txBody>
      </p:sp>
      <p:sp>
        <p:nvSpPr>
          <p:cNvPr id="25" name="장소 이미지"/>
          <p:cNvSpPr/>
          <p:nvPr/>
        </p:nvSpPr>
        <p:spPr>
          <a:xfrm>
            <a:off x="1417319" y="4151376"/>
            <a:ext cx="1554480" cy="786384"/>
          </a:xfrm>
          <a:prstGeom prst="roundRect">
            <a:avLst>
              <a:gd name="adj" fmla="val 21802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장수 표시"/>
          <p:cNvSpPr txBox="1"/>
          <p:nvPr/>
        </p:nvSpPr>
        <p:spPr>
          <a:xfrm>
            <a:off x="2551176" y="4754880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27" name="사진 이동"/>
          <p:cNvSpPr txBox="1"/>
          <p:nvPr/>
        </p:nvSpPr>
        <p:spPr>
          <a:xfrm>
            <a:off x="1453895" y="446684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28" name="사진 이동"/>
          <p:cNvSpPr txBox="1"/>
          <p:nvPr/>
        </p:nvSpPr>
        <p:spPr>
          <a:xfrm>
            <a:off x="2715767" y="446684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29" name="접근성 항목"/>
          <p:cNvSpPr txBox="1"/>
          <p:nvPr/>
        </p:nvSpPr>
        <p:spPr>
          <a:xfrm>
            <a:off x="1417319" y="506577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30" name="접근성 값"/>
          <p:cNvSpPr txBox="1"/>
          <p:nvPr/>
        </p:nvSpPr>
        <p:spPr>
          <a:xfrm>
            <a:off x="2880360" y="5065776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1" name="접근성 항목"/>
          <p:cNvSpPr txBox="1"/>
          <p:nvPr/>
        </p:nvSpPr>
        <p:spPr>
          <a:xfrm>
            <a:off x="1417319" y="5285232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점자 안내계단</a:t>
            </a:r>
          </a:p>
        </p:txBody>
      </p:sp>
      <p:sp>
        <p:nvSpPr>
          <p:cNvPr id="32" name="접근성 값"/>
          <p:cNvSpPr txBox="1"/>
          <p:nvPr/>
        </p:nvSpPr>
        <p:spPr>
          <a:xfrm>
            <a:off x="2880360" y="5285232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33" name="접근성 항목"/>
          <p:cNvSpPr txBox="1"/>
          <p:nvPr/>
        </p:nvSpPr>
        <p:spPr>
          <a:xfrm>
            <a:off x="1417319" y="5504688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34" name="접근성 값"/>
          <p:cNvSpPr txBox="1"/>
          <p:nvPr/>
        </p:nvSpPr>
        <p:spPr>
          <a:xfrm>
            <a:off x="2880360" y="5504688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5" name="즐겨찾기 토글"/>
          <p:cNvSpPr txBox="1"/>
          <p:nvPr/>
        </p:nvSpPr>
        <p:spPr>
          <a:xfrm>
            <a:off x="1417319" y="588873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6" name="역할 버튼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2258568" y="5852160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역할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2258568" y="5852160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38" name="역할 버튼"/>
          <p:cNvSpPr/>
          <p:nvPr/>
        </p:nvSpPr>
        <p:spPr>
          <a:xfrm>
            <a:off x="3044952" y="5852160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역할 버튼 라벨"/>
          <p:cNvSpPr txBox="1"/>
          <p:nvPr/>
        </p:nvSpPr>
        <p:spPr>
          <a:xfrm>
            <a:off x="3044952" y="5852160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40" name="뒤로가기"/>
          <p:cNvCxnSpPr/>
          <p:nvPr/>
        </p:nvCxnSpPr>
        <p:spPr>
          <a:xfrm flipH="1">
            <a:off x="1479802" y="14257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/>
          <p:cNvCxnSpPr/>
          <p:nvPr/>
        </p:nvCxnSpPr>
        <p:spPr>
          <a:xfrm flipH="1" flipV="1">
            <a:off x="1479802" y="147142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목업 프레임"/>
          <p:cNvSpPr/>
          <p:nvPr/>
        </p:nvSpPr>
        <p:spPr>
          <a:xfrm>
            <a:off x="469963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전체보기 배경"/>
          <p:cNvSpPr/>
          <p:nvPr/>
        </p:nvSpPr>
        <p:spPr>
          <a:xfrm>
            <a:off x="4708779" y="1208913"/>
            <a:ext cx="2715387" cy="5116068"/>
          </a:xfrm>
          <a:prstGeom prst="roundRect">
            <a:avLst>
              <a:gd name="adj" fmla="val 5976"/>
            </a:avLst>
          </a:prstGeom>
          <a:solidFill>
            <a:srgbClr val="1F232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전체보기 이미지"/>
          <p:cNvSpPr/>
          <p:nvPr/>
        </p:nvSpPr>
        <p:spPr>
          <a:xfrm>
            <a:off x="4708779" y="2802255"/>
            <a:ext cx="2715387" cy="1920240"/>
          </a:xfrm>
          <a:prstGeom prst="rect">
            <a:avLst>
              <a:gd name="adj" fmla="val 21802"/>
            </a:avLst>
          </a:prstGeom>
          <a:solidFill>
            <a:srgbClr val="F2F4F7"/>
          </a:solidFill>
          <a:effectLst/>
          <a:ln>
            <a:noFill/>
          </a:ln>
        </p:spPr>
        <p:txBody>
          <a:bodyPr wrap="none" rtlCol="0" anchor="ctr"/>
          <a:lstStyle/>
          <a:p>
            <a:endParaRPr/>
          </a:p>
        </p:txBody>
      </p:sp>
      <p:sp>
        <p:nvSpPr>
          <p:cNvPr id="45" name="전체보기 이동"/>
          <p:cNvSpPr txBox="1"/>
          <p:nvPr/>
        </p:nvSpPr>
        <p:spPr>
          <a:xfrm>
            <a:off x="4827651" y="3652646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46" name="전체보기 이동"/>
          <p:cNvSpPr txBox="1"/>
          <p:nvPr/>
        </p:nvSpPr>
        <p:spPr>
          <a:xfrm>
            <a:off x="7085838" y="3652646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47" name="전체보기 장수"/>
          <p:cNvSpPr txBox="1"/>
          <p:nvPr/>
        </p:nvSpPr>
        <p:spPr>
          <a:xfrm>
            <a:off x="5792152" y="4905375"/>
            <a:ext cx="54864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00" b="0" spc="-15">
                <a:solidFill>
                  <a:srgbClr val="FFFFFF"/>
                </a:solidFill>
                <a:latin typeface="Pretendard"/>
              </a:rPr>
              <a:t>1 / 4</a:t>
            </a:r>
          </a:p>
        </p:txBody>
      </p:sp>
      <p:sp>
        <p:nvSpPr>
          <p:cNvPr id="48" name="전체보기 닫기"/>
          <p:cNvSpPr txBox="1"/>
          <p:nvPr/>
        </p:nvSpPr>
        <p:spPr>
          <a:xfrm>
            <a:off x="7049262" y="1336928"/>
            <a:ext cx="237744" cy="2377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0" spc="-15">
                <a:solidFill>
                  <a:srgbClr val="FFFFFF"/>
                </a:solidFill>
                <a:latin typeface="Pretendard"/>
              </a:rPr>
              <a:t>✕</a:t>
            </a:r>
          </a:p>
        </p:txBody>
      </p:sp>
      <p:sp>
        <p:nvSpPr>
          <p:cNvPr id="49" name="팝업 캡션"/>
          <p:cNvSpPr/>
          <p:nvPr/>
        </p:nvSpPr>
        <p:spPr>
          <a:xfrm>
            <a:off x="4699635" y="971168"/>
            <a:ext cx="2733675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4 — 사진 선택 시 전체보기</a:t>
            </a:r>
          </a:p>
        </p:txBody>
      </p:sp>
      <p:sp>
        <p:nvSpPr>
          <p:cNvPr id="50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1005839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1" name="숫자배지 2"/>
          <p:cNvSpPr/>
          <p:nvPr/>
        </p:nvSpPr>
        <p:spPr>
          <a:xfrm>
            <a:off x="1005839" y="334670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2" name="숫자배지 3"/>
          <p:cNvSpPr/>
          <p:nvPr/>
        </p:nvSpPr>
        <p:spPr>
          <a:xfrm>
            <a:off x="1005839" y="378561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3" name="숫자배지 4"/>
          <p:cNvSpPr/>
          <p:nvPr/>
        </p:nvSpPr>
        <p:spPr>
          <a:xfrm>
            <a:off x="1005839" y="4169663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4" name="숫자배지 5"/>
          <p:cNvSpPr/>
          <p:nvPr/>
        </p:nvSpPr>
        <p:spPr>
          <a:xfrm>
            <a:off x="1005839" y="508406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55" name="숫자배지 4"/>
          <p:cNvSpPr/>
          <p:nvPr/>
        </p:nvSpPr>
        <p:spPr>
          <a:xfrm>
            <a:off x="4471035" y="128206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① 도착지 검색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6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7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64190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상단 입력 블록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좌측 ⇅ · 가운데 입력 필드 · 우측 [✕]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도착지 placeholder 「도착지를 입력하세요」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입력란 선택 시 2-1 장소 검색으로 이동 (도착지 지정)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앱바 3행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1행 검색창 · 2행 바로가기 2개 · 3행 바로가기 칩 3개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한 글자라도 입력하면 앱바는 1행으로 축소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비회원은 칩 3개만 빠져 2행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최근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헤더 없이 앱바 바로 아래 리스트로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= 아이콘 ＋ 검색어 ＋ 날짜(mm.dd) ＋ [✕]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칩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즉시 한글 키패드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28" name="상단 구분선"/>
          <p:cNvSpPr/>
          <p:nvPr/>
        </p:nvSpPr>
        <p:spPr>
          <a:xfrm>
            <a:off x="1399032" y="2253996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안내"/>
          <p:cNvSpPr txBox="1"/>
          <p:nvPr/>
        </p:nvSpPr>
        <p:spPr>
          <a:xfrm>
            <a:off x="1755648" y="2711196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도착지를 입력하면 경로를 탐색</a:t>
            </a:r>
          </a:p>
        </p:txBody>
      </p:sp>
      <p:sp>
        <p:nvSpPr>
          <p:cNvPr id="32" name="검색창"/>
          <p:cNvSpPr/>
          <p:nvPr/>
        </p:nvSpPr>
        <p:spPr>
          <a:xfrm>
            <a:off x="489204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검색창 문구"/>
          <p:cNvSpPr txBox="1"/>
          <p:nvPr/>
        </p:nvSpPr>
        <p:spPr>
          <a:xfrm>
            <a:off x="503834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8A94A3"/>
                </a:solidFill>
                <a:latin typeface="Pretendard"/>
              </a:rPr>
              <a:t>어디로 갈까요?</a:t>
            </a:r>
          </a:p>
        </p:txBody>
      </p:sp>
      <p:sp>
        <p:nvSpPr>
          <p:cNvPr id="34" name="바로가기"/>
          <p:cNvSpPr/>
          <p:nvPr/>
        </p:nvSpPr>
        <p:spPr>
          <a:xfrm>
            <a:off x="4700016" y="1700784"/>
            <a:ext cx="1170432" cy="274320"/>
          </a:xfrm>
          <a:prstGeom prst="roundRect">
            <a:avLst>
              <a:gd name="adj" fmla="val 240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바로가기 라벨"/>
          <p:cNvSpPr txBox="1"/>
          <p:nvPr/>
        </p:nvSpPr>
        <p:spPr>
          <a:xfrm>
            <a:off x="4764024" y="1760219"/>
            <a:ext cx="10607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📍 현위치로 설정</a:t>
            </a:r>
          </a:p>
        </p:txBody>
      </p:sp>
      <p:sp>
        <p:nvSpPr>
          <p:cNvPr id="36" name="바로가기"/>
          <p:cNvSpPr/>
          <p:nvPr/>
        </p:nvSpPr>
        <p:spPr>
          <a:xfrm>
            <a:off x="5943600" y="1700784"/>
            <a:ext cx="1170432" cy="274320"/>
          </a:xfrm>
          <a:prstGeom prst="roundRect">
            <a:avLst>
              <a:gd name="adj" fmla="val 240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바로가기 라벨"/>
          <p:cNvSpPr txBox="1"/>
          <p:nvPr/>
        </p:nvSpPr>
        <p:spPr>
          <a:xfrm>
            <a:off x="6007608" y="1760219"/>
            <a:ext cx="10607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☆ 즐겨찾기에서 선택</a:t>
            </a:r>
          </a:p>
        </p:txBody>
      </p:sp>
      <p:sp>
        <p:nvSpPr>
          <p:cNvPr id="38" name="바로가기 칩"/>
          <p:cNvSpPr/>
          <p:nvPr/>
        </p:nvSpPr>
        <p:spPr>
          <a:xfrm>
            <a:off x="4700016" y="2066543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바로가기 칩 라벨"/>
          <p:cNvSpPr txBox="1"/>
          <p:nvPr/>
        </p:nvSpPr>
        <p:spPr>
          <a:xfrm>
            <a:off x="4700016" y="2107691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집</a:t>
            </a:r>
          </a:p>
        </p:txBody>
      </p:sp>
      <p:sp>
        <p:nvSpPr>
          <p:cNvPr id="40" name="바로가기 칩"/>
          <p:cNvSpPr/>
          <p:nvPr/>
        </p:nvSpPr>
        <p:spPr>
          <a:xfrm>
            <a:off x="5248655" y="2066543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바로가기 칩 라벨"/>
          <p:cNvSpPr txBox="1"/>
          <p:nvPr/>
        </p:nvSpPr>
        <p:spPr>
          <a:xfrm>
            <a:off x="5248655" y="2107691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회사</a:t>
            </a:r>
          </a:p>
        </p:txBody>
      </p:sp>
      <p:sp>
        <p:nvSpPr>
          <p:cNvPr id="42" name="바로가기 칩"/>
          <p:cNvSpPr/>
          <p:nvPr/>
        </p:nvSpPr>
        <p:spPr>
          <a:xfrm>
            <a:off x="5860541" y="2066543"/>
            <a:ext cx="520446" cy="237744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 w="9525">
            <a:solidFill>
              <a:srgbClr val="EDE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바로가기 칩 라벨"/>
          <p:cNvSpPr txBox="1"/>
          <p:nvPr/>
        </p:nvSpPr>
        <p:spPr>
          <a:xfrm>
            <a:off x="5860541" y="2107691"/>
            <a:ext cx="5204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25" b="0" spc="-15">
                <a:solidFill>
                  <a:srgbClr val="9AA4B2"/>
                </a:solidFill>
                <a:latin typeface="Pretendard"/>
              </a:rPr>
              <a:t>추가</a:t>
            </a:r>
          </a:p>
        </p:txBody>
      </p:sp>
      <p:sp>
        <p:nvSpPr>
          <p:cNvPr id="44" name="앱바 구분선"/>
          <p:cNvSpPr/>
          <p:nvPr/>
        </p:nvSpPr>
        <p:spPr>
          <a:xfrm>
            <a:off x="4553712" y="238658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최근 검색 아이콘"/>
          <p:cNvSpPr txBox="1"/>
          <p:nvPr/>
        </p:nvSpPr>
        <p:spPr>
          <a:xfrm>
            <a:off x="4727448" y="2496312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🔍</a:t>
            </a:r>
          </a:p>
        </p:txBody>
      </p:sp>
      <p:sp>
        <p:nvSpPr>
          <p:cNvPr id="46" name="최근 검색어"/>
          <p:cNvSpPr txBox="1"/>
          <p:nvPr/>
        </p:nvSpPr>
        <p:spPr>
          <a:xfrm>
            <a:off x="4946904" y="2496312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</a:t>
            </a:r>
          </a:p>
        </p:txBody>
      </p:sp>
      <p:sp>
        <p:nvSpPr>
          <p:cNvPr id="47" name="검색 날짜"/>
          <p:cNvSpPr txBox="1"/>
          <p:nvPr/>
        </p:nvSpPr>
        <p:spPr>
          <a:xfrm>
            <a:off x="6446520" y="2496312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48" name="검색 삭제"/>
          <p:cNvSpPr txBox="1"/>
          <p:nvPr/>
        </p:nvSpPr>
        <p:spPr>
          <a:xfrm>
            <a:off x="6940296" y="2496312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49" name="최근 검색 아이콘"/>
          <p:cNvSpPr txBox="1"/>
          <p:nvPr/>
        </p:nvSpPr>
        <p:spPr>
          <a:xfrm>
            <a:off x="4727448" y="2788920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50" name="최근 검색어"/>
          <p:cNvSpPr txBox="1"/>
          <p:nvPr/>
        </p:nvSpPr>
        <p:spPr>
          <a:xfrm>
            <a:off x="4946904" y="2788920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51" name="검색 날짜"/>
          <p:cNvSpPr txBox="1"/>
          <p:nvPr/>
        </p:nvSpPr>
        <p:spPr>
          <a:xfrm>
            <a:off x="6446520" y="2788920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52" name="검색 삭제"/>
          <p:cNvSpPr txBox="1"/>
          <p:nvPr/>
        </p:nvSpPr>
        <p:spPr>
          <a:xfrm>
            <a:off x="6940296" y="278892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53" name="최근 검색 아이콘"/>
          <p:cNvSpPr txBox="1"/>
          <p:nvPr/>
        </p:nvSpPr>
        <p:spPr>
          <a:xfrm>
            <a:off x="4727448" y="3081528"/>
            <a:ext cx="1828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📍</a:t>
            </a:r>
          </a:p>
        </p:txBody>
      </p:sp>
      <p:sp>
        <p:nvSpPr>
          <p:cNvPr id="54" name="최근 검색어"/>
          <p:cNvSpPr txBox="1"/>
          <p:nvPr/>
        </p:nvSpPr>
        <p:spPr>
          <a:xfrm>
            <a:off x="4946904" y="3081528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중구 태평로1가</a:t>
            </a:r>
          </a:p>
        </p:txBody>
      </p:sp>
      <p:sp>
        <p:nvSpPr>
          <p:cNvPr id="55" name="검색 날짜"/>
          <p:cNvSpPr txBox="1"/>
          <p:nvPr/>
        </p:nvSpPr>
        <p:spPr>
          <a:xfrm>
            <a:off x="6446520" y="3081528"/>
            <a:ext cx="4572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09.10</a:t>
            </a:r>
          </a:p>
        </p:txBody>
      </p:sp>
      <p:sp>
        <p:nvSpPr>
          <p:cNvPr id="56" name="검색 삭제"/>
          <p:cNvSpPr txBox="1"/>
          <p:nvPr/>
        </p:nvSpPr>
        <p:spPr>
          <a:xfrm>
            <a:off x="6940296" y="3081528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57" name="키패드"/>
          <p:cNvSpPr/>
          <p:nvPr/>
        </p:nvSpPr>
        <p:spPr>
          <a:xfrm>
            <a:off x="4553712" y="5230368"/>
            <a:ext cx="2715768" cy="1261872"/>
          </a:xfrm>
          <a:prstGeom prst="roundRect">
            <a:avLst>
              <a:gd name="adj" fmla="val 13587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키패드 안내"/>
          <p:cNvSpPr txBox="1"/>
          <p:nvPr/>
        </p:nvSpPr>
        <p:spPr>
          <a:xfrm>
            <a:off x="5093207" y="5769864"/>
            <a:ext cx="17373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진입 즉시 한글 키패드</a:t>
            </a:r>
          </a:p>
        </p:txBody>
      </p:sp>
      <p:cxnSp>
        <p:nvCxnSpPr>
          <p:cNvPr id="62" name="뒤로가기"/>
          <p:cNvCxnSpPr/>
          <p:nvPr/>
        </p:nvCxnSpPr>
        <p:spPr>
          <a:xfrm flipH="1">
            <a:off x="470001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뒤로가기"/>
          <p:cNvCxnSpPr/>
          <p:nvPr/>
        </p:nvCxnSpPr>
        <p:spPr>
          <a:xfrm flipH="1" flipV="1">
            <a:off x="470001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입력 카드"/>
          <p:cNvSpPr/>
          <p:nvPr/>
        </p:nvSpPr>
        <p:spPr>
          <a:xfrm>
            <a:off x="1700784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출발지 필드"/>
          <p:cNvSpPr txBox="1"/>
          <p:nvPr/>
        </p:nvSpPr>
        <p:spPr>
          <a:xfrm>
            <a:off x="2084831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9" name="초기화 면"/>
          <p:cNvSpPr/>
          <p:nvPr/>
        </p:nvSpPr>
        <p:spPr>
          <a:xfrm>
            <a:off x="3776472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초기화"/>
          <p:cNvSpPr txBox="1"/>
          <p:nvPr/>
        </p:nvSpPr>
        <p:spPr>
          <a:xfrm>
            <a:off x="3776472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21" name="순서 바꾸기 면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구분선"/>
          <p:cNvSpPr/>
          <p:nvPr/>
        </p:nvSpPr>
        <p:spPr>
          <a:xfrm>
            <a:off x="2084831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경유지 추가 면"/>
          <p:cNvSpPr/>
          <p:nvPr/>
        </p:nvSpPr>
        <p:spPr>
          <a:xfrm>
            <a:off x="332841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유지 추가"/>
          <p:cNvSpPr txBox="1"/>
          <p:nvPr/>
        </p:nvSpPr>
        <p:spPr>
          <a:xfrm>
            <a:off x="332841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5" name="도착지 필드"/>
          <p:cNvSpPr txBox="1"/>
          <p:nvPr/>
        </p:nvSpPr>
        <p:spPr>
          <a:xfrm>
            <a:off x="2084831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8A94A3"/>
                </a:solidFill>
                <a:latin typeface="Pretendard"/>
              </a:rPr>
              <a:t>도착지를 입력하세요</a:t>
            </a:r>
          </a:p>
        </p:txBody>
      </p:sp>
      <p:sp>
        <p:nvSpPr>
          <p:cNvPr id="30" name="순서 바꾸기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순서 바꾸기"/>
          <p:cNvSpPr txBox="1"/>
          <p:nvPr/>
        </p:nvSpPr>
        <p:spPr>
          <a:xfrm>
            <a:off x="1435608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88" name="지점 링"/>
          <p:cNvSpPr/>
          <p:nvPr/>
        </p:nvSpPr>
        <p:spPr>
          <a:xfrm>
            <a:off x="1858975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지점 링"/>
          <p:cNvSpPr/>
          <p:nvPr/>
        </p:nvSpPr>
        <p:spPr>
          <a:xfrm>
            <a:off x="1858975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숫자배지 1"/>
          <p:cNvSpPr/>
          <p:nvPr/>
        </p:nvSpPr>
        <p:spPr>
          <a:xfrm>
            <a:off x="1161288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0" name="숫자배지 2"/>
          <p:cNvSpPr/>
          <p:nvPr/>
        </p:nvSpPr>
        <p:spPr>
          <a:xfrm>
            <a:off x="4315968" y="13258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1" name="숫자배지 3"/>
          <p:cNvSpPr/>
          <p:nvPr/>
        </p:nvSpPr>
        <p:spPr>
          <a:xfrm>
            <a:off x="4315968" y="260604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② 도착지 선택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14827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51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검색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 ＋ 바텀시트 · 결과 전량을 핀으로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결과 건수 「검색 결과 N건」 — 정렬 드롭다운 왼쪽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정렬 드롭다운 「정확도순」/「거리순」 · 필터 칩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행은 POI명 / 거리 · 업종 · 방면 / 주소 ＋ [∨] 3줄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행 자체가 장소 상세 진입 · [&gt;]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[도착지로 설정하기]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역할 2버튼 대신 도착지 지정 1버튼만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도착지 설정과 동시에 경로 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비활성화 케이스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지도"/>
          <p:cNvSpPr/>
          <p:nvPr/>
        </p:nvSpPr>
        <p:spPr>
          <a:xfrm>
            <a:off x="1399032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도 안내"/>
          <p:cNvSpPr txBox="1"/>
          <p:nvPr/>
        </p:nvSpPr>
        <p:spPr>
          <a:xfrm>
            <a:off x="1956816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9" name="검색창"/>
          <p:cNvSpPr/>
          <p:nvPr/>
        </p:nvSpPr>
        <p:spPr>
          <a:xfrm>
            <a:off x="173736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 문구"/>
          <p:cNvSpPr txBox="1"/>
          <p:nvPr/>
        </p:nvSpPr>
        <p:spPr>
          <a:xfrm>
            <a:off x="188366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75887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75887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3" name="지도 컨트롤"/>
          <p:cNvSpPr/>
          <p:nvPr/>
        </p:nvSpPr>
        <p:spPr>
          <a:xfrm>
            <a:off x="3675887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지도 컨트롤 라벨"/>
          <p:cNvSpPr txBox="1"/>
          <p:nvPr/>
        </p:nvSpPr>
        <p:spPr>
          <a:xfrm>
            <a:off x="3675887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5" name="바텀시트"/>
          <p:cNvSpPr/>
          <p:nvPr/>
        </p:nvSpPr>
        <p:spPr>
          <a:xfrm>
            <a:off x="1399032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시트 손잡이"/>
          <p:cNvSpPr/>
          <p:nvPr/>
        </p:nvSpPr>
        <p:spPr>
          <a:xfrm>
            <a:off x="2578608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정렬 드롭다운"/>
          <p:cNvSpPr/>
          <p:nvPr/>
        </p:nvSpPr>
        <p:spPr>
          <a:xfrm>
            <a:off x="3108960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 라벨"/>
          <p:cNvSpPr txBox="1"/>
          <p:nvPr/>
        </p:nvSpPr>
        <p:spPr>
          <a:xfrm>
            <a:off x="3108960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29" name="행 제목"/>
          <p:cNvSpPr txBox="1"/>
          <p:nvPr/>
        </p:nvSpPr>
        <p:spPr>
          <a:xfrm>
            <a:off x="1572768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30" name="행 메타"/>
          <p:cNvSpPr txBox="1"/>
          <p:nvPr/>
        </p:nvSpPr>
        <p:spPr>
          <a:xfrm>
            <a:off x="1572768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820m · 전통시장</a:t>
            </a:r>
          </a:p>
        </p:txBody>
      </p:sp>
      <p:sp>
        <p:nvSpPr>
          <p:cNvPr id="31" name="행 주소"/>
          <p:cNvSpPr txBox="1"/>
          <p:nvPr/>
        </p:nvSpPr>
        <p:spPr>
          <a:xfrm>
            <a:off x="1572768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성동구 성수동1가 13</a:t>
            </a:r>
          </a:p>
        </p:txBody>
      </p:sp>
      <p:sp>
        <p:nvSpPr>
          <p:cNvPr id="32" name="주소 펼침"/>
          <p:cNvSpPr txBox="1"/>
          <p:nvPr/>
        </p:nvSpPr>
        <p:spPr>
          <a:xfrm>
            <a:off x="2587371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3" name="즐겨찾기 토글"/>
          <p:cNvSpPr txBox="1"/>
          <p:nvPr/>
        </p:nvSpPr>
        <p:spPr>
          <a:xfrm>
            <a:off x="1572768" y="39867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4" name="모드 1버튼"/>
          <p:cNvSpPr/>
          <p:nvPr/>
        </p:nvSpPr>
        <p:spPr>
          <a:xfrm>
            <a:off x="1865376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모드 1버튼 라벨"/>
          <p:cNvSpPr txBox="1"/>
          <p:nvPr/>
        </p:nvSpPr>
        <p:spPr>
          <a:xfrm>
            <a:off x="1865376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36" name="행 구분선"/>
          <p:cNvSpPr/>
          <p:nvPr/>
        </p:nvSpPr>
        <p:spPr>
          <a:xfrm>
            <a:off x="1399032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1572768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뚝섬역</a:t>
            </a:r>
          </a:p>
        </p:txBody>
      </p:sp>
      <p:sp>
        <p:nvSpPr>
          <p:cNvPr id="38" name="행 메타"/>
          <p:cNvSpPr txBox="1"/>
          <p:nvPr/>
        </p:nvSpPr>
        <p:spPr>
          <a:xfrm>
            <a:off x="1572768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640m · 지하철역</a:t>
            </a:r>
          </a:p>
        </p:txBody>
      </p:sp>
      <p:sp>
        <p:nvSpPr>
          <p:cNvPr id="39" name="행 주소"/>
          <p:cNvSpPr txBox="1"/>
          <p:nvPr/>
        </p:nvSpPr>
        <p:spPr>
          <a:xfrm>
            <a:off x="1572768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성동구 성수동2가</a:t>
            </a:r>
          </a:p>
        </p:txBody>
      </p:sp>
      <p:sp>
        <p:nvSpPr>
          <p:cNvPr id="40" name="주소 펼침"/>
          <p:cNvSpPr txBox="1"/>
          <p:nvPr/>
        </p:nvSpPr>
        <p:spPr>
          <a:xfrm>
            <a:off x="2446972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41" name="즐겨찾기 토글"/>
          <p:cNvSpPr txBox="1"/>
          <p:nvPr/>
        </p:nvSpPr>
        <p:spPr>
          <a:xfrm>
            <a:off x="1572768" y="506577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2" name="모드 1버튼"/>
          <p:cNvSpPr/>
          <p:nvPr/>
        </p:nvSpPr>
        <p:spPr>
          <a:xfrm>
            <a:off x="1865376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모드 1버튼 라벨"/>
          <p:cNvSpPr txBox="1"/>
          <p:nvPr/>
        </p:nvSpPr>
        <p:spPr>
          <a:xfrm>
            <a:off x="1865376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44" name="행 구분선"/>
          <p:cNvSpPr/>
          <p:nvPr/>
        </p:nvSpPr>
        <p:spPr>
          <a:xfrm>
            <a:off x="1399032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지도"/>
          <p:cNvSpPr/>
          <p:nvPr/>
        </p:nvSpPr>
        <p:spPr>
          <a:xfrm>
            <a:off x="4553712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안내"/>
          <p:cNvSpPr txBox="1"/>
          <p:nvPr/>
        </p:nvSpPr>
        <p:spPr>
          <a:xfrm>
            <a:off x="5184648" y="1938528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장소만 핀 표출</a:t>
            </a:r>
          </a:p>
        </p:txBody>
      </p:sp>
      <p:sp>
        <p:nvSpPr>
          <p:cNvPr id="47" name="뒤로가기 플로팅"/>
          <p:cNvSpPr/>
          <p:nvPr/>
        </p:nvSpPr>
        <p:spPr>
          <a:xfrm>
            <a:off x="4681728" y="1325880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바텀시트"/>
          <p:cNvSpPr/>
          <p:nvPr/>
        </p:nvSpPr>
        <p:spPr>
          <a:xfrm>
            <a:off x="4553712" y="3017520"/>
            <a:ext cx="2715768" cy="3319272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시트 손잡이"/>
          <p:cNvSpPr/>
          <p:nvPr/>
        </p:nvSpPr>
        <p:spPr>
          <a:xfrm>
            <a:off x="5733288" y="3108960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장소명"/>
          <p:cNvSpPr txBox="1"/>
          <p:nvPr/>
        </p:nvSpPr>
        <p:spPr>
          <a:xfrm>
            <a:off x="4727448" y="3200400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51" name="업종 · 거리"/>
          <p:cNvSpPr txBox="1"/>
          <p:nvPr/>
        </p:nvSpPr>
        <p:spPr>
          <a:xfrm>
            <a:off x="4727448" y="345643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전통시장 · 820m</a:t>
            </a:r>
          </a:p>
        </p:txBody>
      </p:sp>
      <p:sp>
        <p:nvSpPr>
          <p:cNvPr id="52" name="지번 주소"/>
          <p:cNvSpPr txBox="1"/>
          <p:nvPr/>
        </p:nvSpPr>
        <p:spPr>
          <a:xfrm>
            <a:off x="4727448" y="36393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성동구 성수동1가 13</a:t>
            </a:r>
          </a:p>
        </p:txBody>
      </p:sp>
      <p:sp>
        <p:nvSpPr>
          <p:cNvPr id="53" name="도로명 주소"/>
          <p:cNvSpPr txBox="1"/>
          <p:nvPr/>
        </p:nvSpPr>
        <p:spPr>
          <a:xfrm>
            <a:off x="4727448" y="38039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(성동구 뚝섬로1길 5)</a:t>
            </a:r>
          </a:p>
        </p:txBody>
      </p:sp>
      <p:sp>
        <p:nvSpPr>
          <p:cNvPr id="54" name="장소 이미지"/>
          <p:cNvSpPr/>
          <p:nvPr/>
        </p:nvSpPr>
        <p:spPr>
          <a:xfrm>
            <a:off x="4727448" y="4023360"/>
            <a:ext cx="1554480" cy="749808"/>
          </a:xfrm>
          <a:prstGeom prst="roundRect">
            <a:avLst>
              <a:gd name="adj" fmla="val 2286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장수 표시"/>
          <p:cNvSpPr txBox="1"/>
          <p:nvPr/>
        </p:nvSpPr>
        <p:spPr>
          <a:xfrm>
            <a:off x="5861304" y="4590288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56" name="사진 이동"/>
          <p:cNvSpPr txBox="1"/>
          <p:nvPr/>
        </p:nvSpPr>
        <p:spPr>
          <a:xfrm>
            <a:off x="4764024" y="432054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57" name="사진 이동"/>
          <p:cNvSpPr txBox="1"/>
          <p:nvPr/>
        </p:nvSpPr>
        <p:spPr>
          <a:xfrm>
            <a:off x="6025896" y="432054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58" name="접근성 항목"/>
          <p:cNvSpPr txBox="1"/>
          <p:nvPr/>
        </p:nvSpPr>
        <p:spPr>
          <a:xfrm>
            <a:off x="4727448" y="4901184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59" name="접근성 값"/>
          <p:cNvSpPr txBox="1"/>
          <p:nvPr/>
        </p:nvSpPr>
        <p:spPr>
          <a:xfrm>
            <a:off x="6190488" y="4901184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60" name="접근성 항목"/>
          <p:cNvSpPr txBox="1"/>
          <p:nvPr/>
        </p:nvSpPr>
        <p:spPr>
          <a:xfrm>
            <a:off x="4727448" y="5120640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점자 안내계단</a:t>
            </a:r>
          </a:p>
        </p:txBody>
      </p:sp>
      <p:sp>
        <p:nvSpPr>
          <p:cNvPr id="61" name="접근성 값"/>
          <p:cNvSpPr txBox="1"/>
          <p:nvPr/>
        </p:nvSpPr>
        <p:spPr>
          <a:xfrm>
            <a:off x="6190488" y="5120640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62" name="접근성 항목"/>
          <p:cNvSpPr txBox="1"/>
          <p:nvPr/>
        </p:nvSpPr>
        <p:spPr>
          <a:xfrm>
            <a:off x="4727448" y="534009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63" name="접근성 값"/>
          <p:cNvSpPr txBox="1"/>
          <p:nvPr/>
        </p:nvSpPr>
        <p:spPr>
          <a:xfrm>
            <a:off x="6190488" y="5340096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64" name="즐겨찾기 토글"/>
          <p:cNvSpPr txBox="1"/>
          <p:nvPr/>
        </p:nvSpPr>
        <p:spPr>
          <a:xfrm>
            <a:off x="4727448" y="5779008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65" name="모드 1버튼"/>
          <p:cNvSpPr/>
          <p:nvPr/>
        </p:nvSpPr>
        <p:spPr>
          <a:xfrm>
            <a:off x="5020056" y="5742432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모드 1버튼 라벨"/>
          <p:cNvSpPr txBox="1"/>
          <p:nvPr/>
        </p:nvSpPr>
        <p:spPr>
          <a:xfrm>
            <a:off x="5020056" y="5742432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67" name="프레임 캡션"/>
          <p:cNvSpPr txBox="1"/>
          <p:nvPr/>
        </p:nvSpPr>
        <p:spPr>
          <a:xfrm>
            <a:off x="138988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3E4652"/>
                </a:solidFill>
                <a:latin typeface="Pretendard"/>
              </a:rPr>
              <a:t>2-1 ③ 검색 결과 — 도착지 검색</a:t>
            </a:r>
          </a:p>
        </p:txBody>
      </p:sp>
      <p:sp>
        <p:nvSpPr>
          <p:cNvPr id="68" name="프레임 캡션"/>
          <p:cNvSpPr txBox="1"/>
          <p:nvPr/>
        </p:nvSpPr>
        <p:spPr>
          <a:xfrm>
            <a:off x="454456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3E4652"/>
                </a:solidFill>
                <a:latin typeface="Pretendard"/>
              </a:rPr>
              <a:t>2-2 장소 상세 — 결과 행 선택</a:t>
            </a:r>
          </a:p>
        </p:txBody>
      </p:sp>
      <p:sp>
        <p:nvSpPr>
          <p:cNvPr id="69" name="뒤로가기 플로팅"/>
          <p:cNvSpPr/>
          <p:nvPr/>
        </p:nvSpPr>
        <p:spPr>
          <a:xfrm>
            <a:off x="1437132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0" name="뒤로가기"/>
          <p:cNvCxnSpPr/>
          <p:nvPr/>
        </p:nvCxnSpPr>
        <p:spPr>
          <a:xfrm flipH="1">
            <a:off x="154533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 flipV="1">
            <a:off x="154533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>
            <a:off x="4789932" y="14257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/>
          <p:cNvCxnSpPr/>
          <p:nvPr/>
        </p:nvCxnSpPr>
        <p:spPr>
          <a:xfrm flipH="1" flipV="1">
            <a:off x="4789932" y="147142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결과 건수"/>
          <p:cNvSpPr txBox="1"/>
          <p:nvPr/>
        </p:nvSpPr>
        <p:spPr>
          <a:xfrm>
            <a:off x="1572768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75" name="숫자배지 1"/>
          <p:cNvSpPr/>
          <p:nvPr/>
        </p:nvSpPr>
        <p:spPr>
          <a:xfrm>
            <a:off x="1161288" y="33832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1-1"/>
          <p:cNvSpPr/>
          <p:nvPr/>
        </p:nvSpPr>
        <p:spPr>
          <a:xfrm>
            <a:off x="1161288" y="39684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77" name="숫자배지 2"/>
          <p:cNvSpPr/>
          <p:nvPr/>
        </p:nvSpPr>
        <p:spPr>
          <a:xfrm>
            <a:off x="4315968" y="32186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8" name="숫자배지 2-1"/>
          <p:cNvSpPr/>
          <p:nvPr/>
        </p:nvSpPr>
        <p:spPr>
          <a:xfrm>
            <a:off x="4315968" y="576072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② 도착지 선택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07512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＋ 바텀시트 · 선택한 장소만 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지도 좌상단 원형 플로팅 · 탑바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 / 업종 · 거리 / 지번 ＋ (도로명) / 사진 / 접근성 3행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미조사 항목도 그대로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상세 하단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결과 행 하단과 같은 1버튼 — [도착지로 설정하기]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상세를 확인한 뒤에도 지정 가능 · 동작은 1-1과 동일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 토글은 결과 행의 ☆와 같은 동작 · 슬롯 지정에서는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지도"/>
          <p:cNvSpPr/>
          <p:nvPr/>
        </p:nvSpPr>
        <p:spPr>
          <a:xfrm>
            <a:off x="1399032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도 안내"/>
          <p:cNvSpPr txBox="1"/>
          <p:nvPr/>
        </p:nvSpPr>
        <p:spPr>
          <a:xfrm>
            <a:off x="1956816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19" name="검색창"/>
          <p:cNvSpPr/>
          <p:nvPr/>
        </p:nvSpPr>
        <p:spPr>
          <a:xfrm>
            <a:off x="1737360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 문구"/>
          <p:cNvSpPr txBox="1"/>
          <p:nvPr/>
        </p:nvSpPr>
        <p:spPr>
          <a:xfrm>
            <a:off x="1883664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75887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75887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3" name="지도 컨트롤"/>
          <p:cNvSpPr/>
          <p:nvPr/>
        </p:nvSpPr>
        <p:spPr>
          <a:xfrm>
            <a:off x="3675887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지도 컨트롤 라벨"/>
          <p:cNvSpPr txBox="1"/>
          <p:nvPr/>
        </p:nvSpPr>
        <p:spPr>
          <a:xfrm>
            <a:off x="3675887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5" name="바텀시트"/>
          <p:cNvSpPr/>
          <p:nvPr/>
        </p:nvSpPr>
        <p:spPr>
          <a:xfrm>
            <a:off x="1399032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시트 손잡이"/>
          <p:cNvSpPr/>
          <p:nvPr/>
        </p:nvSpPr>
        <p:spPr>
          <a:xfrm>
            <a:off x="2578608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정렬 드롭다운"/>
          <p:cNvSpPr/>
          <p:nvPr/>
        </p:nvSpPr>
        <p:spPr>
          <a:xfrm>
            <a:off x="3108960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정렬 드롭다운 라벨"/>
          <p:cNvSpPr txBox="1"/>
          <p:nvPr/>
        </p:nvSpPr>
        <p:spPr>
          <a:xfrm>
            <a:off x="3108960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29" name="행 제목"/>
          <p:cNvSpPr txBox="1"/>
          <p:nvPr/>
        </p:nvSpPr>
        <p:spPr>
          <a:xfrm>
            <a:off x="1572768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30" name="행 메타"/>
          <p:cNvSpPr txBox="1"/>
          <p:nvPr/>
        </p:nvSpPr>
        <p:spPr>
          <a:xfrm>
            <a:off x="1572768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820m · 전통시장</a:t>
            </a:r>
          </a:p>
        </p:txBody>
      </p:sp>
      <p:sp>
        <p:nvSpPr>
          <p:cNvPr id="31" name="행 주소"/>
          <p:cNvSpPr txBox="1"/>
          <p:nvPr/>
        </p:nvSpPr>
        <p:spPr>
          <a:xfrm>
            <a:off x="1572768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성동구 성수동1가 13</a:t>
            </a:r>
          </a:p>
        </p:txBody>
      </p:sp>
      <p:sp>
        <p:nvSpPr>
          <p:cNvPr id="32" name="주소 펼침"/>
          <p:cNvSpPr txBox="1"/>
          <p:nvPr/>
        </p:nvSpPr>
        <p:spPr>
          <a:xfrm>
            <a:off x="2587371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3" name="즐겨찾기 토글"/>
          <p:cNvSpPr txBox="1"/>
          <p:nvPr/>
        </p:nvSpPr>
        <p:spPr>
          <a:xfrm>
            <a:off x="1572768" y="39867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4" name="모드 1버튼"/>
          <p:cNvSpPr/>
          <p:nvPr/>
        </p:nvSpPr>
        <p:spPr>
          <a:xfrm>
            <a:off x="1865376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모드 1버튼 라벨"/>
          <p:cNvSpPr txBox="1"/>
          <p:nvPr/>
        </p:nvSpPr>
        <p:spPr>
          <a:xfrm>
            <a:off x="1865376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36" name="행 구분선"/>
          <p:cNvSpPr/>
          <p:nvPr/>
        </p:nvSpPr>
        <p:spPr>
          <a:xfrm>
            <a:off x="1399032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1572768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뚝섬역</a:t>
            </a:r>
          </a:p>
        </p:txBody>
      </p:sp>
      <p:sp>
        <p:nvSpPr>
          <p:cNvPr id="38" name="행 메타"/>
          <p:cNvSpPr txBox="1"/>
          <p:nvPr/>
        </p:nvSpPr>
        <p:spPr>
          <a:xfrm>
            <a:off x="1572768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640m · 지하철역</a:t>
            </a:r>
          </a:p>
        </p:txBody>
      </p:sp>
      <p:sp>
        <p:nvSpPr>
          <p:cNvPr id="39" name="행 주소"/>
          <p:cNvSpPr txBox="1"/>
          <p:nvPr/>
        </p:nvSpPr>
        <p:spPr>
          <a:xfrm>
            <a:off x="1572768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성동구 성수동2가</a:t>
            </a:r>
          </a:p>
        </p:txBody>
      </p:sp>
      <p:sp>
        <p:nvSpPr>
          <p:cNvPr id="40" name="주소 펼침"/>
          <p:cNvSpPr txBox="1"/>
          <p:nvPr/>
        </p:nvSpPr>
        <p:spPr>
          <a:xfrm>
            <a:off x="2446972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41" name="즐겨찾기 토글"/>
          <p:cNvSpPr txBox="1"/>
          <p:nvPr/>
        </p:nvSpPr>
        <p:spPr>
          <a:xfrm>
            <a:off x="1572768" y="506577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42" name="모드 1버튼"/>
          <p:cNvSpPr/>
          <p:nvPr/>
        </p:nvSpPr>
        <p:spPr>
          <a:xfrm>
            <a:off x="1865376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모드 1버튼 라벨"/>
          <p:cNvSpPr txBox="1"/>
          <p:nvPr/>
        </p:nvSpPr>
        <p:spPr>
          <a:xfrm>
            <a:off x="1865376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44" name="행 구분선"/>
          <p:cNvSpPr/>
          <p:nvPr/>
        </p:nvSpPr>
        <p:spPr>
          <a:xfrm>
            <a:off x="1399032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지도"/>
          <p:cNvSpPr/>
          <p:nvPr/>
        </p:nvSpPr>
        <p:spPr>
          <a:xfrm>
            <a:off x="4553712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안내"/>
          <p:cNvSpPr txBox="1"/>
          <p:nvPr/>
        </p:nvSpPr>
        <p:spPr>
          <a:xfrm>
            <a:off x="5184648" y="1938528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장소만 핀 표출</a:t>
            </a:r>
          </a:p>
        </p:txBody>
      </p:sp>
      <p:sp>
        <p:nvSpPr>
          <p:cNvPr id="47" name="뒤로가기 플로팅"/>
          <p:cNvSpPr/>
          <p:nvPr/>
        </p:nvSpPr>
        <p:spPr>
          <a:xfrm>
            <a:off x="4681728" y="1325880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바텀시트"/>
          <p:cNvSpPr/>
          <p:nvPr/>
        </p:nvSpPr>
        <p:spPr>
          <a:xfrm>
            <a:off x="4553712" y="3017520"/>
            <a:ext cx="2715768" cy="3319272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시트 손잡이"/>
          <p:cNvSpPr/>
          <p:nvPr/>
        </p:nvSpPr>
        <p:spPr>
          <a:xfrm>
            <a:off x="5733288" y="3108960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장소명"/>
          <p:cNvSpPr txBox="1"/>
          <p:nvPr/>
        </p:nvSpPr>
        <p:spPr>
          <a:xfrm>
            <a:off x="4727448" y="3200400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51" name="업종 · 거리"/>
          <p:cNvSpPr txBox="1"/>
          <p:nvPr/>
        </p:nvSpPr>
        <p:spPr>
          <a:xfrm>
            <a:off x="4727448" y="345643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전통시장 · 820m</a:t>
            </a:r>
          </a:p>
        </p:txBody>
      </p:sp>
      <p:sp>
        <p:nvSpPr>
          <p:cNvPr id="52" name="지번 주소"/>
          <p:cNvSpPr txBox="1"/>
          <p:nvPr/>
        </p:nvSpPr>
        <p:spPr>
          <a:xfrm>
            <a:off x="4727448" y="36393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성동구 성수동1가 13</a:t>
            </a:r>
          </a:p>
        </p:txBody>
      </p:sp>
      <p:sp>
        <p:nvSpPr>
          <p:cNvPr id="53" name="도로명 주소"/>
          <p:cNvSpPr txBox="1"/>
          <p:nvPr/>
        </p:nvSpPr>
        <p:spPr>
          <a:xfrm>
            <a:off x="4727448" y="38039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(성동구 뚝섬로1길 5)</a:t>
            </a:r>
          </a:p>
        </p:txBody>
      </p:sp>
      <p:sp>
        <p:nvSpPr>
          <p:cNvPr id="54" name="장소 이미지"/>
          <p:cNvSpPr/>
          <p:nvPr/>
        </p:nvSpPr>
        <p:spPr>
          <a:xfrm>
            <a:off x="4727448" y="4023360"/>
            <a:ext cx="1554480" cy="749808"/>
          </a:xfrm>
          <a:prstGeom prst="roundRect">
            <a:avLst>
              <a:gd name="adj" fmla="val 2286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장수 표시"/>
          <p:cNvSpPr txBox="1"/>
          <p:nvPr/>
        </p:nvSpPr>
        <p:spPr>
          <a:xfrm>
            <a:off x="5861304" y="4590288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56" name="사진 이동"/>
          <p:cNvSpPr txBox="1"/>
          <p:nvPr/>
        </p:nvSpPr>
        <p:spPr>
          <a:xfrm>
            <a:off x="4764024" y="432054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57" name="사진 이동"/>
          <p:cNvSpPr txBox="1"/>
          <p:nvPr/>
        </p:nvSpPr>
        <p:spPr>
          <a:xfrm>
            <a:off x="6025896" y="4320540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58" name="접근성 항목"/>
          <p:cNvSpPr txBox="1"/>
          <p:nvPr/>
        </p:nvSpPr>
        <p:spPr>
          <a:xfrm>
            <a:off x="4727448" y="4901184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59" name="접근성 값"/>
          <p:cNvSpPr txBox="1"/>
          <p:nvPr/>
        </p:nvSpPr>
        <p:spPr>
          <a:xfrm>
            <a:off x="6190488" y="4901184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60" name="접근성 항목"/>
          <p:cNvSpPr txBox="1"/>
          <p:nvPr/>
        </p:nvSpPr>
        <p:spPr>
          <a:xfrm>
            <a:off x="4727448" y="5120640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점자 안내계단</a:t>
            </a:r>
          </a:p>
        </p:txBody>
      </p:sp>
      <p:sp>
        <p:nvSpPr>
          <p:cNvPr id="61" name="접근성 값"/>
          <p:cNvSpPr txBox="1"/>
          <p:nvPr/>
        </p:nvSpPr>
        <p:spPr>
          <a:xfrm>
            <a:off x="6190488" y="5120640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62" name="접근성 항목"/>
          <p:cNvSpPr txBox="1"/>
          <p:nvPr/>
        </p:nvSpPr>
        <p:spPr>
          <a:xfrm>
            <a:off x="4727448" y="534009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63" name="접근성 값"/>
          <p:cNvSpPr txBox="1"/>
          <p:nvPr/>
        </p:nvSpPr>
        <p:spPr>
          <a:xfrm>
            <a:off x="6190488" y="5340096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64" name="즐겨찾기 토글"/>
          <p:cNvSpPr txBox="1"/>
          <p:nvPr/>
        </p:nvSpPr>
        <p:spPr>
          <a:xfrm>
            <a:off x="4727448" y="5779008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65" name="모드 1버튼"/>
          <p:cNvSpPr/>
          <p:nvPr/>
        </p:nvSpPr>
        <p:spPr>
          <a:xfrm>
            <a:off x="5020056" y="5742432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모드 1버튼 라벨"/>
          <p:cNvSpPr txBox="1"/>
          <p:nvPr/>
        </p:nvSpPr>
        <p:spPr>
          <a:xfrm>
            <a:off x="5020056" y="5742432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도착지로 설정하기</a:t>
            </a:r>
          </a:p>
        </p:txBody>
      </p:sp>
      <p:sp>
        <p:nvSpPr>
          <p:cNvPr id="67" name="프레임 캡션"/>
          <p:cNvSpPr txBox="1"/>
          <p:nvPr/>
        </p:nvSpPr>
        <p:spPr>
          <a:xfrm>
            <a:off x="138988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3E4652"/>
                </a:solidFill>
                <a:latin typeface="Pretendard"/>
              </a:rPr>
              <a:t>2-1 ③ 검색 결과 — 도착지 검색</a:t>
            </a:r>
          </a:p>
        </p:txBody>
      </p:sp>
      <p:sp>
        <p:nvSpPr>
          <p:cNvPr id="68" name="프레임 캡션"/>
          <p:cNvSpPr txBox="1"/>
          <p:nvPr/>
        </p:nvSpPr>
        <p:spPr>
          <a:xfrm>
            <a:off x="454456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3E4652"/>
                </a:solidFill>
                <a:latin typeface="Pretendard"/>
              </a:rPr>
              <a:t>2-2 장소 상세 — 결과 행 선택</a:t>
            </a:r>
          </a:p>
        </p:txBody>
      </p:sp>
      <p:sp>
        <p:nvSpPr>
          <p:cNvPr id="69" name="뒤로가기 플로팅"/>
          <p:cNvSpPr/>
          <p:nvPr/>
        </p:nvSpPr>
        <p:spPr>
          <a:xfrm>
            <a:off x="1437132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0" name="뒤로가기"/>
          <p:cNvCxnSpPr/>
          <p:nvPr/>
        </p:nvCxnSpPr>
        <p:spPr>
          <a:xfrm flipH="1">
            <a:off x="1545336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뒤로가기"/>
          <p:cNvCxnSpPr/>
          <p:nvPr/>
        </p:nvCxnSpPr>
        <p:spPr>
          <a:xfrm flipH="1" flipV="1">
            <a:off x="1545336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뒤로가기"/>
          <p:cNvCxnSpPr/>
          <p:nvPr/>
        </p:nvCxnSpPr>
        <p:spPr>
          <a:xfrm flipH="1">
            <a:off x="4789932" y="142570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/>
          <p:cNvCxnSpPr/>
          <p:nvPr/>
        </p:nvCxnSpPr>
        <p:spPr>
          <a:xfrm flipH="1" flipV="1">
            <a:off x="4789932" y="147142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결과 건수"/>
          <p:cNvSpPr txBox="1"/>
          <p:nvPr/>
        </p:nvSpPr>
        <p:spPr>
          <a:xfrm>
            <a:off x="1572768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75" name="숫자배지 1"/>
          <p:cNvSpPr/>
          <p:nvPr/>
        </p:nvSpPr>
        <p:spPr>
          <a:xfrm>
            <a:off x="1161288" y="33832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6" name="숫자배지 1-1"/>
          <p:cNvSpPr/>
          <p:nvPr/>
        </p:nvSpPr>
        <p:spPr>
          <a:xfrm>
            <a:off x="1161288" y="39684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77" name="숫자배지 2"/>
          <p:cNvSpPr/>
          <p:nvPr/>
        </p:nvSpPr>
        <p:spPr>
          <a:xfrm>
            <a:off x="4315968" y="32186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8" name="숫자배지 2-1"/>
          <p:cNvSpPr/>
          <p:nvPr/>
        </p:nvSpPr>
        <p:spPr>
          <a:xfrm>
            <a:off x="4315968" y="576072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경유지 추가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14827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[＋] 경유지 추가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입력 필드 사이 · 경유지가 없을 때만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선택 시 2-9-1 경로 편집으로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경유지는 최대 1개 · 추가 후 [＋] 미노출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출발지 · 도착지가 모두 정해진 뒤에만 등록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경로 편집 — 2단계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경유지 필드를 눌러야 2-1 장소 검색으로 이동 (경유지 추가)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결과 행 · 상세 하단은 [경유지로 추가하기]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고르면 2-9-1으로 복귀 · [확인]을 눌러야 반영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[취소] — 변경 미반영 · 재탐색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26" name="상단 구분선"/>
          <p:cNvSpPr/>
          <p:nvPr/>
        </p:nvSpPr>
        <p:spPr>
          <a:xfrm>
            <a:off x="1399032" y="249174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지도"/>
          <p:cNvSpPr/>
          <p:nvPr/>
        </p:nvSpPr>
        <p:spPr>
          <a:xfrm>
            <a:off x="4553712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경로 편집 패널"/>
          <p:cNvSpPr/>
          <p:nvPr/>
        </p:nvSpPr>
        <p:spPr>
          <a:xfrm>
            <a:off x="4654296" y="1298448"/>
            <a:ext cx="2523744" cy="1883664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지점 라벨"/>
          <p:cNvSpPr txBox="1"/>
          <p:nvPr/>
        </p:nvSpPr>
        <p:spPr>
          <a:xfrm>
            <a:off x="5038344" y="1481328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2" name="순서 바꾸기 라벨"/>
          <p:cNvSpPr txBox="1"/>
          <p:nvPr/>
        </p:nvSpPr>
        <p:spPr>
          <a:xfrm>
            <a:off x="4700016" y="1705356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33" name="구분선"/>
          <p:cNvSpPr/>
          <p:nvPr/>
        </p:nvSpPr>
        <p:spPr>
          <a:xfrm>
            <a:off x="5038344" y="1828800"/>
            <a:ext cx="1993392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지점 라벨"/>
          <p:cNvSpPr txBox="1"/>
          <p:nvPr/>
        </p:nvSpPr>
        <p:spPr>
          <a:xfrm>
            <a:off x="5038344" y="1993392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5">
                <a:solidFill>
                  <a:srgbClr val="8A94A3"/>
                </a:solidFill>
                <a:latin typeface="Pretendard"/>
              </a:rPr>
              <a:t>경유지를 입력하세요</a:t>
            </a:r>
          </a:p>
        </p:txBody>
      </p:sp>
      <p:sp>
        <p:nvSpPr>
          <p:cNvPr id="35" name="순서 바꾸기"/>
          <p:cNvSpPr/>
          <p:nvPr/>
        </p:nvSpPr>
        <p:spPr>
          <a:xfrm>
            <a:off x="4700016" y="2217420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순서 바꾸기 라벨"/>
          <p:cNvSpPr txBox="1"/>
          <p:nvPr/>
        </p:nvSpPr>
        <p:spPr>
          <a:xfrm>
            <a:off x="4700016" y="2217420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37" name="구분선"/>
          <p:cNvSpPr/>
          <p:nvPr/>
        </p:nvSpPr>
        <p:spPr>
          <a:xfrm>
            <a:off x="5038344" y="2340864"/>
            <a:ext cx="1993392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점 라벨"/>
          <p:cNvSpPr txBox="1"/>
          <p:nvPr/>
        </p:nvSpPr>
        <p:spPr>
          <a:xfrm>
            <a:off x="5038344" y="2505456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39" name="패널 버튼 취소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946904" y="2761488"/>
            <a:ext cx="93268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패널 버튼 취소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946904" y="2761488"/>
            <a:ext cx="93268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1" name="패널 버튼 확인"/>
          <p:cNvSpPr/>
          <p:nvPr/>
        </p:nvSpPr>
        <p:spPr>
          <a:xfrm>
            <a:off x="5971031" y="2761488"/>
            <a:ext cx="93268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패널 버튼 확인 라벨"/>
          <p:cNvSpPr txBox="1"/>
          <p:nvPr/>
        </p:nvSpPr>
        <p:spPr>
          <a:xfrm>
            <a:off x="5971031" y="2761488"/>
            <a:ext cx="93268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43" name="지도 핀"/>
          <p:cNvSpPr/>
          <p:nvPr/>
        </p:nvSpPr>
        <p:spPr>
          <a:xfrm>
            <a:off x="4946904" y="3831336"/>
            <a:ext cx="182880" cy="182880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지도 핀 라벨"/>
          <p:cNvSpPr txBox="1"/>
          <p:nvPr/>
        </p:nvSpPr>
        <p:spPr>
          <a:xfrm>
            <a:off x="5184648" y="3849624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지도 핀"/>
          <p:cNvSpPr/>
          <p:nvPr/>
        </p:nvSpPr>
        <p:spPr>
          <a:xfrm>
            <a:off x="5715000" y="4818888"/>
            <a:ext cx="182880" cy="182880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핀 라벨"/>
          <p:cNvSpPr txBox="1"/>
          <p:nvPr/>
        </p:nvSpPr>
        <p:spPr>
          <a:xfrm>
            <a:off x="5952744" y="483717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49" name="프레임 캡션"/>
          <p:cNvSpPr txBox="1"/>
          <p:nvPr/>
        </p:nvSpPr>
        <p:spPr>
          <a:xfrm>
            <a:off x="138988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2-9 경로 리스트 — 입력 블록</a:t>
            </a:r>
          </a:p>
        </p:txBody>
      </p:sp>
      <p:sp>
        <p:nvSpPr>
          <p:cNvPr id="50" name="프레임 캡션"/>
          <p:cNvSpPr txBox="1"/>
          <p:nvPr/>
        </p:nvSpPr>
        <p:spPr>
          <a:xfrm>
            <a:off x="454456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2-9-1 경로 편집 — [＋] 진입</a:t>
            </a:r>
          </a:p>
        </p:txBody>
      </p:sp>
      <p:sp>
        <p:nvSpPr>
          <p:cNvPr id="51" name="지도 핀 표식"/>
          <p:cNvSpPr txBox="1"/>
          <p:nvPr/>
        </p:nvSpPr>
        <p:spPr>
          <a:xfrm>
            <a:off x="4965192" y="3849624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출</a:t>
            </a:r>
          </a:p>
        </p:txBody>
      </p:sp>
      <p:sp>
        <p:nvSpPr>
          <p:cNvPr id="52" name="지도 핀 표식"/>
          <p:cNvSpPr txBox="1"/>
          <p:nvPr/>
        </p:nvSpPr>
        <p:spPr>
          <a:xfrm>
            <a:off x="5733288" y="4837176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도</a:t>
            </a:r>
          </a:p>
        </p:txBody>
      </p:sp>
      <p:sp>
        <p:nvSpPr>
          <p:cNvPr id="53" name="필터"/>
          <p:cNvSpPr/>
          <p:nvPr/>
        </p:nvSpPr>
        <p:spPr>
          <a:xfrm>
            <a:off x="2706624" y="2071116"/>
            <a:ext cx="60350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필터 라벨"/>
          <p:cNvSpPr txBox="1"/>
          <p:nvPr/>
        </p:nvSpPr>
        <p:spPr>
          <a:xfrm>
            <a:off x="2706624" y="2071116"/>
            <a:ext cx="60350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필터 2</a:t>
            </a:r>
          </a:p>
        </p:txBody>
      </p:sp>
      <p:sp>
        <p:nvSpPr>
          <p:cNvPr id="55" name="정렬"/>
          <p:cNvSpPr/>
          <p:nvPr/>
        </p:nvSpPr>
        <p:spPr>
          <a:xfrm>
            <a:off x="3364992" y="2071116"/>
            <a:ext cx="5669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정렬 라벨"/>
          <p:cNvSpPr txBox="1"/>
          <p:nvPr/>
        </p:nvSpPr>
        <p:spPr>
          <a:xfrm>
            <a:off x="3364992" y="2071116"/>
            <a:ext cx="5669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정렬 ⌄</a:t>
            </a:r>
          </a:p>
        </p:txBody>
      </p:sp>
      <p:sp>
        <p:nvSpPr>
          <p:cNvPr id="57" name="소요시간"/>
          <p:cNvSpPr txBox="1"/>
          <p:nvPr/>
        </p:nvSpPr>
        <p:spPr>
          <a:xfrm>
            <a:off x="1572768" y="2564892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43분</a:t>
            </a:r>
          </a:p>
        </p:txBody>
      </p:sp>
      <p:sp>
        <p:nvSpPr>
          <p:cNvPr id="58" name="도착 시각 · 요금"/>
          <p:cNvSpPr txBox="1"/>
          <p:nvPr/>
        </p:nvSpPr>
        <p:spPr>
          <a:xfrm>
            <a:off x="1572768" y="2802636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11:43 도착 · 1,500원</a:t>
            </a:r>
          </a:p>
        </p:txBody>
      </p:sp>
      <p:sp>
        <p:nvSpPr>
          <p:cNvPr id="65" name="구간 요약"/>
          <p:cNvSpPr txBox="1"/>
          <p:nvPr/>
        </p:nvSpPr>
        <p:spPr>
          <a:xfrm>
            <a:off x="1719072" y="324154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②호선</a:t>
            </a:r>
          </a:p>
        </p:txBody>
      </p:sp>
      <p:sp>
        <p:nvSpPr>
          <p:cNvPr id="66" name="구간 요약"/>
          <p:cNvSpPr txBox="1"/>
          <p:nvPr/>
        </p:nvSpPr>
        <p:spPr>
          <a:xfrm>
            <a:off x="1865376" y="340614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당산 방면 곧 도착 | 성수 방면 3분</a:t>
            </a:r>
          </a:p>
        </p:txBody>
      </p:sp>
      <p:sp>
        <p:nvSpPr>
          <p:cNvPr id="67" name="구간 요약"/>
          <p:cNvSpPr txBox="1"/>
          <p:nvPr/>
        </p:nvSpPr>
        <p:spPr>
          <a:xfrm>
            <a:off x="1719072" y="357073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봉은사역 ⑨호선</a:t>
            </a:r>
          </a:p>
        </p:txBody>
      </p:sp>
      <p:sp>
        <p:nvSpPr>
          <p:cNvPr id="68" name="구간 요약"/>
          <p:cNvSpPr txBox="1"/>
          <p:nvPr/>
        </p:nvSpPr>
        <p:spPr>
          <a:xfrm>
            <a:off x="1719072" y="373532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69" name="구간 요약"/>
          <p:cNvSpPr txBox="1"/>
          <p:nvPr/>
        </p:nvSpPr>
        <p:spPr>
          <a:xfrm>
            <a:off x="1865376" y="3899915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 3217  [간선] 146</a:t>
            </a:r>
          </a:p>
        </p:txBody>
      </p:sp>
      <p:sp>
        <p:nvSpPr>
          <p:cNvPr id="70" name="구간 요약"/>
          <p:cNvSpPr txBox="1"/>
          <p:nvPr/>
        </p:nvSpPr>
        <p:spPr>
          <a:xfrm>
            <a:off x="1719072" y="406450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71" name="안내시작"/>
          <p:cNvSpPr/>
          <p:nvPr/>
        </p:nvSpPr>
        <p:spPr>
          <a:xfrm>
            <a:off x="1572768" y="4265676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안내시작 라벨"/>
          <p:cNvSpPr txBox="1"/>
          <p:nvPr/>
        </p:nvSpPr>
        <p:spPr>
          <a:xfrm>
            <a:off x="1572768" y="4265676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73" name="행 구분선"/>
          <p:cNvSpPr/>
          <p:nvPr/>
        </p:nvSpPr>
        <p:spPr>
          <a:xfrm>
            <a:off x="1399032" y="469544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소요시간"/>
          <p:cNvSpPr txBox="1"/>
          <p:nvPr/>
        </p:nvSpPr>
        <p:spPr>
          <a:xfrm>
            <a:off x="1572768" y="482346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47분</a:t>
            </a:r>
          </a:p>
        </p:txBody>
      </p:sp>
      <p:sp>
        <p:nvSpPr>
          <p:cNvPr id="75" name="도착 시각 · 요금"/>
          <p:cNvSpPr txBox="1"/>
          <p:nvPr/>
        </p:nvSpPr>
        <p:spPr>
          <a:xfrm>
            <a:off x="1572768" y="5061204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11:47 도착 · 1,500원</a:t>
            </a:r>
          </a:p>
        </p:txBody>
      </p:sp>
      <p:sp>
        <p:nvSpPr>
          <p:cNvPr id="76" name="전체 경로 바"/>
          <p:cNvSpPr/>
          <p:nvPr/>
        </p:nvSpPr>
        <p:spPr>
          <a:xfrm>
            <a:off x="1572768" y="5262372"/>
            <a:ext cx="566928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전체 경로 바"/>
          <p:cNvSpPr/>
          <p:nvPr/>
        </p:nvSpPr>
        <p:spPr>
          <a:xfrm>
            <a:off x="2176272" y="5262372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전체 경로 바"/>
          <p:cNvSpPr/>
          <p:nvPr/>
        </p:nvSpPr>
        <p:spPr>
          <a:xfrm>
            <a:off x="2999232" y="5262372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경로 바 라벨"/>
          <p:cNvSpPr txBox="1"/>
          <p:nvPr/>
        </p:nvSpPr>
        <p:spPr>
          <a:xfrm>
            <a:off x="1609344" y="5280660"/>
            <a:ext cx="51206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80" name="경로 바 라벨"/>
          <p:cNvSpPr txBox="1"/>
          <p:nvPr/>
        </p:nvSpPr>
        <p:spPr>
          <a:xfrm>
            <a:off x="2212848" y="528066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81" name="경로 바 라벨"/>
          <p:cNvSpPr txBox="1"/>
          <p:nvPr/>
        </p:nvSpPr>
        <p:spPr>
          <a:xfrm>
            <a:off x="3035808" y="528066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⑨호선 6분</a:t>
            </a:r>
          </a:p>
        </p:txBody>
      </p:sp>
      <p:sp>
        <p:nvSpPr>
          <p:cNvPr id="82" name="구간 요약"/>
          <p:cNvSpPr txBox="1"/>
          <p:nvPr/>
        </p:nvSpPr>
        <p:spPr>
          <a:xfrm>
            <a:off x="1719072" y="550011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83" name="구간 요약"/>
          <p:cNvSpPr txBox="1"/>
          <p:nvPr/>
        </p:nvSpPr>
        <p:spPr>
          <a:xfrm>
            <a:off x="1865376" y="566470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2413(저상)  곧 도착</a:t>
            </a:r>
          </a:p>
        </p:txBody>
      </p:sp>
      <p:sp>
        <p:nvSpPr>
          <p:cNvPr id="84" name="구간 요약"/>
          <p:cNvSpPr txBox="1"/>
          <p:nvPr/>
        </p:nvSpPr>
        <p:spPr>
          <a:xfrm>
            <a:off x="1865376" y="582930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[간선] 136  5분 23초   외 4대</a:t>
            </a:r>
          </a:p>
        </p:txBody>
      </p:sp>
      <p:sp>
        <p:nvSpPr>
          <p:cNvPr id="85" name="안내시작"/>
          <p:cNvSpPr/>
          <p:nvPr/>
        </p:nvSpPr>
        <p:spPr>
          <a:xfrm>
            <a:off x="1572768" y="6030468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안내시작 라벨"/>
          <p:cNvSpPr txBox="1"/>
          <p:nvPr/>
        </p:nvSpPr>
        <p:spPr>
          <a:xfrm>
            <a:off x="1572768" y="6030468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87" name="지도 안내"/>
          <p:cNvSpPr txBox="1"/>
          <p:nvPr/>
        </p:nvSpPr>
        <p:spPr>
          <a:xfrm>
            <a:off x="4951476" y="332841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설정된 지점만 핀 · 경로선 미표출</a:t>
            </a:r>
          </a:p>
        </p:txBody>
      </p:sp>
      <p:sp>
        <p:nvSpPr>
          <p:cNvPr id="90" name="지점 링"/>
          <p:cNvSpPr/>
          <p:nvPr/>
        </p:nvSpPr>
        <p:spPr>
          <a:xfrm>
            <a:off x="4812030" y="1497330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지점 링"/>
          <p:cNvSpPr/>
          <p:nvPr/>
        </p:nvSpPr>
        <p:spPr>
          <a:xfrm>
            <a:off x="4812030" y="2009394"/>
            <a:ext cx="123444" cy="123444"/>
          </a:xfrm>
          <a:prstGeom prst="ellipse">
            <a:avLst/>
          </a:prstGeom>
          <a:noFill/>
          <a:ln w="15875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지점 링"/>
          <p:cNvSpPr/>
          <p:nvPr/>
        </p:nvSpPr>
        <p:spPr>
          <a:xfrm>
            <a:off x="4812030" y="2521458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입력 카드"/>
          <p:cNvSpPr/>
          <p:nvPr/>
        </p:nvSpPr>
        <p:spPr>
          <a:xfrm>
            <a:off x="1700784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출발지 필드"/>
          <p:cNvSpPr txBox="1"/>
          <p:nvPr/>
        </p:nvSpPr>
        <p:spPr>
          <a:xfrm>
            <a:off x="2084831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9" name="초기화 면"/>
          <p:cNvSpPr/>
          <p:nvPr/>
        </p:nvSpPr>
        <p:spPr>
          <a:xfrm>
            <a:off x="3776472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초기화"/>
          <p:cNvSpPr txBox="1"/>
          <p:nvPr/>
        </p:nvSpPr>
        <p:spPr>
          <a:xfrm>
            <a:off x="3776472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21" name="순서 바꾸기 면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구분선"/>
          <p:cNvSpPr/>
          <p:nvPr/>
        </p:nvSpPr>
        <p:spPr>
          <a:xfrm>
            <a:off x="2084831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경유지 추가 면"/>
          <p:cNvSpPr/>
          <p:nvPr/>
        </p:nvSpPr>
        <p:spPr>
          <a:xfrm>
            <a:off x="332841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유지 추가"/>
          <p:cNvSpPr txBox="1"/>
          <p:nvPr/>
        </p:nvSpPr>
        <p:spPr>
          <a:xfrm>
            <a:off x="332841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5" name="도착지 필드"/>
          <p:cNvSpPr txBox="1"/>
          <p:nvPr/>
        </p:nvSpPr>
        <p:spPr>
          <a:xfrm>
            <a:off x="2084831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30" name="순서 바꾸기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순서 바꾸기"/>
          <p:cNvSpPr txBox="1"/>
          <p:nvPr/>
        </p:nvSpPr>
        <p:spPr>
          <a:xfrm>
            <a:off x="1435608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88" name="지점 링"/>
          <p:cNvSpPr/>
          <p:nvPr/>
        </p:nvSpPr>
        <p:spPr>
          <a:xfrm>
            <a:off x="1858975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지점 링"/>
          <p:cNvSpPr/>
          <p:nvPr/>
        </p:nvSpPr>
        <p:spPr>
          <a:xfrm>
            <a:off x="1858975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001" name="지점 연결선"/>
          <p:cNvCxnSpPr/>
          <p:nvPr/>
        </p:nvCxnSpPr>
        <p:spPr>
          <a:xfrm>
            <a:off x="1623060" y="3319272"/>
            <a:ext cx="0" cy="329184"/>
          </a:xfrm>
          <a:prstGeom prst="line">
            <a:avLst/>
          </a:prstGeom>
          <a:ln w="12700">
            <a:solidFill>
              <a:srgbClr val="00A84D"/>
            </a:solidFill>
          </a:ln>
        </p:spPr>
      </p:cxnSp>
      <p:cxnSp>
        <p:nvCxnSpPr>
          <p:cNvPr id="90002" name="지점 연결선"/>
          <p:cNvCxnSpPr/>
          <p:nvPr/>
        </p:nvCxnSpPr>
        <p:spPr>
          <a:xfrm>
            <a:off x="1623060" y="3648456"/>
            <a:ext cx="0" cy="164592"/>
          </a:xfrm>
          <a:prstGeom prst="line">
            <a:avLst/>
          </a:prstGeom>
          <a:ln w="12700">
            <a:solidFill>
              <a:srgbClr val="BB8336"/>
            </a:solidFill>
          </a:ln>
        </p:spPr>
      </p:cxnSp>
      <p:cxnSp>
        <p:nvCxnSpPr>
          <p:cNvPr id="90003" name="지점 연결선"/>
          <p:cNvCxnSpPr/>
          <p:nvPr/>
        </p:nvCxnSpPr>
        <p:spPr>
          <a:xfrm>
            <a:off x="1623060" y="3813048"/>
            <a:ext cx="0" cy="329184"/>
          </a:xfrm>
          <a:prstGeom prst="line">
            <a:avLst/>
          </a:prstGeom>
          <a:ln w="12700">
            <a:solidFill>
              <a:srgbClr val="3D5BAB"/>
            </a:solidFill>
          </a:ln>
        </p:spPr>
      </p:cxnSp>
      <p:sp>
        <p:nvSpPr>
          <p:cNvPr id="90004" name="지점 표식"/>
          <p:cNvSpPr/>
          <p:nvPr/>
        </p:nvSpPr>
        <p:spPr>
          <a:xfrm>
            <a:off x="1581912" y="3278124"/>
            <a:ext cx="82296" cy="82296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</a:ln>
        </p:spPr>
        <p:txBody>
          <a:bodyPr/>
          <a:lstStyle/>
          <a:p/>
        </p:txBody>
      </p:sp>
      <p:sp>
        <p:nvSpPr>
          <p:cNvPr id="90005" name="지점 표식"/>
          <p:cNvSpPr/>
          <p:nvPr/>
        </p:nvSpPr>
        <p:spPr>
          <a:xfrm>
            <a:off x="1581912" y="3607308"/>
            <a:ext cx="82296" cy="82296"/>
          </a:xfrm>
          <a:prstGeom prst="ellipse">
            <a:avLst/>
          </a:prstGeom>
          <a:solidFill>
            <a:srgbClr val="BB8336"/>
          </a:solidFill>
          <a:ln w="12700">
            <a:solidFill>
              <a:srgbClr val="BB8336"/>
            </a:solidFill>
          </a:ln>
        </p:spPr>
        <p:txBody>
          <a:bodyPr/>
          <a:lstStyle/>
          <a:p/>
        </p:txBody>
      </p:sp>
      <p:sp>
        <p:nvSpPr>
          <p:cNvPr id="90006" name="지점 표식"/>
          <p:cNvSpPr/>
          <p:nvPr/>
        </p:nvSpPr>
        <p:spPr>
          <a:xfrm>
            <a:off x="1581912" y="3771900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0007" name="지점 표식"/>
          <p:cNvSpPr/>
          <p:nvPr/>
        </p:nvSpPr>
        <p:spPr>
          <a:xfrm>
            <a:off x="1581912" y="4101084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0008" name="지점 표식"/>
          <p:cNvSpPr/>
          <p:nvPr/>
        </p:nvSpPr>
        <p:spPr>
          <a:xfrm>
            <a:off x="1581912" y="5536692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0009" name="프레임 마스크"/>
          <p:cNvSpPr/>
          <p:nvPr/>
        </p:nvSpPr>
        <p:spPr>
          <a:xfrm>
            <a:off x="1353312" y="6334049"/>
            <a:ext cx="2807208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프레임 테두리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noFill/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전체 경로 바"/>
          <p:cNvSpPr/>
          <p:nvPr/>
        </p:nvSpPr>
        <p:spPr>
          <a:xfrm>
            <a:off x="1572768" y="3003804"/>
            <a:ext cx="546811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경로 바 라벨"/>
          <p:cNvSpPr txBox="1"/>
          <p:nvPr/>
        </p:nvSpPr>
        <p:spPr>
          <a:xfrm>
            <a:off x="1609344" y="3022092"/>
            <a:ext cx="47365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90011" name="전체 경로 바"/>
          <p:cNvSpPr/>
          <p:nvPr/>
        </p:nvSpPr>
        <p:spPr>
          <a:xfrm>
            <a:off x="2156155" y="3003804"/>
            <a:ext cx="558698" cy="182880"/>
          </a:xfrm>
          <a:prstGeom prst="roundRect">
            <a:avLst>
              <a:gd name="adj" fmla="val 31250"/>
            </a:avLst>
          </a:prstGeom>
          <a:solidFill>
            <a:srgbClr val="00A84D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012" name="경로 바 라벨"/>
          <p:cNvSpPr txBox="1"/>
          <p:nvPr/>
        </p:nvSpPr>
        <p:spPr>
          <a:xfrm>
            <a:off x="2192731" y="3022092"/>
            <a:ext cx="4855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② 16분</a:t>
            </a:r>
          </a:p>
        </p:txBody>
      </p:sp>
      <p:sp>
        <p:nvSpPr>
          <p:cNvPr id="90013" name="전체 경로 바"/>
          <p:cNvSpPr/>
          <p:nvPr/>
        </p:nvSpPr>
        <p:spPr>
          <a:xfrm>
            <a:off x="2751429" y="3003804"/>
            <a:ext cx="470001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014" name="경로 바 라벨"/>
          <p:cNvSpPr txBox="1"/>
          <p:nvPr/>
        </p:nvSpPr>
        <p:spPr>
          <a:xfrm>
            <a:off x="2788005" y="3022092"/>
            <a:ext cx="39684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 6분</a:t>
            </a:r>
          </a:p>
        </p:txBody>
      </p:sp>
      <p:sp>
        <p:nvSpPr>
          <p:cNvPr id="90015" name="전체 경로 바"/>
          <p:cNvSpPr/>
          <p:nvPr/>
        </p:nvSpPr>
        <p:spPr>
          <a:xfrm>
            <a:off x="3258007" y="3003804"/>
            <a:ext cx="545896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016" name="경로 바 라벨"/>
          <p:cNvSpPr txBox="1"/>
          <p:nvPr/>
        </p:nvSpPr>
        <p:spPr>
          <a:xfrm>
            <a:off x="3294583" y="3022092"/>
            <a:ext cx="47274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8분</a:t>
            </a:r>
          </a:p>
        </p:txBody>
      </p:sp>
      <p:sp>
        <p:nvSpPr>
          <p:cNvPr id="47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1143000" y="15133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8" name="숫자배지 2"/>
          <p:cNvSpPr/>
          <p:nvPr/>
        </p:nvSpPr>
        <p:spPr>
          <a:xfrm>
            <a:off x="4315968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③ 경유지 추가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231109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[－] 경유지 삭제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 필드 우측 · 입력돼 있을 때만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삭제 시 3행 → 2행 · [＋] 복귀 · ⇅ 2개 → 1개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 · 도착지 유지 · 경로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확인 팝업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 화면 공통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구성은 2-1 · 2-2와 같음 · 출발지 · 도착지 입력값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정렬 드롭다운 · 필터 칩 미제공 · [&gt;]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접근성 3행 확인 후 경유지 지정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상단 구분선"/>
          <p:cNvSpPr/>
          <p:nvPr/>
        </p:nvSpPr>
        <p:spPr>
          <a:xfrm>
            <a:off x="1399032" y="2491740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도"/>
          <p:cNvSpPr/>
          <p:nvPr/>
        </p:nvSpPr>
        <p:spPr>
          <a:xfrm>
            <a:off x="4553712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경로 편집 패널"/>
          <p:cNvSpPr/>
          <p:nvPr/>
        </p:nvSpPr>
        <p:spPr>
          <a:xfrm>
            <a:off x="4654296" y="1298448"/>
            <a:ext cx="2523744" cy="1883664"/>
          </a:xfrm>
          <a:prstGeom prst="roundRect">
            <a:avLst>
              <a:gd name="adj" fmla="val 910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지점 라벨"/>
          <p:cNvSpPr txBox="1"/>
          <p:nvPr/>
        </p:nvSpPr>
        <p:spPr>
          <a:xfrm>
            <a:off x="5038344" y="1481328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21" name="순서 바꾸기 라벨"/>
          <p:cNvSpPr txBox="1"/>
          <p:nvPr/>
        </p:nvSpPr>
        <p:spPr>
          <a:xfrm>
            <a:off x="4700016" y="1705356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2" name="구분선"/>
          <p:cNvSpPr/>
          <p:nvPr/>
        </p:nvSpPr>
        <p:spPr>
          <a:xfrm>
            <a:off x="5038344" y="1828800"/>
            <a:ext cx="1993392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지점 라벨"/>
          <p:cNvSpPr txBox="1"/>
          <p:nvPr/>
        </p:nvSpPr>
        <p:spPr>
          <a:xfrm>
            <a:off x="5038344" y="1993392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5">
                <a:solidFill>
                  <a:srgbClr val="8A94A3"/>
                </a:solidFill>
                <a:latin typeface="Pretendard"/>
              </a:rPr>
              <a:t>경유지를 입력하세요</a:t>
            </a:r>
          </a:p>
        </p:txBody>
      </p:sp>
      <p:sp>
        <p:nvSpPr>
          <p:cNvPr id="24" name="순서 바꾸기"/>
          <p:cNvSpPr/>
          <p:nvPr/>
        </p:nvSpPr>
        <p:spPr>
          <a:xfrm>
            <a:off x="4700016" y="2217420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순서 바꾸기 라벨"/>
          <p:cNvSpPr txBox="1"/>
          <p:nvPr/>
        </p:nvSpPr>
        <p:spPr>
          <a:xfrm>
            <a:off x="4700016" y="2217420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6" name="구분선"/>
          <p:cNvSpPr/>
          <p:nvPr/>
        </p:nvSpPr>
        <p:spPr>
          <a:xfrm>
            <a:off x="5038344" y="2340864"/>
            <a:ext cx="1993392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지점 라벨"/>
          <p:cNvSpPr txBox="1"/>
          <p:nvPr/>
        </p:nvSpPr>
        <p:spPr>
          <a:xfrm>
            <a:off x="5038344" y="2505456"/>
            <a:ext cx="171907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8" name="패널 버튼 취소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946904" y="2761488"/>
            <a:ext cx="93268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패널 버튼 취소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946904" y="2761488"/>
            <a:ext cx="93268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30" name="패널 버튼 확인"/>
          <p:cNvSpPr/>
          <p:nvPr/>
        </p:nvSpPr>
        <p:spPr>
          <a:xfrm>
            <a:off x="5971031" y="2761488"/>
            <a:ext cx="93268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패널 버튼 확인 라벨"/>
          <p:cNvSpPr txBox="1"/>
          <p:nvPr/>
        </p:nvSpPr>
        <p:spPr>
          <a:xfrm>
            <a:off x="5971031" y="2761488"/>
            <a:ext cx="93268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32" name="지도 핀"/>
          <p:cNvSpPr/>
          <p:nvPr/>
        </p:nvSpPr>
        <p:spPr>
          <a:xfrm>
            <a:off x="4946904" y="3831336"/>
            <a:ext cx="182880" cy="182880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지도 핀 라벨"/>
          <p:cNvSpPr txBox="1"/>
          <p:nvPr/>
        </p:nvSpPr>
        <p:spPr>
          <a:xfrm>
            <a:off x="5184648" y="3849624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4" name="지도 핀"/>
          <p:cNvSpPr/>
          <p:nvPr/>
        </p:nvSpPr>
        <p:spPr>
          <a:xfrm>
            <a:off x="5715000" y="4818888"/>
            <a:ext cx="182880" cy="182880"/>
          </a:xfrm>
          <a:prstGeom prst="roundRect">
            <a:avLst>
              <a:gd name="adj" fmla="val 26086"/>
            </a:avLst>
          </a:prstGeom>
          <a:solidFill>
            <a:srgbClr val="2D4CC8"/>
          </a:solidFill>
          <a:ln w="952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지도 핀 라벨"/>
          <p:cNvSpPr txBox="1"/>
          <p:nvPr/>
        </p:nvSpPr>
        <p:spPr>
          <a:xfrm>
            <a:off x="5952744" y="4837176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36" name="프레임 캡션"/>
          <p:cNvSpPr txBox="1"/>
          <p:nvPr/>
        </p:nvSpPr>
        <p:spPr>
          <a:xfrm>
            <a:off x="138988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2-9 경로 리스트 — 입력 블록</a:t>
            </a:r>
          </a:p>
        </p:txBody>
      </p:sp>
      <p:sp>
        <p:nvSpPr>
          <p:cNvPr id="37" name="프레임 캡션"/>
          <p:cNvSpPr txBox="1"/>
          <p:nvPr/>
        </p:nvSpPr>
        <p:spPr>
          <a:xfrm>
            <a:off x="4544568" y="998601"/>
            <a:ext cx="2733675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spc="-15">
                <a:solidFill>
                  <a:srgbClr val="14181F"/>
                </a:solidFill>
                <a:latin typeface="Pretendard"/>
              </a:rPr>
              <a:t>2-9-1 경로 편집 — [＋] 진입</a:t>
            </a:r>
          </a:p>
        </p:txBody>
      </p:sp>
      <p:sp>
        <p:nvSpPr>
          <p:cNvPr id="38" name="지도 핀 표식"/>
          <p:cNvSpPr txBox="1"/>
          <p:nvPr/>
        </p:nvSpPr>
        <p:spPr>
          <a:xfrm>
            <a:off x="4965192" y="3849624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출</a:t>
            </a:r>
          </a:p>
        </p:txBody>
      </p:sp>
      <p:sp>
        <p:nvSpPr>
          <p:cNvPr id="39" name="지도 핀 표식"/>
          <p:cNvSpPr txBox="1"/>
          <p:nvPr/>
        </p:nvSpPr>
        <p:spPr>
          <a:xfrm>
            <a:off x="5733288" y="4837176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도</a:t>
            </a:r>
          </a:p>
        </p:txBody>
      </p:sp>
      <p:sp>
        <p:nvSpPr>
          <p:cNvPr id="40" name="필터"/>
          <p:cNvSpPr/>
          <p:nvPr/>
        </p:nvSpPr>
        <p:spPr>
          <a:xfrm>
            <a:off x="2706624" y="2071116"/>
            <a:ext cx="60350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필터 라벨"/>
          <p:cNvSpPr txBox="1"/>
          <p:nvPr/>
        </p:nvSpPr>
        <p:spPr>
          <a:xfrm>
            <a:off x="2706624" y="2071116"/>
            <a:ext cx="60350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필터 2</a:t>
            </a:r>
          </a:p>
        </p:txBody>
      </p:sp>
      <p:sp>
        <p:nvSpPr>
          <p:cNvPr id="42" name="정렬"/>
          <p:cNvSpPr/>
          <p:nvPr/>
        </p:nvSpPr>
        <p:spPr>
          <a:xfrm>
            <a:off x="3364992" y="2071116"/>
            <a:ext cx="5669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정렬 라벨"/>
          <p:cNvSpPr txBox="1"/>
          <p:nvPr/>
        </p:nvSpPr>
        <p:spPr>
          <a:xfrm>
            <a:off x="3364992" y="2071116"/>
            <a:ext cx="5669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정렬 ⌄</a:t>
            </a:r>
          </a:p>
        </p:txBody>
      </p:sp>
      <p:sp>
        <p:nvSpPr>
          <p:cNvPr id="44" name="소요시간"/>
          <p:cNvSpPr txBox="1"/>
          <p:nvPr/>
        </p:nvSpPr>
        <p:spPr>
          <a:xfrm>
            <a:off x="1572768" y="2564892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43분</a:t>
            </a:r>
          </a:p>
        </p:txBody>
      </p:sp>
      <p:sp>
        <p:nvSpPr>
          <p:cNvPr id="45" name="도착 시각 · 요금"/>
          <p:cNvSpPr txBox="1"/>
          <p:nvPr/>
        </p:nvSpPr>
        <p:spPr>
          <a:xfrm>
            <a:off x="1572768" y="2802636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11:43 도착 · 1,500원</a:t>
            </a:r>
          </a:p>
        </p:txBody>
      </p:sp>
      <p:sp>
        <p:nvSpPr>
          <p:cNvPr id="46" name="구간 요약"/>
          <p:cNvSpPr txBox="1"/>
          <p:nvPr/>
        </p:nvSpPr>
        <p:spPr>
          <a:xfrm>
            <a:off x="1719072" y="324154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②호선</a:t>
            </a:r>
          </a:p>
        </p:txBody>
      </p:sp>
      <p:sp>
        <p:nvSpPr>
          <p:cNvPr id="47" name="구간 요약"/>
          <p:cNvSpPr txBox="1"/>
          <p:nvPr/>
        </p:nvSpPr>
        <p:spPr>
          <a:xfrm>
            <a:off x="1865376" y="340614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당산 방면 곧 도착 | 성수 방면 3분</a:t>
            </a:r>
          </a:p>
        </p:txBody>
      </p:sp>
      <p:sp>
        <p:nvSpPr>
          <p:cNvPr id="48" name="구간 요약"/>
          <p:cNvSpPr txBox="1"/>
          <p:nvPr/>
        </p:nvSpPr>
        <p:spPr>
          <a:xfrm>
            <a:off x="1719072" y="357073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봉은사역 ⑨호선</a:t>
            </a:r>
          </a:p>
        </p:txBody>
      </p:sp>
      <p:sp>
        <p:nvSpPr>
          <p:cNvPr id="49" name="구간 요약"/>
          <p:cNvSpPr txBox="1"/>
          <p:nvPr/>
        </p:nvSpPr>
        <p:spPr>
          <a:xfrm>
            <a:off x="1719072" y="373532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50" name="구간 요약"/>
          <p:cNvSpPr txBox="1"/>
          <p:nvPr/>
        </p:nvSpPr>
        <p:spPr>
          <a:xfrm>
            <a:off x="1865376" y="3899915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 3217  [간선] 146</a:t>
            </a:r>
          </a:p>
        </p:txBody>
      </p:sp>
      <p:sp>
        <p:nvSpPr>
          <p:cNvPr id="51" name="구간 요약"/>
          <p:cNvSpPr txBox="1"/>
          <p:nvPr/>
        </p:nvSpPr>
        <p:spPr>
          <a:xfrm>
            <a:off x="1719072" y="406450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52" name="안내시작"/>
          <p:cNvSpPr/>
          <p:nvPr/>
        </p:nvSpPr>
        <p:spPr>
          <a:xfrm>
            <a:off x="1572768" y="4265676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안내시작 라벨"/>
          <p:cNvSpPr txBox="1"/>
          <p:nvPr/>
        </p:nvSpPr>
        <p:spPr>
          <a:xfrm>
            <a:off x="1572768" y="4265676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54" name="행 구분선"/>
          <p:cNvSpPr/>
          <p:nvPr/>
        </p:nvSpPr>
        <p:spPr>
          <a:xfrm>
            <a:off x="1399032" y="469544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소요시간"/>
          <p:cNvSpPr txBox="1"/>
          <p:nvPr/>
        </p:nvSpPr>
        <p:spPr>
          <a:xfrm>
            <a:off x="1572768" y="482346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47분</a:t>
            </a:r>
          </a:p>
        </p:txBody>
      </p:sp>
      <p:sp>
        <p:nvSpPr>
          <p:cNvPr id="56" name="도착 시각 · 요금"/>
          <p:cNvSpPr txBox="1"/>
          <p:nvPr/>
        </p:nvSpPr>
        <p:spPr>
          <a:xfrm>
            <a:off x="1572768" y="5061204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11:47 도착 · 1,500원</a:t>
            </a:r>
          </a:p>
        </p:txBody>
      </p:sp>
      <p:sp>
        <p:nvSpPr>
          <p:cNvPr id="57" name="전체 경로 바"/>
          <p:cNvSpPr/>
          <p:nvPr/>
        </p:nvSpPr>
        <p:spPr>
          <a:xfrm>
            <a:off x="1572768" y="5262372"/>
            <a:ext cx="566928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8" name="전체 경로 바"/>
          <p:cNvSpPr/>
          <p:nvPr/>
        </p:nvSpPr>
        <p:spPr>
          <a:xfrm>
            <a:off x="2176272" y="5262372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전체 경로 바"/>
          <p:cNvSpPr/>
          <p:nvPr/>
        </p:nvSpPr>
        <p:spPr>
          <a:xfrm>
            <a:off x="2999232" y="5262372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경로 바 라벨"/>
          <p:cNvSpPr txBox="1"/>
          <p:nvPr/>
        </p:nvSpPr>
        <p:spPr>
          <a:xfrm>
            <a:off x="1609344" y="5280660"/>
            <a:ext cx="51206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61" name="경로 바 라벨"/>
          <p:cNvSpPr txBox="1"/>
          <p:nvPr/>
        </p:nvSpPr>
        <p:spPr>
          <a:xfrm>
            <a:off x="2212848" y="528066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62" name="경로 바 라벨"/>
          <p:cNvSpPr txBox="1"/>
          <p:nvPr/>
        </p:nvSpPr>
        <p:spPr>
          <a:xfrm>
            <a:off x="3035808" y="5280660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⑨호선 6분</a:t>
            </a:r>
          </a:p>
        </p:txBody>
      </p:sp>
      <p:sp>
        <p:nvSpPr>
          <p:cNvPr id="63" name="구간 요약"/>
          <p:cNvSpPr txBox="1"/>
          <p:nvPr/>
        </p:nvSpPr>
        <p:spPr>
          <a:xfrm>
            <a:off x="1719072" y="550011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64" name="구간 요약"/>
          <p:cNvSpPr txBox="1"/>
          <p:nvPr/>
        </p:nvSpPr>
        <p:spPr>
          <a:xfrm>
            <a:off x="1865376" y="566470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2413(저상)  곧 도착</a:t>
            </a:r>
          </a:p>
        </p:txBody>
      </p:sp>
      <p:sp>
        <p:nvSpPr>
          <p:cNvPr id="65" name="구간 요약"/>
          <p:cNvSpPr txBox="1"/>
          <p:nvPr/>
        </p:nvSpPr>
        <p:spPr>
          <a:xfrm>
            <a:off x="1865376" y="582930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[간선] 136  5분 23초   외 4대</a:t>
            </a:r>
          </a:p>
        </p:txBody>
      </p:sp>
      <p:sp>
        <p:nvSpPr>
          <p:cNvPr id="66" name="안내시작"/>
          <p:cNvSpPr/>
          <p:nvPr/>
        </p:nvSpPr>
        <p:spPr>
          <a:xfrm>
            <a:off x="1572768" y="6030468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안내시작 라벨"/>
          <p:cNvSpPr txBox="1"/>
          <p:nvPr/>
        </p:nvSpPr>
        <p:spPr>
          <a:xfrm>
            <a:off x="1572768" y="6030468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68" name="지도 안내"/>
          <p:cNvSpPr txBox="1"/>
          <p:nvPr/>
        </p:nvSpPr>
        <p:spPr>
          <a:xfrm>
            <a:off x="4951476" y="332841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설정된 지점만 핀 · 경로선 미표출</a:t>
            </a:r>
          </a:p>
        </p:txBody>
      </p:sp>
      <p:sp>
        <p:nvSpPr>
          <p:cNvPr id="69" name="지점 링"/>
          <p:cNvSpPr/>
          <p:nvPr/>
        </p:nvSpPr>
        <p:spPr>
          <a:xfrm>
            <a:off x="4812030" y="1497330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지점 링"/>
          <p:cNvSpPr/>
          <p:nvPr/>
        </p:nvSpPr>
        <p:spPr>
          <a:xfrm>
            <a:off x="4812030" y="2009394"/>
            <a:ext cx="123444" cy="123444"/>
          </a:xfrm>
          <a:prstGeom prst="ellipse">
            <a:avLst/>
          </a:prstGeom>
          <a:noFill/>
          <a:ln w="15875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지점 링"/>
          <p:cNvSpPr/>
          <p:nvPr/>
        </p:nvSpPr>
        <p:spPr>
          <a:xfrm>
            <a:off x="4812030" y="2521458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입력 카드"/>
          <p:cNvSpPr/>
          <p:nvPr/>
        </p:nvSpPr>
        <p:spPr>
          <a:xfrm>
            <a:off x="1700784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출발지 필드"/>
          <p:cNvSpPr txBox="1"/>
          <p:nvPr/>
        </p:nvSpPr>
        <p:spPr>
          <a:xfrm>
            <a:off x="2084831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4" name="초기화 면"/>
          <p:cNvSpPr/>
          <p:nvPr/>
        </p:nvSpPr>
        <p:spPr>
          <a:xfrm>
            <a:off x="3776472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초기화"/>
          <p:cNvSpPr txBox="1"/>
          <p:nvPr/>
        </p:nvSpPr>
        <p:spPr>
          <a:xfrm>
            <a:off x="3776472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76" name="순서 바꾸기 면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구분선"/>
          <p:cNvSpPr/>
          <p:nvPr/>
        </p:nvSpPr>
        <p:spPr>
          <a:xfrm>
            <a:off x="2084831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경유지 추가 면"/>
          <p:cNvSpPr/>
          <p:nvPr/>
        </p:nvSpPr>
        <p:spPr>
          <a:xfrm>
            <a:off x="332841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경유지 추가"/>
          <p:cNvSpPr txBox="1"/>
          <p:nvPr/>
        </p:nvSpPr>
        <p:spPr>
          <a:xfrm>
            <a:off x="332841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0" name="도착지 필드"/>
          <p:cNvSpPr txBox="1"/>
          <p:nvPr/>
        </p:nvSpPr>
        <p:spPr>
          <a:xfrm>
            <a:off x="2084831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81" name="순서 바꾸기"/>
          <p:cNvSpPr/>
          <p:nvPr/>
        </p:nvSpPr>
        <p:spPr>
          <a:xfrm>
            <a:off x="1435608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순서 바꾸기"/>
          <p:cNvSpPr txBox="1"/>
          <p:nvPr/>
        </p:nvSpPr>
        <p:spPr>
          <a:xfrm>
            <a:off x="1435608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83" name="지점 링"/>
          <p:cNvSpPr/>
          <p:nvPr/>
        </p:nvSpPr>
        <p:spPr>
          <a:xfrm>
            <a:off x="1858975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지점 링"/>
          <p:cNvSpPr/>
          <p:nvPr/>
        </p:nvSpPr>
        <p:spPr>
          <a:xfrm>
            <a:off x="1858975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지점 연결선"/>
          <p:cNvCxnSpPr/>
          <p:nvPr/>
        </p:nvCxnSpPr>
        <p:spPr>
          <a:xfrm>
            <a:off x="1623060" y="3319272"/>
            <a:ext cx="0" cy="329184"/>
          </a:xfrm>
          <a:prstGeom prst="line">
            <a:avLst/>
          </a:prstGeom>
          <a:ln w="12700">
            <a:solidFill>
              <a:srgbClr val="00A84D"/>
            </a:solidFill>
          </a:ln>
        </p:spPr>
      </p:cxnSp>
      <p:cxnSp>
        <p:nvCxnSpPr>
          <p:cNvPr id="86" name="지점 연결선"/>
          <p:cNvCxnSpPr/>
          <p:nvPr/>
        </p:nvCxnSpPr>
        <p:spPr>
          <a:xfrm>
            <a:off x="1623060" y="3648456"/>
            <a:ext cx="0" cy="164592"/>
          </a:xfrm>
          <a:prstGeom prst="line">
            <a:avLst/>
          </a:prstGeom>
          <a:ln w="12700">
            <a:solidFill>
              <a:srgbClr val="BB8336"/>
            </a:solidFill>
          </a:ln>
        </p:spPr>
      </p:cxnSp>
      <p:cxnSp>
        <p:nvCxnSpPr>
          <p:cNvPr id="87" name="지점 연결선"/>
          <p:cNvCxnSpPr/>
          <p:nvPr/>
        </p:nvCxnSpPr>
        <p:spPr>
          <a:xfrm>
            <a:off x="1623060" y="3813048"/>
            <a:ext cx="0" cy="329184"/>
          </a:xfrm>
          <a:prstGeom prst="line">
            <a:avLst/>
          </a:prstGeom>
          <a:ln w="12700">
            <a:solidFill>
              <a:srgbClr val="3D5BAB"/>
            </a:solidFill>
          </a:ln>
        </p:spPr>
      </p:cxnSp>
      <p:sp>
        <p:nvSpPr>
          <p:cNvPr id="88" name="지점 표식"/>
          <p:cNvSpPr/>
          <p:nvPr/>
        </p:nvSpPr>
        <p:spPr>
          <a:xfrm>
            <a:off x="1581912" y="3278124"/>
            <a:ext cx="82296" cy="82296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</a:ln>
        </p:spPr>
        <p:txBody>
          <a:bodyPr/>
          <a:lstStyle/>
          <a:p/>
        </p:txBody>
      </p:sp>
      <p:sp>
        <p:nvSpPr>
          <p:cNvPr id="89" name="지점 표식"/>
          <p:cNvSpPr/>
          <p:nvPr/>
        </p:nvSpPr>
        <p:spPr>
          <a:xfrm>
            <a:off x="1581912" y="3607308"/>
            <a:ext cx="82296" cy="82296"/>
          </a:xfrm>
          <a:prstGeom prst="ellipse">
            <a:avLst/>
          </a:prstGeom>
          <a:solidFill>
            <a:srgbClr val="BB8336"/>
          </a:solidFill>
          <a:ln w="12700">
            <a:solidFill>
              <a:srgbClr val="BB8336"/>
            </a:solidFill>
          </a:ln>
        </p:spPr>
        <p:txBody>
          <a:bodyPr/>
          <a:lstStyle/>
          <a:p/>
        </p:txBody>
      </p:sp>
      <p:sp>
        <p:nvSpPr>
          <p:cNvPr id="90" name="지점 표식"/>
          <p:cNvSpPr/>
          <p:nvPr/>
        </p:nvSpPr>
        <p:spPr>
          <a:xfrm>
            <a:off x="1581912" y="3771900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1" name="지점 표식"/>
          <p:cNvSpPr/>
          <p:nvPr/>
        </p:nvSpPr>
        <p:spPr>
          <a:xfrm>
            <a:off x="1581912" y="4101084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2" name="지점 표식"/>
          <p:cNvSpPr/>
          <p:nvPr/>
        </p:nvSpPr>
        <p:spPr>
          <a:xfrm>
            <a:off x="1581912" y="5536692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3" name="프레임 마스크"/>
          <p:cNvSpPr/>
          <p:nvPr/>
        </p:nvSpPr>
        <p:spPr>
          <a:xfrm>
            <a:off x="1353312" y="6334049"/>
            <a:ext cx="2807208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프레임 테두리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noFill/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전체 경로 바"/>
          <p:cNvSpPr/>
          <p:nvPr/>
        </p:nvSpPr>
        <p:spPr>
          <a:xfrm>
            <a:off x="1572768" y="3003804"/>
            <a:ext cx="546811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6" name="경로 바 라벨"/>
          <p:cNvSpPr txBox="1"/>
          <p:nvPr/>
        </p:nvSpPr>
        <p:spPr>
          <a:xfrm>
            <a:off x="1609344" y="3022092"/>
            <a:ext cx="47365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97" name="전체 경로 바"/>
          <p:cNvSpPr/>
          <p:nvPr/>
        </p:nvSpPr>
        <p:spPr>
          <a:xfrm>
            <a:off x="2156155" y="3003804"/>
            <a:ext cx="558698" cy="182880"/>
          </a:xfrm>
          <a:prstGeom prst="roundRect">
            <a:avLst>
              <a:gd name="adj" fmla="val 31250"/>
            </a:avLst>
          </a:prstGeom>
          <a:solidFill>
            <a:srgbClr val="00A84D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8" name="경로 바 라벨"/>
          <p:cNvSpPr txBox="1"/>
          <p:nvPr/>
        </p:nvSpPr>
        <p:spPr>
          <a:xfrm>
            <a:off x="2192731" y="3022092"/>
            <a:ext cx="4855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② 16분</a:t>
            </a:r>
          </a:p>
        </p:txBody>
      </p:sp>
      <p:sp>
        <p:nvSpPr>
          <p:cNvPr id="99" name="전체 경로 바"/>
          <p:cNvSpPr/>
          <p:nvPr/>
        </p:nvSpPr>
        <p:spPr>
          <a:xfrm>
            <a:off x="2751429" y="3003804"/>
            <a:ext cx="470001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0" name="경로 바 라벨"/>
          <p:cNvSpPr txBox="1"/>
          <p:nvPr/>
        </p:nvSpPr>
        <p:spPr>
          <a:xfrm>
            <a:off x="2788005" y="3022092"/>
            <a:ext cx="39684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 6분</a:t>
            </a:r>
          </a:p>
        </p:txBody>
      </p:sp>
      <p:sp>
        <p:nvSpPr>
          <p:cNvPr id="101" name="전체 경로 바"/>
          <p:cNvSpPr/>
          <p:nvPr/>
        </p:nvSpPr>
        <p:spPr>
          <a:xfrm>
            <a:off x="3258007" y="3003804"/>
            <a:ext cx="545896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경로 바 라벨"/>
          <p:cNvSpPr txBox="1"/>
          <p:nvPr/>
        </p:nvSpPr>
        <p:spPr>
          <a:xfrm>
            <a:off x="3294583" y="3022092"/>
            <a:ext cx="47274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8분</a:t>
            </a:r>
          </a:p>
        </p:txBody>
      </p:sp>
      <p:sp>
        <p:nvSpPr>
          <p:cNvPr id="103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1161288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4" name="숫자배지 2"/>
          <p:cNvSpPr/>
          <p:nvPr/>
        </p:nvSpPr>
        <p:spPr>
          <a:xfrm>
            <a:off x="4315968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6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8836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편집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54108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경유지 · 순서 바꾸기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4793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입력 필드 3행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 · 경유지 · 도착지 3행 고정 · 지점 표식 ＋ 장소명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 행은 빈 상태 허용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 필드 선택 시 경유지 검색으로 이동 · 되돌아오면 이 화면으로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⇅ 순서 바꾸기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사이마다 1개 — 총 2개(출발↔경유 · 경유↔도착)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이웃한 두 행을 맞바꿈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핀도 함께 변경 · 재탐색은 [확인]까지 보류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－ 경유지 삭제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 필드 우측 · 경유지 입력 시에만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빈 필드로 복귀 · 행은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경로 편집 패널"/>
          <p:cNvSpPr/>
          <p:nvPr/>
        </p:nvSpPr>
        <p:spPr>
          <a:xfrm>
            <a:off x="3063240" y="1298448"/>
            <a:ext cx="2532888" cy="2066543"/>
          </a:xfrm>
          <a:prstGeom prst="roundRect">
            <a:avLst>
              <a:gd name="adj" fmla="val 829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점 라벨"/>
          <p:cNvSpPr txBox="1"/>
          <p:nvPr/>
        </p:nvSpPr>
        <p:spPr>
          <a:xfrm>
            <a:off x="3447288" y="1508760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9" name="순서 바꾸기"/>
          <p:cNvSpPr/>
          <p:nvPr/>
        </p:nvSpPr>
        <p:spPr>
          <a:xfrm>
            <a:off x="3108960" y="174193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순서 바꾸기 라벨"/>
          <p:cNvSpPr txBox="1"/>
          <p:nvPr/>
        </p:nvSpPr>
        <p:spPr>
          <a:xfrm>
            <a:off x="3108960" y="174193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1" name="구분선"/>
          <p:cNvSpPr/>
          <p:nvPr/>
        </p:nvSpPr>
        <p:spPr>
          <a:xfrm>
            <a:off x="3447288" y="1865376"/>
            <a:ext cx="2002536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지점 라벨"/>
          <p:cNvSpPr txBox="1"/>
          <p:nvPr/>
        </p:nvSpPr>
        <p:spPr>
          <a:xfrm>
            <a:off x="3447288" y="2039112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0000 (경유)</a:t>
            </a:r>
          </a:p>
        </p:txBody>
      </p:sp>
      <p:sp>
        <p:nvSpPr>
          <p:cNvPr id="23" name="경유지 삭제"/>
          <p:cNvSpPr/>
          <p:nvPr/>
        </p:nvSpPr>
        <p:spPr>
          <a:xfrm>
            <a:off x="5248656" y="201625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유지 삭제 라벨"/>
          <p:cNvSpPr txBox="1"/>
          <p:nvPr/>
        </p:nvSpPr>
        <p:spPr>
          <a:xfrm>
            <a:off x="5248656" y="201625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5" name="순서 바꾸기"/>
          <p:cNvSpPr/>
          <p:nvPr/>
        </p:nvSpPr>
        <p:spPr>
          <a:xfrm>
            <a:off x="3108960" y="2272284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순서 바꾸기 라벨"/>
          <p:cNvSpPr txBox="1"/>
          <p:nvPr/>
        </p:nvSpPr>
        <p:spPr>
          <a:xfrm>
            <a:off x="3108960" y="2272284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7" name="구분선"/>
          <p:cNvSpPr/>
          <p:nvPr/>
        </p:nvSpPr>
        <p:spPr>
          <a:xfrm>
            <a:off x="3447288" y="2395728"/>
            <a:ext cx="2002536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점 라벨"/>
          <p:cNvSpPr txBox="1"/>
          <p:nvPr/>
        </p:nvSpPr>
        <p:spPr>
          <a:xfrm>
            <a:off x="3447288" y="2569464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9" name="패널 버튼 취소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419856" y="2944368"/>
            <a:ext cx="914400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패널 버튼 취소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419856" y="2944368"/>
            <a:ext cx="9144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31" name="패널 버튼 확인"/>
          <p:cNvSpPr/>
          <p:nvPr/>
        </p:nvSpPr>
        <p:spPr>
          <a:xfrm>
            <a:off x="4389120" y="2944368"/>
            <a:ext cx="914400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패널 버튼 확인 라벨"/>
          <p:cNvSpPr txBox="1"/>
          <p:nvPr/>
        </p:nvSpPr>
        <p:spPr>
          <a:xfrm>
            <a:off x="4389120" y="2944368"/>
            <a:ext cx="9144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33" name="지도 안내"/>
          <p:cNvSpPr txBox="1"/>
          <p:nvPr/>
        </p:nvSpPr>
        <p:spPr>
          <a:xfrm>
            <a:off x="3369564" y="360273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설정된 지점만 핀 · 경로선 미표출</a:t>
            </a:r>
          </a:p>
        </p:txBody>
      </p:sp>
      <p:sp>
        <p:nvSpPr>
          <p:cNvPr id="34" name="지도 핀"/>
          <p:cNvSpPr/>
          <p:nvPr/>
        </p:nvSpPr>
        <p:spPr>
          <a:xfrm>
            <a:off x="3383280" y="40416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지도 핀 표식"/>
          <p:cNvSpPr txBox="1"/>
          <p:nvPr/>
        </p:nvSpPr>
        <p:spPr>
          <a:xfrm>
            <a:off x="3401568" y="405993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출</a:t>
            </a:r>
          </a:p>
        </p:txBody>
      </p:sp>
      <p:sp>
        <p:nvSpPr>
          <p:cNvPr id="36" name="지도 핀 라벨"/>
          <p:cNvSpPr txBox="1"/>
          <p:nvPr/>
        </p:nvSpPr>
        <p:spPr>
          <a:xfrm>
            <a:off x="3621024" y="405993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7" name="지도 핀"/>
          <p:cNvSpPr/>
          <p:nvPr/>
        </p:nvSpPr>
        <p:spPr>
          <a:xfrm>
            <a:off x="4297680" y="459028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핀 표식"/>
          <p:cNvSpPr txBox="1"/>
          <p:nvPr/>
        </p:nvSpPr>
        <p:spPr>
          <a:xfrm>
            <a:off x="4315968" y="460857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경</a:t>
            </a:r>
          </a:p>
        </p:txBody>
      </p:sp>
      <p:sp>
        <p:nvSpPr>
          <p:cNvPr id="39" name="지도 핀 라벨"/>
          <p:cNvSpPr txBox="1"/>
          <p:nvPr/>
        </p:nvSpPr>
        <p:spPr>
          <a:xfrm>
            <a:off x="4535424" y="460857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0000 (경유)</a:t>
            </a:r>
          </a:p>
        </p:txBody>
      </p:sp>
      <p:sp>
        <p:nvSpPr>
          <p:cNvPr id="40" name="지도 핀"/>
          <p:cNvSpPr/>
          <p:nvPr/>
        </p:nvSpPr>
        <p:spPr>
          <a:xfrm>
            <a:off x="3749040" y="52303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지도 핀 표식"/>
          <p:cNvSpPr txBox="1"/>
          <p:nvPr/>
        </p:nvSpPr>
        <p:spPr>
          <a:xfrm>
            <a:off x="3767328" y="524865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도</a:t>
            </a:r>
          </a:p>
        </p:txBody>
      </p:sp>
      <p:sp>
        <p:nvSpPr>
          <p:cNvPr id="42" name="지도 핀 라벨"/>
          <p:cNvSpPr txBox="1"/>
          <p:nvPr/>
        </p:nvSpPr>
        <p:spPr>
          <a:xfrm>
            <a:off x="3986784" y="524865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43" name="지도 컨트롤"/>
          <p:cNvSpPr/>
          <p:nvPr/>
        </p:nvSpPr>
        <p:spPr>
          <a:xfrm>
            <a:off x="5285232" y="5175504"/>
            <a:ext cx="310896" cy="310896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지도 컨트롤 라벨"/>
          <p:cNvSpPr txBox="1"/>
          <p:nvPr/>
        </p:nvSpPr>
        <p:spPr>
          <a:xfrm>
            <a:off x="5340096" y="5239512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45" name="지도 컨트롤"/>
          <p:cNvSpPr/>
          <p:nvPr/>
        </p:nvSpPr>
        <p:spPr>
          <a:xfrm>
            <a:off x="5285232" y="5522976"/>
            <a:ext cx="310896" cy="310896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컨트롤 라벨"/>
          <p:cNvSpPr txBox="1"/>
          <p:nvPr/>
        </p:nvSpPr>
        <p:spPr>
          <a:xfrm>
            <a:off x="5340096" y="558698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47" name="지도 컨트롤"/>
          <p:cNvSpPr/>
          <p:nvPr/>
        </p:nvSpPr>
        <p:spPr>
          <a:xfrm>
            <a:off x="4919472" y="5870448"/>
            <a:ext cx="676656" cy="27432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컨트롤 라벨"/>
          <p:cNvSpPr txBox="1"/>
          <p:nvPr/>
        </p:nvSpPr>
        <p:spPr>
          <a:xfrm>
            <a:off x="4992624" y="5925312"/>
            <a:ext cx="53035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49" name="숫자배지 1"/>
          <p:cNvSpPr/>
          <p:nvPr/>
        </p:nvSpPr>
        <p:spPr>
          <a:xfrm>
            <a:off x="2734056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0" name="숫자배지 2"/>
          <p:cNvSpPr/>
          <p:nvPr/>
        </p:nvSpPr>
        <p:spPr>
          <a:xfrm>
            <a:off x="2734056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1" name="숫자배지 3"/>
          <p:cNvSpPr/>
          <p:nvPr/>
        </p:nvSpPr>
        <p:spPr>
          <a:xfrm>
            <a:off x="5577840" y="20116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2" name="숫자배지 4"/>
          <p:cNvSpPr/>
          <p:nvPr/>
        </p:nvSpPr>
        <p:spPr>
          <a:xfrm>
            <a:off x="2734056" y="29809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3" name="숫자배지 5"/>
          <p:cNvSpPr/>
          <p:nvPr/>
        </p:nvSpPr>
        <p:spPr>
          <a:xfrm>
            <a:off x="2734056" y="34930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54" name="지점 링"/>
          <p:cNvSpPr/>
          <p:nvPr/>
        </p:nvSpPr>
        <p:spPr>
          <a:xfrm>
            <a:off x="3220974" y="1524762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지점 링"/>
          <p:cNvSpPr/>
          <p:nvPr/>
        </p:nvSpPr>
        <p:spPr>
          <a:xfrm>
            <a:off x="3220974" y="2055114"/>
            <a:ext cx="123444" cy="123444"/>
          </a:xfrm>
          <a:prstGeom prst="ellipse">
            <a:avLst/>
          </a:prstGeom>
          <a:noFill/>
          <a:ln w="15875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지점 링"/>
          <p:cNvSpPr/>
          <p:nvPr/>
        </p:nvSpPr>
        <p:spPr>
          <a:xfrm>
            <a:off x="3220974" y="2585466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6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8836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편집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54108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경유지 · 순서 바꾸기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45714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[취소] · [확인]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[취소] — 변경 사항 미반영 · 2-9로 복귀 · 재탐색 없음 · 확인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[확인] — 변경 사항 반영 · 2-9로 이동 · 경로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[확인]은 상시 활성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경유지가 빈 채로 눌러도 됨 — 경유지 없이 적용하고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· 닫기 미제공 — OS 백키는 [취소]와 같음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설정된 지점만 핀으로 표출 · 경로선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지도의 다른 장소 선택 시 무반응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3종 — 내 위치 · 정북 복원 · 확대 ·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정북 복원은 방위가 정북이 아닐 때만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지도"/>
          <p:cNvSpPr/>
          <p:nvPr/>
        </p:nvSpPr>
        <p:spPr>
          <a:xfrm>
            <a:off x="2971800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경로 편집 패널"/>
          <p:cNvSpPr/>
          <p:nvPr/>
        </p:nvSpPr>
        <p:spPr>
          <a:xfrm>
            <a:off x="3063240" y="1298448"/>
            <a:ext cx="2532888" cy="2066543"/>
          </a:xfrm>
          <a:prstGeom prst="roundRect">
            <a:avLst>
              <a:gd name="adj" fmla="val 829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지점 라벨"/>
          <p:cNvSpPr txBox="1"/>
          <p:nvPr/>
        </p:nvSpPr>
        <p:spPr>
          <a:xfrm>
            <a:off x="3447288" y="1508760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9" name="순서 바꾸기"/>
          <p:cNvSpPr/>
          <p:nvPr/>
        </p:nvSpPr>
        <p:spPr>
          <a:xfrm>
            <a:off x="3108960" y="174193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순서 바꾸기 라벨"/>
          <p:cNvSpPr txBox="1"/>
          <p:nvPr/>
        </p:nvSpPr>
        <p:spPr>
          <a:xfrm>
            <a:off x="3108960" y="174193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1" name="구분선"/>
          <p:cNvSpPr/>
          <p:nvPr/>
        </p:nvSpPr>
        <p:spPr>
          <a:xfrm>
            <a:off x="3447288" y="1865376"/>
            <a:ext cx="2002536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지점 라벨"/>
          <p:cNvSpPr txBox="1"/>
          <p:nvPr/>
        </p:nvSpPr>
        <p:spPr>
          <a:xfrm>
            <a:off x="3447288" y="2039112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0000 (경유)</a:t>
            </a:r>
          </a:p>
        </p:txBody>
      </p:sp>
      <p:sp>
        <p:nvSpPr>
          <p:cNvPr id="23" name="경유지 삭제"/>
          <p:cNvSpPr/>
          <p:nvPr/>
        </p:nvSpPr>
        <p:spPr>
          <a:xfrm>
            <a:off x="5248656" y="201625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유지 삭제 라벨"/>
          <p:cNvSpPr txBox="1"/>
          <p:nvPr/>
        </p:nvSpPr>
        <p:spPr>
          <a:xfrm>
            <a:off x="5248656" y="201625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25" name="순서 바꾸기"/>
          <p:cNvSpPr/>
          <p:nvPr/>
        </p:nvSpPr>
        <p:spPr>
          <a:xfrm>
            <a:off x="3108960" y="2272284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순서 바꾸기 라벨"/>
          <p:cNvSpPr txBox="1"/>
          <p:nvPr/>
        </p:nvSpPr>
        <p:spPr>
          <a:xfrm>
            <a:off x="3108960" y="2272284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⇅</a:t>
            </a:r>
          </a:p>
        </p:txBody>
      </p:sp>
      <p:sp>
        <p:nvSpPr>
          <p:cNvPr id="27" name="구분선"/>
          <p:cNvSpPr/>
          <p:nvPr/>
        </p:nvSpPr>
        <p:spPr>
          <a:xfrm>
            <a:off x="3447288" y="2395728"/>
            <a:ext cx="2002536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점 라벨"/>
          <p:cNvSpPr txBox="1"/>
          <p:nvPr/>
        </p:nvSpPr>
        <p:spPr>
          <a:xfrm>
            <a:off x="3447288" y="2569464"/>
            <a:ext cx="172821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29" name="패널 버튼 취소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419856" y="2944368"/>
            <a:ext cx="914400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패널 버튼 취소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419856" y="2944368"/>
            <a:ext cx="9144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31" name="패널 버튼 확인"/>
          <p:cNvSpPr/>
          <p:nvPr/>
        </p:nvSpPr>
        <p:spPr>
          <a:xfrm>
            <a:off x="4389120" y="2944368"/>
            <a:ext cx="914400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패널 버튼 확인 라벨"/>
          <p:cNvSpPr txBox="1"/>
          <p:nvPr/>
        </p:nvSpPr>
        <p:spPr>
          <a:xfrm>
            <a:off x="4389120" y="2944368"/>
            <a:ext cx="9144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33" name="지도 안내"/>
          <p:cNvSpPr txBox="1"/>
          <p:nvPr/>
        </p:nvSpPr>
        <p:spPr>
          <a:xfrm>
            <a:off x="3369564" y="3602736"/>
            <a:ext cx="19202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설정된 지점만 핀 · 경로선 미표출</a:t>
            </a:r>
          </a:p>
        </p:txBody>
      </p:sp>
      <p:sp>
        <p:nvSpPr>
          <p:cNvPr id="34" name="지도 핀"/>
          <p:cNvSpPr/>
          <p:nvPr/>
        </p:nvSpPr>
        <p:spPr>
          <a:xfrm>
            <a:off x="3383280" y="404164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지도 핀 표식"/>
          <p:cNvSpPr txBox="1"/>
          <p:nvPr/>
        </p:nvSpPr>
        <p:spPr>
          <a:xfrm>
            <a:off x="3401568" y="405993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출</a:t>
            </a:r>
          </a:p>
        </p:txBody>
      </p:sp>
      <p:sp>
        <p:nvSpPr>
          <p:cNvPr id="36" name="지도 핀 라벨"/>
          <p:cNvSpPr txBox="1"/>
          <p:nvPr/>
        </p:nvSpPr>
        <p:spPr>
          <a:xfrm>
            <a:off x="3621024" y="405993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서울특별시청</a:t>
            </a:r>
          </a:p>
        </p:txBody>
      </p:sp>
      <p:sp>
        <p:nvSpPr>
          <p:cNvPr id="37" name="지도 핀"/>
          <p:cNvSpPr/>
          <p:nvPr/>
        </p:nvSpPr>
        <p:spPr>
          <a:xfrm>
            <a:off x="4297680" y="459028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핀 표식"/>
          <p:cNvSpPr txBox="1"/>
          <p:nvPr/>
        </p:nvSpPr>
        <p:spPr>
          <a:xfrm>
            <a:off x="4315968" y="460857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경</a:t>
            </a:r>
          </a:p>
        </p:txBody>
      </p:sp>
      <p:sp>
        <p:nvSpPr>
          <p:cNvPr id="39" name="지도 핀 라벨"/>
          <p:cNvSpPr txBox="1"/>
          <p:nvPr/>
        </p:nvSpPr>
        <p:spPr>
          <a:xfrm>
            <a:off x="4535424" y="460857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0000 (경유)</a:t>
            </a:r>
          </a:p>
        </p:txBody>
      </p:sp>
      <p:sp>
        <p:nvSpPr>
          <p:cNvPr id="40" name="지도 핀"/>
          <p:cNvSpPr/>
          <p:nvPr/>
        </p:nvSpPr>
        <p:spPr>
          <a:xfrm>
            <a:off x="3749040" y="523036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지도 핀 표식"/>
          <p:cNvSpPr txBox="1"/>
          <p:nvPr/>
        </p:nvSpPr>
        <p:spPr>
          <a:xfrm>
            <a:off x="3767328" y="5248655"/>
            <a:ext cx="1463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1" spc="-15">
                <a:solidFill>
                  <a:srgbClr val="FFFFFF"/>
                </a:solidFill>
                <a:latin typeface="Pretendard"/>
              </a:rPr>
              <a:t>도</a:t>
            </a:r>
          </a:p>
        </p:txBody>
      </p:sp>
      <p:sp>
        <p:nvSpPr>
          <p:cNvPr id="42" name="지도 핀 라벨"/>
          <p:cNvSpPr txBox="1"/>
          <p:nvPr/>
        </p:nvSpPr>
        <p:spPr>
          <a:xfrm>
            <a:off x="3986784" y="524865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43" name="지도 컨트롤"/>
          <p:cNvSpPr/>
          <p:nvPr/>
        </p:nvSpPr>
        <p:spPr>
          <a:xfrm>
            <a:off x="5285232" y="5175504"/>
            <a:ext cx="310896" cy="310896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지도 컨트롤 라벨"/>
          <p:cNvSpPr txBox="1"/>
          <p:nvPr/>
        </p:nvSpPr>
        <p:spPr>
          <a:xfrm>
            <a:off x="5340096" y="5239512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45" name="지도 컨트롤"/>
          <p:cNvSpPr/>
          <p:nvPr/>
        </p:nvSpPr>
        <p:spPr>
          <a:xfrm>
            <a:off x="5285232" y="5522976"/>
            <a:ext cx="310896" cy="310896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컨트롤 라벨"/>
          <p:cNvSpPr txBox="1"/>
          <p:nvPr/>
        </p:nvSpPr>
        <p:spPr>
          <a:xfrm>
            <a:off x="5340096" y="5586984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47" name="지도 컨트롤"/>
          <p:cNvSpPr/>
          <p:nvPr/>
        </p:nvSpPr>
        <p:spPr>
          <a:xfrm>
            <a:off x="4919472" y="5870448"/>
            <a:ext cx="676656" cy="27432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지도 컨트롤 라벨"/>
          <p:cNvSpPr txBox="1"/>
          <p:nvPr/>
        </p:nvSpPr>
        <p:spPr>
          <a:xfrm>
            <a:off x="4992624" y="5925312"/>
            <a:ext cx="53035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49" name="지점 링"/>
          <p:cNvSpPr/>
          <p:nvPr/>
        </p:nvSpPr>
        <p:spPr>
          <a:xfrm>
            <a:off x="3220974" y="1524762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지점 링"/>
          <p:cNvSpPr/>
          <p:nvPr/>
        </p:nvSpPr>
        <p:spPr>
          <a:xfrm>
            <a:off x="3220974" y="2055114"/>
            <a:ext cx="123444" cy="123444"/>
          </a:xfrm>
          <a:prstGeom prst="ellipse">
            <a:avLst/>
          </a:prstGeom>
          <a:noFill/>
          <a:ln w="15875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지점 링"/>
          <p:cNvSpPr/>
          <p:nvPr/>
        </p:nvSpPr>
        <p:spPr>
          <a:xfrm>
            <a:off x="3220974" y="2585466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숫자배지 1"/>
          <p:cNvSpPr/>
          <p:nvPr/>
        </p:nvSpPr>
        <p:spPr>
          <a:xfrm>
            <a:off x="2734056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/>
          <p:cNvSpPr/>
          <p:nvPr/>
        </p:nvSpPr>
        <p:spPr>
          <a:xfrm>
            <a:off x="2734056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4" name="숫자배지 3"/>
          <p:cNvSpPr/>
          <p:nvPr/>
        </p:nvSpPr>
        <p:spPr>
          <a:xfrm>
            <a:off x="5577840" y="201168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5" name="숫자배지 4"/>
          <p:cNvSpPr/>
          <p:nvPr/>
        </p:nvSpPr>
        <p:spPr>
          <a:xfrm>
            <a:off x="2734056" y="29809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6" name="숫자배지 5"/>
          <p:cNvSpPr/>
          <p:nvPr/>
        </p:nvSpPr>
        <p:spPr>
          <a:xfrm>
            <a:off x="2734056" y="34930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④ 경로 탐색 시작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61421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상단 입력 블록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좌측 ⇅ · 가운데 입력 필드 · 우측 [✕]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뒤로가기(&lt;)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[✕] — 세 지점 초기화 후 2-0으로 이동 ·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  진행 중인 안내는 유지 · 확인 팝업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OS 백키 — 들어온 자리로 복귀 · 입력값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⇅ 순서 바꾸기 · [＋]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⇅는 행 사이마다 1개 — 2행 1개 · 3행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이웃한 두 행을 맞바꿈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[＋]는 필드 사이 · 경유지가 없을 때만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[＋] 선택 시 2-9-1 경로 편집으로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필드 선택 시 2-1 장소 검색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필터 · 정렬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상단 고정 2종 — [필터 N] · [정렬 ⌄]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필터는 선택 개수를 라벨에 표출 · 선택 없으면 [필터]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정렬은 「최단거리」/「최소환승」 단일 선택 · 해제 불가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유형이 필터 · 정렬 기본값을 결정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26" name="필터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279392" y="2052828"/>
            <a:ext cx="60350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필터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279392" y="2052828"/>
            <a:ext cx="60350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필터 2</a:t>
            </a:r>
          </a:p>
        </p:txBody>
      </p:sp>
      <p:sp>
        <p:nvSpPr>
          <p:cNvPr id="28" name="정렬"/>
          <p:cNvSpPr/>
          <p:nvPr/>
        </p:nvSpPr>
        <p:spPr>
          <a:xfrm>
            <a:off x="4937760" y="2052828"/>
            <a:ext cx="5669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정렬 라벨"/>
          <p:cNvSpPr txBox="1"/>
          <p:nvPr/>
        </p:nvSpPr>
        <p:spPr>
          <a:xfrm>
            <a:off x="4937760" y="2052828"/>
            <a:ext cx="5669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정렬 ⌄</a:t>
            </a:r>
          </a:p>
        </p:txBody>
      </p:sp>
      <p:sp>
        <p:nvSpPr>
          <p:cNvPr id="30" name="상단 구분선"/>
          <p:cNvSpPr/>
          <p:nvPr/>
        </p:nvSpPr>
        <p:spPr>
          <a:xfrm>
            <a:off x="2971800" y="247345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소요시간"/>
          <p:cNvSpPr txBox="1"/>
          <p:nvPr/>
        </p:nvSpPr>
        <p:spPr>
          <a:xfrm>
            <a:off x="3145536" y="258318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43분</a:t>
            </a:r>
          </a:p>
        </p:txBody>
      </p:sp>
      <p:sp>
        <p:nvSpPr>
          <p:cNvPr id="32" name="도착 시각 · 요금"/>
          <p:cNvSpPr txBox="1"/>
          <p:nvPr/>
        </p:nvSpPr>
        <p:spPr>
          <a:xfrm>
            <a:off x="3145536" y="2820924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11:43 도착 · 1,500원</a:t>
            </a:r>
          </a:p>
        </p:txBody>
      </p:sp>
      <p:sp>
        <p:nvSpPr>
          <p:cNvPr id="39" name="구간 요약"/>
          <p:cNvSpPr txBox="1"/>
          <p:nvPr/>
        </p:nvSpPr>
        <p:spPr>
          <a:xfrm>
            <a:off x="3291840" y="325983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②호선</a:t>
            </a:r>
          </a:p>
        </p:txBody>
      </p:sp>
      <p:sp>
        <p:nvSpPr>
          <p:cNvPr id="40" name="구간 요약"/>
          <p:cNvSpPr txBox="1"/>
          <p:nvPr/>
        </p:nvSpPr>
        <p:spPr>
          <a:xfrm>
            <a:off x="3438144" y="34244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당산 방면 곧 도착 | 성수 방면 3분</a:t>
            </a:r>
          </a:p>
        </p:txBody>
      </p:sp>
      <p:sp>
        <p:nvSpPr>
          <p:cNvPr id="41" name="구간 요약"/>
          <p:cNvSpPr txBox="1"/>
          <p:nvPr/>
        </p:nvSpPr>
        <p:spPr>
          <a:xfrm>
            <a:off x="3291840" y="35890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봉은사역 ⑨호선</a:t>
            </a:r>
          </a:p>
        </p:txBody>
      </p:sp>
      <p:sp>
        <p:nvSpPr>
          <p:cNvPr id="42" name="구간 요약"/>
          <p:cNvSpPr txBox="1"/>
          <p:nvPr/>
        </p:nvSpPr>
        <p:spPr>
          <a:xfrm>
            <a:off x="3291840" y="37536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43" name="구간 요약"/>
          <p:cNvSpPr txBox="1"/>
          <p:nvPr/>
        </p:nvSpPr>
        <p:spPr>
          <a:xfrm>
            <a:off x="3438144" y="39182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 3217  [간선] 146</a:t>
            </a:r>
          </a:p>
        </p:txBody>
      </p:sp>
      <p:sp>
        <p:nvSpPr>
          <p:cNvPr id="44" name="구간 요약"/>
          <p:cNvSpPr txBox="1"/>
          <p:nvPr/>
        </p:nvSpPr>
        <p:spPr>
          <a:xfrm>
            <a:off x="3291840" y="40827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45" name="안내시작"/>
          <p:cNvSpPr/>
          <p:nvPr/>
        </p:nvSpPr>
        <p:spPr>
          <a:xfrm>
            <a:off x="3145536" y="4283964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안내시작 라벨"/>
          <p:cNvSpPr txBox="1"/>
          <p:nvPr/>
        </p:nvSpPr>
        <p:spPr>
          <a:xfrm>
            <a:off x="3145536" y="4283964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7" name="행 구분선"/>
          <p:cNvSpPr/>
          <p:nvPr/>
        </p:nvSpPr>
        <p:spPr>
          <a:xfrm>
            <a:off x="2971800" y="47137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소요시간"/>
          <p:cNvSpPr txBox="1"/>
          <p:nvPr/>
        </p:nvSpPr>
        <p:spPr>
          <a:xfrm>
            <a:off x="3145536" y="4841748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47분</a:t>
            </a:r>
          </a:p>
        </p:txBody>
      </p:sp>
      <p:sp>
        <p:nvSpPr>
          <p:cNvPr id="49" name="도착 시각 · 요금"/>
          <p:cNvSpPr txBox="1"/>
          <p:nvPr/>
        </p:nvSpPr>
        <p:spPr>
          <a:xfrm>
            <a:off x="3145536" y="50794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11:47 도착 · 1,500원</a:t>
            </a:r>
          </a:p>
        </p:txBody>
      </p:sp>
      <p:sp>
        <p:nvSpPr>
          <p:cNvPr id="50" name="전체 경로 바"/>
          <p:cNvSpPr/>
          <p:nvPr/>
        </p:nvSpPr>
        <p:spPr>
          <a:xfrm>
            <a:off x="3145536" y="5280660"/>
            <a:ext cx="566928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경로 바 라벨"/>
          <p:cNvSpPr txBox="1"/>
          <p:nvPr/>
        </p:nvSpPr>
        <p:spPr>
          <a:xfrm>
            <a:off x="3182112" y="5298948"/>
            <a:ext cx="51206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52" name="전체 경로 바"/>
          <p:cNvSpPr/>
          <p:nvPr/>
        </p:nvSpPr>
        <p:spPr>
          <a:xfrm>
            <a:off x="3749040" y="5280660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경로 바 라벨"/>
          <p:cNvSpPr txBox="1"/>
          <p:nvPr/>
        </p:nvSpPr>
        <p:spPr>
          <a:xfrm>
            <a:off x="3785616" y="5298948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54" name="전체 경로 바"/>
          <p:cNvSpPr/>
          <p:nvPr/>
        </p:nvSpPr>
        <p:spPr>
          <a:xfrm>
            <a:off x="4572000" y="5280660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경로 바 라벨"/>
          <p:cNvSpPr txBox="1"/>
          <p:nvPr/>
        </p:nvSpPr>
        <p:spPr>
          <a:xfrm>
            <a:off x="4608576" y="5298948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⑨호선 6분</a:t>
            </a:r>
          </a:p>
        </p:txBody>
      </p:sp>
      <p:sp>
        <p:nvSpPr>
          <p:cNvPr id="56" name="구간 요약"/>
          <p:cNvSpPr txBox="1"/>
          <p:nvPr/>
        </p:nvSpPr>
        <p:spPr>
          <a:xfrm>
            <a:off x="3291840" y="55184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57" name="구간 요약"/>
          <p:cNvSpPr txBox="1"/>
          <p:nvPr/>
        </p:nvSpPr>
        <p:spPr>
          <a:xfrm>
            <a:off x="3438144" y="56829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2413(저상)  곧 도착</a:t>
            </a:r>
          </a:p>
        </p:txBody>
      </p:sp>
      <p:sp>
        <p:nvSpPr>
          <p:cNvPr id="58" name="구간 요약"/>
          <p:cNvSpPr txBox="1"/>
          <p:nvPr/>
        </p:nvSpPr>
        <p:spPr>
          <a:xfrm>
            <a:off x="3438144" y="584758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[간선] 136  5분 23초   외 4대</a:t>
            </a:r>
          </a:p>
        </p:txBody>
      </p:sp>
      <p:sp>
        <p:nvSpPr>
          <p:cNvPr id="59" name="안내시작"/>
          <p:cNvSpPr/>
          <p:nvPr/>
        </p:nvSpPr>
        <p:spPr>
          <a:xfrm>
            <a:off x="3145536" y="6048756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안내시작 라벨"/>
          <p:cNvSpPr txBox="1"/>
          <p:nvPr/>
        </p:nvSpPr>
        <p:spPr>
          <a:xfrm>
            <a:off x="3145536" y="6048756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90" name="입력 카드"/>
          <p:cNvSpPr/>
          <p:nvPr/>
        </p:nvSpPr>
        <p:spPr>
          <a:xfrm>
            <a:off x="3273552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출발지 필드"/>
          <p:cNvSpPr txBox="1"/>
          <p:nvPr/>
        </p:nvSpPr>
        <p:spPr>
          <a:xfrm>
            <a:off x="3657600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19" name="초기화 면"/>
          <p:cNvSpPr/>
          <p:nvPr/>
        </p:nvSpPr>
        <p:spPr>
          <a:xfrm>
            <a:off x="5349240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초기화"/>
          <p:cNvSpPr txBox="1"/>
          <p:nvPr/>
        </p:nvSpPr>
        <p:spPr>
          <a:xfrm>
            <a:off x="5349240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21" name="순서 바꾸기 면"/>
          <p:cNvSpPr/>
          <p:nvPr/>
        </p:nvSpPr>
        <p:spPr>
          <a:xfrm>
            <a:off x="300837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구분선"/>
          <p:cNvSpPr/>
          <p:nvPr/>
        </p:nvSpPr>
        <p:spPr>
          <a:xfrm>
            <a:off x="3657600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경유지 추가 면"/>
          <p:cNvSpPr/>
          <p:nvPr/>
        </p:nvSpPr>
        <p:spPr>
          <a:xfrm>
            <a:off x="4901184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유지 추가"/>
          <p:cNvSpPr txBox="1"/>
          <p:nvPr/>
        </p:nvSpPr>
        <p:spPr>
          <a:xfrm>
            <a:off x="4901184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25" name="도착지 필드"/>
          <p:cNvSpPr txBox="1"/>
          <p:nvPr/>
        </p:nvSpPr>
        <p:spPr>
          <a:xfrm>
            <a:off x="3657600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91" name="순서 바꾸기"/>
          <p:cNvSpPr/>
          <p:nvPr/>
        </p:nvSpPr>
        <p:spPr>
          <a:xfrm>
            <a:off x="300837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2" name="순서 바꾸기"/>
          <p:cNvSpPr txBox="1"/>
          <p:nvPr/>
        </p:nvSpPr>
        <p:spPr>
          <a:xfrm>
            <a:off x="300837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88" name="지점 링"/>
          <p:cNvSpPr/>
          <p:nvPr/>
        </p:nvSpPr>
        <p:spPr>
          <a:xfrm>
            <a:off x="3431743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지점 링"/>
          <p:cNvSpPr/>
          <p:nvPr/>
        </p:nvSpPr>
        <p:spPr>
          <a:xfrm>
            <a:off x="3431743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017" name="지점 연결선"/>
          <p:cNvCxnSpPr/>
          <p:nvPr/>
        </p:nvCxnSpPr>
        <p:spPr>
          <a:xfrm>
            <a:off x="3195828" y="3337560"/>
            <a:ext cx="0" cy="329184"/>
          </a:xfrm>
          <a:prstGeom prst="line">
            <a:avLst/>
          </a:prstGeom>
          <a:ln w="12700">
            <a:solidFill>
              <a:srgbClr val="00A84D"/>
            </a:solidFill>
          </a:ln>
        </p:spPr>
      </p:cxnSp>
      <p:cxnSp>
        <p:nvCxnSpPr>
          <p:cNvPr id="90018" name="지점 연결선"/>
          <p:cNvCxnSpPr/>
          <p:nvPr/>
        </p:nvCxnSpPr>
        <p:spPr>
          <a:xfrm>
            <a:off x="3195828" y="3666744"/>
            <a:ext cx="0" cy="164592"/>
          </a:xfrm>
          <a:prstGeom prst="line">
            <a:avLst/>
          </a:prstGeom>
          <a:ln w="12700">
            <a:solidFill>
              <a:srgbClr val="BB8336"/>
            </a:solidFill>
          </a:ln>
        </p:spPr>
      </p:cxnSp>
      <p:cxnSp>
        <p:nvCxnSpPr>
          <p:cNvPr id="90019" name="지점 연결선"/>
          <p:cNvCxnSpPr/>
          <p:nvPr/>
        </p:nvCxnSpPr>
        <p:spPr>
          <a:xfrm>
            <a:off x="3195828" y="3831336"/>
            <a:ext cx="0" cy="329184"/>
          </a:xfrm>
          <a:prstGeom prst="line">
            <a:avLst/>
          </a:prstGeom>
          <a:ln w="12700">
            <a:solidFill>
              <a:srgbClr val="3D5BAB"/>
            </a:solidFill>
          </a:ln>
        </p:spPr>
      </p:cxnSp>
      <p:sp>
        <p:nvSpPr>
          <p:cNvPr id="90020" name="지점 표식"/>
          <p:cNvSpPr/>
          <p:nvPr/>
        </p:nvSpPr>
        <p:spPr>
          <a:xfrm>
            <a:off x="3154680" y="3296412"/>
            <a:ext cx="82296" cy="82296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</a:ln>
        </p:spPr>
        <p:txBody>
          <a:bodyPr/>
          <a:lstStyle/>
          <a:p/>
        </p:txBody>
      </p:sp>
      <p:sp>
        <p:nvSpPr>
          <p:cNvPr id="90021" name="지점 표식"/>
          <p:cNvSpPr/>
          <p:nvPr/>
        </p:nvSpPr>
        <p:spPr>
          <a:xfrm>
            <a:off x="3154680" y="3625596"/>
            <a:ext cx="82296" cy="82296"/>
          </a:xfrm>
          <a:prstGeom prst="ellipse">
            <a:avLst/>
          </a:prstGeom>
          <a:solidFill>
            <a:srgbClr val="BB8336"/>
          </a:solidFill>
          <a:ln w="12700">
            <a:solidFill>
              <a:srgbClr val="BB8336"/>
            </a:solidFill>
          </a:ln>
        </p:spPr>
        <p:txBody>
          <a:bodyPr/>
          <a:lstStyle/>
          <a:p/>
        </p:txBody>
      </p:sp>
      <p:sp>
        <p:nvSpPr>
          <p:cNvPr id="90022" name="지점 표식"/>
          <p:cNvSpPr/>
          <p:nvPr/>
        </p:nvSpPr>
        <p:spPr>
          <a:xfrm>
            <a:off x="3154680" y="3790188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0023" name="지점 표식"/>
          <p:cNvSpPr/>
          <p:nvPr/>
        </p:nvSpPr>
        <p:spPr>
          <a:xfrm>
            <a:off x="3154680" y="4119372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0024" name="지점 표식"/>
          <p:cNvSpPr/>
          <p:nvPr/>
        </p:nvSpPr>
        <p:spPr>
          <a:xfrm>
            <a:off x="3154680" y="5554980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90001" name="프레임 마스크"/>
          <p:cNvSpPr/>
          <p:nvPr/>
        </p:nvSpPr>
        <p:spPr>
          <a:xfrm>
            <a:off x="2926080" y="6334049"/>
            <a:ext cx="2807208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25" name="프레임 테두리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noFill/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새로고침"/>
          <p:cNvSpPr/>
          <p:nvPr/>
        </p:nvSpPr>
        <p:spPr>
          <a:xfrm>
            <a:off x="5175504" y="581284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새로고침 라벨"/>
          <p:cNvSpPr txBox="1"/>
          <p:nvPr/>
        </p:nvSpPr>
        <p:spPr>
          <a:xfrm>
            <a:off x="5175504" y="581284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33" name="전체 경로 바"/>
          <p:cNvSpPr/>
          <p:nvPr/>
        </p:nvSpPr>
        <p:spPr>
          <a:xfrm>
            <a:off x="3145536" y="3022092"/>
            <a:ext cx="546811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경로 바 라벨"/>
          <p:cNvSpPr txBox="1"/>
          <p:nvPr/>
        </p:nvSpPr>
        <p:spPr>
          <a:xfrm>
            <a:off x="3182112" y="3040380"/>
            <a:ext cx="47365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90026" name="전체 경로 바"/>
          <p:cNvSpPr/>
          <p:nvPr/>
        </p:nvSpPr>
        <p:spPr>
          <a:xfrm>
            <a:off x="3728923" y="3022092"/>
            <a:ext cx="558698" cy="182880"/>
          </a:xfrm>
          <a:prstGeom prst="roundRect">
            <a:avLst>
              <a:gd name="adj" fmla="val 31250"/>
            </a:avLst>
          </a:prstGeom>
          <a:solidFill>
            <a:srgbClr val="00A84D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027" name="경로 바 라벨"/>
          <p:cNvSpPr txBox="1"/>
          <p:nvPr/>
        </p:nvSpPr>
        <p:spPr>
          <a:xfrm>
            <a:off x="3765499" y="3040380"/>
            <a:ext cx="4855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② 16분</a:t>
            </a:r>
          </a:p>
        </p:txBody>
      </p:sp>
      <p:sp>
        <p:nvSpPr>
          <p:cNvPr id="90028" name="전체 경로 바"/>
          <p:cNvSpPr/>
          <p:nvPr/>
        </p:nvSpPr>
        <p:spPr>
          <a:xfrm>
            <a:off x="4324197" y="3022092"/>
            <a:ext cx="470001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029" name="경로 바 라벨"/>
          <p:cNvSpPr txBox="1"/>
          <p:nvPr/>
        </p:nvSpPr>
        <p:spPr>
          <a:xfrm>
            <a:off x="4360773" y="3040380"/>
            <a:ext cx="39684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 6분</a:t>
            </a:r>
          </a:p>
        </p:txBody>
      </p:sp>
      <p:sp>
        <p:nvSpPr>
          <p:cNvPr id="90030" name="전체 경로 바"/>
          <p:cNvSpPr/>
          <p:nvPr/>
        </p:nvSpPr>
        <p:spPr>
          <a:xfrm>
            <a:off x="4830775" y="3022092"/>
            <a:ext cx="545896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0031" name="경로 바 라벨"/>
          <p:cNvSpPr txBox="1"/>
          <p:nvPr/>
        </p:nvSpPr>
        <p:spPr>
          <a:xfrm>
            <a:off x="4867351" y="3040380"/>
            <a:ext cx="47274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8분</a:t>
            </a:r>
          </a:p>
        </p:txBody>
      </p:sp>
      <p:sp>
        <p:nvSpPr>
          <p:cNvPr id="63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2734056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4" name="숫자배지 2"/>
          <p:cNvSpPr/>
          <p:nvPr/>
        </p:nvSpPr>
        <p:spPr>
          <a:xfrm>
            <a:off x="2734056" y="17007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5" name="숫자배지 3"/>
          <p:cNvSpPr/>
          <p:nvPr/>
        </p:nvSpPr>
        <p:spPr>
          <a:xfrm>
            <a:off x="5577840" y="202996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6" name="숫자배지 4"/>
          <p:cNvSpPr/>
          <p:nvPr/>
        </p:nvSpPr>
        <p:spPr>
          <a:xfrm>
            <a:off x="2734056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7" name="숫자배지 5"/>
          <p:cNvSpPr/>
          <p:nvPr/>
        </p:nvSpPr>
        <p:spPr>
          <a:xfrm>
            <a:off x="2734056" y="384047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8" name="숫자배지 6"/>
          <p:cNvSpPr/>
          <p:nvPr/>
        </p:nvSpPr>
        <p:spPr>
          <a:xfrm>
            <a:off x="5577840" y="58494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2-9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069299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경로 리스트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7229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④ 경로 탐색 시작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462538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경로 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미제공 — 화면이 리스트만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행은 카드가 아니며 구분선 1개로만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= 소요시간 / 도착 시각 · 요금 / 전체 경로 바 / 구간 요약 / [안내시작]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탐색 기준 태그 · 이동수단 태그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탐색 중에는 원형 로딩 인디케이터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[안내시작] · 행 본체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[안내시작]은 행 하단 전폭 — 선택 시 2-4 내비게이션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출발지가 현위치에서 100m 초과 — [안내시작]을 막고 팝업 ＋ [확인] · 입력값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중인 경로는 라벨이 「안내 중」 · 확인 없이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중 다른 경로 선택 시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본체 선택 시 2-3 상세경로 · [상세] 버튼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[새로고침] · 당겨서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[새로고침]은 화면 우하단 플로팅 · 리스트는 유지하고 도착 정보만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 최상단에서 당기면 경로 재탐색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필터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279392" y="2052828"/>
            <a:ext cx="60350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필터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279392" y="2052828"/>
            <a:ext cx="60350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필터 2</a:t>
            </a:r>
          </a:p>
        </p:txBody>
      </p:sp>
      <p:sp>
        <p:nvSpPr>
          <p:cNvPr id="18" name="정렬"/>
          <p:cNvSpPr/>
          <p:nvPr/>
        </p:nvSpPr>
        <p:spPr>
          <a:xfrm>
            <a:off x="4937760" y="2052828"/>
            <a:ext cx="5669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정렬 라벨"/>
          <p:cNvSpPr txBox="1"/>
          <p:nvPr/>
        </p:nvSpPr>
        <p:spPr>
          <a:xfrm>
            <a:off x="4937760" y="2052828"/>
            <a:ext cx="5669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정렬 ⌄</a:t>
            </a:r>
          </a:p>
        </p:txBody>
      </p:sp>
      <p:sp>
        <p:nvSpPr>
          <p:cNvPr id="20" name="상단 구분선"/>
          <p:cNvSpPr/>
          <p:nvPr/>
        </p:nvSpPr>
        <p:spPr>
          <a:xfrm>
            <a:off x="2971800" y="247345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소요시간"/>
          <p:cNvSpPr txBox="1"/>
          <p:nvPr/>
        </p:nvSpPr>
        <p:spPr>
          <a:xfrm>
            <a:off x="3145536" y="2583180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43분</a:t>
            </a:r>
          </a:p>
        </p:txBody>
      </p:sp>
      <p:sp>
        <p:nvSpPr>
          <p:cNvPr id="22" name="도착 시각 · 요금"/>
          <p:cNvSpPr txBox="1"/>
          <p:nvPr/>
        </p:nvSpPr>
        <p:spPr>
          <a:xfrm>
            <a:off x="3145536" y="2820924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11:43 도착 · 1,500원</a:t>
            </a:r>
          </a:p>
        </p:txBody>
      </p:sp>
      <p:sp>
        <p:nvSpPr>
          <p:cNvPr id="23" name="구간 요약"/>
          <p:cNvSpPr txBox="1"/>
          <p:nvPr/>
        </p:nvSpPr>
        <p:spPr>
          <a:xfrm>
            <a:off x="3291840" y="325983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시청역 ②호선</a:t>
            </a:r>
          </a:p>
        </p:txBody>
      </p:sp>
      <p:sp>
        <p:nvSpPr>
          <p:cNvPr id="24" name="구간 요약"/>
          <p:cNvSpPr txBox="1"/>
          <p:nvPr/>
        </p:nvSpPr>
        <p:spPr>
          <a:xfrm>
            <a:off x="3438144" y="34244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당산 방면 곧 도착 | 성수 방면 3분</a:t>
            </a:r>
          </a:p>
        </p:txBody>
      </p:sp>
      <p:sp>
        <p:nvSpPr>
          <p:cNvPr id="25" name="구간 요약"/>
          <p:cNvSpPr txBox="1"/>
          <p:nvPr/>
        </p:nvSpPr>
        <p:spPr>
          <a:xfrm>
            <a:off x="3291840" y="35890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봉은사역 ⑨호선</a:t>
            </a:r>
          </a:p>
        </p:txBody>
      </p:sp>
      <p:sp>
        <p:nvSpPr>
          <p:cNvPr id="26" name="구간 요약"/>
          <p:cNvSpPr txBox="1"/>
          <p:nvPr/>
        </p:nvSpPr>
        <p:spPr>
          <a:xfrm>
            <a:off x="3291840" y="37536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27" name="구간 요약"/>
          <p:cNvSpPr txBox="1"/>
          <p:nvPr/>
        </p:nvSpPr>
        <p:spPr>
          <a:xfrm>
            <a:off x="3438144" y="39182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 3217  [간선] 146</a:t>
            </a:r>
          </a:p>
        </p:txBody>
      </p:sp>
      <p:sp>
        <p:nvSpPr>
          <p:cNvPr id="28" name="구간 요약"/>
          <p:cNvSpPr txBox="1"/>
          <p:nvPr/>
        </p:nvSpPr>
        <p:spPr>
          <a:xfrm>
            <a:off x="3291840" y="40827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뚝도시장</a:t>
            </a:r>
          </a:p>
        </p:txBody>
      </p:sp>
      <p:sp>
        <p:nvSpPr>
          <p:cNvPr id="29" name="안내시작"/>
          <p:cNvSpPr/>
          <p:nvPr/>
        </p:nvSpPr>
        <p:spPr>
          <a:xfrm>
            <a:off x="3145536" y="4283964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안내시작 라벨"/>
          <p:cNvSpPr txBox="1"/>
          <p:nvPr/>
        </p:nvSpPr>
        <p:spPr>
          <a:xfrm>
            <a:off x="3145536" y="4283964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31" name="행 구분선"/>
          <p:cNvSpPr/>
          <p:nvPr/>
        </p:nvSpPr>
        <p:spPr>
          <a:xfrm>
            <a:off x="2971800" y="47137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소요시간"/>
          <p:cNvSpPr txBox="1"/>
          <p:nvPr/>
        </p:nvSpPr>
        <p:spPr>
          <a:xfrm>
            <a:off x="3145536" y="4841748"/>
            <a:ext cx="109728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47분</a:t>
            </a:r>
          </a:p>
        </p:txBody>
      </p:sp>
      <p:sp>
        <p:nvSpPr>
          <p:cNvPr id="33" name="도착 시각 · 요금"/>
          <p:cNvSpPr txBox="1"/>
          <p:nvPr/>
        </p:nvSpPr>
        <p:spPr>
          <a:xfrm>
            <a:off x="3145536" y="5079492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오전 11:47 도착 · 1,500원</a:t>
            </a:r>
          </a:p>
        </p:txBody>
      </p:sp>
      <p:sp>
        <p:nvSpPr>
          <p:cNvPr id="34" name="전체 경로 바"/>
          <p:cNvSpPr/>
          <p:nvPr/>
        </p:nvSpPr>
        <p:spPr>
          <a:xfrm>
            <a:off x="3145536" y="5280660"/>
            <a:ext cx="566928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경로 바 라벨"/>
          <p:cNvSpPr txBox="1"/>
          <p:nvPr/>
        </p:nvSpPr>
        <p:spPr>
          <a:xfrm>
            <a:off x="3182112" y="5298948"/>
            <a:ext cx="51206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36" name="전체 경로 바"/>
          <p:cNvSpPr/>
          <p:nvPr/>
        </p:nvSpPr>
        <p:spPr>
          <a:xfrm>
            <a:off x="3749040" y="5280660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경로 바 라벨"/>
          <p:cNvSpPr txBox="1"/>
          <p:nvPr/>
        </p:nvSpPr>
        <p:spPr>
          <a:xfrm>
            <a:off x="3785616" y="5298948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38" name="전체 경로 바"/>
          <p:cNvSpPr/>
          <p:nvPr/>
        </p:nvSpPr>
        <p:spPr>
          <a:xfrm>
            <a:off x="4572000" y="5280660"/>
            <a:ext cx="786384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경로 바 라벨"/>
          <p:cNvSpPr txBox="1"/>
          <p:nvPr/>
        </p:nvSpPr>
        <p:spPr>
          <a:xfrm>
            <a:off x="4608576" y="5298948"/>
            <a:ext cx="7315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⑨호선 6분</a:t>
            </a:r>
          </a:p>
        </p:txBody>
      </p:sp>
      <p:sp>
        <p:nvSpPr>
          <p:cNvPr id="40" name="구간 요약"/>
          <p:cNvSpPr txBox="1"/>
          <p:nvPr/>
        </p:nvSpPr>
        <p:spPr>
          <a:xfrm>
            <a:off x="3291840" y="5518404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봉은사3번출구, 삼성1파출소</a:t>
            </a:r>
          </a:p>
        </p:txBody>
      </p:sp>
      <p:sp>
        <p:nvSpPr>
          <p:cNvPr id="41" name="구간 요약"/>
          <p:cNvSpPr txBox="1"/>
          <p:nvPr/>
        </p:nvSpPr>
        <p:spPr>
          <a:xfrm>
            <a:off x="3438144" y="56829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[지선] 2413(저상)  곧 도착</a:t>
            </a:r>
          </a:p>
        </p:txBody>
      </p:sp>
      <p:sp>
        <p:nvSpPr>
          <p:cNvPr id="42" name="구간 요약"/>
          <p:cNvSpPr txBox="1"/>
          <p:nvPr/>
        </p:nvSpPr>
        <p:spPr>
          <a:xfrm>
            <a:off x="3438144" y="584758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[간선] 136  5분 23초   외 4대</a:t>
            </a:r>
          </a:p>
        </p:txBody>
      </p:sp>
      <p:sp>
        <p:nvSpPr>
          <p:cNvPr id="43" name="안내시작"/>
          <p:cNvSpPr/>
          <p:nvPr/>
        </p:nvSpPr>
        <p:spPr>
          <a:xfrm>
            <a:off x="3145536" y="6048756"/>
            <a:ext cx="235915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안내시작 라벨"/>
          <p:cNvSpPr txBox="1"/>
          <p:nvPr/>
        </p:nvSpPr>
        <p:spPr>
          <a:xfrm>
            <a:off x="3145536" y="6048756"/>
            <a:ext cx="235915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5" name="입력 카드"/>
          <p:cNvSpPr/>
          <p:nvPr/>
        </p:nvSpPr>
        <p:spPr>
          <a:xfrm>
            <a:off x="3273552" y="1280160"/>
            <a:ext cx="19019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출발지 필드"/>
          <p:cNvSpPr txBox="1"/>
          <p:nvPr/>
        </p:nvSpPr>
        <p:spPr>
          <a:xfrm>
            <a:off x="3657600" y="1376172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7" name="초기화 면"/>
          <p:cNvSpPr/>
          <p:nvPr/>
        </p:nvSpPr>
        <p:spPr>
          <a:xfrm>
            <a:off x="5349240" y="1353312"/>
            <a:ext cx="201168" cy="201168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초기화"/>
          <p:cNvSpPr txBox="1"/>
          <p:nvPr/>
        </p:nvSpPr>
        <p:spPr>
          <a:xfrm>
            <a:off x="5349240" y="1353312"/>
            <a:ext cx="201168" cy="201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✕</a:t>
            </a:r>
          </a:p>
        </p:txBody>
      </p:sp>
      <p:sp>
        <p:nvSpPr>
          <p:cNvPr id="49" name="순서 바꾸기 면"/>
          <p:cNvSpPr/>
          <p:nvPr/>
        </p:nvSpPr>
        <p:spPr>
          <a:xfrm>
            <a:off x="300837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구분선"/>
          <p:cNvSpPr/>
          <p:nvPr/>
        </p:nvSpPr>
        <p:spPr>
          <a:xfrm>
            <a:off x="3657600" y="1645920"/>
            <a:ext cx="120700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경유지 추가 면"/>
          <p:cNvSpPr/>
          <p:nvPr/>
        </p:nvSpPr>
        <p:spPr>
          <a:xfrm>
            <a:off x="4901184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경유지 추가"/>
          <p:cNvSpPr txBox="1"/>
          <p:nvPr/>
        </p:nvSpPr>
        <p:spPr>
          <a:xfrm>
            <a:off x="4901184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3" name="도착지 필드"/>
          <p:cNvSpPr txBox="1"/>
          <p:nvPr/>
        </p:nvSpPr>
        <p:spPr>
          <a:xfrm>
            <a:off x="3657600" y="1760220"/>
            <a:ext cx="11887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spc="-15">
                <a:solidFill>
                  <a:srgbClr val="14181F"/>
                </a:solidFill>
                <a:latin typeface="Pretendard"/>
              </a:rPr>
              <a:t>뚝도시장</a:t>
            </a:r>
          </a:p>
        </p:txBody>
      </p:sp>
      <p:sp>
        <p:nvSpPr>
          <p:cNvPr id="54" name="순서 바꾸기"/>
          <p:cNvSpPr/>
          <p:nvPr/>
        </p:nvSpPr>
        <p:spPr>
          <a:xfrm>
            <a:off x="3008376" y="1536192"/>
            <a:ext cx="219456" cy="219456"/>
          </a:xfrm>
          <a:prstGeom prst="roundRect">
            <a:avLst>
              <a:gd name="adj" fmla="val 28409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순서 바꾸기"/>
          <p:cNvSpPr txBox="1"/>
          <p:nvPr/>
        </p:nvSpPr>
        <p:spPr>
          <a:xfrm>
            <a:off x="3008376" y="1536192"/>
            <a:ext cx="219456" cy="21945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25" b="0" spc="-15">
                <a:solidFill>
                  <a:srgbClr val="3E4652"/>
                </a:solidFill>
                <a:latin typeface="Pretendard"/>
              </a:rPr>
              <a:t>⇅</a:t>
            </a:r>
          </a:p>
        </p:txBody>
      </p:sp>
      <p:sp>
        <p:nvSpPr>
          <p:cNvPr id="56" name="지점 링"/>
          <p:cNvSpPr/>
          <p:nvPr/>
        </p:nvSpPr>
        <p:spPr>
          <a:xfrm>
            <a:off x="3431743" y="1392631"/>
            <a:ext cx="123444" cy="123444"/>
          </a:xfrm>
          <a:prstGeom prst="ellipse">
            <a:avLst/>
          </a:prstGeom>
          <a:noFill/>
          <a:ln w="1587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지점 링"/>
          <p:cNvSpPr/>
          <p:nvPr/>
        </p:nvSpPr>
        <p:spPr>
          <a:xfrm>
            <a:off x="3431743" y="1775764"/>
            <a:ext cx="123444" cy="123444"/>
          </a:xfrm>
          <a:prstGeom prst="ellipse">
            <a:avLst/>
          </a:prstGeom>
          <a:noFill/>
          <a:ln w="15875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지점 연결선"/>
          <p:cNvCxnSpPr/>
          <p:nvPr/>
        </p:nvCxnSpPr>
        <p:spPr>
          <a:xfrm>
            <a:off x="3195828" y="3337560"/>
            <a:ext cx="0" cy="329184"/>
          </a:xfrm>
          <a:prstGeom prst="line">
            <a:avLst/>
          </a:prstGeom>
          <a:ln w="12700">
            <a:solidFill>
              <a:srgbClr val="00A84D"/>
            </a:solidFill>
          </a:ln>
        </p:spPr>
      </p:cxnSp>
      <p:cxnSp>
        <p:nvCxnSpPr>
          <p:cNvPr id="59" name="지점 연결선"/>
          <p:cNvCxnSpPr/>
          <p:nvPr/>
        </p:nvCxnSpPr>
        <p:spPr>
          <a:xfrm>
            <a:off x="3195828" y="3666744"/>
            <a:ext cx="0" cy="164592"/>
          </a:xfrm>
          <a:prstGeom prst="line">
            <a:avLst/>
          </a:prstGeom>
          <a:ln w="12700">
            <a:solidFill>
              <a:srgbClr val="BB8336"/>
            </a:solidFill>
          </a:ln>
        </p:spPr>
      </p:cxnSp>
      <p:cxnSp>
        <p:nvCxnSpPr>
          <p:cNvPr id="60" name="지점 연결선"/>
          <p:cNvCxnSpPr/>
          <p:nvPr/>
        </p:nvCxnSpPr>
        <p:spPr>
          <a:xfrm>
            <a:off x="3195828" y="3831336"/>
            <a:ext cx="0" cy="329184"/>
          </a:xfrm>
          <a:prstGeom prst="line">
            <a:avLst/>
          </a:prstGeom>
          <a:ln w="12700">
            <a:solidFill>
              <a:srgbClr val="3D5BAB"/>
            </a:solidFill>
          </a:ln>
        </p:spPr>
      </p:cxnSp>
      <p:sp>
        <p:nvSpPr>
          <p:cNvPr id="61" name="지점 표식"/>
          <p:cNvSpPr/>
          <p:nvPr/>
        </p:nvSpPr>
        <p:spPr>
          <a:xfrm>
            <a:off x="3154680" y="3296412"/>
            <a:ext cx="82296" cy="82296"/>
          </a:xfrm>
          <a:prstGeom prst="ellipse">
            <a:avLst/>
          </a:prstGeom>
          <a:solidFill>
            <a:srgbClr val="00A84D"/>
          </a:solidFill>
          <a:ln w="12700">
            <a:solidFill>
              <a:srgbClr val="00A84D"/>
            </a:solidFill>
          </a:ln>
        </p:spPr>
        <p:txBody>
          <a:bodyPr/>
          <a:lstStyle/>
          <a:p/>
        </p:txBody>
      </p:sp>
      <p:sp>
        <p:nvSpPr>
          <p:cNvPr id="62" name="지점 표식"/>
          <p:cNvSpPr/>
          <p:nvPr/>
        </p:nvSpPr>
        <p:spPr>
          <a:xfrm>
            <a:off x="3154680" y="3625596"/>
            <a:ext cx="82296" cy="82296"/>
          </a:xfrm>
          <a:prstGeom prst="ellipse">
            <a:avLst/>
          </a:prstGeom>
          <a:solidFill>
            <a:srgbClr val="BB8336"/>
          </a:solidFill>
          <a:ln w="12700">
            <a:solidFill>
              <a:srgbClr val="BB8336"/>
            </a:solidFill>
          </a:ln>
        </p:spPr>
        <p:txBody>
          <a:bodyPr/>
          <a:lstStyle/>
          <a:p/>
        </p:txBody>
      </p:sp>
      <p:sp>
        <p:nvSpPr>
          <p:cNvPr id="63" name="지점 표식"/>
          <p:cNvSpPr/>
          <p:nvPr/>
        </p:nvSpPr>
        <p:spPr>
          <a:xfrm>
            <a:off x="3154680" y="3790188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64" name="지점 표식"/>
          <p:cNvSpPr/>
          <p:nvPr/>
        </p:nvSpPr>
        <p:spPr>
          <a:xfrm>
            <a:off x="3154680" y="4119372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65" name="지점 표식"/>
          <p:cNvSpPr/>
          <p:nvPr/>
        </p:nvSpPr>
        <p:spPr>
          <a:xfrm>
            <a:off x="3154680" y="5554980"/>
            <a:ext cx="82296" cy="82296"/>
          </a:xfrm>
          <a:prstGeom prst="ellipse">
            <a:avLst/>
          </a:prstGeom>
          <a:solidFill>
            <a:srgbClr val="3D5BAB"/>
          </a:solidFill>
          <a:ln w="12700">
            <a:solidFill>
              <a:srgbClr val="3D5BAB"/>
            </a:solidFill>
          </a:ln>
        </p:spPr>
        <p:txBody>
          <a:bodyPr/>
          <a:lstStyle/>
          <a:p/>
        </p:txBody>
      </p:sp>
      <p:sp>
        <p:nvSpPr>
          <p:cNvPr id="66" name="프레임 마스크"/>
          <p:cNvSpPr/>
          <p:nvPr/>
        </p:nvSpPr>
        <p:spPr>
          <a:xfrm>
            <a:off x="2926080" y="6334049"/>
            <a:ext cx="2807208" cy="2743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프레임 테두리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noFill/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새로고침"/>
          <p:cNvSpPr/>
          <p:nvPr/>
        </p:nvSpPr>
        <p:spPr>
          <a:xfrm>
            <a:off x="5175504" y="581284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새로고침 라벨"/>
          <p:cNvSpPr txBox="1"/>
          <p:nvPr/>
        </p:nvSpPr>
        <p:spPr>
          <a:xfrm>
            <a:off x="5175504" y="581284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70" name="전체 경로 바"/>
          <p:cNvSpPr/>
          <p:nvPr/>
        </p:nvSpPr>
        <p:spPr>
          <a:xfrm>
            <a:off x="3145536" y="3022092"/>
            <a:ext cx="546811" cy="182880"/>
          </a:xfrm>
          <a:prstGeom prst="roundRect">
            <a:avLst>
              <a:gd name="adj" fmla="val 31250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경로 바 라벨"/>
          <p:cNvSpPr txBox="1"/>
          <p:nvPr/>
        </p:nvSpPr>
        <p:spPr>
          <a:xfrm>
            <a:off x="3182112" y="3040380"/>
            <a:ext cx="47365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🚶 도보 3분</a:t>
            </a:r>
          </a:p>
        </p:txBody>
      </p:sp>
      <p:sp>
        <p:nvSpPr>
          <p:cNvPr id="72" name="전체 경로 바"/>
          <p:cNvSpPr/>
          <p:nvPr/>
        </p:nvSpPr>
        <p:spPr>
          <a:xfrm>
            <a:off x="3728923" y="3022092"/>
            <a:ext cx="558698" cy="182880"/>
          </a:xfrm>
          <a:prstGeom prst="roundRect">
            <a:avLst>
              <a:gd name="adj" fmla="val 31250"/>
            </a:avLst>
          </a:prstGeom>
          <a:solidFill>
            <a:srgbClr val="00A84D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경로 바 라벨"/>
          <p:cNvSpPr txBox="1"/>
          <p:nvPr/>
        </p:nvSpPr>
        <p:spPr>
          <a:xfrm>
            <a:off x="3765499" y="3040380"/>
            <a:ext cx="48554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② 16분</a:t>
            </a:r>
          </a:p>
        </p:txBody>
      </p:sp>
      <p:sp>
        <p:nvSpPr>
          <p:cNvPr id="74" name="전체 경로 바"/>
          <p:cNvSpPr/>
          <p:nvPr/>
        </p:nvSpPr>
        <p:spPr>
          <a:xfrm>
            <a:off x="4324197" y="3022092"/>
            <a:ext cx="470001" cy="182880"/>
          </a:xfrm>
          <a:prstGeom prst="roundRect">
            <a:avLst>
              <a:gd name="adj" fmla="val 31250"/>
            </a:avLst>
          </a:prstGeom>
          <a:solidFill>
            <a:srgbClr val="BB8336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경로 바 라벨"/>
          <p:cNvSpPr txBox="1"/>
          <p:nvPr/>
        </p:nvSpPr>
        <p:spPr>
          <a:xfrm>
            <a:off x="4360773" y="3040380"/>
            <a:ext cx="396849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🚇 ⑨ 6분</a:t>
            </a:r>
          </a:p>
        </p:txBody>
      </p:sp>
      <p:sp>
        <p:nvSpPr>
          <p:cNvPr id="76" name="전체 경로 바"/>
          <p:cNvSpPr/>
          <p:nvPr/>
        </p:nvSpPr>
        <p:spPr>
          <a:xfrm>
            <a:off x="4830775" y="3022092"/>
            <a:ext cx="545896" cy="182880"/>
          </a:xfrm>
          <a:prstGeom prst="roundRect">
            <a:avLst>
              <a:gd name="adj" fmla="val 31250"/>
            </a:avLst>
          </a:prstGeom>
          <a:solidFill>
            <a:srgbClr val="3D5BAB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경로 바 라벨"/>
          <p:cNvSpPr txBox="1"/>
          <p:nvPr/>
        </p:nvSpPr>
        <p:spPr>
          <a:xfrm>
            <a:off x="4867351" y="3040380"/>
            <a:ext cx="47274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FFFFFF"/>
                </a:solidFill>
                <a:latin typeface="Pretendard"/>
              </a:rPr>
              <a:t>🚌 간선 8분</a:t>
            </a:r>
          </a:p>
        </p:txBody>
      </p:sp>
      <p:sp>
        <p:nvSpPr>
          <p:cNvPr id="78" name="숫자배지 1">
            <a:extLst>
              <a:ext uri="{FF2B5EF4-FFF2-40B4-BE49-F238E27FC236}">
                <a16:creationId xmlns:a16="http://schemas.microsoft.com/office/drawing/2014/main" id="{383D3785-0317-B4D3-2B54-30FE54540A7F}"/>
              </a:ext>
            </a:extLst>
          </p:cNvPr>
          <p:cNvSpPr/>
          <p:nvPr/>
        </p:nvSpPr>
        <p:spPr>
          <a:xfrm>
            <a:off x="2734056" y="13533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2734056" y="170078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5577840" y="202996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2734056" y="2450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2734056" y="384047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3" name="숫자배지 6"/>
          <p:cNvSpPr/>
          <p:nvPr/>
        </p:nvSpPr>
        <p:spPr>
          <a:xfrm>
            <a:off x="5577840" y="58494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6" y="228600"/>
            <a:ext cx="10506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상세경로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26893" y="228600"/>
            <a:ext cx="880018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지하철 구간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1389888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"/>
          <p:cNvSpPr/>
          <p:nvPr/>
        </p:nvSpPr>
        <p:spPr>
          <a:xfrm>
            <a:off x="1408176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15" name="바텀시트"/>
          <p:cNvSpPr/>
          <p:nvPr/>
        </p:nvSpPr>
        <p:spPr>
          <a:xfrm>
            <a:off x="1408176" y="2761488"/>
            <a:ext cx="2724912" cy="3575304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1545336" y="290779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1408176" y="3621024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1572768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1572768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타임라인 표식"/>
          <p:cNvSpPr/>
          <p:nvPr/>
        </p:nvSpPr>
        <p:spPr>
          <a:xfrm>
            <a:off x="1591056" y="3792932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1755648" y="3767329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1643177" y="3895345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1755648" y="39273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타임라인 표식"/>
          <p:cNvSpPr/>
          <p:nvPr/>
        </p:nvSpPr>
        <p:spPr>
          <a:xfrm>
            <a:off x="1591056" y="413125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1755648" y="410565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1874520" y="426567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27" name="목업 텍스트"/>
          <p:cNvSpPr/>
          <p:nvPr/>
        </p:nvSpPr>
        <p:spPr>
          <a:xfrm>
            <a:off x="1874520" y="442569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1874520" y="4604005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29" name="목업 텍스트"/>
          <p:cNvSpPr/>
          <p:nvPr/>
        </p:nvSpPr>
        <p:spPr>
          <a:xfrm>
            <a:off x="1874520" y="4764025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30" name="목업 텍스트"/>
          <p:cNvSpPr/>
          <p:nvPr/>
        </p:nvSpPr>
        <p:spPr>
          <a:xfrm>
            <a:off x="1874520" y="4942333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31" name="목업 텍스트"/>
          <p:cNvSpPr/>
          <p:nvPr/>
        </p:nvSpPr>
        <p:spPr>
          <a:xfrm>
            <a:off x="2354325" y="4942333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2" name="타임라인 표식"/>
          <p:cNvSpPr/>
          <p:nvPr/>
        </p:nvSpPr>
        <p:spPr>
          <a:xfrm>
            <a:off x="1591056" y="5146244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목업 텍스트"/>
          <p:cNvSpPr/>
          <p:nvPr/>
        </p:nvSpPr>
        <p:spPr>
          <a:xfrm>
            <a:off x="1755648" y="5120641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34" name="구간 선"/>
          <p:cNvCxnSpPr/>
          <p:nvPr/>
        </p:nvCxnSpPr>
        <p:spPr>
          <a:xfrm>
            <a:off x="1643177" y="4233672"/>
            <a:ext cx="0" cy="914400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목업 텍스트"/>
          <p:cNvSpPr/>
          <p:nvPr/>
        </p:nvSpPr>
        <p:spPr>
          <a:xfrm>
            <a:off x="1755648" y="5280661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36" name="구간 선"/>
          <p:cNvCxnSpPr/>
          <p:nvPr/>
        </p:nvCxnSpPr>
        <p:spPr>
          <a:xfrm>
            <a:off x="1643177" y="5248657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타임라인 표식"/>
          <p:cNvSpPr/>
          <p:nvPr/>
        </p:nvSpPr>
        <p:spPr>
          <a:xfrm>
            <a:off x="1591056" y="5484572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8" name="목업 텍스트"/>
          <p:cNvSpPr/>
          <p:nvPr/>
        </p:nvSpPr>
        <p:spPr>
          <a:xfrm>
            <a:off x="1755648" y="5458969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sp>
        <p:nvSpPr>
          <p:cNvPr id="39" name="목업 프레임"/>
          <p:cNvSpPr/>
          <p:nvPr/>
        </p:nvSpPr>
        <p:spPr>
          <a:xfrm>
            <a:off x="45628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지도"/>
          <p:cNvSpPr/>
          <p:nvPr/>
        </p:nvSpPr>
        <p:spPr>
          <a:xfrm>
            <a:off x="4581144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41" name="바텀시트"/>
          <p:cNvSpPr/>
          <p:nvPr/>
        </p:nvSpPr>
        <p:spPr>
          <a:xfrm>
            <a:off x="4581144" y="1572768"/>
            <a:ext cx="2724912" cy="4764024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소요시간 배지"/>
          <p:cNvSpPr/>
          <p:nvPr/>
        </p:nvSpPr>
        <p:spPr>
          <a:xfrm>
            <a:off x="4718304" y="171907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43" name="리스트 구분선"/>
          <p:cNvSpPr/>
          <p:nvPr/>
        </p:nvSpPr>
        <p:spPr>
          <a:xfrm>
            <a:off x="4581144" y="2432304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버튼 안내시작"/>
          <p:cNvSpPr/>
          <p:nvPr/>
        </p:nvSpPr>
        <p:spPr>
          <a:xfrm>
            <a:off x="47457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버튼 라벨"/>
          <p:cNvSpPr txBox="1"/>
          <p:nvPr/>
        </p:nvSpPr>
        <p:spPr>
          <a:xfrm>
            <a:off x="47457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6" name="타임라인 표식"/>
          <p:cNvSpPr/>
          <p:nvPr/>
        </p:nvSpPr>
        <p:spPr>
          <a:xfrm>
            <a:off x="4764024" y="260421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목업 텍스트"/>
          <p:cNvSpPr/>
          <p:nvPr/>
        </p:nvSpPr>
        <p:spPr>
          <a:xfrm>
            <a:off x="4928616" y="257860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48" name="구간 선"/>
          <p:cNvCxnSpPr/>
          <p:nvPr/>
        </p:nvCxnSpPr>
        <p:spPr>
          <a:xfrm>
            <a:off x="4816145" y="2706624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목업 텍스트"/>
          <p:cNvSpPr/>
          <p:nvPr/>
        </p:nvSpPr>
        <p:spPr>
          <a:xfrm>
            <a:off x="4928616" y="27386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50" name="타임라인 표식"/>
          <p:cNvSpPr/>
          <p:nvPr/>
        </p:nvSpPr>
        <p:spPr>
          <a:xfrm>
            <a:off x="4764024" y="294253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1" name="목업 텍스트"/>
          <p:cNvSpPr/>
          <p:nvPr/>
        </p:nvSpPr>
        <p:spPr>
          <a:xfrm>
            <a:off x="4928616" y="291693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52" name="목업 텍스트"/>
          <p:cNvSpPr/>
          <p:nvPr/>
        </p:nvSpPr>
        <p:spPr>
          <a:xfrm>
            <a:off x="5047488" y="307695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53" name="목업 텍스트"/>
          <p:cNvSpPr/>
          <p:nvPr/>
        </p:nvSpPr>
        <p:spPr>
          <a:xfrm>
            <a:off x="5047488" y="32369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54" name="목업 텍스트"/>
          <p:cNvSpPr/>
          <p:nvPr/>
        </p:nvSpPr>
        <p:spPr>
          <a:xfrm>
            <a:off x="5047488" y="341528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55" name="목업 텍스트"/>
          <p:cNvSpPr/>
          <p:nvPr/>
        </p:nvSpPr>
        <p:spPr>
          <a:xfrm>
            <a:off x="5047488" y="35753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56" name="목업 텍스트"/>
          <p:cNvSpPr/>
          <p:nvPr/>
        </p:nvSpPr>
        <p:spPr>
          <a:xfrm>
            <a:off x="5047488" y="37536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57" name="목업 텍스트"/>
          <p:cNvSpPr/>
          <p:nvPr/>
        </p:nvSpPr>
        <p:spPr>
          <a:xfrm>
            <a:off x="5527293" y="3753612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∧</a:t>
            </a:r>
          </a:p>
        </p:txBody>
      </p:sp>
      <p:sp>
        <p:nvSpPr>
          <p:cNvPr id="58" name="목업 텍스트"/>
          <p:cNvSpPr/>
          <p:nvPr/>
        </p:nvSpPr>
        <p:spPr>
          <a:xfrm>
            <a:off x="5047488" y="39319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충정로</a:t>
            </a:r>
          </a:p>
        </p:txBody>
      </p:sp>
      <p:sp>
        <p:nvSpPr>
          <p:cNvPr id="59" name="목업 텍스트"/>
          <p:cNvSpPr/>
          <p:nvPr/>
        </p:nvSpPr>
        <p:spPr>
          <a:xfrm>
            <a:off x="5047488" y="40919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아현</a:t>
            </a:r>
          </a:p>
        </p:txBody>
      </p:sp>
      <p:sp>
        <p:nvSpPr>
          <p:cNvPr id="60" name="목업 텍스트"/>
          <p:cNvSpPr/>
          <p:nvPr/>
        </p:nvSpPr>
        <p:spPr>
          <a:xfrm>
            <a:off x="5047488" y="42519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이대</a:t>
            </a:r>
          </a:p>
        </p:txBody>
      </p:sp>
      <p:sp>
        <p:nvSpPr>
          <p:cNvPr id="61" name="목업 텍스트"/>
          <p:cNvSpPr/>
          <p:nvPr/>
        </p:nvSpPr>
        <p:spPr>
          <a:xfrm>
            <a:off x="5047488" y="441198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신촌</a:t>
            </a:r>
          </a:p>
        </p:txBody>
      </p:sp>
      <p:sp>
        <p:nvSpPr>
          <p:cNvPr id="62" name="목업 텍스트"/>
          <p:cNvSpPr/>
          <p:nvPr/>
        </p:nvSpPr>
        <p:spPr>
          <a:xfrm>
            <a:off x="5047488" y="457200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홍대입구</a:t>
            </a:r>
          </a:p>
        </p:txBody>
      </p:sp>
      <p:sp>
        <p:nvSpPr>
          <p:cNvPr id="63" name="목업 텍스트"/>
          <p:cNvSpPr/>
          <p:nvPr/>
        </p:nvSpPr>
        <p:spPr>
          <a:xfrm>
            <a:off x="5047488" y="47320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합정</a:t>
            </a:r>
          </a:p>
        </p:txBody>
      </p:sp>
      <p:sp>
        <p:nvSpPr>
          <p:cNvPr id="64" name="목업 텍스트"/>
          <p:cNvSpPr/>
          <p:nvPr/>
        </p:nvSpPr>
        <p:spPr>
          <a:xfrm>
            <a:off x="5047488" y="48920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</a:t>
            </a:r>
          </a:p>
        </p:txBody>
      </p:sp>
      <p:sp>
        <p:nvSpPr>
          <p:cNvPr id="65" name="타임라인 표식"/>
          <p:cNvSpPr/>
          <p:nvPr/>
        </p:nvSpPr>
        <p:spPr>
          <a:xfrm>
            <a:off x="4764024" y="509595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6" name="목업 텍스트"/>
          <p:cNvSpPr/>
          <p:nvPr/>
        </p:nvSpPr>
        <p:spPr>
          <a:xfrm>
            <a:off x="4928616" y="50703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67" name="구간 선"/>
          <p:cNvCxnSpPr/>
          <p:nvPr/>
        </p:nvCxnSpPr>
        <p:spPr>
          <a:xfrm>
            <a:off x="4816145" y="3044952"/>
            <a:ext cx="0" cy="2052828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목업 텍스트"/>
          <p:cNvSpPr/>
          <p:nvPr/>
        </p:nvSpPr>
        <p:spPr>
          <a:xfrm>
            <a:off x="4928616" y="52303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69" name="구간 선"/>
          <p:cNvCxnSpPr/>
          <p:nvPr/>
        </p:nvCxnSpPr>
        <p:spPr>
          <a:xfrm>
            <a:off x="4816145" y="5198364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타임라인 표식"/>
          <p:cNvSpPr/>
          <p:nvPr/>
        </p:nvSpPr>
        <p:spPr>
          <a:xfrm>
            <a:off x="4764024" y="543427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1" name="목업 텍스트"/>
          <p:cNvSpPr/>
          <p:nvPr/>
        </p:nvSpPr>
        <p:spPr>
          <a:xfrm>
            <a:off x="4928616" y="54086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graphicFrame>
        <p:nvGraphicFramePr>
          <p:cNvPr id="72" name="Description 표"/>
          <p:cNvGraphicFramePr>
            <a:graphicFrameLocks noGrp="1"/>
          </p:cNvGraphicFramePr>
          <p:nvPr/>
        </p:nvGraphicFramePr>
        <p:xfrm>
          <a:off x="8630107" y="1444752"/>
          <a:ext cx="2972409" cy="497880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방면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탑승역 아래에 종착 방면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빠른환승 · 승강장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 아래 한 줄에 그룹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승강장 정보는 없을 수 있음 — 없으면 빠른환승만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다음이 환승이면 ‘빠른환승’, 마지막 하차면 ‘빠른하차’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차기 · 차차기 도착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 옆에 2행 고정 (차기 → 차차기)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표기 3단 — 1분 미만 ‘곧 도착’ / 10분 미만 ‘N분 N초’ / 10분 이상 ‘N분’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10분 이상에는 초를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화면 골격 · 상시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＋ 바텀시트 2층 — 지도가 경로를 그리고 그 위에 상세 시트가 얹힘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3단계(최소 · 중간 · 최대) · 진입 기본값은 중간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어느 단계에서도 뒤로가기 · [안내시작] · [새로고침]은 사라지지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출발지가 현위치에서 100m를 넘으면 [안내시작]을 팝업으로 막음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뒤로가기"/>
          <p:cNvSpPr/>
          <p:nvPr/>
        </p:nvSpPr>
        <p:spPr>
          <a:xfrm>
            <a:off x="1481328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74" name="시간표"/>
          <p:cNvSpPr/>
          <p:nvPr/>
        </p:nvSpPr>
        <p:spPr>
          <a:xfrm>
            <a:off x="3493008" y="4411981"/>
            <a:ext cx="45720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시간표</a:t>
            </a:r>
          </a:p>
        </p:txBody>
      </p:sp>
      <p:sp>
        <p:nvSpPr>
          <p:cNvPr id="75" name="뒤로가기"/>
          <p:cNvSpPr/>
          <p:nvPr/>
        </p:nvSpPr>
        <p:spPr>
          <a:xfrm>
            <a:off x="4654296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76" name="시간표"/>
          <p:cNvSpPr/>
          <p:nvPr/>
        </p:nvSpPr>
        <p:spPr>
          <a:xfrm>
            <a:off x="6665976" y="3223260"/>
            <a:ext cx="45720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시간표</a:t>
            </a:r>
          </a:p>
        </p:txBody>
      </p:sp>
      <p:sp>
        <p:nvSpPr>
          <p:cNvPr id="77" name="바텀시트 핸들"/>
          <p:cNvSpPr/>
          <p:nvPr/>
        </p:nvSpPr>
        <p:spPr>
          <a:xfrm>
            <a:off x="2592324" y="2825496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전체 경로 바"/>
          <p:cNvSpPr/>
          <p:nvPr/>
        </p:nvSpPr>
        <p:spPr>
          <a:xfrm>
            <a:off x="1572768" y="3383280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경로 바 라벨"/>
          <p:cNvSpPr txBox="1"/>
          <p:nvPr/>
        </p:nvSpPr>
        <p:spPr>
          <a:xfrm>
            <a:off x="1609344" y="3401568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0" name="전체 경로 바"/>
          <p:cNvSpPr/>
          <p:nvPr/>
        </p:nvSpPr>
        <p:spPr>
          <a:xfrm>
            <a:off x="2176272" y="3383280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경로 바 라벨"/>
          <p:cNvSpPr txBox="1"/>
          <p:nvPr/>
        </p:nvSpPr>
        <p:spPr>
          <a:xfrm>
            <a:off x="2212848" y="3401568"/>
            <a:ext cx="786384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82" name="전체 경로 바"/>
          <p:cNvSpPr/>
          <p:nvPr/>
        </p:nvSpPr>
        <p:spPr>
          <a:xfrm>
            <a:off x="3072384" y="3383280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경로 바 라벨"/>
          <p:cNvSpPr txBox="1"/>
          <p:nvPr/>
        </p:nvSpPr>
        <p:spPr>
          <a:xfrm>
            <a:off x="3108960" y="3401568"/>
            <a:ext cx="5852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84" name="지도 안내"/>
          <p:cNvSpPr txBox="1"/>
          <p:nvPr/>
        </p:nvSpPr>
        <p:spPr>
          <a:xfrm>
            <a:off x="1481328" y="1906524"/>
            <a:ext cx="218541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8A93A0"/>
                </a:solidFill>
                <a:latin typeface="Pretendard"/>
              </a:rPr>
              <a:t>선택한 경로 전 구간 — 구간 색은 선 표기 3종</a:t>
            </a:r>
          </a:p>
        </p:txBody>
      </p:sp>
      <p:sp>
        <p:nvSpPr>
          <p:cNvPr id="85" name="바텀시트 핸들"/>
          <p:cNvSpPr/>
          <p:nvPr/>
        </p:nvSpPr>
        <p:spPr>
          <a:xfrm>
            <a:off x="5765292" y="1636776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전체 경로 바"/>
          <p:cNvSpPr/>
          <p:nvPr/>
        </p:nvSpPr>
        <p:spPr>
          <a:xfrm>
            <a:off x="4745736" y="2194560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경로 바 라벨"/>
          <p:cNvSpPr txBox="1"/>
          <p:nvPr/>
        </p:nvSpPr>
        <p:spPr>
          <a:xfrm>
            <a:off x="4782312" y="2212848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8" name="전체 경로 바"/>
          <p:cNvSpPr/>
          <p:nvPr/>
        </p:nvSpPr>
        <p:spPr>
          <a:xfrm>
            <a:off x="5349240" y="2194560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경로 바 라벨"/>
          <p:cNvSpPr txBox="1"/>
          <p:nvPr/>
        </p:nvSpPr>
        <p:spPr>
          <a:xfrm>
            <a:off x="5385816" y="2212848"/>
            <a:ext cx="786384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0" name="전체 경로 바"/>
          <p:cNvSpPr/>
          <p:nvPr/>
        </p:nvSpPr>
        <p:spPr>
          <a:xfrm>
            <a:off x="6245352" y="2194560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경로 바 라벨"/>
          <p:cNvSpPr txBox="1"/>
          <p:nvPr/>
        </p:nvSpPr>
        <p:spPr>
          <a:xfrm>
            <a:off x="6281928" y="2212848"/>
            <a:ext cx="5852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92" name="도착 시각 · 요금"/>
          <p:cNvSpPr txBox="1"/>
          <p:nvPr/>
        </p:nvSpPr>
        <p:spPr>
          <a:xfrm>
            <a:off x="1545336" y="3200400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sp>
        <p:nvSpPr>
          <p:cNvPr id="93" name="도착 시각 · 요금"/>
          <p:cNvSpPr txBox="1"/>
          <p:nvPr/>
        </p:nvSpPr>
        <p:spPr>
          <a:xfrm>
            <a:off x="4718304" y="2011680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cxnSp>
        <p:nvCxnSpPr>
          <p:cNvPr id="94" name="뒤로가기"/>
          <p:cNvCxnSpPr/>
          <p:nvPr/>
        </p:nvCxnSpPr>
        <p:spPr>
          <a:xfrm flipH="1">
            <a:off x="1552956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뒤로가기"/>
          <p:cNvCxnSpPr/>
          <p:nvPr/>
        </p:nvCxnSpPr>
        <p:spPr>
          <a:xfrm flipH="1" flipV="1">
            <a:off x="1552956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뒤로가기"/>
          <p:cNvCxnSpPr/>
          <p:nvPr/>
        </p:nvCxnSpPr>
        <p:spPr>
          <a:xfrm flipH="1">
            <a:off x="4725924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뒤로가기"/>
          <p:cNvCxnSpPr/>
          <p:nvPr/>
        </p:nvCxnSpPr>
        <p:spPr>
          <a:xfrm flipH="1" flipV="1">
            <a:off x="4725924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새로고침"/>
          <p:cNvSpPr/>
          <p:nvPr/>
        </p:nvSpPr>
        <p:spPr>
          <a:xfrm>
            <a:off x="3602736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새로고침 라벨"/>
          <p:cNvSpPr txBox="1"/>
          <p:nvPr/>
        </p:nvSpPr>
        <p:spPr>
          <a:xfrm>
            <a:off x="3602736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100" name="새로고침"/>
          <p:cNvSpPr/>
          <p:nvPr/>
        </p:nvSpPr>
        <p:spPr>
          <a:xfrm>
            <a:off x="6775704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새로고침 라벨"/>
          <p:cNvSpPr txBox="1"/>
          <p:nvPr/>
        </p:nvSpPr>
        <p:spPr>
          <a:xfrm>
            <a:off x="6775704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102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66744" y="16824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66744" y="16824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104" name="지도 컨트롤"/>
          <p:cNvSpPr/>
          <p:nvPr/>
        </p:nvSpPr>
        <p:spPr>
          <a:xfrm>
            <a:off x="3666744" y="20299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지도 컨트롤 라벨"/>
          <p:cNvSpPr txBox="1"/>
          <p:nvPr/>
        </p:nvSpPr>
        <p:spPr>
          <a:xfrm>
            <a:off x="3666744" y="20299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106" name="지도 컨트롤"/>
          <p:cNvSpPr/>
          <p:nvPr/>
        </p:nvSpPr>
        <p:spPr>
          <a:xfrm>
            <a:off x="3300984" y="23774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지도 컨트롤 라벨"/>
          <p:cNvSpPr txBox="1"/>
          <p:nvPr/>
        </p:nvSpPr>
        <p:spPr>
          <a:xfrm>
            <a:off x="3300984" y="23774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108" name="숫자배지 1"/>
          <p:cNvSpPr/>
          <p:nvPr/>
        </p:nvSpPr>
        <p:spPr>
          <a:xfrm>
            <a:off x="1143000" y="424738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9" name="숫자배지 2"/>
          <p:cNvSpPr/>
          <p:nvPr/>
        </p:nvSpPr>
        <p:spPr>
          <a:xfrm>
            <a:off x="1143000" y="440740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0" name="숫자배지 3"/>
          <p:cNvSpPr/>
          <p:nvPr/>
        </p:nvSpPr>
        <p:spPr>
          <a:xfrm>
            <a:off x="1143000" y="4585717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1" name="숫자배지 4"/>
          <p:cNvSpPr/>
          <p:nvPr/>
        </p:nvSpPr>
        <p:spPr>
          <a:xfrm>
            <a:off x="1143000" y="492404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2" name="숫자배지 4-1"/>
          <p:cNvSpPr/>
          <p:nvPr/>
        </p:nvSpPr>
        <p:spPr>
          <a:xfrm>
            <a:off x="4197096" y="441198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113" name="숫자배지 5"/>
          <p:cNvSpPr/>
          <p:nvPr/>
        </p:nvSpPr>
        <p:spPr>
          <a:xfrm>
            <a:off x="3698748" y="50292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6" y="228600"/>
            <a:ext cx="10506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상세경로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26893" y="228600"/>
            <a:ext cx="880018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지하철 구간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1389888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"/>
          <p:cNvSpPr/>
          <p:nvPr/>
        </p:nvSpPr>
        <p:spPr>
          <a:xfrm>
            <a:off x="1408176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15" name="바텀시트"/>
          <p:cNvSpPr/>
          <p:nvPr/>
        </p:nvSpPr>
        <p:spPr>
          <a:xfrm>
            <a:off x="1408176" y="2761488"/>
            <a:ext cx="2724912" cy="3575304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1545336" y="290779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1408176" y="3621024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1572768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1572768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타임라인 표식"/>
          <p:cNvSpPr/>
          <p:nvPr/>
        </p:nvSpPr>
        <p:spPr>
          <a:xfrm>
            <a:off x="1591056" y="3792932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1755648" y="3767329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1643177" y="3895345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1755648" y="39273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타임라인 표식"/>
          <p:cNvSpPr/>
          <p:nvPr/>
        </p:nvSpPr>
        <p:spPr>
          <a:xfrm>
            <a:off x="1591056" y="413125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1755648" y="410565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1874520" y="426567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27" name="목업 텍스트"/>
          <p:cNvSpPr/>
          <p:nvPr/>
        </p:nvSpPr>
        <p:spPr>
          <a:xfrm>
            <a:off x="1874520" y="4425697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1874520" y="4604005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29" name="목업 텍스트"/>
          <p:cNvSpPr/>
          <p:nvPr/>
        </p:nvSpPr>
        <p:spPr>
          <a:xfrm>
            <a:off x="1874520" y="4764025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30" name="목업 텍스트"/>
          <p:cNvSpPr/>
          <p:nvPr/>
        </p:nvSpPr>
        <p:spPr>
          <a:xfrm>
            <a:off x="1874520" y="4942333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31" name="목업 텍스트"/>
          <p:cNvSpPr/>
          <p:nvPr/>
        </p:nvSpPr>
        <p:spPr>
          <a:xfrm>
            <a:off x="2354325" y="4942333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2" name="타임라인 표식"/>
          <p:cNvSpPr/>
          <p:nvPr/>
        </p:nvSpPr>
        <p:spPr>
          <a:xfrm>
            <a:off x="1591056" y="5146244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목업 텍스트"/>
          <p:cNvSpPr/>
          <p:nvPr/>
        </p:nvSpPr>
        <p:spPr>
          <a:xfrm>
            <a:off x="1755648" y="5120641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34" name="구간 선"/>
          <p:cNvCxnSpPr/>
          <p:nvPr/>
        </p:nvCxnSpPr>
        <p:spPr>
          <a:xfrm>
            <a:off x="1643177" y="4233672"/>
            <a:ext cx="0" cy="914400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목업 텍스트"/>
          <p:cNvSpPr/>
          <p:nvPr/>
        </p:nvSpPr>
        <p:spPr>
          <a:xfrm>
            <a:off x="1755648" y="5280661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36" name="구간 선"/>
          <p:cNvCxnSpPr/>
          <p:nvPr/>
        </p:nvCxnSpPr>
        <p:spPr>
          <a:xfrm>
            <a:off x="1643177" y="5248657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타임라인 표식"/>
          <p:cNvSpPr/>
          <p:nvPr/>
        </p:nvSpPr>
        <p:spPr>
          <a:xfrm>
            <a:off x="1591056" y="5484572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8" name="목업 텍스트"/>
          <p:cNvSpPr/>
          <p:nvPr/>
        </p:nvSpPr>
        <p:spPr>
          <a:xfrm>
            <a:off x="1755648" y="5458969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sp>
        <p:nvSpPr>
          <p:cNvPr id="39" name="목업 프레임"/>
          <p:cNvSpPr/>
          <p:nvPr/>
        </p:nvSpPr>
        <p:spPr>
          <a:xfrm>
            <a:off x="45628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지도"/>
          <p:cNvSpPr/>
          <p:nvPr/>
        </p:nvSpPr>
        <p:spPr>
          <a:xfrm>
            <a:off x="4581144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41" name="바텀시트"/>
          <p:cNvSpPr/>
          <p:nvPr/>
        </p:nvSpPr>
        <p:spPr>
          <a:xfrm>
            <a:off x="4581144" y="1572768"/>
            <a:ext cx="2724912" cy="4764024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2" name="소요시간 배지"/>
          <p:cNvSpPr/>
          <p:nvPr/>
        </p:nvSpPr>
        <p:spPr>
          <a:xfrm>
            <a:off x="4718304" y="1719072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33분</a:t>
            </a:r>
          </a:p>
        </p:txBody>
      </p:sp>
      <p:sp>
        <p:nvSpPr>
          <p:cNvPr id="43" name="리스트 구분선"/>
          <p:cNvSpPr/>
          <p:nvPr/>
        </p:nvSpPr>
        <p:spPr>
          <a:xfrm>
            <a:off x="4581144" y="2432304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버튼 안내시작"/>
          <p:cNvSpPr/>
          <p:nvPr/>
        </p:nvSpPr>
        <p:spPr>
          <a:xfrm>
            <a:off x="47457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버튼 라벨"/>
          <p:cNvSpPr txBox="1"/>
          <p:nvPr/>
        </p:nvSpPr>
        <p:spPr>
          <a:xfrm>
            <a:off x="47457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46" name="타임라인 표식"/>
          <p:cNvSpPr/>
          <p:nvPr/>
        </p:nvSpPr>
        <p:spPr>
          <a:xfrm>
            <a:off x="4764024" y="260421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목업 텍스트"/>
          <p:cNvSpPr/>
          <p:nvPr/>
        </p:nvSpPr>
        <p:spPr>
          <a:xfrm>
            <a:off x="4928616" y="257860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48" name="구간 선"/>
          <p:cNvCxnSpPr/>
          <p:nvPr/>
        </p:nvCxnSpPr>
        <p:spPr>
          <a:xfrm>
            <a:off x="4816145" y="2706624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목업 텍스트"/>
          <p:cNvSpPr/>
          <p:nvPr/>
        </p:nvSpPr>
        <p:spPr>
          <a:xfrm>
            <a:off x="4928616" y="273862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50" name="타임라인 표식"/>
          <p:cNvSpPr/>
          <p:nvPr/>
        </p:nvSpPr>
        <p:spPr>
          <a:xfrm>
            <a:off x="4764024" y="294253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51" name="목업 텍스트"/>
          <p:cNvSpPr/>
          <p:nvPr/>
        </p:nvSpPr>
        <p:spPr>
          <a:xfrm>
            <a:off x="4928616" y="291693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  2호선</a:t>
            </a:r>
          </a:p>
        </p:txBody>
      </p:sp>
      <p:sp>
        <p:nvSpPr>
          <p:cNvPr id="52" name="목업 텍스트"/>
          <p:cNvSpPr/>
          <p:nvPr/>
        </p:nvSpPr>
        <p:spPr>
          <a:xfrm>
            <a:off x="5047488" y="307695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· 신도림 방면</a:t>
            </a:r>
          </a:p>
        </p:txBody>
      </p:sp>
      <p:sp>
        <p:nvSpPr>
          <p:cNvPr id="53" name="목업 텍스트"/>
          <p:cNvSpPr/>
          <p:nvPr/>
        </p:nvSpPr>
        <p:spPr>
          <a:xfrm>
            <a:off x="5047488" y="32369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빠른환승 4-1 · 승강장 3번</a:t>
            </a:r>
          </a:p>
        </p:txBody>
      </p:sp>
      <p:sp>
        <p:nvSpPr>
          <p:cNvPr id="54" name="목업 텍스트"/>
          <p:cNvSpPr/>
          <p:nvPr/>
        </p:nvSpPr>
        <p:spPr>
          <a:xfrm>
            <a:off x="5047488" y="341528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차기       곧 도착</a:t>
            </a:r>
          </a:p>
        </p:txBody>
      </p:sp>
      <p:sp>
        <p:nvSpPr>
          <p:cNvPr id="55" name="목업 텍스트"/>
          <p:cNvSpPr/>
          <p:nvPr/>
        </p:nvSpPr>
        <p:spPr>
          <a:xfrm>
            <a:off x="5047488" y="35753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차차기   5분 32초</a:t>
            </a:r>
          </a:p>
        </p:txBody>
      </p:sp>
      <p:sp>
        <p:nvSpPr>
          <p:cNvPr id="56" name="목업 텍스트"/>
          <p:cNvSpPr/>
          <p:nvPr/>
        </p:nvSpPr>
        <p:spPr>
          <a:xfrm>
            <a:off x="5047488" y="37536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8개 역 · 16분</a:t>
            </a:r>
          </a:p>
        </p:txBody>
      </p:sp>
      <p:sp>
        <p:nvSpPr>
          <p:cNvPr id="57" name="목업 텍스트"/>
          <p:cNvSpPr/>
          <p:nvPr/>
        </p:nvSpPr>
        <p:spPr>
          <a:xfrm>
            <a:off x="5527293" y="3753612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∧</a:t>
            </a:r>
          </a:p>
        </p:txBody>
      </p:sp>
      <p:sp>
        <p:nvSpPr>
          <p:cNvPr id="58" name="목업 텍스트"/>
          <p:cNvSpPr/>
          <p:nvPr/>
        </p:nvSpPr>
        <p:spPr>
          <a:xfrm>
            <a:off x="5047488" y="39319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충정로</a:t>
            </a:r>
          </a:p>
        </p:txBody>
      </p:sp>
      <p:sp>
        <p:nvSpPr>
          <p:cNvPr id="59" name="목업 텍스트"/>
          <p:cNvSpPr/>
          <p:nvPr/>
        </p:nvSpPr>
        <p:spPr>
          <a:xfrm>
            <a:off x="5047488" y="40919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아현</a:t>
            </a:r>
          </a:p>
        </p:txBody>
      </p:sp>
      <p:sp>
        <p:nvSpPr>
          <p:cNvPr id="60" name="목업 텍스트"/>
          <p:cNvSpPr/>
          <p:nvPr/>
        </p:nvSpPr>
        <p:spPr>
          <a:xfrm>
            <a:off x="5047488" y="42519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이대</a:t>
            </a:r>
          </a:p>
        </p:txBody>
      </p:sp>
      <p:sp>
        <p:nvSpPr>
          <p:cNvPr id="61" name="목업 텍스트"/>
          <p:cNvSpPr/>
          <p:nvPr/>
        </p:nvSpPr>
        <p:spPr>
          <a:xfrm>
            <a:off x="5047488" y="441198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신촌</a:t>
            </a:r>
          </a:p>
        </p:txBody>
      </p:sp>
      <p:sp>
        <p:nvSpPr>
          <p:cNvPr id="62" name="목업 텍스트"/>
          <p:cNvSpPr/>
          <p:nvPr/>
        </p:nvSpPr>
        <p:spPr>
          <a:xfrm>
            <a:off x="5047488" y="457200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홍대입구</a:t>
            </a:r>
          </a:p>
        </p:txBody>
      </p:sp>
      <p:sp>
        <p:nvSpPr>
          <p:cNvPr id="63" name="목업 텍스트"/>
          <p:cNvSpPr/>
          <p:nvPr/>
        </p:nvSpPr>
        <p:spPr>
          <a:xfrm>
            <a:off x="5047488" y="47320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합정</a:t>
            </a:r>
          </a:p>
        </p:txBody>
      </p:sp>
      <p:sp>
        <p:nvSpPr>
          <p:cNvPr id="64" name="목업 텍스트"/>
          <p:cNvSpPr/>
          <p:nvPr/>
        </p:nvSpPr>
        <p:spPr>
          <a:xfrm>
            <a:off x="5047488" y="48920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</a:t>
            </a:r>
          </a:p>
        </p:txBody>
      </p:sp>
      <p:sp>
        <p:nvSpPr>
          <p:cNvPr id="65" name="타임라인 표식"/>
          <p:cNvSpPr/>
          <p:nvPr/>
        </p:nvSpPr>
        <p:spPr>
          <a:xfrm>
            <a:off x="4764024" y="509595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6" name="목업 텍스트"/>
          <p:cNvSpPr/>
          <p:nvPr/>
        </p:nvSpPr>
        <p:spPr>
          <a:xfrm>
            <a:off x="4928616" y="507034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   하차</a:t>
            </a:r>
          </a:p>
        </p:txBody>
      </p:sp>
      <p:cxnSp>
        <p:nvCxnSpPr>
          <p:cNvPr id="67" name="구간 선"/>
          <p:cNvCxnSpPr/>
          <p:nvPr/>
        </p:nvCxnSpPr>
        <p:spPr>
          <a:xfrm>
            <a:off x="4816145" y="3044952"/>
            <a:ext cx="0" cy="2052828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목업 텍스트"/>
          <p:cNvSpPr/>
          <p:nvPr/>
        </p:nvSpPr>
        <p:spPr>
          <a:xfrm>
            <a:off x="4928616" y="52303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 복지관까지 도보 800m (10분)</a:t>
            </a:r>
          </a:p>
        </p:txBody>
      </p:sp>
      <p:cxnSp>
        <p:nvCxnSpPr>
          <p:cNvPr id="69" name="구간 선"/>
          <p:cNvCxnSpPr/>
          <p:nvPr/>
        </p:nvCxnSpPr>
        <p:spPr>
          <a:xfrm>
            <a:off x="4816145" y="5198364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타임라인 표식"/>
          <p:cNvSpPr/>
          <p:nvPr/>
        </p:nvSpPr>
        <p:spPr>
          <a:xfrm>
            <a:off x="4764024" y="5434279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71" name="목업 텍스트"/>
          <p:cNvSpPr/>
          <p:nvPr/>
        </p:nvSpPr>
        <p:spPr>
          <a:xfrm>
            <a:off x="4928616" y="540867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복지관</a:t>
            </a:r>
          </a:p>
        </p:txBody>
      </p:sp>
      <p:graphicFrame>
        <p:nvGraphicFramePr>
          <p:cNvPr id="72" name="Description 표"/>
          <p:cNvGraphicFramePr>
            <a:graphicFrameLocks noGrp="1"/>
          </p:cNvGraphicFramePr>
          <p:nvPr/>
        </p:nvGraphicFramePr>
        <p:xfrm>
          <a:off x="8630107" y="1444752"/>
          <a:ext cx="2972409" cy="407456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구간 요약 · 드롭다운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‘N개 역 · N분’ — N은 탑승역 제외 (경유역 + 하차역)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[∨] 선택 시 경유역 목록 펼침 · 기본값은 접힘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경유역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펼침 상태에서만 표출 · 탑승 순서대로 이름만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소요시간 · 승강장을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새로고침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플로팅 — [안내시작] 영역을 가리지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정보는 10초마다 자동 갱신 · [새로고침]으로 직접 당길 수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· 구간 구성은 갱신 대상이 아님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선 표기 3종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지하철은 노선 고유색 · 버스는 노선 유형색 · 도보는 도보색에 점선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구간 종류는 노선명 · ‘도보’ 문자로 함께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뒤로가기"/>
          <p:cNvSpPr/>
          <p:nvPr/>
        </p:nvSpPr>
        <p:spPr>
          <a:xfrm>
            <a:off x="1481328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74" name="시간표"/>
          <p:cNvSpPr/>
          <p:nvPr/>
        </p:nvSpPr>
        <p:spPr>
          <a:xfrm>
            <a:off x="3493008" y="4411981"/>
            <a:ext cx="45720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시간표</a:t>
            </a:r>
          </a:p>
        </p:txBody>
      </p:sp>
      <p:sp>
        <p:nvSpPr>
          <p:cNvPr id="75" name="뒤로가기"/>
          <p:cNvSpPr/>
          <p:nvPr/>
        </p:nvSpPr>
        <p:spPr>
          <a:xfrm>
            <a:off x="4654296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76" name="시간표"/>
          <p:cNvSpPr/>
          <p:nvPr/>
        </p:nvSpPr>
        <p:spPr>
          <a:xfrm>
            <a:off x="6665976" y="3223260"/>
            <a:ext cx="45720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시간표</a:t>
            </a:r>
          </a:p>
        </p:txBody>
      </p:sp>
      <p:sp>
        <p:nvSpPr>
          <p:cNvPr id="77" name="바텀시트 핸들"/>
          <p:cNvSpPr/>
          <p:nvPr/>
        </p:nvSpPr>
        <p:spPr>
          <a:xfrm>
            <a:off x="2592324" y="2825496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전체 경로 바"/>
          <p:cNvSpPr/>
          <p:nvPr/>
        </p:nvSpPr>
        <p:spPr>
          <a:xfrm>
            <a:off x="1572768" y="3383280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경로 바 라벨"/>
          <p:cNvSpPr txBox="1"/>
          <p:nvPr/>
        </p:nvSpPr>
        <p:spPr>
          <a:xfrm>
            <a:off x="1609344" y="3401568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0" name="전체 경로 바"/>
          <p:cNvSpPr/>
          <p:nvPr/>
        </p:nvSpPr>
        <p:spPr>
          <a:xfrm>
            <a:off x="2176272" y="3383280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경로 바 라벨"/>
          <p:cNvSpPr txBox="1"/>
          <p:nvPr/>
        </p:nvSpPr>
        <p:spPr>
          <a:xfrm>
            <a:off x="2212848" y="3401568"/>
            <a:ext cx="786384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82" name="전체 경로 바"/>
          <p:cNvSpPr/>
          <p:nvPr/>
        </p:nvSpPr>
        <p:spPr>
          <a:xfrm>
            <a:off x="3072384" y="3383280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경로 바 라벨"/>
          <p:cNvSpPr txBox="1"/>
          <p:nvPr/>
        </p:nvSpPr>
        <p:spPr>
          <a:xfrm>
            <a:off x="3108960" y="3401568"/>
            <a:ext cx="5852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84" name="지도 안내"/>
          <p:cNvSpPr txBox="1"/>
          <p:nvPr/>
        </p:nvSpPr>
        <p:spPr>
          <a:xfrm>
            <a:off x="1481328" y="1906524"/>
            <a:ext cx="218541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8A93A0"/>
                </a:solidFill>
                <a:latin typeface="Pretendard"/>
              </a:rPr>
              <a:t>선택한 경로 전 구간 — 구간 색은 선 표기 3종</a:t>
            </a:r>
          </a:p>
        </p:txBody>
      </p:sp>
      <p:sp>
        <p:nvSpPr>
          <p:cNvPr id="85" name="바텀시트 핸들"/>
          <p:cNvSpPr/>
          <p:nvPr/>
        </p:nvSpPr>
        <p:spPr>
          <a:xfrm>
            <a:off x="5765292" y="1636776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전체 경로 바"/>
          <p:cNvSpPr/>
          <p:nvPr/>
        </p:nvSpPr>
        <p:spPr>
          <a:xfrm>
            <a:off x="4745736" y="2194560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경로 바 라벨"/>
          <p:cNvSpPr txBox="1"/>
          <p:nvPr/>
        </p:nvSpPr>
        <p:spPr>
          <a:xfrm>
            <a:off x="4782312" y="2212848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8" name="전체 경로 바"/>
          <p:cNvSpPr/>
          <p:nvPr/>
        </p:nvSpPr>
        <p:spPr>
          <a:xfrm>
            <a:off x="5349240" y="2194560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경로 바 라벨"/>
          <p:cNvSpPr txBox="1"/>
          <p:nvPr/>
        </p:nvSpPr>
        <p:spPr>
          <a:xfrm>
            <a:off x="5385816" y="2212848"/>
            <a:ext cx="786384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0" name="전체 경로 바"/>
          <p:cNvSpPr/>
          <p:nvPr/>
        </p:nvSpPr>
        <p:spPr>
          <a:xfrm>
            <a:off x="6245352" y="2194560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경로 바 라벨"/>
          <p:cNvSpPr txBox="1"/>
          <p:nvPr/>
        </p:nvSpPr>
        <p:spPr>
          <a:xfrm>
            <a:off x="6281928" y="2212848"/>
            <a:ext cx="58521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92" name="도착 시각 · 요금"/>
          <p:cNvSpPr txBox="1"/>
          <p:nvPr/>
        </p:nvSpPr>
        <p:spPr>
          <a:xfrm>
            <a:off x="1545336" y="3200400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sp>
        <p:nvSpPr>
          <p:cNvPr id="93" name="도착 시각 · 요금"/>
          <p:cNvSpPr txBox="1"/>
          <p:nvPr/>
        </p:nvSpPr>
        <p:spPr>
          <a:xfrm>
            <a:off x="4718304" y="2011680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cxnSp>
        <p:nvCxnSpPr>
          <p:cNvPr id="94" name="뒤로가기"/>
          <p:cNvCxnSpPr/>
          <p:nvPr/>
        </p:nvCxnSpPr>
        <p:spPr>
          <a:xfrm flipH="1">
            <a:off x="1552956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뒤로가기"/>
          <p:cNvCxnSpPr/>
          <p:nvPr/>
        </p:nvCxnSpPr>
        <p:spPr>
          <a:xfrm flipH="1" flipV="1">
            <a:off x="1552956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뒤로가기"/>
          <p:cNvCxnSpPr/>
          <p:nvPr/>
        </p:nvCxnSpPr>
        <p:spPr>
          <a:xfrm flipH="1">
            <a:off x="4725924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뒤로가기"/>
          <p:cNvCxnSpPr/>
          <p:nvPr/>
        </p:nvCxnSpPr>
        <p:spPr>
          <a:xfrm flipH="1" flipV="1">
            <a:off x="4725924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새로고침"/>
          <p:cNvSpPr/>
          <p:nvPr/>
        </p:nvSpPr>
        <p:spPr>
          <a:xfrm>
            <a:off x="3602736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9" name="새로고침 라벨"/>
          <p:cNvSpPr txBox="1"/>
          <p:nvPr/>
        </p:nvSpPr>
        <p:spPr>
          <a:xfrm>
            <a:off x="3602736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100" name="새로고침"/>
          <p:cNvSpPr/>
          <p:nvPr/>
        </p:nvSpPr>
        <p:spPr>
          <a:xfrm>
            <a:off x="6775704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새로고침 라벨"/>
          <p:cNvSpPr txBox="1"/>
          <p:nvPr/>
        </p:nvSpPr>
        <p:spPr>
          <a:xfrm>
            <a:off x="6775704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102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66744" y="16824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66744" y="16824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104" name="지도 컨트롤"/>
          <p:cNvSpPr/>
          <p:nvPr/>
        </p:nvSpPr>
        <p:spPr>
          <a:xfrm>
            <a:off x="3666744" y="20299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지도 컨트롤 라벨"/>
          <p:cNvSpPr txBox="1"/>
          <p:nvPr/>
        </p:nvSpPr>
        <p:spPr>
          <a:xfrm>
            <a:off x="3666744" y="20299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106" name="지도 컨트롤"/>
          <p:cNvSpPr/>
          <p:nvPr/>
        </p:nvSpPr>
        <p:spPr>
          <a:xfrm>
            <a:off x="3300984" y="23774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7" name="지도 컨트롤 라벨"/>
          <p:cNvSpPr txBox="1"/>
          <p:nvPr/>
        </p:nvSpPr>
        <p:spPr>
          <a:xfrm>
            <a:off x="3300984" y="23774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108" name="숫자배지 1"/>
          <p:cNvSpPr/>
          <p:nvPr/>
        </p:nvSpPr>
        <p:spPr>
          <a:xfrm>
            <a:off x="1143000" y="424738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9" name="숫자배지 2"/>
          <p:cNvSpPr/>
          <p:nvPr/>
        </p:nvSpPr>
        <p:spPr>
          <a:xfrm>
            <a:off x="1143000" y="4407409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0" name="숫자배지 3"/>
          <p:cNvSpPr/>
          <p:nvPr/>
        </p:nvSpPr>
        <p:spPr>
          <a:xfrm>
            <a:off x="1143000" y="4585717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1" name="숫자배지 4"/>
          <p:cNvSpPr/>
          <p:nvPr/>
        </p:nvSpPr>
        <p:spPr>
          <a:xfrm>
            <a:off x="1143000" y="4924045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2" name="숫자배지 4-1"/>
          <p:cNvSpPr/>
          <p:nvPr/>
        </p:nvSpPr>
        <p:spPr>
          <a:xfrm>
            <a:off x="4197096" y="4411980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4-1</a:t>
            </a:r>
          </a:p>
        </p:txBody>
      </p:sp>
      <p:sp>
        <p:nvSpPr>
          <p:cNvPr id="113" name="숫자배지 5"/>
          <p:cNvSpPr/>
          <p:nvPr/>
        </p:nvSpPr>
        <p:spPr>
          <a:xfrm>
            <a:off x="3698748" y="50292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6" y="228600"/>
            <a:ext cx="10506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상세경로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26893" y="228600"/>
            <a:ext cx="880018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버스 구간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29626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"/>
          <p:cNvSpPr/>
          <p:nvPr/>
        </p:nvSpPr>
        <p:spPr>
          <a:xfrm>
            <a:off x="2980944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15" name="바텀시트"/>
          <p:cNvSpPr/>
          <p:nvPr/>
        </p:nvSpPr>
        <p:spPr>
          <a:xfrm>
            <a:off x="2980944" y="2295144"/>
            <a:ext cx="2724912" cy="4041648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3118104" y="2441448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2980944" y="3154680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31455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31455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타임라인 표식"/>
          <p:cNvSpPr/>
          <p:nvPr/>
        </p:nvSpPr>
        <p:spPr>
          <a:xfrm>
            <a:off x="3163824" y="3326587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3328416" y="330098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3215945" y="3429000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3328416" y="34610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타임라인 표식"/>
          <p:cNvSpPr/>
          <p:nvPr/>
        </p:nvSpPr>
        <p:spPr>
          <a:xfrm>
            <a:off x="3163824" y="3664915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3328416" y="36393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3447288" y="38176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406번    간선</a:t>
            </a:r>
          </a:p>
        </p:txBody>
      </p:sp>
      <p:sp>
        <p:nvSpPr>
          <p:cNvPr id="27" name="승차 예약"/>
          <p:cNvSpPr/>
          <p:nvPr/>
        </p:nvSpPr>
        <p:spPr>
          <a:xfrm>
            <a:off x="4700016" y="3808476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3447288" y="39776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곧 도착 (일반) · 12분 (저상)</a:t>
            </a:r>
          </a:p>
        </p:txBody>
      </p:sp>
      <p:sp>
        <p:nvSpPr>
          <p:cNvPr id="29" name="리스트 구분선"/>
          <p:cNvSpPr/>
          <p:nvPr/>
        </p:nvSpPr>
        <p:spPr>
          <a:xfrm>
            <a:off x="3419856" y="4165092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목업 텍스트"/>
          <p:cNvSpPr/>
          <p:nvPr/>
        </p:nvSpPr>
        <p:spPr>
          <a:xfrm>
            <a:off x="3447288" y="42108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4212번  지선</a:t>
            </a:r>
          </a:p>
        </p:txBody>
      </p:sp>
      <p:sp>
        <p:nvSpPr>
          <p:cNvPr id="31" name="승차 예약"/>
          <p:cNvSpPr/>
          <p:nvPr/>
        </p:nvSpPr>
        <p:spPr>
          <a:xfrm>
            <a:off x="4700016" y="4201668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2" name="목업 텍스트"/>
          <p:cNvSpPr/>
          <p:nvPr/>
        </p:nvSpPr>
        <p:spPr>
          <a:xfrm>
            <a:off x="3447288" y="43708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3분 12초 (저상) · 15분 (저상)</a:t>
            </a:r>
          </a:p>
        </p:txBody>
      </p:sp>
      <p:sp>
        <p:nvSpPr>
          <p:cNvPr id="33" name="리스트 구분선"/>
          <p:cNvSpPr/>
          <p:nvPr/>
        </p:nvSpPr>
        <p:spPr>
          <a:xfrm>
            <a:off x="3419856" y="4558284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목업 텍스트"/>
          <p:cNvSpPr/>
          <p:nvPr/>
        </p:nvSpPr>
        <p:spPr>
          <a:xfrm>
            <a:off x="3447288" y="46040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7016번  지선</a:t>
            </a:r>
          </a:p>
        </p:txBody>
      </p:sp>
      <p:sp>
        <p:nvSpPr>
          <p:cNvPr id="35" name="승차 예약"/>
          <p:cNvSpPr/>
          <p:nvPr/>
        </p:nvSpPr>
        <p:spPr>
          <a:xfrm>
            <a:off x="4700016" y="4594860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6" name="목업 텍스트"/>
          <p:cNvSpPr/>
          <p:nvPr/>
        </p:nvSpPr>
        <p:spPr>
          <a:xfrm>
            <a:off x="3447288" y="476402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4분 10초 (일반) · 18분 (일반)</a:t>
            </a:r>
          </a:p>
        </p:txBody>
      </p:sp>
      <p:sp>
        <p:nvSpPr>
          <p:cNvPr id="37" name="목업 텍스트"/>
          <p:cNvSpPr/>
          <p:nvPr/>
        </p:nvSpPr>
        <p:spPr>
          <a:xfrm>
            <a:off x="3447288" y="49423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6개 정류장 · 18분</a:t>
            </a:r>
          </a:p>
        </p:txBody>
      </p:sp>
      <p:sp>
        <p:nvSpPr>
          <p:cNvPr id="38" name="목업 텍스트"/>
          <p:cNvSpPr/>
          <p:nvPr/>
        </p:nvSpPr>
        <p:spPr>
          <a:xfrm>
            <a:off x="4069841" y="4942332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9" name="타임라인 표식"/>
          <p:cNvSpPr/>
          <p:nvPr/>
        </p:nvSpPr>
        <p:spPr>
          <a:xfrm>
            <a:off x="3163824" y="514624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목업 텍스트"/>
          <p:cNvSpPr/>
          <p:nvPr/>
        </p:nvSpPr>
        <p:spPr>
          <a:xfrm>
            <a:off x="3328416" y="51206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119 앞 정류장   하차</a:t>
            </a:r>
          </a:p>
        </p:txBody>
      </p:sp>
      <p:cxnSp>
        <p:nvCxnSpPr>
          <p:cNvPr id="41" name="구간 선"/>
          <p:cNvCxnSpPr/>
          <p:nvPr/>
        </p:nvCxnSpPr>
        <p:spPr>
          <a:xfrm>
            <a:off x="3215945" y="3767328"/>
            <a:ext cx="0" cy="1380744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목업 텍스트"/>
          <p:cNvSpPr/>
          <p:nvPr/>
        </p:nvSpPr>
        <p:spPr>
          <a:xfrm>
            <a:off x="3328416" y="52806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당산역까지 도보 23m (2분)</a:t>
            </a:r>
          </a:p>
        </p:txBody>
      </p:sp>
      <p:cxnSp>
        <p:nvCxnSpPr>
          <p:cNvPr id="43" name="구간 선"/>
          <p:cNvCxnSpPr/>
          <p:nvPr/>
        </p:nvCxnSpPr>
        <p:spPr>
          <a:xfrm>
            <a:off x="3215945" y="5248656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타임라인 표식"/>
          <p:cNvSpPr/>
          <p:nvPr/>
        </p:nvSpPr>
        <p:spPr>
          <a:xfrm>
            <a:off x="3163824" y="548457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5" name="목업 텍스트"/>
          <p:cNvSpPr/>
          <p:nvPr/>
        </p:nvSpPr>
        <p:spPr>
          <a:xfrm>
            <a:off x="3328416" y="54589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30107" y="1444752"/>
          <a:ext cx="2972409" cy="478779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노선 후보 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노선명 + 유형(간선 · 지선)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차기 · 차차기 도착과 각 차량의 (저상) · (일반)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방면은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탑승 가능한 노선 수만큼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[승차 예약]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 행마다 1개 · 버튼 문구는 ‘승차 예약’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노선 상세(2-5-1)로 이동 — 노선 × 승차 정류장 승계 · 그 정류장 하이라이트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예약은 2-5-1에서 도착 건(편성)을 고른 뒤 신청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2-5-1의 뒤로가기는 이 화면으로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표출 조건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저상 배차가 없는 노선에는 버튼을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지금 오는 차가 일반버스여도 저상 배차가 있으면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이미 신청한 편성이 있어도 버튼은 활성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구간 요약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‘N개 정류장 · N분’ — 노선 공통 1개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바텀시트 핸들"/>
          <p:cNvSpPr/>
          <p:nvPr/>
        </p:nvSpPr>
        <p:spPr>
          <a:xfrm>
            <a:off x="4165092" y="235915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전체 경로 바"/>
          <p:cNvSpPr/>
          <p:nvPr/>
        </p:nvSpPr>
        <p:spPr>
          <a:xfrm>
            <a:off x="3145536" y="291693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경로 바 라벨"/>
          <p:cNvSpPr txBox="1"/>
          <p:nvPr/>
        </p:nvSpPr>
        <p:spPr>
          <a:xfrm>
            <a:off x="3182112" y="2935224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50" name="전체 경로 바"/>
          <p:cNvSpPr/>
          <p:nvPr/>
        </p:nvSpPr>
        <p:spPr>
          <a:xfrm>
            <a:off x="3749040" y="2916936"/>
            <a:ext cx="786384" cy="182880"/>
          </a:xfrm>
          <a:prstGeom prst="roundRect">
            <a:avLst/>
          </a:prstGeom>
          <a:solidFill>
            <a:srgbClr val="3D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경로 바 라벨"/>
          <p:cNvSpPr txBox="1"/>
          <p:nvPr/>
        </p:nvSpPr>
        <p:spPr>
          <a:xfrm>
            <a:off x="3785616" y="2935224"/>
            <a:ext cx="71323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52" name="전체 경로 바"/>
          <p:cNvSpPr/>
          <p:nvPr/>
        </p:nvSpPr>
        <p:spPr>
          <a:xfrm>
            <a:off x="4572000" y="2916936"/>
            <a:ext cx="603504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경로 바 라벨"/>
          <p:cNvSpPr txBox="1"/>
          <p:nvPr/>
        </p:nvSpPr>
        <p:spPr>
          <a:xfrm>
            <a:off x="4608576" y="2935224"/>
            <a:ext cx="53035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2분</a:t>
            </a:r>
          </a:p>
        </p:txBody>
      </p:sp>
      <p:sp>
        <p:nvSpPr>
          <p:cNvPr id="54" name="지도 안내"/>
          <p:cNvSpPr txBox="1"/>
          <p:nvPr/>
        </p:nvSpPr>
        <p:spPr>
          <a:xfrm>
            <a:off x="3054096" y="1673352"/>
            <a:ext cx="218541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8A93A0"/>
                </a:solidFill>
                <a:latin typeface="Pretendard"/>
              </a:rPr>
              <a:t>선택한 경로 전 구간 — 구간 색은 선 표기 3종</a:t>
            </a:r>
          </a:p>
        </p:txBody>
      </p:sp>
      <p:sp>
        <p:nvSpPr>
          <p:cNvPr id="55" name="뒤로가기"/>
          <p:cNvSpPr/>
          <p:nvPr/>
        </p:nvSpPr>
        <p:spPr>
          <a:xfrm>
            <a:off x="3054096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56" name="도착 시각 · 요금"/>
          <p:cNvSpPr txBox="1"/>
          <p:nvPr/>
        </p:nvSpPr>
        <p:spPr>
          <a:xfrm>
            <a:off x="3118104" y="2734056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cxnSp>
        <p:nvCxnSpPr>
          <p:cNvPr id="57" name="뒤로가기"/>
          <p:cNvCxnSpPr/>
          <p:nvPr/>
        </p:nvCxnSpPr>
        <p:spPr>
          <a:xfrm flipH="1">
            <a:off x="3125724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 flipV="1">
            <a:off x="3125724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새로고침"/>
          <p:cNvSpPr/>
          <p:nvPr/>
        </p:nvSpPr>
        <p:spPr>
          <a:xfrm>
            <a:off x="5175504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새로고침 라벨"/>
          <p:cNvSpPr txBox="1"/>
          <p:nvPr/>
        </p:nvSpPr>
        <p:spPr>
          <a:xfrm>
            <a:off x="5175504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6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39512" y="156362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39512" y="156362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3" name="지도 컨트롤"/>
          <p:cNvSpPr/>
          <p:nvPr/>
        </p:nvSpPr>
        <p:spPr>
          <a:xfrm>
            <a:off x="5239512" y="1911095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컨트롤 라벨"/>
          <p:cNvSpPr txBox="1"/>
          <p:nvPr/>
        </p:nvSpPr>
        <p:spPr>
          <a:xfrm>
            <a:off x="5239512" y="1911095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4526280" y="1911095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4526280" y="1911095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숫자배지 1"/>
          <p:cNvSpPr/>
          <p:nvPr/>
        </p:nvSpPr>
        <p:spPr>
          <a:xfrm>
            <a:off x="2715768" y="37993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8" name="숫자배지 2"/>
          <p:cNvSpPr/>
          <p:nvPr/>
        </p:nvSpPr>
        <p:spPr>
          <a:xfrm>
            <a:off x="5413248" y="37901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9" name="숫자배지 2-1"/>
          <p:cNvSpPr/>
          <p:nvPr/>
        </p:nvSpPr>
        <p:spPr>
          <a:xfrm>
            <a:off x="5413248" y="457657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0" name="숫자배지 3"/>
          <p:cNvSpPr/>
          <p:nvPr/>
        </p:nvSpPr>
        <p:spPr>
          <a:xfrm>
            <a:off x="2715768" y="49240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1" name="숫자배지 4"/>
          <p:cNvSpPr/>
          <p:nvPr/>
        </p:nvSpPr>
        <p:spPr>
          <a:xfrm>
            <a:off x="4553712" y="5093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lang="ko-KR" altLang="en-US">
                <a:solidFill>
                  <a:srgbClr val="0B7D77"/>
                </a:solidFill>
                <a:latin typeface="Pretendard"/>
              </a:rPr>
              <a:t>2-3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6" y="228600"/>
            <a:ext cx="10506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lang="ko-KR" altLang="en-US">
                <a:solidFill>
                  <a:srgbClr val="14181F"/>
                </a:solidFill>
                <a:latin typeface="Pretendard"/>
              </a:rPr>
              <a:t>상세경로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26893" y="228600"/>
            <a:ext cx="880018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lang="ko-KR" altLang="en-US">
                <a:solidFill>
                  <a:srgbClr val="8A94A3"/>
                </a:solidFill>
                <a:latin typeface="Pretendard"/>
              </a:rPr>
              <a:t>버스 구간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목업 프레임"/>
          <p:cNvSpPr/>
          <p:nvPr/>
        </p:nvSpPr>
        <p:spPr>
          <a:xfrm>
            <a:off x="2962656" y="1197864"/>
            <a:ext cx="2734056" cy="513892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"/>
          <p:cNvSpPr/>
          <p:nvPr/>
        </p:nvSpPr>
        <p:spPr>
          <a:xfrm>
            <a:off x="2980944" y="1207008"/>
            <a:ext cx="2715768" cy="5111496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txBody>
          <a:bodyPr/>
          <a:lstStyle/>
          <a:p/>
        </p:txBody>
      </p:sp>
      <p:sp>
        <p:nvSpPr>
          <p:cNvPr id="15" name="바텀시트"/>
          <p:cNvSpPr/>
          <p:nvPr/>
        </p:nvSpPr>
        <p:spPr>
          <a:xfrm>
            <a:off x="2980944" y="2295144"/>
            <a:ext cx="2724912" cy="4041648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6" name="소요시간 배지"/>
          <p:cNvSpPr/>
          <p:nvPr/>
        </p:nvSpPr>
        <p:spPr>
          <a:xfrm>
            <a:off x="3118104" y="2441448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0" lang="ko-KR" altLang="en-US">
                <a:solidFill>
                  <a:srgbClr val="14181F"/>
                </a:solidFill>
                <a:latin typeface="Pretendard"/>
              </a:rPr>
              <a:t>37분</a:t>
            </a:r>
          </a:p>
        </p:txBody>
      </p:sp>
      <p:sp>
        <p:nvSpPr>
          <p:cNvPr id="17" name="리스트 구분선"/>
          <p:cNvSpPr/>
          <p:nvPr/>
        </p:nvSpPr>
        <p:spPr>
          <a:xfrm>
            <a:off x="2980944" y="3154680"/>
            <a:ext cx="2724912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버튼 안내시작"/>
          <p:cNvSpPr/>
          <p:nvPr/>
        </p:nvSpPr>
        <p:spPr>
          <a:xfrm>
            <a:off x="3145536" y="5733288"/>
            <a:ext cx="2377440" cy="438912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버튼 라벨"/>
          <p:cNvSpPr txBox="1"/>
          <p:nvPr/>
        </p:nvSpPr>
        <p:spPr>
          <a:xfrm>
            <a:off x="3145536" y="5733288"/>
            <a:ext cx="2377440" cy="43891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 lang="ko-KR" altLang="en-US">
                <a:solidFill>
                  <a:srgbClr val="14181F"/>
                </a:solidFill>
                <a:latin typeface="Pretendard"/>
              </a:rPr>
              <a:t>안내시작</a:t>
            </a:r>
          </a:p>
        </p:txBody>
      </p:sp>
      <p:sp>
        <p:nvSpPr>
          <p:cNvPr id="20" name="타임라인 표식"/>
          <p:cNvSpPr/>
          <p:nvPr/>
        </p:nvSpPr>
        <p:spPr>
          <a:xfrm>
            <a:off x="3163824" y="3326587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1" name="목업 텍스트"/>
          <p:cNvSpPr/>
          <p:nvPr/>
        </p:nvSpPr>
        <p:spPr>
          <a:xfrm>
            <a:off x="3328416" y="330098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cxnSp>
        <p:nvCxnSpPr>
          <p:cNvPr id="22" name="구간 선"/>
          <p:cNvCxnSpPr/>
          <p:nvPr/>
        </p:nvCxnSpPr>
        <p:spPr>
          <a:xfrm>
            <a:off x="3215945" y="3429000"/>
            <a:ext cx="0" cy="7772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목업 텍스트"/>
          <p:cNvSpPr/>
          <p:nvPr/>
        </p:nvSpPr>
        <p:spPr>
          <a:xfrm>
            <a:off x="3328416" y="34610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4번 출구까지 도보 341m (3분)</a:t>
            </a:r>
          </a:p>
        </p:txBody>
      </p:sp>
      <p:sp>
        <p:nvSpPr>
          <p:cNvPr id="24" name="타임라인 표식"/>
          <p:cNvSpPr/>
          <p:nvPr/>
        </p:nvSpPr>
        <p:spPr>
          <a:xfrm>
            <a:off x="3163824" y="3664915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목업 텍스트"/>
          <p:cNvSpPr/>
          <p:nvPr/>
        </p:nvSpPr>
        <p:spPr>
          <a:xfrm>
            <a:off x="3328416" y="36393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시청역 3번출구 정류장</a:t>
            </a:r>
          </a:p>
        </p:txBody>
      </p:sp>
      <p:sp>
        <p:nvSpPr>
          <p:cNvPr id="26" name="목업 텍스트"/>
          <p:cNvSpPr/>
          <p:nvPr/>
        </p:nvSpPr>
        <p:spPr>
          <a:xfrm>
            <a:off x="3447288" y="381762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406번    간선</a:t>
            </a:r>
          </a:p>
        </p:txBody>
      </p:sp>
      <p:sp>
        <p:nvSpPr>
          <p:cNvPr id="27" name="승차 예약"/>
          <p:cNvSpPr/>
          <p:nvPr/>
        </p:nvSpPr>
        <p:spPr>
          <a:xfrm>
            <a:off x="4700016" y="3808476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28" name="목업 텍스트"/>
          <p:cNvSpPr/>
          <p:nvPr/>
        </p:nvSpPr>
        <p:spPr>
          <a:xfrm>
            <a:off x="3447288" y="39776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곧 도착 (일반) · 12분 (저상)</a:t>
            </a:r>
          </a:p>
        </p:txBody>
      </p:sp>
      <p:sp>
        <p:nvSpPr>
          <p:cNvPr id="29" name="리스트 구분선"/>
          <p:cNvSpPr/>
          <p:nvPr/>
        </p:nvSpPr>
        <p:spPr>
          <a:xfrm>
            <a:off x="3419856" y="4165092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목업 텍스트"/>
          <p:cNvSpPr/>
          <p:nvPr/>
        </p:nvSpPr>
        <p:spPr>
          <a:xfrm>
            <a:off x="3447288" y="421081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4212번  지선</a:t>
            </a:r>
          </a:p>
        </p:txBody>
      </p:sp>
      <p:sp>
        <p:nvSpPr>
          <p:cNvPr id="31" name="승차 예약"/>
          <p:cNvSpPr/>
          <p:nvPr/>
        </p:nvSpPr>
        <p:spPr>
          <a:xfrm>
            <a:off x="4700016" y="4201668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2" name="목업 텍스트"/>
          <p:cNvSpPr/>
          <p:nvPr/>
        </p:nvSpPr>
        <p:spPr>
          <a:xfrm>
            <a:off x="3447288" y="43708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3분 12초 (저상) · 15분 (저상)</a:t>
            </a:r>
          </a:p>
        </p:txBody>
      </p:sp>
      <p:sp>
        <p:nvSpPr>
          <p:cNvPr id="33" name="리스트 구분선"/>
          <p:cNvSpPr/>
          <p:nvPr/>
        </p:nvSpPr>
        <p:spPr>
          <a:xfrm>
            <a:off x="3419856" y="4558284"/>
            <a:ext cx="2011680" cy="12802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목업 텍스트"/>
          <p:cNvSpPr/>
          <p:nvPr/>
        </p:nvSpPr>
        <p:spPr>
          <a:xfrm>
            <a:off x="3447288" y="460400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7016번  지선</a:t>
            </a:r>
          </a:p>
        </p:txBody>
      </p:sp>
      <p:sp>
        <p:nvSpPr>
          <p:cNvPr id="35" name="승차 예약"/>
          <p:cNvSpPr/>
          <p:nvPr/>
        </p:nvSpPr>
        <p:spPr>
          <a:xfrm>
            <a:off x="4700016" y="4594860"/>
            <a:ext cx="640080" cy="182880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6" name="목업 텍스트"/>
          <p:cNvSpPr/>
          <p:nvPr/>
        </p:nvSpPr>
        <p:spPr>
          <a:xfrm>
            <a:off x="3447288" y="4764024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4분 10초 (일반) · 18분 (일반)</a:t>
            </a:r>
          </a:p>
        </p:txBody>
      </p:sp>
      <p:sp>
        <p:nvSpPr>
          <p:cNvPr id="37" name="목업 텍스트"/>
          <p:cNvSpPr/>
          <p:nvPr/>
        </p:nvSpPr>
        <p:spPr>
          <a:xfrm>
            <a:off x="3447288" y="494233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6개 정류장 · 18분</a:t>
            </a:r>
          </a:p>
        </p:txBody>
      </p:sp>
      <p:sp>
        <p:nvSpPr>
          <p:cNvPr id="38" name="목업 텍스트"/>
          <p:cNvSpPr/>
          <p:nvPr/>
        </p:nvSpPr>
        <p:spPr>
          <a:xfrm>
            <a:off x="4069841" y="4942332"/>
            <a:ext cx="22860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39" name="타임라인 표식"/>
          <p:cNvSpPr/>
          <p:nvPr/>
        </p:nvSpPr>
        <p:spPr>
          <a:xfrm>
            <a:off x="3163824" y="5146243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목업 텍스트"/>
          <p:cNvSpPr/>
          <p:nvPr/>
        </p:nvSpPr>
        <p:spPr>
          <a:xfrm>
            <a:off x="3328416" y="512064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 119 앞 정류장   하차</a:t>
            </a:r>
          </a:p>
        </p:txBody>
      </p:sp>
      <p:cxnSp>
        <p:nvCxnSpPr>
          <p:cNvPr id="41" name="구간 선"/>
          <p:cNvCxnSpPr/>
          <p:nvPr/>
        </p:nvCxnSpPr>
        <p:spPr>
          <a:xfrm>
            <a:off x="3215945" y="3767328"/>
            <a:ext cx="0" cy="1380744"/>
          </a:xfrm>
          <a:prstGeom prst="line">
            <a:avLst/>
          </a:prstGeom>
          <a:ln w="28575">
            <a:solidFill>
              <a:srgbClr val="2D4C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목업 텍스트"/>
          <p:cNvSpPr/>
          <p:nvPr/>
        </p:nvSpPr>
        <p:spPr>
          <a:xfrm>
            <a:off x="3328416" y="528066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5B6573"/>
                </a:solidFill>
                <a:latin typeface="Pretendard"/>
              </a:rPr>
              <a:t>당산역까지 도보 23m (2분)</a:t>
            </a:r>
          </a:p>
        </p:txBody>
      </p:sp>
      <p:cxnSp>
        <p:nvCxnSpPr>
          <p:cNvPr id="43" name="구간 선"/>
          <p:cNvCxnSpPr/>
          <p:nvPr/>
        </p:nvCxnSpPr>
        <p:spPr>
          <a:xfrm>
            <a:off x="3215945" y="5248656"/>
            <a:ext cx="0" cy="237744"/>
          </a:xfrm>
          <a:prstGeom prst="line">
            <a:avLst/>
          </a:prstGeom>
          <a:ln w="15875">
            <a:solidFill>
              <a:srgbClr val="5B65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타임라인 표식"/>
          <p:cNvSpPr/>
          <p:nvPr/>
        </p:nvSpPr>
        <p:spPr>
          <a:xfrm>
            <a:off x="3163824" y="5484571"/>
            <a:ext cx="104242" cy="104242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5" name="목업 텍스트"/>
          <p:cNvSpPr/>
          <p:nvPr/>
        </p:nvSpPr>
        <p:spPr>
          <a:xfrm>
            <a:off x="3328416" y="5458968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lang="ko-KR" altLang="en-US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/>
        </p:nvGraphicFramePr>
        <p:xfrm>
          <a:off x="8630107" y="1444752"/>
          <a:ext cx="2972409" cy="42687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정보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10초마다 자동 갱신 + [새로고침]으로 직접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· 구간 구성은 갱신 대상이 아님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 경로 전 구간이 들어오게 맞춤 — 시트에 가리지 않는 영역 기준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컨트롤 3종 — 내 위치 · 정북 복원 · 확대 ·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영역을 누르면 시트 최소화 · 타임라인 구간을 누르면 그 구간으로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소요시간 배지 아래 전체 경로 바 1줄 — 구간 구분 · 구간별 소요시간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 처리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[승차 예약]은 회원 전용이지만 이 화면에서 막지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비회원도 누르면 2-5-1로 이동 · 로그인 유도 팝업은 2-5-1의 [승차 예약]에서 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 내역은 비회원에게 표출하지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바텀시트 핸들"/>
          <p:cNvSpPr/>
          <p:nvPr/>
        </p:nvSpPr>
        <p:spPr>
          <a:xfrm>
            <a:off x="4165092" y="235915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전체 경로 바"/>
          <p:cNvSpPr/>
          <p:nvPr/>
        </p:nvSpPr>
        <p:spPr>
          <a:xfrm>
            <a:off x="3145536" y="291693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경로 바 라벨"/>
          <p:cNvSpPr txBox="1"/>
          <p:nvPr/>
        </p:nvSpPr>
        <p:spPr>
          <a:xfrm>
            <a:off x="3182112" y="2935224"/>
            <a:ext cx="493776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50" name="전체 경로 바"/>
          <p:cNvSpPr/>
          <p:nvPr/>
        </p:nvSpPr>
        <p:spPr>
          <a:xfrm>
            <a:off x="3749040" y="2916936"/>
            <a:ext cx="786384" cy="182880"/>
          </a:xfrm>
          <a:prstGeom prst="roundRect">
            <a:avLst/>
          </a:prstGeom>
          <a:solidFill>
            <a:srgbClr val="3D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경로 바 라벨"/>
          <p:cNvSpPr txBox="1"/>
          <p:nvPr/>
        </p:nvSpPr>
        <p:spPr>
          <a:xfrm>
            <a:off x="3785616" y="2935224"/>
            <a:ext cx="71323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FFFFFF"/>
                </a:solidFill>
                <a:latin typeface="Pretendard"/>
              </a:rPr>
              <a:t>🚌 간선 18분</a:t>
            </a:r>
          </a:p>
        </p:txBody>
      </p:sp>
      <p:sp>
        <p:nvSpPr>
          <p:cNvPr id="52" name="전체 경로 바"/>
          <p:cNvSpPr/>
          <p:nvPr/>
        </p:nvSpPr>
        <p:spPr>
          <a:xfrm>
            <a:off x="4572000" y="2916936"/>
            <a:ext cx="603504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경로 바 라벨"/>
          <p:cNvSpPr txBox="1"/>
          <p:nvPr/>
        </p:nvSpPr>
        <p:spPr>
          <a:xfrm>
            <a:off x="4608576" y="2935224"/>
            <a:ext cx="530352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>
                <a:solidFill>
                  <a:srgbClr val="3E4652"/>
                </a:solidFill>
                <a:latin typeface="Pretendard"/>
              </a:rPr>
              <a:t>🚶 도보 2분</a:t>
            </a:r>
          </a:p>
        </p:txBody>
      </p:sp>
      <p:sp>
        <p:nvSpPr>
          <p:cNvPr id="54" name="지도 안내"/>
          <p:cNvSpPr txBox="1"/>
          <p:nvPr/>
        </p:nvSpPr>
        <p:spPr>
          <a:xfrm>
            <a:off x="3054096" y="1673352"/>
            <a:ext cx="218541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8A93A0"/>
                </a:solidFill>
                <a:latin typeface="Pretendard"/>
              </a:rPr>
              <a:t>선택한 경로 전 구간 — 구간 색은 선 표기 3종</a:t>
            </a:r>
          </a:p>
        </p:txBody>
      </p:sp>
      <p:sp>
        <p:nvSpPr>
          <p:cNvPr id="55" name="뒤로가기"/>
          <p:cNvSpPr/>
          <p:nvPr/>
        </p:nvSpPr>
        <p:spPr>
          <a:xfrm>
            <a:off x="3054096" y="1298448"/>
            <a:ext cx="219456" cy="219456"/>
          </a:xfrm>
          <a:prstGeom prst="roundRect">
            <a:avLst>
              <a:gd name="adj" fmla="val 462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</a:p>
        </p:txBody>
      </p:sp>
      <p:sp>
        <p:nvSpPr>
          <p:cNvPr id="56" name="도착 시각 · 요금"/>
          <p:cNvSpPr txBox="1"/>
          <p:nvPr/>
        </p:nvSpPr>
        <p:spPr>
          <a:xfrm>
            <a:off x="3118104" y="2734056"/>
            <a:ext cx="1737360" cy="155448"/>
          </a:xfrm>
          <a:prstGeom prst="rect">
            <a:avLst/>
          </a:prstGeom>
          <a:noFill/>
        </p:spPr>
        <p:txBody>
          <a:bodyPr wrap="none" lIns="74339" rIns="74339" tIns="0" bIns="0">
            <a:spAutoFit/>
          </a:bodyPr>
          <a:lstStyle/>
          <a:p>
            <a:r>
              <a:rPr sz="650">
                <a:solidFill>
                  <a:srgbClr val="5B6573"/>
                </a:solidFill>
                <a:latin typeface="Pretendard"/>
              </a:rPr>
              <a:t>오전 11:33 도착 · 1,500원</a:t>
            </a:r>
          </a:p>
        </p:txBody>
      </p:sp>
      <p:cxnSp>
        <p:nvCxnSpPr>
          <p:cNvPr id="57" name="뒤로가기"/>
          <p:cNvCxnSpPr/>
          <p:nvPr/>
        </p:nvCxnSpPr>
        <p:spPr>
          <a:xfrm flipH="1">
            <a:off x="3125724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 flipV="1">
            <a:off x="3125724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새로고침"/>
          <p:cNvSpPr/>
          <p:nvPr/>
        </p:nvSpPr>
        <p:spPr>
          <a:xfrm>
            <a:off x="5175504" y="5257800"/>
            <a:ext cx="384048" cy="384048"/>
          </a:xfrm>
          <a:prstGeom prst="roundRect">
            <a:avLst>
              <a:gd name="adj" fmla="val 2711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새로고침 라벨"/>
          <p:cNvSpPr txBox="1"/>
          <p:nvPr/>
        </p:nvSpPr>
        <p:spPr>
          <a:xfrm>
            <a:off x="5175504" y="5257800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spc="-15">
                <a:solidFill>
                  <a:srgbClr val="5B6573"/>
                </a:solidFill>
                <a:latin typeface="Pretendard"/>
              </a:rPr>
              <a:t>↻</a:t>
            </a:r>
          </a:p>
        </p:txBody>
      </p:sp>
      <p:sp>
        <p:nvSpPr>
          <p:cNvPr id="6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39512" y="156362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39512" y="156362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3" name="지도 컨트롤"/>
          <p:cNvSpPr/>
          <p:nvPr/>
        </p:nvSpPr>
        <p:spPr>
          <a:xfrm>
            <a:off x="5239512" y="1911095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지도 컨트롤 라벨"/>
          <p:cNvSpPr txBox="1"/>
          <p:nvPr/>
        </p:nvSpPr>
        <p:spPr>
          <a:xfrm>
            <a:off x="5239512" y="1911095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4526280" y="1911095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4526280" y="1911095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숫자배지 1"/>
          <p:cNvSpPr/>
          <p:nvPr/>
        </p:nvSpPr>
        <p:spPr>
          <a:xfrm>
            <a:off x="2715768" y="37993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8" name="숫자배지 2"/>
          <p:cNvSpPr/>
          <p:nvPr/>
        </p:nvSpPr>
        <p:spPr>
          <a:xfrm>
            <a:off x="5413248" y="379018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9" name="숫자배지 2-1"/>
          <p:cNvSpPr/>
          <p:nvPr/>
        </p:nvSpPr>
        <p:spPr>
          <a:xfrm>
            <a:off x="5413248" y="457657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70" name="숫자배지 3"/>
          <p:cNvSpPr/>
          <p:nvPr/>
        </p:nvSpPr>
        <p:spPr>
          <a:xfrm>
            <a:off x="2715768" y="49240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1" name="숫자배지 4"/>
          <p:cNvSpPr/>
          <p:nvPr/>
        </p:nvSpPr>
        <p:spPr>
          <a:xfrm>
            <a:off x="4553712" y="509320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750" b="1" dirty="0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외 모든 유형 (1/2)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목업 프레임"/>
          <p:cNvSpPr/>
          <p:nvPr/>
        </p:nvSpPr>
        <p:spPr>
          <a:xfrm>
            <a:off x="2966314" y="1190549"/>
            <a:ext cx="2734056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05480"/>
              </p:ext>
            </p:extLst>
          </p:nvPr>
        </p:nvGraphicFramePr>
        <p:xfrm>
          <a:off x="8629192" y="1447800"/>
          <a:ext cx="2972409" cy="399836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2분할 구조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상단 지도 베이스 안내 ＋ 다음 행동 지시 배너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바텀시트 — 경로 요약 · 전체 경로 ·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문구와 경로는 교통약자 유형에 따라 달라짐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행동 지시 배너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위 상시 표출 · 시트를 접어도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1단 — 회전 아이콘 ＋ 남은 거리 ＋ 도로 종류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안에 같은 지시 문장을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배너 좌측 · 탑바 미제공 · 타이틀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안내를 시작한 자리로 이동 — 경로 리스트 또는 챗봇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안내를 중단하지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정북 2D 고정뷰 · 컨트롤 4종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정북 복원 · 재탐색 · 내 위치 · 확대 · 축소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5" name="지도"/>
          <p:cNvSpPr/>
          <p:nvPr/>
        </p:nvSpPr>
        <p:spPr>
          <a:xfrm>
            <a:off x="2975458" y="1207008"/>
            <a:ext cx="2715768" cy="386791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경로선"/>
          <p:cNvSpPr/>
          <p:nvPr/>
        </p:nvSpPr>
        <p:spPr>
          <a:xfrm>
            <a:off x="3364992" y="3017520"/>
            <a:ext cx="41148" cy="960120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경로선"/>
          <p:cNvSpPr/>
          <p:nvPr/>
        </p:nvSpPr>
        <p:spPr>
          <a:xfrm>
            <a:off x="3364992" y="3017520"/>
            <a:ext cx="1353312" cy="4114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경로선"/>
          <p:cNvSpPr/>
          <p:nvPr/>
        </p:nvSpPr>
        <p:spPr>
          <a:xfrm>
            <a:off x="4677156" y="2377440"/>
            <a:ext cx="41148" cy="68122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경로선"/>
          <p:cNvSpPr/>
          <p:nvPr/>
        </p:nvSpPr>
        <p:spPr>
          <a:xfrm>
            <a:off x="4677156" y="2377440"/>
            <a:ext cx="548640" cy="4114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경로 지점"/>
          <p:cNvSpPr/>
          <p:nvPr/>
        </p:nvSpPr>
        <p:spPr>
          <a:xfrm>
            <a:off x="5148072" y="2302459"/>
            <a:ext cx="150876" cy="150876"/>
          </a:xfrm>
          <a:prstGeom prst="ellipse">
            <a:avLst/>
          </a:prstGeom>
          <a:solidFill>
            <a:srgbClr val="E01B2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지도 안내"/>
          <p:cNvSpPr txBox="1"/>
          <p:nvPr/>
        </p:nvSpPr>
        <p:spPr>
          <a:xfrm>
            <a:off x="3240634" y="4224528"/>
            <a:ext cx="218541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5B6573"/>
                </a:solidFill>
                <a:latin typeface="Pretendard"/>
              </a:rPr>
              <a:t>실외 안내 — 정북 2D 고정뷰 · 경로선 ＋ 현위치</a:t>
            </a:r>
          </a:p>
        </p:txBody>
      </p:sp>
      <p:sp>
        <p:nvSpPr>
          <p:cNvPr id="22" name="다음 행동 지시 배너"/>
          <p:cNvSpPr/>
          <p:nvPr/>
        </p:nvSpPr>
        <p:spPr>
          <a:xfrm>
            <a:off x="3076042" y="1298448"/>
            <a:ext cx="2514600" cy="420624"/>
          </a:xfrm>
          <a:prstGeom prst="round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배너 구분선"/>
          <p:cNvSpPr/>
          <p:nvPr/>
        </p:nvSpPr>
        <p:spPr>
          <a:xfrm>
            <a:off x="3386938" y="1344168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배너 회전 아이콘"/>
          <p:cNvSpPr txBox="1"/>
          <p:nvPr/>
        </p:nvSpPr>
        <p:spPr>
          <a:xfrm>
            <a:off x="3460090" y="139903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↰</a:t>
            </a:r>
          </a:p>
        </p:txBody>
      </p:sp>
      <p:sp>
        <p:nvSpPr>
          <p:cNvPr id="25" name="배너 남은 거리"/>
          <p:cNvSpPr txBox="1"/>
          <p:nvPr/>
        </p:nvSpPr>
        <p:spPr>
          <a:xfrm>
            <a:off x="3752698" y="1353312"/>
            <a:ext cx="7315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30m</a:t>
            </a:r>
          </a:p>
        </p:txBody>
      </p:sp>
      <p:sp>
        <p:nvSpPr>
          <p:cNvPr id="26" name="배너 도로 종류"/>
          <p:cNvSpPr txBox="1"/>
          <p:nvPr/>
        </p:nvSpPr>
        <p:spPr>
          <a:xfrm>
            <a:off x="3752698" y="1545336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C7D3F7"/>
                </a:solidFill>
                <a:latin typeface="Pretendard"/>
              </a:rPr>
              <a:t>보행로</a:t>
            </a:r>
          </a:p>
        </p:txBody>
      </p:sp>
      <p:sp>
        <p:nvSpPr>
          <p:cNvPr id="27" name="지도 컨트롤"/>
          <p:cNvSpPr/>
          <p:nvPr/>
        </p:nvSpPr>
        <p:spPr>
          <a:xfrm>
            <a:off x="5307177" y="1956816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지도 컨트롤 라벨"/>
          <p:cNvSpPr txBox="1"/>
          <p:nvPr/>
        </p:nvSpPr>
        <p:spPr>
          <a:xfrm>
            <a:off x="5307177" y="1956816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🧭</a:t>
            </a:r>
          </a:p>
        </p:txBody>
      </p:sp>
      <p:sp>
        <p:nvSpPr>
          <p:cNvPr id="29" name="지도 컨트롤"/>
          <p:cNvSpPr/>
          <p:nvPr/>
        </p:nvSpPr>
        <p:spPr>
          <a:xfrm>
            <a:off x="4996281" y="4782312"/>
            <a:ext cx="54864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지도 컨트롤 라벨"/>
          <p:cNvSpPr txBox="1"/>
          <p:nvPr/>
        </p:nvSpPr>
        <p:spPr>
          <a:xfrm>
            <a:off x="4996281" y="4782312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내 위치</a:t>
            </a:r>
          </a:p>
        </p:txBody>
      </p:sp>
      <p:sp>
        <p:nvSpPr>
          <p:cNvPr id="31" name="지도 컨트롤"/>
          <p:cNvSpPr/>
          <p:nvPr/>
        </p:nvSpPr>
        <p:spPr>
          <a:xfrm>
            <a:off x="5012740" y="448970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지도 컨트롤 라벨"/>
          <p:cNvSpPr txBox="1"/>
          <p:nvPr/>
        </p:nvSpPr>
        <p:spPr>
          <a:xfrm>
            <a:off x="5012740" y="448970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33" name="지도 컨트롤"/>
          <p:cNvSpPr/>
          <p:nvPr/>
        </p:nvSpPr>
        <p:spPr>
          <a:xfrm>
            <a:off x="3121761" y="4489704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지도 컨트롤 라벨"/>
          <p:cNvSpPr txBox="1"/>
          <p:nvPr/>
        </p:nvSpPr>
        <p:spPr>
          <a:xfrm>
            <a:off x="3121761" y="4489704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E4652"/>
                </a:solidFill>
                <a:latin typeface="Pretendard"/>
              </a:rPr>
              <a:t>＋</a:t>
            </a:r>
          </a:p>
        </p:txBody>
      </p:sp>
      <p:sp>
        <p:nvSpPr>
          <p:cNvPr id="35" name="지도 컨트롤"/>
          <p:cNvSpPr/>
          <p:nvPr/>
        </p:nvSpPr>
        <p:spPr>
          <a:xfrm>
            <a:off x="3121761" y="4782312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지도 컨트롤 라벨"/>
          <p:cNvSpPr txBox="1"/>
          <p:nvPr/>
        </p:nvSpPr>
        <p:spPr>
          <a:xfrm>
            <a:off x="3121761" y="4782312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E4652"/>
                </a:solidFill>
                <a:latin typeface="Pretendard"/>
              </a:rPr>
              <a:t>－</a:t>
            </a:r>
          </a:p>
        </p:txBody>
      </p:sp>
      <p:sp>
        <p:nvSpPr>
          <p:cNvPr id="37" name="바텀시트"/>
          <p:cNvSpPr/>
          <p:nvPr/>
        </p:nvSpPr>
        <p:spPr>
          <a:xfrm>
            <a:off x="2975458" y="5074920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시트 손잡이"/>
          <p:cNvSpPr/>
          <p:nvPr/>
        </p:nvSpPr>
        <p:spPr>
          <a:xfrm>
            <a:off x="4168750" y="5138928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남은 시간"/>
          <p:cNvSpPr txBox="1"/>
          <p:nvPr/>
        </p:nvSpPr>
        <p:spPr>
          <a:xfrm>
            <a:off x="3130906" y="5239512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40" name="버튼 안내 종료"/>
          <p:cNvSpPr/>
          <p:nvPr/>
        </p:nvSpPr>
        <p:spPr>
          <a:xfrm>
            <a:off x="4593946" y="5239512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버튼 라벨"/>
          <p:cNvSpPr txBox="1"/>
          <p:nvPr/>
        </p:nvSpPr>
        <p:spPr>
          <a:xfrm>
            <a:off x="4593946" y="5239512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42" name="도착 시각 · 요금"/>
          <p:cNvSpPr txBox="1"/>
          <p:nvPr/>
        </p:nvSpPr>
        <p:spPr>
          <a:xfrm>
            <a:off x="3130906" y="5550408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43" name="전체 경로 바"/>
          <p:cNvSpPr/>
          <p:nvPr/>
        </p:nvSpPr>
        <p:spPr>
          <a:xfrm>
            <a:off x="3130906" y="5788152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경로 바 라벨"/>
          <p:cNvSpPr txBox="1"/>
          <p:nvPr/>
        </p:nvSpPr>
        <p:spPr>
          <a:xfrm>
            <a:off x="3130906" y="5788152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45" name="전체 경로 바"/>
          <p:cNvSpPr/>
          <p:nvPr/>
        </p:nvSpPr>
        <p:spPr>
          <a:xfrm>
            <a:off x="3734410" y="5788152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경로 바 라벨"/>
          <p:cNvSpPr txBox="1"/>
          <p:nvPr/>
        </p:nvSpPr>
        <p:spPr>
          <a:xfrm>
            <a:off x="3734410" y="5788152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47" name="전체 경로 바"/>
          <p:cNvSpPr/>
          <p:nvPr/>
        </p:nvSpPr>
        <p:spPr>
          <a:xfrm>
            <a:off x="4630522" y="5788152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경로 바 라벨"/>
          <p:cNvSpPr txBox="1"/>
          <p:nvPr/>
        </p:nvSpPr>
        <p:spPr>
          <a:xfrm>
            <a:off x="4630522" y="5788152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49" name="현재 위치 표식"/>
          <p:cNvSpPr txBox="1"/>
          <p:nvPr/>
        </p:nvSpPr>
        <p:spPr>
          <a:xfrm>
            <a:off x="3514954" y="5989320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50" name="현재 위치 라벨"/>
          <p:cNvSpPr txBox="1"/>
          <p:nvPr/>
        </p:nvSpPr>
        <p:spPr>
          <a:xfrm>
            <a:off x="3825850" y="5989320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cxnSp>
        <p:nvCxnSpPr>
          <p:cNvPr id="51" name="뒤로가기"/>
          <p:cNvCxnSpPr/>
          <p:nvPr/>
        </p:nvCxnSpPr>
        <p:spPr>
          <a:xfrm flipH="1">
            <a:off x="3202534" y="1462278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202534" y="1507998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현위치 마커"/>
          <p:cNvSpPr/>
          <p:nvPr/>
        </p:nvSpPr>
        <p:spPr>
          <a:xfrm>
            <a:off x="3308299" y="3898087"/>
            <a:ext cx="155448" cy="155448"/>
          </a:xfrm>
          <a:prstGeom prst="ellipse">
            <a:avLst/>
          </a:prstGeom>
          <a:solidFill>
            <a:srgbClr val="2D4CC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4" name="현위치 셰브론"/>
          <p:cNvSpPr txBox="1"/>
          <p:nvPr/>
        </p:nvSpPr>
        <p:spPr>
          <a:xfrm>
            <a:off x="3308299" y="3898087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∧</a:t>
            </a:r>
          </a:p>
        </p:txBody>
      </p:sp>
      <p:sp>
        <p:nvSpPr>
          <p:cNvPr id="55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691994" y="11887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6" name="숫자배지 1-2"/>
          <p:cNvSpPr/>
          <p:nvPr/>
        </p:nvSpPr>
        <p:spPr>
          <a:xfrm>
            <a:off x="2691994" y="14538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1-1"/>
          <p:cNvSpPr/>
          <p:nvPr/>
        </p:nvSpPr>
        <p:spPr>
          <a:xfrm>
            <a:off x="5581498" y="139903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8" name="숫자배지 2"/>
          <p:cNvSpPr/>
          <p:nvPr/>
        </p:nvSpPr>
        <p:spPr>
          <a:xfrm>
            <a:off x="5581498" y="19568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9" name="숫자배지 3"/>
          <p:cNvSpPr/>
          <p:nvPr/>
        </p:nvSpPr>
        <p:spPr>
          <a:xfrm>
            <a:off x="2691994" y="517550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외 모든 유형 (2/2)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목업 프레임"/>
          <p:cNvSpPr/>
          <p:nvPr/>
        </p:nvSpPr>
        <p:spPr>
          <a:xfrm>
            <a:off x="2966314" y="1190549"/>
            <a:ext cx="2734056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305480"/>
              </p:ext>
            </p:extLst>
          </p:nvPr>
        </p:nvGraphicFramePr>
        <p:xfrm>
          <a:off x="8629192" y="1447800"/>
          <a:ext cx="2972409" cy="250210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· [안내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접힘 — 남은 시간 · 도착 예정 · 요금 · 전체 경로 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펼침 — ＋ 경로 상세 · 남은 거리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[안내 종료]는 시트 안 · 접힘에도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확인 팝업 · 세 지점 초기화 후 2-0으로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전환 · 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실외 ⇄ 실내 ⇄ 대중교통은 끊김 없이 자동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수동 · 이탈 재탐색은 토스트 표출 · 자동 재탐색은 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5" name="지도"/>
          <p:cNvSpPr/>
          <p:nvPr/>
        </p:nvSpPr>
        <p:spPr>
          <a:xfrm>
            <a:off x="2975458" y="1207008"/>
            <a:ext cx="2715768" cy="3867912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경로선"/>
          <p:cNvSpPr/>
          <p:nvPr/>
        </p:nvSpPr>
        <p:spPr>
          <a:xfrm>
            <a:off x="3364992" y="3017520"/>
            <a:ext cx="41148" cy="960120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경로선"/>
          <p:cNvSpPr/>
          <p:nvPr/>
        </p:nvSpPr>
        <p:spPr>
          <a:xfrm>
            <a:off x="3364992" y="3017520"/>
            <a:ext cx="1353312" cy="4114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경로선"/>
          <p:cNvSpPr/>
          <p:nvPr/>
        </p:nvSpPr>
        <p:spPr>
          <a:xfrm>
            <a:off x="4677156" y="2377440"/>
            <a:ext cx="41148" cy="68122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경로선"/>
          <p:cNvSpPr/>
          <p:nvPr/>
        </p:nvSpPr>
        <p:spPr>
          <a:xfrm>
            <a:off x="4677156" y="2377440"/>
            <a:ext cx="548640" cy="41148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경로 지점"/>
          <p:cNvSpPr/>
          <p:nvPr/>
        </p:nvSpPr>
        <p:spPr>
          <a:xfrm>
            <a:off x="5148072" y="2302459"/>
            <a:ext cx="150876" cy="150876"/>
          </a:xfrm>
          <a:prstGeom prst="ellipse">
            <a:avLst/>
          </a:prstGeom>
          <a:solidFill>
            <a:srgbClr val="E01B24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21" name="지도 안내"/>
          <p:cNvSpPr txBox="1"/>
          <p:nvPr/>
        </p:nvSpPr>
        <p:spPr>
          <a:xfrm>
            <a:off x="3240634" y="4224528"/>
            <a:ext cx="2185416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5B6573"/>
                </a:solidFill>
                <a:latin typeface="Pretendard"/>
              </a:rPr>
              <a:t>실외 안내 — 정북 2D 고정뷰 · 경로선 ＋ 현위치</a:t>
            </a:r>
          </a:p>
        </p:txBody>
      </p:sp>
      <p:sp>
        <p:nvSpPr>
          <p:cNvPr id="22" name="다음 행동 지시 배너"/>
          <p:cNvSpPr/>
          <p:nvPr/>
        </p:nvSpPr>
        <p:spPr>
          <a:xfrm>
            <a:off x="3076042" y="1298448"/>
            <a:ext cx="2514600" cy="420624"/>
          </a:xfrm>
          <a:prstGeom prst="round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배너 구분선"/>
          <p:cNvSpPr/>
          <p:nvPr/>
        </p:nvSpPr>
        <p:spPr>
          <a:xfrm>
            <a:off x="3386938" y="1344168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배너 회전 아이콘"/>
          <p:cNvSpPr txBox="1"/>
          <p:nvPr/>
        </p:nvSpPr>
        <p:spPr>
          <a:xfrm>
            <a:off x="3460090" y="1399032"/>
            <a:ext cx="237744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retendard"/>
              </a:rPr>
              <a:t>↰</a:t>
            </a:r>
          </a:p>
        </p:txBody>
      </p:sp>
      <p:sp>
        <p:nvSpPr>
          <p:cNvPr id="25" name="배너 남은 거리"/>
          <p:cNvSpPr txBox="1"/>
          <p:nvPr/>
        </p:nvSpPr>
        <p:spPr>
          <a:xfrm>
            <a:off x="3752698" y="1353312"/>
            <a:ext cx="7315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retendard"/>
              </a:rPr>
              <a:t>30m</a:t>
            </a:r>
          </a:p>
        </p:txBody>
      </p:sp>
      <p:sp>
        <p:nvSpPr>
          <p:cNvPr id="26" name="배너 도로 종류"/>
          <p:cNvSpPr txBox="1"/>
          <p:nvPr/>
        </p:nvSpPr>
        <p:spPr>
          <a:xfrm>
            <a:off x="3752698" y="1545336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C7D3F7"/>
                </a:solidFill>
                <a:latin typeface="Pretendard"/>
              </a:rPr>
              <a:t>보행로</a:t>
            </a:r>
          </a:p>
        </p:txBody>
      </p:sp>
      <p:sp>
        <p:nvSpPr>
          <p:cNvPr id="27" name="지도 컨트롤"/>
          <p:cNvSpPr/>
          <p:nvPr/>
        </p:nvSpPr>
        <p:spPr>
          <a:xfrm>
            <a:off x="5307177" y="1956816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지도 컨트롤 라벨"/>
          <p:cNvSpPr txBox="1"/>
          <p:nvPr/>
        </p:nvSpPr>
        <p:spPr>
          <a:xfrm>
            <a:off x="5307177" y="1956816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🧭</a:t>
            </a:r>
          </a:p>
        </p:txBody>
      </p:sp>
      <p:sp>
        <p:nvSpPr>
          <p:cNvPr id="29" name="지도 컨트롤"/>
          <p:cNvSpPr/>
          <p:nvPr/>
        </p:nvSpPr>
        <p:spPr>
          <a:xfrm>
            <a:off x="4996281" y="4782312"/>
            <a:ext cx="54864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지도 컨트롤 라벨"/>
          <p:cNvSpPr txBox="1"/>
          <p:nvPr/>
        </p:nvSpPr>
        <p:spPr>
          <a:xfrm>
            <a:off x="4996281" y="4782312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내 위치</a:t>
            </a:r>
          </a:p>
        </p:txBody>
      </p:sp>
      <p:sp>
        <p:nvSpPr>
          <p:cNvPr id="31" name="지도 컨트롤"/>
          <p:cNvSpPr/>
          <p:nvPr/>
        </p:nvSpPr>
        <p:spPr>
          <a:xfrm>
            <a:off x="5012740" y="448970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지도 컨트롤 라벨"/>
          <p:cNvSpPr txBox="1"/>
          <p:nvPr/>
        </p:nvSpPr>
        <p:spPr>
          <a:xfrm>
            <a:off x="5012740" y="448970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33" name="지도 컨트롤"/>
          <p:cNvSpPr/>
          <p:nvPr/>
        </p:nvSpPr>
        <p:spPr>
          <a:xfrm>
            <a:off x="3121761" y="4489704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지도 컨트롤 라벨"/>
          <p:cNvSpPr txBox="1"/>
          <p:nvPr/>
        </p:nvSpPr>
        <p:spPr>
          <a:xfrm>
            <a:off x="3121761" y="4489704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E4652"/>
                </a:solidFill>
                <a:latin typeface="Pretendard"/>
              </a:rPr>
              <a:t>＋</a:t>
            </a:r>
          </a:p>
        </p:txBody>
      </p:sp>
      <p:sp>
        <p:nvSpPr>
          <p:cNvPr id="35" name="지도 컨트롤"/>
          <p:cNvSpPr/>
          <p:nvPr/>
        </p:nvSpPr>
        <p:spPr>
          <a:xfrm>
            <a:off x="3121761" y="4782312"/>
            <a:ext cx="23774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지도 컨트롤 라벨"/>
          <p:cNvSpPr txBox="1"/>
          <p:nvPr/>
        </p:nvSpPr>
        <p:spPr>
          <a:xfrm>
            <a:off x="3121761" y="4782312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3E4652"/>
                </a:solidFill>
                <a:latin typeface="Pretendard"/>
              </a:rPr>
              <a:t>－</a:t>
            </a:r>
          </a:p>
        </p:txBody>
      </p:sp>
      <p:sp>
        <p:nvSpPr>
          <p:cNvPr id="37" name="바텀시트"/>
          <p:cNvSpPr/>
          <p:nvPr/>
        </p:nvSpPr>
        <p:spPr>
          <a:xfrm>
            <a:off x="2975458" y="5074920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시트 손잡이"/>
          <p:cNvSpPr/>
          <p:nvPr/>
        </p:nvSpPr>
        <p:spPr>
          <a:xfrm>
            <a:off x="4168750" y="5138928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남은 시간"/>
          <p:cNvSpPr txBox="1"/>
          <p:nvPr/>
        </p:nvSpPr>
        <p:spPr>
          <a:xfrm>
            <a:off x="3130906" y="5239512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40" name="버튼 안내 종료"/>
          <p:cNvSpPr/>
          <p:nvPr/>
        </p:nvSpPr>
        <p:spPr>
          <a:xfrm>
            <a:off x="4593946" y="5239512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버튼 라벨"/>
          <p:cNvSpPr txBox="1"/>
          <p:nvPr/>
        </p:nvSpPr>
        <p:spPr>
          <a:xfrm>
            <a:off x="4593946" y="5239512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42" name="도착 시각 · 요금"/>
          <p:cNvSpPr txBox="1"/>
          <p:nvPr/>
        </p:nvSpPr>
        <p:spPr>
          <a:xfrm>
            <a:off x="3130906" y="5550408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43" name="전체 경로 바"/>
          <p:cNvSpPr/>
          <p:nvPr/>
        </p:nvSpPr>
        <p:spPr>
          <a:xfrm>
            <a:off x="3130906" y="5788152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경로 바 라벨"/>
          <p:cNvSpPr txBox="1"/>
          <p:nvPr/>
        </p:nvSpPr>
        <p:spPr>
          <a:xfrm>
            <a:off x="3130906" y="5788152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45" name="전체 경로 바"/>
          <p:cNvSpPr/>
          <p:nvPr/>
        </p:nvSpPr>
        <p:spPr>
          <a:xfrm>
            <a:off x="3734410" y="5788152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경로 바 라벨"/>
          <p:cNvSpPr txBox="1"/>
          <p:nvPr/>
        </p:nvSpPr>
        <p:spPr>
          <a:xfrm>
            <a:off x="3734410" y="5788152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47" name="전체 경로 바"/>
          <p:cNvSpPr/>
          <p:nvPr/>
        </p:nvSpPr>
        <p:spPr>
          <a:xfrm>
            <a:off x="4630522" y="5788152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경로 바 라벨"/>
          <p:cNvSpPr txBox="1"/>
          <p:nvPr/>
        </p:nvSpPr>
        <p:spPr>
          <a:xfrm>
            <a:off x="4630522" y="5788152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49" name="현재 위치 표식"/>
          <p:cNvSpPr txBox="1"/>
          <p:nvPr/>
        </p:nvSpPr>
        <p:spPr>
          <a:xfrm>
            <a:off x="3514954" y="5989320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50" name="현재 위치 라벨"/>
          <p:cNvSpPr txBox="1"/>
          <p:nvPr/>
        </p:nvSpPr>
        <p:spPr>
          <a:xfrm>
            <a:off x="3825850" y="5989320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cxnSp>
        <p:nvCxnSpPr>
          <p:cNvPr id="51" name="뒤로가기"/>
          <p:cNvCxnSpPr/>
          <p:nvPr/>
        </p:nvCxnSpPr>
        <p:spPr>
          <a:xfrm flipH="1">
            <a:off x="3202534" y="1462278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202534" y="1507998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현위치 마커"/>
          <p:cNvSpPr/>
          <p:nvPr/>
        </p:nvSpPr>
        <p:spPr>
          <a:xfrm>
            <a:off x="3308299" y="3898087"/>
            <a:ext cx="155448" cy="155448"/>
          </a:xfrm>
          <a:prstGeom prst="ellipse">
            <a:avLst/>
          </a:prstGeom>
          <a:solidFill>
            <a:srgbClr val="2D4CC8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54" name="현위치 셰브론"/>
          <p:cNvSpPr txBox="1"/>
          <p:nvPr/>
        </p:nvSpPr>
        <p:spPr>
          <a:xfrm>
            <a:off x="3308299" y="3898087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∧</a:t>
            </a:r>
          </a:p>
        </p:txBody>
      </p:sp>
      <p:sp>
        <p:nvSpPr>
          <p:cNvPr id="55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691994" y="11887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6" name="숫자배지 1-2"/>
          <p:cNvSpPr/>
          <p:nvPr/>
        </p:nvSpPr>
        <p:spPr>
          <a:xfrm>
            <a:off x="2691994" y="14538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7" name="숫자배지 1-1"/>
          <p:cNvSpPr/>
          <p:nvPr/>
        </p:nvSpPr>
        <p:spPr>
          <a:xfrm>
            <a:off x="5581498" y="1399032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8" name="숫자배지 2"/>
          <p:cNvSpPr/>
          <p:nvPr/>
        </p:nvSpPr>
        <p:spPr>
          <a:xfrm>
            <a:off x="5581498" y="195681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9" name="숫자배지 3"/>
          <p:cNvSpPr/>
          <p:nvPr/>
        </p:nvSpPr>
        <p:spPr>
          <a:xfrm>
            <a:off x="2691994" y="517550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F288CA83-7BFC-6081-4594-88CFB9A39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(1/5)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29192" y="1447800"/>
          <a:ext cx="2972409" cy="331373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0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배너 좌측 · 탑바 미제공 · 안내를 중단하지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전환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실외 → 실내 전환을 음성 · 진동 · 화면 3채널로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무음 전환 금지 · 전환 확인 팝업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실내 도면 · 현재 위치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 뷰는 3D 회전뷰 — 사용자가 바라보는 방향이 화면 위쪽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지도가 돌고 내 위치 마커는 돌지 않음 · 뷰 모드 전환 컨트롤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위치는 작은 원 마커 하나로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원 안에 방향 화살표 · 화살표를 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B0D2AE2B-41C7-D720-689D-3599E89B1A1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다음 행동 지시 배너">
            <a:extLst>
              <a:ext uri="{FF2B5EF4-FFF2-40B4-BE49-F238E27FC236}">
                <a16:creationId xmlns:a16="http://schemas.microsoft.com/office/drawing/2014/main" id="{758E46E5-ACE6-B681-3C03-15B939F8392F}"/>
              </a:ext>
            </a:extLst>
          </p:cNvPr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층 칩">
            <a:extLst>
              <a:ext uri="{FF2B5EF4-FFF2-40B4-BE49-F238E27FC236}">
                <a16:creationId xmlns:a16="http://schemas.microsoft.com/office/drawing/2014/main" id="{C6D20830-7C0F-944F-F78D-4F01A7192356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24" name="지도 컨트롤 확대">
            <a:extLst>
              <a:ext uri="{FF2B5EF4-FFF2-40B4-BE49-F238E27FC236}">
                <a16:creationId xmlns:a16="http://schemas.microsoft.com/office/drawing/2014/main" id="{6EC5F66C-4C77-A273-D1EB-A99B7CB30B80}"/>
              </a:ext>
            </a:extLst>
          </p:cNvPr>
          <p:cNvSpPr/>
          <p:nvPr/>
        </p:nvSpPr>
        <p:spPr>
          <a:xfrm>
            <a:off x="4657725" y="2461564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컨트롤 라벨">
            <a:extLst>
              <a:ext uri="{FF2B5EF4-FFF2-40B4-BE49-F238E27FC236}">
                <a16:creationId xmlns:a16="http://schemas.microsoft.com/office/drawing/2014/main" id="{43CB204C-FE7C-E6A7-DB09-764D598A708A}"/>
              </a:ext>
            </a:extLst>
          </p:cNvPr>
          <p:cNvSpPr txBox="1"/>
          <p:nvPr/>
        </p:nvSpPr>
        <p:spPr>
          <a:xfrm>
            <a:off x="4657725" y="2461564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지도 컨트롤 축소">
            <a:extLst>
              <a:ext uri="{FF2B5EF4-FFF2-40B4-BE49-F238E27FC236}">
                <a16:creationId xmlns:a16="http://schemas.microsoft.com/office/drawing/2014/main" id="{9901B5F9-7FE7-F624-5B75-274E5103B445}"/>
              </a:ext>
            </a:extLst>
          </p:cNvPr>
          <p:cNvSpPr/>
          <p:nvPr/>
        </p:nvSpPr>
        <p:spPr>
          <a:xfrm>
            <a:off x="4657725" y="284012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컨트롤 라벨">
            <a:extLst>
              <a:ext uri="{FF2B5EF4-FFF2-40B4-BE49-F238E27FC236}">
                <a16:creationId xmlns:a16="http://schemas.microsoft.com/office/drawing/2014/main" id="{C6DAE6FB-A800-1224-48C9-1300A7D3148F}"/>
              </a:ext>
            </a:extLst>
          </p:cNvPr>
          <p:cNvSpPr txBox="1"/>
          <p:nvPr/>
        </p:nvSpPr>
        <p:spPr>
          <a:xfrm>
            <a:off x="4657725" y="2840126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바텀시트">
            <a:extLst>
              <a:ext uri="{FF2B5EF4-FFF2-40B4-BE49-F238E27FC236}">
                <a16:creationId xmlns:a16="http://schemas.microsoft.com/office/drawing/2014/main" id="{2F80E472-1B1C-9A7E-07DB-FC6025552D59}"/>
              </a:ext>
            </a:extLst>
          </p:cNvPr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29" name="시트 손잡이">
            <a:extLst>
              <a:ext uri="{FF2B5EF4-FFF2-40B4-BE49-F238E27FC236}">
                <a16:creationId xmlns:a16="http://schemas.microsoft.com/office/drawing/2014/main" id="{F294BD27-D911-25AC-E0F5-53224B1C1D4C}"/>
              </a:ext>
            </a:extLst>
          </p:cNvPr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시트 총 소요">
            <a:extLst>
              <a:ext uri="{FF2B5EF4-FFF2-40B4-BE49-F238E27FC236}">
                <a16:creationId xmlns:a16="http://schemas.microsoft.com/office/drawing/2014/main" id="{61052EB7-67DF-4B01-1ADE-D3FAA7DF90D2}"/>
              </a:ext>
            </a:extLst>
          </p:cNvPr>
          <p:cNvSpPr/>
          <p:nvPr/>
        </p:nvSpPr>
        <p:spPr>
          <a:xfrm>
            <a:off x="4733925" y="3426714"/>
            <a:ext cx="128016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31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4714875" y="4159605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경로 노드 점">
            <a:extLst>
              <a:ext uri="{FF2B5EF4-FFF2-40B4-BE49-F238E27FC236}">
                <a16:creationId xmlns:a16="http://schemas.microsoft.com/office/drawing/2014/main" id="{B8C43126-6FC4-7C17-CEB7-0AC81C2D341A}"/>
              </a:ext>
            </a:extLst>
          </p:cNvPr>
          <p:cNvSpPr/>
          <p:nvPr/>
        </p:nvSpPr>
        <p:spPr>
          <a:xfrm>
            <a:off x="4800600" y="416966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경로 노드 점">
            <a:extLst>
              <a:ext uri="{FF2B5EF4-FFF2-40B4-BE49-F238E27FC236}">
                <a16:creationId xmlns:a16="http://schemas.microsoft.com/office/drawing/2014/main" id="{F0E1B125-A488-F01F-0E60-C69E7CD5C5F7}"/>
              </a:ext>
            </a:extLst>
          </p:cNvPr>
          <p:cNvSpPr/>
          <p:nvPr/>
        </p:nvSpPr>
        <p:spPr>
          <a:xfrm>
            <a:off x="4800600" y="463600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경로 노드 점">
            <a:extLst>
              <a:ext uri="{FF2B5EF4-FFF2-40B4-BE49-F238E27FC236}">
                <a16:creationId xmlns:a16="http://schemas.microsoft.com/office/drawing/2014/main" id="{37ACB634-3E57-724A-BDFE-E7335F22AA4A}"/>
              </a:ext>
            </a:extLst>
          </p:cNvPr>
          <p:cNvSpPr/>
          <p:nvPr/>
        </p:nvSpPr>
        <p:spPr>
          <a:xfrm>
            <a:off x="4800600" y="5017312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경로 노드 점">
            <a:extLst>
              <a:ext uri="{FF2B5EF4-FFF2-40B4-BE49-F238E27FC236}">
                <a16:creationId xmlns:a16="http://schemas.microsoft.com/office/drawing/2014/main" id="{6917D08A-A595-D13E-8B20-A3C444D93A5C}"/>
              </a:ext>
            </a:extLst>
          </p:cNvPr>
          <p:cNvSpPr/>
          <p:nvPr/>
        </p:nvSpPr>
        <p:spPr>
          <a:xfrm>
            <a:off x="4800600" y="564550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6" name="타임라인 축">
            <a:extLst>
              <a:ext uri="{FF2B5EF4-FFF2-40B4-BE49-F238E27FC236}">
                <a16:creationId xmlns:a16="http://schemas.microsoft.com/office/drawing/2014/main" id="{071BE91C-4676-723C-7D49-C80AA6CC8761}"/>
              </a:ext>
            </a:extLst>
          </p:cNvPr>
          <p:cNvCxnSpPr/>
          <p:nvPr/>
        </p:nvCxnSpPr>
        <p:spPr>
          <a:xfrm>
            <a:off x="4857750" y="4273905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타임라인 축">
            <a:extLst>
              <a:ext uri="{FF2B5EF4-FFF2-40B4-BE49-F238E27FC236}">
                <a16:creationId xmlns:a16="http://schemas.microsoft.com/office/drawing/2014/main" id="{714C9F25-DDED-C952-A91C-2A0AD6163C78}"/>
              </a:ext>
            </a:extLst>
          </p:cNvPr>
          <p:cNvCxnSpPr/>
          <p:nvPr/>
        </p:nvCxnSpPr>
        <p:spPr>
          <a:xfrm>
            <a:off x="4857750" y="474116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타임라인 축">
            <a:extLst>
              <a:ext uri="{FF2B5EF4-FFF2-40B4-BE49-F238E27FC236}">
                <a16:creationId xmlns:a16="http://schemas.microsoft.com/office/drawing/2014/main" id="{58916E09-5CF0-32E6-1A57-6BB02AE7AB78}"/>
              </a:ext>
            </a:extLst>
          </p:cNvPr>
          <p:cNvCxnSpPr>
            <a:cxnSpLocks/>
          </p:cNvCxnSpPr>
          <p:nvPr/>
        </p:nvCxnSpPr>
        <p:spPr>
          <a:xfrm>
            <a:off x="4857750" y="512155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그룹 23">
            <a:extLst>
              <a:ext uri="{FF2B5EF4-FFF2-40B4-BE49-F238E27FC236}">
                <a16:creationId xmlns:a16="http://schemas.microsoft.com/office/drawing/2014/main" id="{71F1160C-2D2D-1B17-898E-AC4D3DE2CD6C}"/>
              </a:ext>
            </a:extLst>
          </p:cNvPr>
          <p:cNvGrpSpPr/>
          <p:nvPr/>
        </p:nvGrpSpPr>
        <p:grpSpPr>
          <a:xfrm>
            <a:off x="4876800" y="4090837"/>
            <a:ext cx="2162175" cy="926552"/>
            <a:chOff x="4876800" y="4493173"/>
            <a:chExt cx="2162175" cy="926552"/>
          </a:xfrm>
        </p:grpSpPr>
        <p:sp>
          <p:nvSpPr>
            <p:cNvPr id="40" name="경로 노드">
              <a:extLst>
                <a:ext uri="{FF2B5EF4-FFF2-40B4-BE49-F238E27FC236}">
                  <a16:creationId xmlns:a16="http://schemas.microsoft.com/office/drawing/2014/main" id="{96EA440F-1D78-A5A0-C5BF-744F88B0F925}"/>
                </a:ext>
              </a:extLst>
            </p:cNvPr>
            <p:cNvSpPr/>
            <p:nvPr/>
          </p:nvSpPr>
          <p:spPr>
            <a:xfrm>
              <a:off x="4876800" y="4616805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서울특별시청</a:t>
              </a:r>
              <a:endParaRPr sz="650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41" name="경로 행동">
              <a:extLst>
                <a:ext uri="{FF2B5EF4-FFF2-40B4-BE49-F238E27FC236}">
                  <a16:creationId xmlns:a16="http://schemas.microsoft.com/office/drawing/2014/main" id="{3D9D36F2-7795-BBF7-98FC-FE9FFAE08F0F}"/>
                </a:ext>
              </a:extLst>
            </p:cNvPr>
            <p:cNvSpPr/>
            <p:nvPr/>
          </p:nvSpPr>
          <p:spPr>
            <a:xfrm>
              <a:off x="4886325" y="4787798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>
                  <a:solidFill>
                    <a:srgbClr val="14181F"/>
                  </a:solidFill>
                  <a:latin typeface="Pretendard"/>
                </a:rPr>
                <a:t>1번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출입구까지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도보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341m (3분)</a:t>
              </a:r>
            </a:p>
          </p:txBody>
        </p:sp>
        <p:sp>
          <p:nvSpPr>
            <p:cNvPr id="42" name="경로 노드">
              <a:extLst>
                <a:ext uri="{FF2B5EF4-FFF2-40B4-BE49-F238E27FC236}">
                  <a16:creationId xmlns:a16="http://schemas.microsoft.com/office/drawing/2014/main" id="{8E84B138-A2F0-42A6-5136-C4E3E74E2B63}"/>
                </a:ext>
              </a:extLst>
            </p:cNvPr>
            <p:cNvSpPr/>
            <p:nvPr/>
          </p:nvSpPr>
          <p:spPr>
            <a:xfrm>
              <a:off x="4876800" y="4999939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시청역 1번 출입구</a:t>
              </a:r>
            </a:p>
          </p:txBody>
        </p:sp>
        <p:sp>
          <p:nvSpPr>
            <p:cNvPr id="43" name="경로 거리">
              <a:extLst>
                <a:ext uri="{FF2B5EF4-FFF2-40B4-BE49-F238E27FC236}">
                  <a16:creationId xmlns:a16="http://schemas.microsoft.com/office/drawing/2014/main" id="{78DF6DB8-5533-01B2-DE06-3DCD320C40AE}"/>
                </a:ext>
              </a:extLst>
            </p:cNvPr>
            <p:cNvSpPr/>
            <p:nvPr/>
          </p:nvSpPr>
          <p:spPr>
            <a:xfrm>
              <a:off x="6372225" y="5372100"/>
              <a:ext cx="666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 algn="r"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약 65m</a:t>
              </a:r>
            </a:p>
          </p:txBody>
        </p:sp>
      </p:grpSp>
      <p:sp>
        <p:nvSpPr>
          <p:cNvPr id="44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4876800" y="56071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45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4817101" y="4664354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6" name="타원 116">
            <a:extLst>
              <a:ext uri="{FF2B5EF4-FFF2-40B4-BE49-F238E27FC236}">
                <a16:creationId xmlns:a16="http://schemas.microsoft.com/office/drawing/2014/main" id="{59A4C280-E01F-A244-3BDE-D5C7C344248D}"/>
              </a:ext>
            </a:extLst>
          </p:cNvPr>
          <p:cNvSpPr/>
          <p:nvPr/>
        </p:nvSpPr>
        <p:spPr>
          <a:xfrm>
            <a:off x="4819650" y="566928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47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4866117" y="4782312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4883738" y="479694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9" name="경로 행동">
            <a:extLst>
              <a:ext uri="{FF2B5EF4-FFF2-40B4-BE49-F238E27FC236}">
                <a16:creationId xmlns:a16="http://schemas.microsoft.com/office/drawing/2014/main" id="{4914DCBC-79F1-9D0F-E6FB-EE52E7CF22DA}"/>
              </a:ext>
            </a:extLst>
          </p:cNvPr>
          <p:cNvSpPr/>
          <p:nvPr/>
        </p:nvSpPr>
        <p:spPr>
          <a:xfrm>
            <a:off x="4883738" y="4968849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8A3C2408-82FB-08AB-36D7-289FE9A995BF}"/>
              </a:ext>
            </a:extLst>
          </p:cNvPr>
          <p:cNvSpPr txBox="1"/>
          <p:nvPr/>
        </p:nvSpPr>
        <p:spPr>
          <a:xfrm>
            <a:off x="4883738" y="521939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51" name="ⓒ 스크롤바"/>
          <p:cNvSpPr/>
          <p:nvPr/>
        </p:nvSpPr>
        <p:spPr>
          <a:xfrm>
            <a:off x="7104888" y="4256532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4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56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57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9" name="지도 컨트롤"/>
          <p:cNvSpPr/>
          <p:nvPr/>
        </p:nvSpPr>
        <p:spPr>
          <a:xfrm>
            <a:off x="6618427" y="2547518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지도 컨트롤 라벨"/>
          <p:cNvSpPr txBox="1"/>
          <p:nvPr/>
        </p:nvSpPr>
        <p:spPr>
          <a:xfrm>
            <a:off x="6618427" y="2547518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1" name="지도 컨트롤"/>
          <p:cNvSpPr/>
          <p:nvPr/>
        </p:nvSpPr>
        <p:spPr>
          <a:xfrm>
            <a:off x="6528816" y="2926080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지도 컨트롤 라벨"/>
          <p:cNvSpPr txBox="1"/>
          <p:nvPr/>
        </p:nvSpPr>
        <p:spPr>
          <a:xfrm>
            <a:off x="6528816" y="2926080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3" name="층 이동 마커"/>
          <p:cNvSpPr txBox="1"/>
          <p:nvPr/>
        </p:nvSpPr>
        <p:spPr>
          <a:xfrm>
            <a:off x="5916168" y="2103120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4" name="도착 시각 · 요금"/>
          <p:cNvSpPr txBox="1"/>
          <p:nvPr/>
        </p:nvSpPr>
        <p:spPr>
          <a:xfrm>
            <a:off x="4733849" y="3726180"/>
            <a:ext cx="17373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5" name="버튼 안내 종료"/>
          <p:cNvSpPr/>
          <p:nvPr/>
        </p:nvSpPr>
        <p:spPr>
          <a:xfrm>
            <a:off x="6236208" y="3438144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버튼 라벨"/>
          <p:cNvSpPr txBox="1"/>
          <p:nvPr/>
        </p:nvSpPr>
        <p:spPr>
          <a:xfrm>
            <a:off x="6236208" y="3438144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7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69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1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도면 구역"/>
          <p:cNvSpPr/>
          <p:nvPr/>
        </p:nvSpPr>
        <p:spPr>
          <a:xfrm>
            <a:off x="5431536" y="2432304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도면 구역 라벨"/>
          <p:cNvSpPr txBox="1"/>
          <p:nvPr/>
        </p:nvSpPr>
        <p:spPr>
          <a:xfrm>
            <a:off x="5431536" y="243230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5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7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도면 경로선"/>
          <p:cNvSpPr/>
          <p:nvPr/>
        </p:nvSpPr>
        <p:spPr>
          <a:xfrm>
            <a:off x="6133338" y="2327148"/>
            <a:ext cx="32004" cy="2880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현재 위치 마커"/>
          <p:cNvSpPr/>
          <p:nvPr/>
        </p:nvSpPr>
        <p:spPr>
          <a:xfrm>
            <a:off x="6071616" y="2596896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현재 위치 셰브론"/>
          <p:cNvSpPr txBox="1"/>
          <p:nvPr/>
        </p:nvSpPr>
        <p:spPr>
          <a:xfrm>
            <a:off x="6071616" y="2596896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cxnSp>
        <p:nvCxnSpPr>
          <p:cNvPr id="81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85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다음 행동 지시 라벨">
            <a:extLst>
              <a:ext uri="{FF2B5EF4-FFF2-40B4-BE49-F238E27FC236}">
                <a16:creationId xmlns:a16="http://schemas.microsoft.com/office/drawing/2014/main" id="{2AF5F18F-B970-B231-C5FC-983F39AC7B93}"/>
              </a:ext>
            </a:extLst>
          </p:cNvPr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9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92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94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95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97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9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1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102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103" name="전체 경로 바"/>
          <p:cNvSpPr/>
          <p:nvPr/>
        </p:nvSpPr>
        <p:spPr>
          <a:xfrm>
            <a:off x="4727448" y="3898087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경로 바 라벨"/>
          <p:cNvSpPr txBox="1"/>
          <p:nvPr/>
        </p:nvSpPr>
        <p:spPr>
          <a:xfrm>
            <a:off x="4727448" y="3898087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105" name="전체 경로 바"/>
          <p:cNvSpPr/>
          <p:nvPr/>
        </p:nvSpPr>
        <p:spPr>
          <a:xfrm>
            <a:off x="5330952" y="3898087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경로 바 라벨"/>
          <p:cNvSpPr txBox="1"/>
          <p:nvPr/>
        </p:nvSpPr>
        <p:spPr>
          <a:xfrm>
            <a:off x="5330952" y="3898087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107" name="전체 경로 바"/>
          <p:cNvSpPr/>
          <p:nvPr/>
        </p:nvSpPr>
        <p:spPr>
          <a:xfrm>
            <a:off x="6227064" y="3898087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경로 바 라벨"/>
          <p:cNvSpPr txBox="1"/>
          <p:nvPr/>
        </p:nvSpPr>
        <p:spPr>
          <a:xfrm>
            <a:off x="6227064" y="3898087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9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111" name="숫자배지 4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2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113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4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5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16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7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8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19" name="숫자배지 6"/>
          <p:cNvSpPr/>
          <p:nvPr/>
        </p:nvSpPr>
        <p:spPr>
          <a:xfrm>
            <a:off x="7196328" y="4736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26343465"/>
      </p:ext>
    </p:extLst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(2/5)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29192" y="1447800"/>
          <a:ext cx="2972409" cy="250210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6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층 칩 · 층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도면 좌상단 위치 고정 · 칩에는 「보고 있는 층」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층 목록 드롭다운 · 고르면 그 층 도면으로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내가 있는 층에 표식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층 이동 마커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위 「↓ B1」 형태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지시 문장만 두지 않고 도면 위에도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그 층에서 나가는 지점과 들어오는 지점 양쪽에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B0D2AE2B-41C7-D720-689D-3599E89B1A1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다음 행동 지시 배너">
            <a:extLst>
              <a:ext uri="{FF2B5EF4-FFF2-40B4-BE49-F238E27FC236}">
                <a16:creationId xmlns:a16="http://schemas.microsoft.com/office/drawing/2014/main" id="{758E46E5-ACE6-B681-3C03-15B939F8392F}"/>
              </a:ext>
            </a:extLst>
          </p:cNvPr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층 칩">
            <a:extLst>
              <a:ext uri="{FF2B5EF4-FFF2-40B4-BE49-F238E27FC236}">
                <a16:creationId xmlns:a16="http://schemas.microsoft.com/office/drawing/2014/main" id="{C6D20830-7C0F-944F-F78D-4F01A7192356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24" name="지도 컨트롤 확대">
            <a:extLst>
              <a:ext uri="{FF2B5EF4-FFF2-40B4-BE49-F238E27FC236}">
                <a16:creationId xmlns:a16="http://schemas.microsoft.com/office/drawing/2014/main" id="{6EC5F66C-4C77-A273-D1EB-A99B7CB30B80}"/>
              </a:ext>
            </a:extLst>
          </p:cNvPr>
          <p:cNvSpPr/>
          <p:nvPr/>
        </p:nvSpPr>
        <p:spPr>
          <a:xfrm>
            <a:off x="4657725" y="2461564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컨트롤 라벨">
            <a:extLst>
              <a:ext uri="{FF2B5EF4-FFF2-40B4-BE49-F238E27FC236}">
                <a16:creationId xmlns:a16="http://schemas.microsoft.com/office/drawing/2014/main" id="{43CB204C-FE7C-E6A7-DB09-764D598A708A}"/>
              </a:ext>
            </a:extLst>
          </p:cNvPr>
          <p:cNvSpPr txBox="1"/>
          <p:nvPr/>
        </p:nvSpPr>
        <p:spPr>
          <a:xfrm>
            <a:off x="4657725" y="2461564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지도 컨트롤 축소">
            <a:extLst>
              <a:ext uri="{FF2B5EF4-FFF2-40B4-BE49-F238E27FC236}">
                <a16:creationId xmlns:a16="http://schemas.microsoft.com/office/drawing/2014/main" id="{9901B5F9-7FE7-F624-5B75-274E5103B445}"/>
              </a:ext>
            </a:extLst>
          </p:cNvPr>
          <p:cNvSpPr/>
          <p:nvPr/>
        </p:nvSpPr>
        <p:spPr>
          <a:xfrm>
            <a:off x="4657725" y="284012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컨트롤 라벨">
            <a:extLst>
              <a:ext uri="{FF2B5EF4-FFF2-40B4-BE49-F238E27FC236}">
                <a16:creationId xmlns:a16="http://schemas.microsoft.com/office/drawing/2014/main" id="{C6DAE6FB-A800-1224-48C9-1300A7D3148F}"/>
              </a:ext>
            </a:extLst>
          </p:cNvPr>
          <p:cNvSpPr txBox="1"/>
          <p:nvPr/>
        </p:nvSpPr>
        <p:spPr>
          <a:xfrm>
            <a:off x="4657725" y="2840126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바텀시트">
            <a:extLst>
              <a:ext uri="{FF2B5EF4-FFF2-40B4-BE49-F238E27FC236}">
                <a16:creationId xmlns:a16="http://schemas.microsoft.com/office/drawing/2014/main" id="{2F80E472-1B1C-9A7E-07DB-FC6025552D59}"/>
              </a:ext>
            </a:extLst>
          </p:cNvPr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29" name="시트 손잡이">
            <a:extLst>
              <a:ext uri="{FF2B5EF4-FFF2-40B4-BE49-F238E27FC236}">
                <a16:creationId xmlns:a16="http://schemas.microsoft.com/office/drawing/2014/main" id="{F294BD27-D911-25AC-E0F5-53224B1C1D4C}"/>
              </a:ext>
            </a:extLst>
          </p:cNvPr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시트 총 소요">
            <a:extLst>
              <a:ext uri="{FF2B5EF4-FFF2-40B4-BE49-F238E27FC236}">
                <a16:creationId xmlns:a16="http://schemas.microsoft.com/office/drawing/2014/main" id="{61052EB7-67DF-4B01-1ADE-D3FAA7DF90D2}"/>
              </a:ext>
            </a:extLst>
          </p:cNvPr>
          <p:cNvSpPr/>
          <p:nvPr/>
        </p:nvSpPr>
        <p:spPr>
          <a:xfrm>
            <a:off x="4733925" y="3426714"/>
            <a:ext cx="128016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31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4714875" y="4159605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경로 노드 점">
            <a:extLst>
              <a:ext uri="{FF2B5EF4-FFF2-40B4-BE49-F238E27FC236}">
                <a16:creationId xmlns:a16="http://schemas.microsoft.com/office/drawing/2014/main" id="{B8C43126-6FC4-7C17-CEB7-0AC81C2D341A}"/>
              </a:ext>
            </a:extLst>
          </p:cNvPr>
          <p:cNvSpPr/>
          <p:nvPr/>
        </p:nvSpPr>
        <p:spPr>
          <a:xfrm>
            <a:off x="4800600" y="416966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3" name="경로 노드 점">
            <a:extLst>
              <a:ext uri="{FF2B5EF4-FFF2-40B4-BE49-F238E27FC236}">
                <a16:creationId xmlns:a16="http://schemas.microsoft.com/office/drawing/2014/main" id="{F0E1B125-A488-F01F-0E60-C69E7CD5C5F7}"/>
              </a:ext>
            </a:extLst>
          </p:cNvPr>
          <p:cNvSpPr/>
          <p:nvPr/>
        </p:nvSpPr>
        <p:spPr>
          <a:xfrm>
            <a:off x="4800600" y="463600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경로 노드 점">
            <a:extLst>
              <a:ext uri="{FF2B5EF4-FFF2-40B4-BE49-F238E27FC236}">
                <a16:creationId xmlns:a16="http://schemas.microsoft.com/office/drawing/2014/main" id="{37ACB634-3E57-724A-BDFE-E7335F22AA4A}"/>
              </a:ext>
            </a:extLst>
          </p:cNvPr>
          <p:cNvSpPr/>
          <p:nvPr/>
        </p:nvSpPr>
        <p:spPr>
          <a:xfrm>
            <a:off x="4800600" y="5017312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5" name="경로 노드 점">
            <a:extLst>
              <a:ext uri="{FF2B5EF4-FFF2-40B4-BE49-F238E27FC236}">
                <a16:creationId xmlns:a16="http://schemas.microsoft.com/office/drawing/2014/main" id="{6917D08A-A595-D13E-8B20-A3C444D93A5C}"/>
              </a:ext>
            </a:extLst>
          </p:cNvPr>
          <p:cNvSpPr/>
          <p:nvPr/>
        </p:nvSpPr>
        <p:spPr>
          <a:xfrm>
            <a:off x="4800600" y="564550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6" name="타임라인 축">
            <a:extLst>
              <a:ext uri="{FF2B5EF4-FFF2-40B4-BE49-F238E27FC236}">
                <a16:creationId xmlns:a16="http://schemas.microsoft.com/office/drawing/2014/main" id="{071BE91C-4676-723C-7D49-C80AA6CC8761}"/>
              </a:ext>
            </a:extLst>
          </p:cNvPr>
          <p:cNvCxnSpPr/>
          <p:nvPr/>
        </p:nvCxnSpPr>
        <p:spPr>
          <a:xfrm>
            <a:off x="4857750" y="4273905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타임라인 축">
            <a:extLst>
              <a:ext uri="{FF2B5EF4-FFF2-40B4-BE49-F238E27FC236}">
                <a16:creationId xmlns:a16="http://schemas.microsoft.com/office/drawing/2014/main" id="{714C9F25-DDED-C952-A91C-2A0AD6163C78}"/>
              </a:ext>
            </a:extLst>
          </p:cNvPr>
          <p:cNvCxnSpPr/>
          <p:nvPr/>
        </p:nvCxnSpPr>
        <p:spPr>
          <a:xfrm>
            <a:off x="4857750" y="474116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타임라인 축">
            <a:extLst>
              <a:ext uri="{FF2B5EF4-FFF2-40B4-BE49-F238E27FC236}">
                <a16:creationId xmlns:a16="http://schemas.microsoft.com/office/drawing/2014/main" id="{58916E09-5CF0-32E6-1A57-6BB02AE7AB78}"/>
              </a:ext>
            </a:extLst>
          </p:cNvPr>
          <p:cNvCxnSpPr>
            <a:cxnSpLocks/>
          </p:cNvCxnSpPr>
          <p:nvPr/>
        </p:nvCxnSpPr>
        <p:spPr>
          <a:xfrm>
            <a:off x="4857750" y="512155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그룹 23">
            <a:extLst>
              <a:ext uri="{FF2B5EF4-FFF2-40B4-BE49-F238E27FC236}">
                <a16:creationId xmlns:a16="http://schemas.microsoft.com/office/drawing/2014/main" id="{71F1160C-2D2D-1B17-898E-AC4D3DE2CD6C}"/>
              </a:ext>
            </a:extLst>
          </p:cNvPr>
          <p:cNvGrpSpPr/>
          <p:nvPr/>
        </p:nvGrpSpPr>
        <p:grpSpPr>
          <a:xfrm>
            <a:off x="4876800" y="4090837"/>
            <a:ext cx="2162175" cy="926552"/>
            <a:chOff x="4876800" y="4493173"/>
            <a:chExt cx="2162175" cy="926552"/>
          </a:xfrm>
        </p:grpSpPr>
        <p:sp>
          <p:nvSpPr>
            <p:cNvPr id="40" name="경로 노드">
              <a:extLst>
                <a:ext uri="{FF2B5EF4-FFF2-40B4-BE49-F238E27FC236}">
                  <a16:creationId xmlns:a16="http://schemas.microsoft.com/office/drawing/2014/main" id="{96EA440F-1D78-A5A0-C5BF-744F88B0F925}"/>
                </a:ext>
              </a:extLst>
            </p:cNvPr>
            <p:cNvSpPr/>
            <p:nvPr/>
          </p:nvSpPr>
          <p:spPr>
            <a:xfrm>
              <a:off x="4876800" y="4616805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서울특별시청</a:t>
              </a:r>
              <a:endParaRPr sz="650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41" name="경로 행동">
              <a:extLst>
                <a:ext uri="{FF2B5EF4-FFF2-40B4-BE49-F238E27FC236}">
                  <a16:creationId xmlns:a16="http://schemas.microsoft.com/office/drawing/2014/main" id="{3D9D36F2-7795-BBF7-98FC-FE9FFAE08F0F}"/>
                </a:ext>
              </a:extLst>
            </p:cNvPr>
            <p:cNvSpPr/>
            <p:nvPr/>
          </p:nvSpPr>
          <p:spPr>
            <a:xfrm>
              <a:off x="4886325" y="4787798"/>
              <a:ext cx="15430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 dirty="0">
                  <a:solidFill>
                    <a:srgbClr val="14181F"/>
                  </a:solidFill>
                  <a:latin typeface="Pretendard"/>
                </a:rPr>
                <a:t>1번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출입구까지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650" dirty="0" err="1">
                  <a:solidFill>
                    <a:srgbClr val="14181F"/>
                  </a:solidFill>
                  <a:latin typeface="Pretendard"/>
                </a:rPr>
                <a:t>도보</a:t>
              </a:r>
              <a:r>
                <a:rPr sz="650" dirty="0">
                  <a:solidFill>
                    <a:srgbClr val="14181F"/>
                  </a:solidFill>
                  <a:latin typeface="Pretendard"/>
                </a:rPr>
                <a:t> 341m (3분)</a:t>
              </a:r>
            </a:p>
          </p:txBody>
        </p:sp>
        <p:sp>
          <p:nvSpPr>
            <p:cNvPr id="42" name="경로 노드">
              <a:extLst>
                <a:ext uri="{FF2B5EF4-FFF2-40B4-BE49-F238E27FC236}">
                  <a16:creationId xmlns:a16="http://schemas.microsoft.com/office/drawing/2014/main" id="{8E84B138-A2F0-42A6-5136-C4E3E74E2B63}"/>
                </a:ext>
              </a:extLst>
            </p:cNvPr>
            <p:cNvSpPr/>
            <p:nvPr/>
          </p:nvSpPr>
          <p:spPr>
            <a:xfrm>
              <a:off x="4876800" y="4999939"/>
              <a:ext cx="1047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시청역 1번 출입구</a:t>
              </a:r>
            </a:p>
          </p:txBody>
        </p:sp>
        <p:sp>
          <p:nvSpPr>
            <p:cNvPr id="43" name="경로 거리">
              <a:extLst>
                <a:ext uri="{FF2B5EF4-FFF2-40B4-BE49-F238E27FC236}">
                  <a16:creationId xmlns:a16="http://schemas.microsoft.com/office/drawing/2014/main" id="{78DF6DB8-5533-01B2-DE06-3DCD320C40AE}"/>
                </a:ext>
              </a:extLst>
            </p:cNvPr>
            <p:cNvSpPr/>
            <p:nvPr/>
          </p:nvSpPr>
          <p:spPr>
            <a:xfrm>
              <a:off x="6372225" y="5372100"/>
              <a:ext cx="666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4339" tIns="37169" rIns="74339" bIns="37169" rtlCol="0" anchor="ctr">
              <a:noAutofit/>
            </a:bodyPr>
            <a:lstStyle/>
            <a:p>
              <a:pPr algn="r">
                <a:lnSpc>
                  <a:spcPct val="125000"/>
                </a:lnSpc>
              </a:pPr>
              <a:r>
                <a:rPr sz="650">
                  <a:solidFill>
                    <a:srgbClr val="14181F"/>
                  </a:solidFill>
                  <a:latin typeface="Pretendard"/>
                </a:rPr>
                <a:t>약 65m</a:t>
              </a:r>
            </a:p>
          </p:txBody>
        </p:sp>
      </p:grpSp>
      <p:sp>
        <p:nvSpPr>
          <p:cNvPr id="44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4876800" y="56071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45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4817101" y="4664354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6" name="타원 116">
            <a:extLst>
              <a:ext uri="{FF2B5EF4-FFF2-40B4-BE49-F238E27FC236}">
                <a16:creationId xmlns:a16="http://schemas.microsoft.com/office/drawing/2014/main" id="{59A4C280-E01F-A244-3BDE-D5C7C344248D}"/>
              </a:ext>
            </a:extLst>
          </p:cNvPr>
          <p:cNvSpPr/>
          <p:nvPr/>
        </p:nvSpPr>
        <p:spPr>
          <a:xfrm>
            <a:off x="4819650" y="566928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47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4866117" y="4782312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4883738" y="479694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9" name="경로 행동">
            <a:extLst>
              <a:ext uri="{FF2B5EF4-FFF2-40B4-BE49-F238E27FC236}">
                <a16:creationId xmlns:a16="http://schemas.microsoft.com/office/drawing/2014/main" id="{4914DCBC-79F1-9D0F-E6FB-EE52E7CF22DA}"/>
              </a:ext>
            </a:extLst>
          </p:cNvPr>
          <p:cNvSpPr/>
          <p:nvPr/>
        </p:nvSpPr>
        <p:spPr>
          <a:xfrm>
            <a:off x="4883738" y="4968849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50" name="TextBox 34">
            <a:extLst>
              <a:ext uri="{FF2B5EF4-FFF2-40B4-BE49-F238E27FC236}">
                <a16:creationId xmlns:a16="http://schemas.microsoft.com/office/drawing/2014/main" id="{8A3C2408-82FB-08AB-36D7-289FE9A995BF}"/>
              </a:ext>
            </a:extLst>
          </p:cNvPr>
          <p:cNvSpPr txBox="1"/>
          <p:nvPr/>
        </p:nvSpPr>
        <p:spPr>
          <a:xfrm>
            <a:off x="4883738" y="521939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51" name="ⓒ 스크롤바"/>
          <p:cNvSpPr/>
          <p:nvPr/>
        </p:nvSpPr>
        <p:spPr>
          <a:xfrm>
            <a:off x="7104888" y="4256532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4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56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57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9" name="지도 컨트롤"/>
          <p:cNvSpPr/>
          <p:nvPr/>
        </p:nvSpPr>
        <p:spPr>
          <a:xfrm>
            <a:off x="6618427" y="2547518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지도 컨트롤 라벨"/>
          <p:cNvSpPr txBox="1"/>
          <p:nvPr/>
        </p:nvSpPr>
        <p:spPr>
          <a:xfrm>
            <a:off x="6618427" y="2547518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1" name="지도 컨트롤"/>
          <p:cNvSpPr/>
          <p:nvPr/>
        </p:nvSpPr>
        <p:spPr>
          <a:xfrm>
            <a:off x="6528816" y="2926080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지도 컨트롤 라벨"/>
          <p:cNvSpPr txBox="1"/>
          <p:nvPr/>
        </p:nvSpPr>
        <p:spPr>
          <a:xfrm>
            <a:off x="6528816" y="2926080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3" name="층 이동 마커"/>
          <p:cNvSpPr txBox="1"/>
          <p:nvPr/>
        </p:nvSpPr>
        <p:spPr>
          <a:xfrm>
            <a:off x="5916168" y="2103120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4" name="도착 시각 · 요금"/>
          <p:cNvSpPr txBox="1"/>
          <p:nvPr/>
        </p:nvSpPr>
        <p:spPr>
          <a:xfrm>
            <a:off x="4733849" y="3726180"/>
            <a:ext cx="17373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5" name="버튼 안내 종료"/>
          <p:cNvSpPr/>
          <p:nvPr/>
        </p:nvSpPr>
        <p:spPr>
          <a:xfrm>
            <a:off x="6236208" y="3438144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버튼 라벨"/>
          <p:cNvSpPr txBox="1"/>
          <p:nvPr/>
        </p:nvSpPr>
        <p:spPr>
          <a:xfrm>
            <a:off x="6236208" y="3438144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7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69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1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도면 구역"/>
          <p:cNvSpPr/>
          <p:nvPr/>
        </p:nvSpPr>
        <p:spPr>
          <a:xfrm>
            <a:off x="5431536" y="2432304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도면 구역 라벨"/>
          <p:cNvSpPr txBox="1"/>
          <p:nvPr/>
        </p:nvSpPr>
        <p:spPr>
          <a:xfrm>
            <a:off x="5431536" y="243230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5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7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도면 경로선"/>
          <p:cNvSpPr/>
          <p:nvPr/>
        </p:nvSpPr>
        <p:spPr>
          <a:xfrm>
            <a:off x="6133338" y="2327148"/>
            <a:ext cx="32004" cy="2880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현재 위치 마커"/>
          <p:cNvSpPr/>
          <p:nvPr/>
        </p:nvSpPr>
        <p:spPr>
          <a:xfrm>
            <a:off x="6071616" y="2596896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현재 위치 셰브론"/>
          <p:cNvSpPr txBox="1"/>
          <p:nvPr/>
        </p:nvSpPr>
        <p:spPr>
          <a:xfrm>
            <a:off x="6071616" y="2596896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cxnSp>
        <p:nvCxnSpPr>
          <p:cNvPr id="81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85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다음 행동 지시 라벨">
            <a:extLst>
              <a:ext uri="{FF2B5EF4-FFF2-40B4-BE49-F238E27FC236}">
                <a16:creationId xmlns:a16="http://schemas.microsoft.com/office/drawing/2014/main" id="{2AF5F18F-B970-B231-C5FC-983F39AC7B93}"/>
              </a:ext>
            </a:extLst>
          </p:cNvPr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9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92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94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95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97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9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1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102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103" name="전체 경로 바"/>
          <p:cNvSpPr/>
          <p:nvPr/>
        </p:nvSpPr>
        <p:spPr>
          <a:xfrm>
            <a:off x="4727448" y="3898087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경로 바 라벨"/>
          <p:cNvSpPr txBox="1"/>
          <p:nvPr/>
        </p:nvSpPr>
        <p:spPr>
          <a:xfrm>
            <a:off x="4727448" y="3898087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105" name="전체 경로 바"/>
          <p:cNvSpPr/>
          <p:nvPr/>
        </p:nvSpPr>
        <p:spPr>
          <a:xfrm>
            <a:off x="5330952" y="3898087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경로 바 라벨"/>
          <p:cNvSpPr txBox="1"/>
          <p:nvPr/>
        </p:nvSpPr>
        <p:spPr>
          <a:xfrm>
            <a:off x="5330952" y="3898087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107" name="전체 경로 바"/>
          <p:cNvSpPr/>
          <p:nvPr/>
        </p:nvSpPr>
        <p:spPr>
          <a:xfrm>
            <a:off x="6227064" y="3898087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경로 바 라벨"/>
          <p:cNvSpPr txBox="1"/>
          <p:nvPr/>
        </p:nvSpPr>
        <p:spPr>
          <a:xfrm>
            <a:off x="6227064" y="3898087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9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111" name="숫자배지 4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2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113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4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5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16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7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8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19" name="숫자배지 6"/>
          <p:cNvSpPr/>
          <p:nvPr/>
        </p:nvSpPr>
        <p:spPr>
          <a:xfrm>
            <a:off x="7196328" y="4736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(3/5)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29192" y="1447800"/>
          <a:ext cx="2972409" cy="192907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다른 층을 보는 동안 (예: B2에서 B1 보기)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 위치 마커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내가 있는 층은 층 목록 드롭다운에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[현위치로] 표출 + 10초 뒤 자동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다른 층의 경로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보고 있는 층에 걸친 구간을 그 층의 진입점부터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보고 있는 층 밖의 구간은 함께 그리지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목업 프레임">
            <a:extLst>
              <a:ext uri="{FF2B5EF4-FFF2-40B4-BE49-F238E27FC236}">
                <a16:creationId xmlns:a16="http://schemas.microsoft.com/office/drawing/2014/main" id="{B0D2AE2B-41C7-D720-689D-3599E89B1A12}"/>
              </a:ext>
            </a:extLst>
          </p:cNvPr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다음 행동 지시 배너">
            <a:extLst>
              <a:ext uri="{FF2B5EF4-FFF2-40B4-BE49-F238E27FC236}">
                <a16:creationId xmlns:a16="http://schemas.microsoft.com/office/drawing/2014/main" id="{758E46E5-ACE6-B681-3C03-15B939F8392F}"/>
              </a:ext>
            </a:extLst>
          </p:cNvPr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층 칩">
            <a:extLst>
              <a:ext uri="{FF2B5EF4-FFF2-40B4-BE49-F238E27FC236}">
                <a16:creationId xmlns:a16="http://schemas.microsoft.com/office/drawing/2014/main" id="{C6D20830-7C0F-944F-F78D-4F01A7192356}"/>
              </a:ext>
            </a:extLst>
          </p:cNvPr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B1 ⌄</a:t>
            </a:r>
          </a:p>
        </p:txBody>
      </p:sp>
      <p:sp>
        <p:nvSpPr>
          <p:cNvPr id="24" name="지도 컨트롤 확대">
            <a:extLst>
              <a:ext uri="{FF2B5EF4-FFF2-40B4-BE49-F238E27FC236}">
                <a16:creationId xmlns:a16="http://schemas.microsoft.com/office/drawing/2014/main" id="{6EC5F66C-4C77-A273-D1EB-A99B7CB30B80}"/>
              </a:ext>
            </a:extLst>
          </p:cNvPr>
          <p:cNvSpPr/>
          <p:nvPr/>
        </p:nvSpPr>
        <p:spPr>
          <a:xfrm>
            <a:off x="4657725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컨트롤 라벨">
            <a:extLst>
              <a:ext uri="{FF2B5EF4-FFF2-40B4-BE49-F238E27FC236}">
                <a16:creationId xmlns:a16="http://schemas.microsoft.com/office/drawing/2014/main" id="{43CB204C-FE7C-E6A7-DB09-764D598A708A}"/>
              </a:ext>
            </a:extLst>
          </p:cNvPr>
          <p:cNvSpPr txBox="1"/>
          <p:nvPr/>
        </p:nvSpPr>
        <p:spPr>
          <a:xfrm>
            <a:off x="4657725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6" name="지도 컨트롤 축소">
            <a:extLst>
              <a:ext uri="{FF2B5EF4-FFF2-40B4-BE49-F238E27FC236}">
                <a16:creationId xmlns:a16="http://schemas.microsoft.com/office/drawing/2014/main" id="{9901B5F9-7FE7-F624-5B75-274E5103B445}"/>
              </a:ext>
            </a:extLst>
          </p:cNvPr>
          <p:cNvSpPr/>
          <p:nvPr/>
        </p:nvSpPr>
        <p:spPr>
          <a:xfrm>
            <a:off x="4657725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컨트롤 라벨">
            <a:extLst>
              <a:ext uri="{FF2B5EF4-FFF2-40B4-BE49-F238E27FC236}">
                <a16:creationId xmlns:a16="http://schemas.microsoft.com/office/drawing/2014/main" id="{C6DAE6FB-A800-1224-48C9-1300A7D3148F}"/>
              </a:ext>
            </a:extLst>
          </p:cNvPr>
          <p:cNvSpPr txBox="1"/>
          <p:nvPr/>
        </p:nvSpPr>
        <p:spPr>
          <a:xfrm>
            <a:off x="4657725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8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30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32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33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35" name="지도 컨트롤"/>
          <p:cNvSpPr/>
          <p:nvPr/>
        </p:nvSpPr>
        <p:spPr>
          <a:xfrm>
            <a:off x="6618427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지도 컨트롤 라벨"/>
          <p:cNvSpPr txBox="1"/>
          <p:nvPr/>
        </p:nvSpPr>
        <p:spPr>
          <a:xfrm>
            <a:off x="6618427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37" name="지도 컨트롤"/>
          <p:cNvSpPr/>
          <p:nvPr/>
        </p:nvSpPr>
        <p:spPr>
          <a:xfrm>
            <a:off x="6528816" y="4791456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지도 컨트롤 라벨"/>
          <p:cNvSpPr txBox="1"/>
          <p:nvPr/>
        </p:nvSpPr>
        <p:spPr>
          <a:xfrm>
            <a:off x="6528816" y="4791456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39" name="층 이동 마커"/>
          <p:cNvSpPr txBox="1"/>
          <p:nvPr/>
        </p:nvSpPr>
        <p:spPr>
          <a:xfrm>
            <a:off x="5623560" y="4224528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↑ B2</a:t>
            </a:r>
          </a:p>
        </p:txBody>
      </p:sp>
      <p:sp>
        <p:nvSpPr>
          <p:cNvPr id="40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42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44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도면 구역"/>
          <p:cNvSpPr/>
          <p:nvPr/>
        </p:nvSpPr>
        <p:spPr>
          <a:xfrm>
            <a:off x="5394960" y="356616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도면 구역 라벨"/>
          <p:cNvSpPr txBox="1"/>
          <p:nvPr/>
        </p:nvSpPr>
        <p:spPr>
          <a:xfrm>
            <a:off x="5394960" y="356616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48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출구</a:t>
            </a:r>
          </a:p>
        </p:txBody>
      </p:sp>
      <p:sp>
        <p:nvSpPr>
          <p:cNvPr id="50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도면 경로선"/>
          <p:cNvSpPr/>
          <p:nvPr/>
        </p:nvSpPr>
        <p:spPr>
          <a:xfrm>
            <a:off x="6133338" y="2327148"/>
            <a:ext cx="32004" cy="18608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56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다음 행동 지시 라벨">
            <a:extLst>
              <a:ext uri="{FF2B5EF4-FFF2-40B4-BE49-F238E27FC236}">
                <a16:creationId xmlns:a16="http://schemas.microsoft.com/office/drawing/2014/main" id="{2AF5F18F-B970-B231-C5FC-983F39AC7B93}"/>
              </a:ext>
            </a:extLst>
          </p:cNvPr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60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63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5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6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68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70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72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73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74" name="바텀시트"/>
          <p:cNvSpPr/>
          <p:nvPr/>
        </p:nvSpPr>
        <p:spPr>
          <a:xfrm>
            <a:off x="4572000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시트 손잡이"/>
          <p:cNvSpPr/>
          <p:nvPr/>
        </p:nvSpPr>
        <p:spPr>
          <a:xfrm>
            <a:off x="5765292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남은 시간"/>
          <p:cNvSpPr txBox="1"/>
          <p:nvPr/>
        </p:nvSpPr>
        <p:spPr>
          <a:xfrm>
            <a:off x="4727448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77" name="버튼 안내 종료"/>
          <p:cNvSpPr/>
          <p:nvPr/>
        </p:nvSpPr>
        <p:spPr>
          <a:xfrm>
            <a:off x="6190488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버튼 라벨"/>
          <p:cNvSpPr txBox="1"/>
          <p:nvPr/>
        </p:nvSpPr>
        <p:spPr>
          <a:xfrm>
            <a:off x="6190488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79" name="도착 시각 · 요금"/>
          <p:cNvSpPr txBox="1"/>
          <p:nvPr/>
        </p:nvSpPr>
        <p:spPr>
          <a:xfrm>
            <a:off x="4727448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80" name="전체 경로 바"/>
          <p:cNvSpPr/>
          <p:nvPr/>
        </p:nvSpPr>
        <p:spPr>
          <a:xfrm>
            <a:off x="4727448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경로 바 라벨"/>
          <p:cNvSpPr txBox="1"/>
          <p:nvPr/>
        </p:nvSpPr>
        <p:spPr>
          <a:xfrm>
            <a:off x="4727448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2" name="전체 경로 바"/>
          <p:cNvSpPr/>
          <p:nvPr/>
        </p:nvSpPr>
        <p:spPr>
          <a:xfrm>
            <a:off x="5330952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경로 바 라벨"/>
          <p:cNvSpPr txBox="1"/>
          <p:nvPr/>
        </p:nvSpPr>
        <p:spPr>
          <a:xfrm>
            <a:off x="5330952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84" name="전체 경로 바"/>
          <p:cNvSpPr/>
          <p:nvPr/>
        </p:nvSpPr>
        <p:spPr>
          <a:xfrm>
            <a:off x="6227064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경로 바 라벨"/>
          <p:cNvSpPr txBox="1"/>
          <p:nvPr/>
        </p:nvSpPr>
        <p:spPr>
          <a:xfrm>
            <a:off x="6227064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86" name="현재 위치 표식"/>
          <p:cNvSpPr txBox="1"/>
          <p:nvPr/>
        </p:nvSpPr>
        <p:spPr>
          <a:xfrm>
            <a:off x="5111496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87" name="현재 위치 라벨"/>
          <p:cNvSpPr txBox="1"/>
          <p:nvPr/>
        </p:nvSpPr>
        <p:spPr>
          <a:xfrm>
            <a:off x="5422392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88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90" name="숫자배지 4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1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92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3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4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95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6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7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8" name="숫자배지 3-2"/>
          <p:cNvSpPr/>
          <p:nvPr/>
        </p:nvSpPr>
        <p:spPr>
          <a:xfrm>
            <a:off x="5760720" y="25968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99" name="숫자배지 3-3"/>
          <p:cNvSpPr/>
          <p:nvPr/>
        </p:nvSpPr>
        <p:spPr>
          <a:xfrm>
            <a:off x="6309360" y="4169663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(4/5)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8075"/>
              </p:ext>
            </p:extLst>
          </p:nvPr>
        </p:nvGraphicFramePr>
        <p:xfrm>
          <a:off x="8629192" y="1447800"/>
          <a:ext cx="2972409" cy="329153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행동 지시 배너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지시 단위 4종 — 회전 · 층 이동 · 시설물 · 게이트 통과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 대신 행동이 단위 · 재탐색 중에도 직전 지시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컨트롤 5종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 칩 · 정북 복원 · [현위치로] · [재탐색] · 확대 · 축소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정북 복원 상시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[현위치로]는 조건부 — 지도 이동 · 확대 · 축소 · 정북 상태 · 다른 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기본 뷰로 즉시 복귀 · 층까지 되돌림 · 조작 10초 뒤 자동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「내 위치」는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도면 위 POI · 시설물은 눌러도 반응하지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목업 프레임"/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다음 행동 지시 배너"/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층 칩"/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20" name="바텀시트"/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21" name="시트 손잡이"/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시트 총 소요"/>
          <p:cNvSpPr/>
          <p:nvPr/>
        </p:nvSpPr>
        <p:spPr>
          <a:xfrm>
            <a:off x="4733925" y="3426714"/>
            <a:ext cx="128016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23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14875" y="4159605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416966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경로 노드 점"/>
          <p:cNvSpPr/>
          <p:nvPr/>
        </p:nvSpPr>
        <p:spPr>
          <a:xfrm>
            <a:off x="4800600" y="463600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6" name="경로 노드 점"/>
          <p:cNvSpPr/>
          <p:nvPr/>
        </p:nvSpPr>
        <p:spPr>
          <a:xfrm>
            <a:off x="4800600" y="5017312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7" name="경로 노드 점"/>
          <p:cNvSpPr/>
          <p:nvPr/>
        </p:nvSpPr>
        <p:spPr>
          <a:xfrm>
            <a:off x="4800600" y="564550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8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7750" y="4273905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타임라인 축"/>
          <p:cNvCxnSpPr/>
          <p:nvPr/>
        </p:nvCxnSpPr>
        <p:spPr>
          <a:xfrm>
            <a:off x="4857750" y="474116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타임라인 축"/>
          <p:cNvCxnSpPr>
            <a:cxnSpLocks/>
          </p:cNvCxnSpPr>
          <p:nvPr/>
        </p:nvCxnSpPr>
        <p:spPr>
          <a:xfrm>
            <a:off x="4857750" y="512155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경로 노드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76800" y="459760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32" name="경로 거리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6372225" y="4969764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33" name="경로 노드"/>
          <p:cNvSpPr/>
          <p:nvPr/>
        </p:nvSpPr>
        <p:spPr>
          <a:xfrm>
            <a:off x="4876800" y="56071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34" name="타원 116">
            <a:extLst>
              <a:ext uri="{FF2B5EF4-FFF2-40B4-BE49-F238E27FC236}">
                <a16:creationId xmlns:a16="http://schemas.microsoft.com/office/drawing/2014/main" id="{86C3662E-857C-AECD-1E76-1A7E605322DD}"/>
              </a:ext>
            </a:extLst>
          </p:cNvPr>
          <p:cNvSpPr/>
          <p:nvPr/>
        </p:nvSpPr>
        <p:spPr>
          <a:xfrm>
            <a:off x="4817101" y="4664354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5" name="직선 연결선 123">
            <a:extLst>
              <a:ext uri="{FF2B5EF4-FFF2-40B4-BE49-F238E27FC236}">
                <a16:creationId xmlns:a16="http://schemas.microsoft.com/office/drawing/2014/main" id="{DBA042A6-FD28-ADCE-4FB7-7919C7CD2E89}"/>
              </a:ext>
            </a:extLst>
          </p:cNvPr>
          <p:cNvCxnSpPr>
            <a:cxnSpLocks/>
          </p:cNvCxnSpPr>
          <p:nvPr/>
        </p:nvCxnSpPr>
        <p:spPr>
          <a:xfrm>
            <a:off x="4866117" y="4782312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지도 컨트롤 확대">
            <a:extLst>
              <a:ext uri="{FF2B5EF4-FFF2-40B4-BE49-F238E27FC236}">
                <a16:creationId xmlns:a16="http://schemas.microsoft.com/office/drawing/2014/main" id="{15277B81-0073-F2C9-5614-2DD59DE81A30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컨트롤 라벨">
            <a:extLst>
              <a:ext uri="{FF2B5EF4-FFF2-40B4-BE49-F238E27FC236}">
                <a16:creationId xmlns:a16="http://schemas.microsoft.com/office/drawing/2014/main" id="{C936E93B-915E-7FD1-C869-EABFEFF88C08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지도 컨트롤 축소">
            <a:extLst>
              <a:ext uri="{FF2B5EF4-FFF2-40B4-BE49-F238E27FC236}">
                <a16:creationId xmlns:a16="http://schemas.microsoft.com/office/drawing/2014/main" id="{A3C2FAFC-5789-20BD-940E-58CFFD8576B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컨트롤 라벨">
            <a:extLst>
              <a:ext uri="{FF2B5EF4-FFF2-40B4-BE49-F238E27FC236}">
                <a16:creationId xmlns:a16="http://schemas.microsoft.com/office/drawing/2014/main" id="{6A0D5117-900F-3264-2187-D1A8B857705C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지도 컨트롤 확대">
            <a:extLst>
              <a:ext uri="{FF2B5EF4-FFF2-40B4-BE49-F238E27FC236}">
                <a16:creationId xmlns:a16="http://schemas.microsoft.com/office/drawing/2014/main" id="{FED7585D-9C68-D0A5-3742-C32FE92B2834}"/>
              </a:ext>
            </a:extLst>
          </p:cNvPr>
          <p:cNvSpPr/>
          <p:nvPr/>
        </p:nvSpPr>
        <p:spPr>
          <a:xfrm>
            <a:off x="4657725" y="2461564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컨트롤 라벨">
            <a:extLst>
              <a:ext uri="{FF2B5EF4-FFF2-40B4-BE49-F238E27FC236}">
                <a16:creationId xmlns:a16="http://schemas.microsoft.com/office/drawing/2014/main" id="{CFBBA047-AFB6-C151-D30A-AB18BA5B68EF}"/>
              </a:ext>
            </a:extLst>
          </p:cNvPr>
          <p:cNvSpPr txBox="1"/>
          <p:nvPr/>
        </p:nvSpPr>
        <p:spPr>
          <a:xfrm>
            <a:off x="4657725" y="2461564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지도 컨트롤 축소">
            <a:extLst>
              <a:ext uri="{FF2B5EF4-FFF2-40B4-BE49-F238E27FC236}">
                <a16:creationId xmlns:a16="http://schemas.microsoft.com/office/drawing/2014/main" id="{513661A7-DED0-03D2-C20E-8AAF2E79696A}"/>
              </a:ext>
            </a:extLst>
          </p:cNvPr>
          <p:cNvSpPr/>
          <p:nvPr/>
        </p:nvSpPr>
        <p:spPr>
          <a:xfrm>
            <a:off x="4657725" y="284012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컨트롤 라벨">
            <a:extLst>
              <a:ext uri="{FF2B5EF4-FFF2-40B4-BE49-F238E27FC236}">
                <a16:creationId xmlns:a16="http://schemas.microsoft.com/office/drawing/2014/main" id="{1748B1EC-9E0B-133C-1F05-AAABAFC6DA42}"/>
              </a:ext>
            </a:extLst>
          </p:cNvPr>
          <p:cNvSpPr txBox="1"/>
          <p:nvPr/>
        </p:nvSpPr>
        <p:spPr>
          <a:xfrm>
            <a:off x="4657725" y="2840126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4" name="타원 116">
            <a:extLst>
              <a:ext uri="{FF2B5EF4-FFF2-40B4-BE49-F238E27FC236}">
                <a16:creationId xmlns:a16="http://schemas.microsoft.com/office/drawing/2014/main" id="{6D3DBC61-D306-4323-C2CC-8C9DBB744AAA}"/>
              </a:ext>
            </a:extLst>
          </p:cNvPr>
          <p:cNvSpPr/>
          <p:nvPr/>
        </p:nvSpPr>
        <p:spPr>
          <a:xfrm>
            <a:off x="4819650" y="566928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5" name="경로 노드">
            <a:extLst>
              <a:ext uri="{FF2B5EF4-FFF2-40B4-BE49-F238E27FC236}">
                <a16:creationId xmlns:a16="http://schemas.microsoft.com/office/drawing/2014/main" id="{4F26821C-A3B0-648E-8315-ED1829FE00F6}"/>
              </a:ext>
            </a:extLst>
          </p:cNvPr>
          <p:cNvSpPr/>
          <p:nvPr/>
        </p:nvSpPr>
        <p:spPr>
          <a:xfrm>
            <a:off x="4876800" y="421446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경로 행동">
            <a:extLst>
              <a:ext uri="{FF2B5EF4-FFF2-40B4-BE49-F238E27FC236}">
                <a16:creationId xmlns:a16="http://schemas.microsoft.com/office/drawing/2014/main" id="{270B3704-570A-7A93-9208-8AA6693BE8D0}"/>
              </a:ext>
            </a:extLst>
          </p:cNvPr>
          <p:cNvSpPr/>
          <p:nvPr/>
        </p:nvSpPr>
        <p:spPr>
          <a:xfrm>
            <a:off x="4886325" y="4385462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1번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출입구까지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도보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341m (3분)</a:t>
            </a:r>
          </a:p>
        </p:txBody>
      </p:sp>
      <p:sp>
        <p:nvSpPr>
          <p:cNvPr id="47" name="경로 행동">
            <a:extLst>
              <a:ext uri="{FF2B5EF4-FFF2-40B4-BE49-F238E27FC236}">
                <a16:creationId xmlns:a16="http://schemas.microsoft.com/office/drawing/2014/main" id="{BC309699-71D1-CD67-89CB-0CDA6FAF0F34}"/>
              </a:ext>
            </a:extLst>
          </p:cNvPr>
          <p:cNvSpPr/>
          <p:nvPr/>
        </p:nvSpPr>
        <p:spPr>
          <a:xfrm>
            <a:off x="4883738" y="479694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경로 행동">
            <a:extLst>
              <a:ext uri="{FF2B5EF4-FFF2-40B4-BE49-F238E27FC236}">
                <a16:creationId xmlns:a16="http://schemas.microsoft.com/office/drawing/2014/main" id="{3F8C3A87-05E8-CCF8-E167-53848918E1FB}"/>
              </a:ext>
            </a:extLst>
          </p:cNvPr>
          <p:cNvSpPr/>
          <p:nvPr/>
        </p:nvSpPr>
        <p:spPr>
          <a:xfrm>
            <a:off x="4883738" y="4968849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49" name="TextBox 32">
            <a:extLst>
              <a:ext uri="{FF2B5EF4-FFF2-40B4-BE49-F238E27FC236}">
                <a16:creationId xmlns:a16="http://schemas.microsoft.com/office/drawing/2014/main" id="{DB32909C-C9E8-92D4-BA37-B7817246F4E4}"/>
              </a:ext>
            </a:extLst>
          </p:cNvPr>
          <p:cNvSpPr txBox="1"/>
          <p:nvPr/>
        </p:nvSpPr>
        <p:spPr>
          <a:xfrm>
            <a:off x="4883738" y="521939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50" name="ⓒ 스크롤바"/>
          <p:cNvSpPr/>
          <p:nvPr/>
        </p:nvSpPr>
        <p:spPr>
          <a:xfrm>
            <a:off x="7104888" y="4256532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3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55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56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8" name="지도 컨트롤"/>
          <p:cNvSpPr/>
          <p:nvPr/>
        </p:nvSpPr>
        <p:spPr>
          <a:xfrm>
            <a:off x="6618427" y="2547518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지도 컨트롤 라벨"/>
          <p:cNvSpPr txBox="1"/>
          <p:nvPr/>
        </p:nvSpPr>
        <p:spPr>
          <a:xfrm>
            <a:off x="6618427" y="2547518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0" name="지도 컨트롤"/>
          <p:cNvSpPr/>
          <p:nvPr/>
        </p:nvSpPr>
        <p:spPr>
          <a:xfrm>
            <a:off x="6528816" y="2926080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지도 컨트롤 라벨"/>
          <p:cNvSpPr txBox="1"/>
          <p:nvPr/>
        </p:nvSpPr>
        <p:spPr>
          <a:xfrm>
            <a:off x="6528816" y="2926080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2" name="층 이동 마커"/>
          <p:cNvSpPr txBox="1"/>
          <p:nvPr/>
        </p:nvSpPr>
        <p:spPr>
          <a:xfrm>
            <a:off x="5916168" y="2103120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3" name="도착 시각 · 요금"/>
          <p:cNvSpPr txBox="1"/>
          <p:nvPr/>
        </p:nvSpPr>
        <p:spPr>
          <a:xfrm>
            <a:off x="4733849" y="3726180"/>
            <a:ext cx="17373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4" name="버튼 안내 종료"/>
          <p:cNvSpPr/>
          <p:nvPr/>
        </p:nvSpPr>
        <p:spPr>
          <a:xfrm>
            <a:off x="6236208" y="3438144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버튼 라벨"/>
          <p:cNvSpPr txBox="1"/>
          <p:nvPr/>
        </p:nvSpPr>
        <p:spPr>
          <a:xfrm>
            <a:off x="6236208" y="3438144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6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68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0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구역"/>
          <p:cNvSpPr/>
          <p:nvPr/>
        </p:nvSpPr>
        <p:spPr>
          <a:xfrm>
            <a:off x="5431536" y="2432304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도면 구역 라벨"/>
          <p:cNvSpPr txBox="1"/>
          <p:nvPr/>
        </p:nvSpPr>
        <p:spPr>
          <a:xfrm>
            <a:off x="5431536" y="243230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4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6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도면 경로선"/>
          <p:cNvSpPr/>
          <p:nvPr/>
        </p:nvSpPr>
        <p:spPr>
          <a:xfrm>
            <a:off x="6133338" y="2327148"/>
            <a:ext cx="32004" cy="2880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현재 위치 마커"/>
          <p:cNvSpPr/>
          <p:nvPr/>
        </p:nvSpPr>
        <p:spPr>
          <a:xfrm>
            <a:off x="6071616" y="2596896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현재 위치 셰브론"/>
          <p:cNvSpPr txBox="1"/>
          <p:nvPr/>
        </p:nvSpPr>
        <p:spPr>
          <a:xfrm>
            <a:off x="6071616" y="2596896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cxnSp>
        <p:nvCxnSpPr>
          <p:cNvPr id="80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다음 행동 지시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84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다음 행동 지시 라벨"/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8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91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93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94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96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8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0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101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102" name="전체 경로 바"/>
          <p:cNvSpPr/>
          <p:nvPr/>
        </p:nvSpPr>
        <p:spPr>
          <a:xfrm>
            <a:off x="4727448" y="3898087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경로 바 라벨"/>
          <p:cNvSpPr txBox="1"/>
          <p:nvPr/>
        </p:nvSpPr>
        <p:spPr>
          <a:xfrm>
            <a:off x="4727448" y="3898087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104" name="전체 경로 바"/>
          <p:cNvSpPr/>
          <p:nvPr/>
        </p:nvSpPr>
        <p:spPr>
          <a:xfrm>
            <a:off x="5330952" y="3898087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경로 바 라벨"/>
          <p:cNvSpPr txBox="1"/>
          <p:nvPr/>
        </p:nvSpPr>
        <p:spPr>
          <a:xfrm>
            <a:off x="5330952" y="3898087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106" name="전체 경로 바"/>
          <p:cNvSpPr/>
          <p:nvPr/>
        </p:nvSpPr>
        <p:spPr>
          <a:xfrm>
            <a:off x="6227064" y="3898087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경로 바 라벨"/>
          <p:cNvSpPr txBox="1"/>
          <p:nvPr/>
        </p:nvSpPr>
        <p:spPr>
          <a:xfrm>
            <a:off x="6227064" y="3898087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8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110" name="숫자배지 4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1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112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3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4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15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6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7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18" name="숫자배지 6"/>
          <p:cNvSpPr/>
          <p:nvPr/>
        </p:nvSpPr>
        <p:spPr>
          <a:xfrm>
            <a:off x="7196328" y="4736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외 모든 유형 (5/5)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008075"/>
              </p:ext>
            </p:extLst>
          </p:nvPr>
        </p:nvGraphicFramePr>
        <p:xfrm>
          <a:off x="8629192" y="1447800"/>
          <a:ext cx="2972409" cy="324972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시설물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계단 · 엘리베이터 · 에스컬레이터 · 경사로를 접근 시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유형에 따라 회피 · 우선이 갈림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운행 중지 설비는 경로에서 빼고 사유를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042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목업은 접힘 · 펼침 2종을 나란히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펼침 경로 상세 — 실내 구간 단계에 이용 설비를 괄호로 병기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재탐색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이탈 시 자동 재탐색 · 토스트 「경로를 벗어나 새로운 경로로 안내합니다.」 ＋ 음성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상단 지시 배너를 상태 문구로 대체하지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1390650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다음 행동 지시 배너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500530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1485900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목업 프레임"/>
          <p:cNvSpPr/>
          <p:nvPr/>
        </p:nvSpPr>
        <p:spPr>
          <a:xfrm>
            <a:off x="4562475" y="1200150"/>
            <a:ext cx="2733675" cy="514350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다음 행동 지시 배너"/>
          <p:cNvSpPr/>
          <p:nvPr/>
        </p:nvSpPr>
        <p:spPr>
          <a:xfrm>
            <a:off x="4672584" y="1307592"/>
            <a:ext cx="2514600" cy="420624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층 칩"/>
          <p:cNvSpPr/>
          <p:nvPr/>
        </p:nvSpPr>
        <p:spPr>
          <a:xfrm>
            <a:off x="4657725" y="1828800"/>
            <a:ext cx="552450" cy="247650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20" name="바텀시트"/>
          <p:cNvSpPr/>
          <p:nvPr/>
        </p:nvSpPr>
        <p:spPr>
          <a:xfrm>
            <a:off x="4572000" y="3218688"/>
            <a:ext cx="2724150" cy="3118103"/>
          </a:xfrm>
          <a:prstGeom prst="round2SameRect">
            <a:avLst>
              <a:gd name="adj1" fmla="val 6554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 dirty="0"/>
          </a:p>
        </p:txBody>
      </p:sp>
      <p:cxnSp>
        <p:nvCxnSpPr>
          <p:cNvPr id="21" name="시트 손잡이"/>
          <p:cNvCxnSpPr/>
          <p:nvPr/>
        </p:nvCxnSpPr>
        <p:spPr>
          <a:xfrm>
            <a:off x="5753100" y="3331464"/>
            <a:ext cx="342900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시트 총 소요"/>
          <p:cNvSpPr/>
          <p:nvPr/>
        </p:nvSpPr>
        <p:spPr>
          <a:xfrm>
            <a:off x="4733925" y="3426714"/>
            <a:ext cx="128016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130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23" name="리스트 구분선">
            <a:extLst>
              <a:ext uri="{FF2B5EF4-FFF2-40B4-BE49-F238E27FC236}">
                <a16:creationId xmlns:a16="http://schemas.microsoft.com/office/drawing/2014/main" id="{BC1286B5-522F-68A8-5813-0C14961E4B2A}"/>
              </a:ext>
            </a:extLst>
          </p:cNvPr>
          <p:cNvSpPr/>
          <p:nvPr/>
        </p:nvSpPr>
        <p:spPr>
          <a:xfrm>
            <a:off x="4714875" y="4159605"/>
            <a:ext cx="245745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경로 노드 점">
            <a:extLst>
              <a:ext uri="{FF2B5EF4-FFF2-40B4-BE49-F238E27FC236}">
                <a16:creationId xmlns:a16="http://schemas.microsoft.com/office/drawing/2014/main" id="{51C90DB4-579C-BC34-B79C-C055B48FD535}"/>
              </a:ext>
            </a:extLst>
          </p:cNvPr>
          <p:cNvSpPr/>
          <p:nvPr/>
        </p:nvSpPr>
        <p:spPr>
          <a:xfrm>
            <a:off x="4800600" y="4169663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5" name="경로 노드 점"/>
          <p:cNvSpPr/>
          <p:nvPr/>
        </p:nvSpPr>
        <p:spPr>
          <a:xfrm>
            <a:off x="4800600" y="4636008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6" name="경로 노드 점"/>
          <p:cNvSpPr/>
          <p:nvPr/>
        </p:nvSpPr>
        <p:spPr>
          <a:xfrm>
            <a:off x="4800600" y="5017312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7" name="경로 노드 점"/>
          <p:cNvSpPr/>
          <p:nvPr/>
        </p:nvSpPr>
        <p:spPr>
          <a:xfrm>
            <a:off x="4800600" y="564550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8" name="타임라인 축">
            <a:extLst>
              <a:ext uri="{FF2B5EF4-FFF2-40B4-BE49-F238E27FC236}">
                <a16:creationId xmlns:a16="http://schemas.microsoft.com/office/drawing/2014/main" id="{092C11A0-66A4-B535-8B13-7A4C782D6242}"/>
              </a:ext>
            </a:extLst>
          </p:cNvPr>
          <p:cNvCxnSpPr/>
          <p:nvPr/>
        </p:nvCxnSpPr>
        <p:spPr>
          <a:xfrm>
            <a:off x="4857750" y="4273905"/>
            <a:ext cx="0" cy="3619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타임라인 축"/>
          <p:cNvCxnSpPr/>
          <p:nvPr/>
        </p:nvCxnSpPr>
        <p:spPr>
          <a:xfrm>
            <a:off x="4857750" y="4741164"/>
            <a:ext cx="0" cy="55245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타임라인 축"/>
          <p:cNvCxnSpPr>
            <a:cxnSpLocks/>
          </p:cNvCxnSpPr>
          <p:nvPr/>
        </p:nvCxnSpPr>
        <p:spPr>
          <a:xfrm>
            <a:off x="4857750" y="5121554"/>
            <a:ext cx="0" cy="523875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경로 노드">
            <a:extLst>
              <a:ext uri="{FF2B5EF4-FFF2-40B4-BE49-F238E27FC236}">
                <a16:creationId xmlns:a16="http://schemas.microsoft.com/office/drawing/2014/main" id="{CAE4AA78-6D9B-ACDE-2C0F-0B1AE99AECA1}"/>
              </a:ext>
            </a:extLst>
          </p:cNvPr>
          <p:cNvSpPr/>
          <p:nvPr/>
        </p:nvSpPr>
        <p:spPr>
          <a:xfrm>
            <a:off x="4876800" y="4597603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32" name="경로 거리">
            <a:extLst>
              <a:ext uri="{FF2B5EF4-FFF2-40B4-BE49-F238E27FC236}">
                <a16:creationId xmlns:a16="http://schemas.microsoft.com/office/drawing/2014/main" id="{FCFAE234-65A7-CD4D-336C-D58164225788}"/>
              </a:ext>
            </a:extLst>
          </p:cNvPr>
          <p:cNvSpPr/>
          <p:nvPr/>
        </p:nvSpPr>
        <p:spPr>
          <a:xfrm>
            <a:off x="6372225" y="4969764"/>
            <a:ext cx="666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33" name="경로 노드"/>
          <p:cNvSpPr/>
          <p:nvPr/>
        </p:nvSpPr>
        <p:spPr>
          <a:xfrm>
            <a:off x="4876800" y="5607100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당산역</a:t>
            </a:r>
          </a:p>
        </p:txBody>
      </p:sp>
      <p:sp>
        <p:nvSpPr>
          <p:cNvPr id="34" name="타원 116">
            <a:extLst>
              <a:ext uri="{FF2B5EF4-FFF2-40B4-BE49-F238E27FC236}">
                <a16:creationId xmlns:a16="http://schemas.microsoft.com/office/drawing/2014/main" id="{86C3662E-857C-AECD-1E76-1A7E605322DD}"/>
              </a:ext>
            </a:extLst>
          </p:cNvPr>
          <p:cNvSpPr/>
          <p:nvPr/>
        </p:nvSpPr>
        <p:spPr>
          <a:xfrm>
            <a:off x="4817101" y="4664354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35" name="직선 연결선 123">
            <a:extLst>
              <a:ext uri="{FF2B5EF4-FFF2-40B4-BE49-F238E27FC236}">
                <a16:creationId xmlns:a16="http://schemas.microsoft.com/office/drawing/2014/main" id="{DBA042A6-FD28-ADCE-4FB7-7919C7CD2E89}"/>
              </a:ext>
            </a:extLst>
          </p:cNvPr>
          <p:cNvCxnSpPr>
            <a:cxnSpLocks/>
          </p:cNvCxnSpPr>
          <p:nvPr/>
        </p:nvCxnSpPr>
        <p:spPr>
          <a:xfrm>
            <a:off x="4866117" y="4782312"/>
            <a:ext cx="0" cy="848742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지도 컨트롤 확대">
            <a:extLst>
              <a:ext uri="{FF2B5EF4-FFF2-40B4-BE49-F238E27FC236}">
                <a16:creationId xmlns:a16="http://schemas.microsoft.com/office/drawing/2014/main" id="{15277B81-0073-F2C9-5614-2DD59DE81A30}"/>
              </a:ext>
            </a:extLst>
          </p:cNvPr>
          <p:cNvSpPr/>
          <p:nvPr/>
        </p:nvSpPr>
        <p:spPr>
          <a:xfrm>
            <a:off x="1485900" y="4326940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컨트롤 라벨">
            <a:extLst>
              <a:ext uri="{FF2B5EF4-FFF2-40B4-BE49-F238E27FC236}">
                <a16:creationId xmlns:a16="http://schemas.microsoft.com/office/drawing/2014/main" id="{C936E93B-915E-7FD1-C869-EABFEFF88C08}"/>
              </a:ext>
            </a:extLst>
          </p:cNvPr>
          <p:cNvSpPr txBox="1"/>
          <p:nvPr/>
        </p:nvSpPr>
        <p:spPr>
          <a:xfrm>
            <a:off x="1485900" y="4326940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지도 컨트롤 축소">
            <a:extLst>
              <a:ext uri="{FF2B5EF4-FFF2-40B4-BE49-F238E27FC236}">
                <a16:creationId xmlns:a16="http://schemas.microsoft.com/office/drawing/2014/main" id="{A3C2FAFC-5789-20BD-940E-58CFFD8576B4}"/>
              </a:ext>
            </a:extLst>
          </p:cNvPr>
          <p:cNvSpPr/>
          <p:nvPr/>
        </p:nvSpPr>
        <p:spPr>
          <a:xfrm>
            <a:off x="1485900" y="4705502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컨트롤 라벨">
            <a:extLst>
              <a:ext uri="{FF2B5EF4-FFF2-40B4-BE49-F238E27FC236}">
                <a16:creationId xmlns:a16="http://schemas.microsoft.com/office/drawing/2014/main" id="{6A0D5117-900F-3264-2187-D1A8B857705C}"/>
              </a:ext>
            </a:extLst>
          </p:cNvPr>
          <p:cNvSpPr txBox="1"/>
          <p:nvPr/>
        </p:nvSpPr>
        <p:spPr>
          <a:xfrm>
            <a:off x="1485900" y="4705502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지도 컨트롤 확대">
            <a:extLst>
              <a:ext uri="{FF2B5EF4-FFF2-40B4-BE49-F238E27FC236}">
                <a16:creationId xmlns:a16="http://schemas.microsoft.com/office/drawing/2014/main" id="{FED7585D-9C68-D0A5-3742-C32FE92B2834}"/>
              </a:ext>
            </a:extLst>
          </p:cNvPr>
          <p:cNvSpPr/>
          <p:nvPr/>
        </p:nvSpPr>
        <p:spPr>
          <a:xfrm>
            <a:off x="4657725" y="2461564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컨트롤 라벨">
            <a:extLst>
              <a:ext uri="{FF2B5EF4-FFF2-40B4-BE49-F238E27FC236}">
                <a16:creationId xmlns:a16="http://schemas.microsoft.com/office/drawing/2014/main" id="{CFBBA047-AFB6-C151-D30A-AB18BA5B68EF}"/>
              </a:ext>
            </a:extLst>
          </p:cNvPr>
          <p:cNvSpPr txBox="1"/>
          <p:nvPr/>
        </p:nvSpPr>
        <p:spPr>
          <a:xfrm>
            <a:off x="4657725" y="2461564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＋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지도 컨트롤 축소">
            <a:extLst>
              <a:ext uri="{FF2B5EF4-FFF2-40B4-BE49-F238E27FC236}">
                <a16:creationId xmlns:a16="http://schemas.microsoft.com/office/drawing/2014/main" id="{513661A7-DED0-03D2-C20E-8AAF2E79696A}"/>
              </a:ext>
            </a:extLst>
          </p:cNvPr>
          <p:cNvSpPr/>
          <p:nvPr/>
        </p:nvSpPr>
        <p:spPr>
          <a:xfrm>
            <a:off x="4657725" y="2840126"/>
            <a:ext cx="323850" cy="323850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컨트롤 라벨">
            <a:extLst>
              <a:ext uri="{FF2B5EF4-FFF2-40B4-BE49-F238E27FC236}">
                <a16:creationId xmlns:a16="http://schemas.microsoft.com/office/drawing/2014/main" id="{1748B1EC-9E0B-133C-1F05-AAABAFC6DA42}"/>
              </a:ext>
            </a:extLst>
          </p:cNvPr>
          <p:cNvSpPr txBox="1"/>
          <p:nvPr/>
        </p:nvSpPr>
        <p:spPr>
          <a:xfrm>
            <a:off x="4657725" y="2840126"/>
            <a:ext cx="323850" cy="323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87" spc="-22" dirty="0">
                <a:solidFill>
                  <a:srgbClr val="14181F"/>
                </a:solidFill>
                <a:latin typeface="Pretendard"/>
              </a:rPr>
              <a:t>－</a:t>
            </a:r>
            <a:endParaRPr sz="787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4" name="타원 116">
            <a:extLst>
              <a:ext uri="{FF2B5EF4-FFF2-40B4-BE49-F238E27FC236}">
                <a16:creationId xmlns:a16="http://schemas.microsoft.com/office/drawing/2014/main" id="{6D3DBC61-D306-4323-C2CC-8C9DBB744AAA}"/>
              </a:ext>
            </a:extLst>
          </p:cNvPr>
          <p:cNvSpPr/>
          <p:nvPr/>
        </p:nvSpPr>
        <p:spPr>
          <a:xfrm>
            <a:off x="4819650" y="5669280"/>
            <a:ext cx="104526" cy="104666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339" tIns="37169" rIns="74339" bIns="37169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5" name="경로 노드">
            <a:extLst>
              <a:ext uri="{FF2B5EF4-FFF2-40B4-BE49-F238E27FC236}">
                <a16:creationId xmlns:a16="http://schemas.microsoft.com/office/drawing/2014/main" id="{4F26821C-A3B0-648E-8315-ED1829FE00F6}"/>
              </a:ext>
            </a:extLst>
          </p:cNvPr>
          <p:cNvSpPr/>
          <p:nvPr/>
        </p:nvSpPr>
        <p:spPr>
          <a:xfrm>
            <a:off x="4876800" y="4214469"/>
            <a:ext cx="1047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서울특별시청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6" name="경로 행동">
            <a:extLst>
              <a:ext uri="{FF2B5EF4-FFF2-40B4-BE49-F238E27FC236}">
                <a16:creationId xmlns:a16="http://schemas.microsoft.com/office/drawing/2014/main" id="{270B3704-570A-7A93-9208-8AA6693BE8D0}"/>
              </a:ext>
            </a:extLst>
          </p:cNvPr>
          <p:cNvSpPr/>
          <p:nvPr/>
        </p:nvSpPr>
        <p:spPr>
          <a:xfrm>
            <a:off x="4886325" y="4385462"/>
            <a:ext cx="15430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1번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출입구까지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도보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341m (3분)</a:t>
            </a:r>
          </a:p>
        </p:txBody>
      </p:sp>
      <p:sp>
        <p:nvSpPr>
          <p:cNvPr id="47" name="경로 행동">
            <a:extLst>
              <a:ext uri="{FF2B5EF4-FFF2-40B4-BE49-F238E27FC236}">
                <a16:creationId xmlns:a16="http://schemas.microsoft.com/office/drawing/2014/main" id="{BC309699-71D1-CD67-89CB-0CDA6FAF0F34}"/>
              </a:ext>
            </a:extLst>
          </p:cNvPr>
          <p:cNvSpPr/>
          <p:nvPr/>
        </p:nvSpPr>
        <p:spPr>
          <a:xfrm>
            <a:off x="4883738" y="4796942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에스컬레이터로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B1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대합실</a:t>
            </a:r>
            <a:endParaRPr sz="65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경로 행동">
            <a:extLst>
              <a:ext uri="{FF2B5EF4-FFF2-40B4-BE49-F238E27FC236}">
                <a16:creationId xmlns:a16="http://schemas.microsoft.com/office/drawing/2014/main" id="{3F8C3A87-05E8-CCF8-E167-53848918E1FB}"/>
              </a:ext>
            </a:extLst>
          </p:cNvPr>
          <p:cNvSpPr/>
          <p:nvPr/>
        </p:nvSpPr>
        <p:spPr>
          <a:xfrm>
            <a:off x="4883738" y="4968849"/>
            <a:ext cx="1428750" cy="2746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>
                <a:solidFill>
                  <a:srgbClr val="14181F"/>
                </a:solidFill>
                <a:latin typeface="Pretendard"/>
              </a:rPr>
              <a:t>3번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게이트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통과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 (</a:t>
            </a:r>
            <a:r>
              <a:rPr sz="650" dirty="0" err="1">
                <a:solidFill>
                  <a:srgbClr val="14181F"/>
                </a:solidFill>
                <a:latin typeface="Pretendard"/>
              </a:rPr>
              <a:t>교통약자</a:t>
            </a:r>
            <a:r>
              <a:rPr sz="650" dirty="0">
                <a:solidFill>
                  <a:srgbClr val="14181F"/>
                </a:solidFill>
                <a:latin typeface="Pretendard"/>
              </a:rPr>
              <a:t>)</a:t>
            </a:r>
          </a:p>
        </p:txBody>
      </p:sp>
      <p:sp>
        <p:nvSpPr>
          <p:cNvPr id="49" name="TextBox 32">
            <a:extLst>
              <a:ext uri="{FF2B5EF4-FFF2-40B4-BE49-F238E27FC236}">
                <a16:creationId xmlns:a16="http://schemas.microsoft.com/office/drawing/2014/main" id="{DB32909C-C9E8-92D4-BA37-B7817246F4E4}"/>
              </a:ext>
            </a:extLst>
          </p:cNvPr>
          <p:cNvSpPr txBox="1"/>
          <p:nvPr/>
        </p:nvSpPr>
        <p:spPr>
          <a:xfrm>
            <a:off x="4883738" y="5219395"/>
            <a:ext cx="1019527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650" dirty="0">
                <a:solidFill>
                  <a:srgbClr val="14181F"/>
                </a:solidFill>
                <a:latin typeface="Pretendard"/>
              </a:rPr>
              <a:t>4-1 </a:t>
            </a:r>
            <a:r>
              <a:rPr lang="ko-KR" altLang="en-US" sz="650" dirty="0">
                <a:solidFill>
                  <a:srgbClr val="14181F"/>
                </a:solidFill>
                <a:latin typeface="Pretendard"/>
              </a:rPr>
              <a:t>승강장에서 승차</a:t>
            </a:r>
          </a:p>
        </p:txBody>
      </p:sp>
      <p:sp>
        <p:nvSpPr>
          <p:cNvPr id="50" name="ⓒ 스크롤바"/>
          <p:cNvSpPr/>
          <p:nvPr/>
        </p:nvSpPr>
        <p:spPr>
          <a:xfrm>
            <a:off x="7104888" y="4256532"/>
            <a:ext cx="36576" cy="105156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지도 컨트롤"/>
          <p:cNvSpPr/>
          <p:nvPr/>
        </p:nvSpPr>
        <p:spPr>
          <a:xfrm>
            <a:off x="3320186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지도 컨트롤 라벨"/>
          <p:cNvSpPr txBox="1"/>
          <p:nvPr/>
        </p:nvSpPr>
        <p:spPr>
          <a:xfrm>
            <a:off x="3320186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3" name="지도 컨트롤"/>
          <p:cNvSpPr/>
          <p:nvPr/>
        </p:nvSpPr>
        <p:spPr>
          <a:xfrm>
            <a:off x="3446373" y="4412894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지도 컨트롤 라벨"/>
          <p:cNvSpPr txBox="1"/>
          <p:nvPr/>
        </p:nvSpPr>
        <p:spPr>
          <a:xfrm>
            <a:off x="3446373" y="4412894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55" name="층 이동 마커"/>
          <p:cNvSpPr txBox="1"/>
          <p:nvPr/>
        </p:nvSpPr>
        <p:spPr>
          <a:xfrm>
            <a:off x="2424074" y="2157984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56" name="지도 컨트롤"/>
          <p:cNvSpPr/>
          <p:nvPr/>
        </p:nvSpPr>
        <p:spPr>
          <a:xfrm>
            <a:off x="6492240" y="1828800"/>
            <a:ext cx="658368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지도 컨트롤 라벨"/>
          <p:cNvSpPr txBox="1"/>
          <p:nvPr/>
        </p:nvSpPr>
        <p:spPr>
          <a:xfrm>
            <a:off x="6492240" y="1828800"/>
            <a:ext cx="65836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8" name="지도 컨트롤"/>
          <p:cNvSpPr/>
          <p:nvPr/>
        </p:nvSpPr>
        <p:spPr>
          <a:xfrm>
            <a:off x="6618427" y="2547518"/>
            <a:ext cx="532180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지도 컨트롤 라벨"/>
          <p:cNvSpPr txBox="1"/>
          <p:nvPr/>
        </p:nvSpPr>
        <p:spPr>
          <a:xfrm>
            <a:off x="6618427" y="2547518"/>
            <a:ext cx="53218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0" name="지도 컨트롤"/>
          <p:cNvSpPr/>
          <p:nvPr/>
        </p:nvSpPr>
        <p:spPr>
          <a:xfrm>
            <a:off x="6528816" y="2926080"/>
            <a:ext cx="621792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지도 컨트롤 라벨"/>
          <p:cNvSpPr txBox="1"/>
          <p:nvPr/>
        </p:nvSpPr>
        <p:spPr>
          <a:xfrm>
            <a:off x="6528816" y="2926080"/>
            <a:ext cx="62179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2" name="층 이동 마커"/>
          <p:cNvSpPr txBox="1"/>
          <p:nvPr/>
        </p:nvSpPr>
        <p:spPr>
          <a:xfrm>
            <a:off x="5916168" y="2103120"/>
            <a:ext cx="4572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3" name="도착 시각 · 요금"/>
          <p:cNvSpPr txBox="1"/>
          <p:nvPr/>
        </p:nvSpPr>
        <p:spPr>
          <a:xfrm>
            <a:off x="4733849" y="3726180"/>
            <a:ext cx="173736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64" name="버튼 안내 종료"/>
          <p:cNvSpPr/>
          <p:nvPr/>
        </p:nvSpPr>
        <p:spPr>
          <a:xfrm>
            <a:off x="6236208" y="3438144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버튼 라벨"/>
          <p:cNvSpPr txBox="1"/>
          <p:nvPr/>
        </p:nvSpPr>
        <p:spPr>
          <a:xfrm>
            <a:off x="6236208" y="3438144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66" name="도면 구역"/>
          <p:cNvSpPr/>
          <p:nvPr/>
        </p:nvSpPr>
        <p:spPr>
          <a:xfrm>
            <a:off x="1939442" y="4297680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도면 구역 라벨"/>
          <p:cNvSpPr txBox="1"/>
          <p:nvPr/>
        </p:nvSpPr>
        <p:spPr>
          <a:xfrm>
            <a:off x="1939442" y="4297680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68" name="도면 구역"/>
          <p:cNvSpPr/>
          <p:nvPr/>
        </p:nvSpPr>
        <p:spPr>
          <a:xfrm>
            <a:off x="2945282" y="2130552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도면 구역 라벨"/>
          <p:cNvSpPr txBox="1"/>
          <p:nvPr/>
        </p:nvSpPr>
        <p:spPr>
          <a:xfrm>
            <a:off x="2945282" y="2130552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0" name="도면 경로선"/>
          <p:cNvSpPr/>
          <p:nvPr/>
        </p:nvSpPr>
        <p:spPr>
          <a:xfrm>
            <a:off x="2657246" y="2382012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도면 경로선"/>
          <p:cNvSpPr/>
          <p:nvPr/>
        </p:nvSpPr>
        <p:spPr>
          <a:xfrm>
            <a:off x="2641244" y="2382012"/>
            <a:ext cx="32004" cy="1988819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구역"/>
          <p:cNvSpPr/>
          <p:nvPr/>
        </p:nvSpPr>
        <p:spPr>
          <a:xfrm>
            <a:off x="5431536" y="2432304"/>
            <a:ext cx="566928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도면 구역 라벨"/>
          <p:cNvSpPr txBox="1"/>
          <p:nvPr/>
        </p:nvSpPr>
        <p:spPr>
          <a:xfrm>
            <a:off x="5431536" y="2432304"/>
            <a:ext cx="566928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4" name="도면 구역"/>
          <p:cNvSpPr/>
          <p:nvPr/>
        </p:nvSpPr>
        <p:spPr>
          <a:xfrm>
            <a:off x="6437376" y="2075688"/>
            <a:ext cx="530352" cy="237744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도면 구역 라벨"/>
          <p:cNvSpPr txBox="1"/>
          <p:nvPr/>
        </p:nvSpPr>
        <p:spPr>
          <a:xfrm>
            <a:off x="6437376" y="2075688"/>
            <a:ext cx="530352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76" name="도면 경로선"/>
          <p:cNvSpPr/>
          <p:nvPr/>
        </p:nvSpPr>
        <p:spPr>
          <a:xfrm>
            <a:off x="6149340" y="2327148"/>
            <a:ext cx="553212" cy="32004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도면 경로선"/>
          <p:cNvSpPr/>
          <p:nvPr/>
        </p:nvSpPr>
        <p:spPr>
          <a:xfrm>
            <a:off x="6133338" y="2327148"/>
            <a:ext cx="32004" cy="2880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현재 위치 마커"/>
          <p:cNvSpPr/>
          <p:nvPr/>
        </p:nvSpPr>
        <p:spPr>
          <a:xfrm>
            <a:off x="6071616" y="2596896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현재 위치 셰브론"/>
          <p:cNvSpPr txBox="1"/>
          <p:nvPr/>
        </p:nvSpPr>
        <p:spPr>
          <a:xfrm>
            <a:off x="6071616" y="2596896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cxnSp>
        <p:nvCxnSpPr>
          <p:cNvPr id="80" name="뒤로가기"/>
          <p:cNvCxnSpPr/>
          <p:nvPr/>
        </p:nvCxnSpPr>
        <p:spPr>
          <a:xfrm flipH="1">
            <a:off x="1626717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뒤로가기"/>
          <p:cNvCxnSpPr/>
          <p:nvPr/>
        </p:nvCxnSpPr>
        <p:spPr>
          <a:xfrm flipH="1" flipV="1">
            <a:off x="1626717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배너 구분선"/>
          <p:cNvSpPr/>
          <p:nvPr/>
        </p:nvSpPr>
        <p:spPr>
          <a:xfrm>
            <a:off x="1811426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다음 행동 지시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1884578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cxnSp>
        <p:nvCxnSpPr>
          <p:cNvPr id="84" name="뒤로가기"/>
          <p:cNvCxnSpPr/>
          <p:nvPr/>
        </p:nvCxnSpPr>
        <p:spPr>
          <a:xfrm flipH="1">
            <a:off x="4798771" y="147126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뒤로가기"/>
          <p:cNvCxnSpPr/>
          <p:nvPr/>
        </p:nvCxnSpPr>
        <p:spPr>
          <a:xfrm flipH="1" flipV="1">
            <a:off x="4798771" y="1516989"/>
            <a:ext cx="76200" cy="47244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배너 구분선"/>
          <p:cNvSpPr/>
          <p:nvPr/>
        </p:nvSpPr>
        <p:spPr>
          <a:xfrm>
            <a:off x="4983480" y="1353312"/>
            <a:ext cx="9144" cy="329184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다음 행동 지시 라벨"/>
          <p:cNvSpPr txBox="1"/>
          <p:nvPr/>
        </p:nvSpPr>
        <p:spPr>
          <a:xfrm>
            <a:off x="5056632" y="1412748"/>
            <a:ext cx="2039112" cy="2093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 dirty="0">
                <a:solidFill>
                  <a:srgbClr val="FFFFFF"/>
                </a:solidFill>
                <a:latin typeface="Pretendard"/>
              </a:rPr>
              <a:t>경로를 벗어났습니다. 재탐색중..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8" name="바텀시트"/>
          <p:cNvSpPr/>
          <p:nvPr/>
        </p:nvSpPr>
        <p:spPr>
          <a:xfrm>
            <a:off x="1399946" y="5084064"/>
            <a:ext cx="2715768" cy="1261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시트 손잡이"/>
          <p:cNvSpPr/>
          <p:nvPr/>
        </p:nvSpPr>
        <p:spPr>
          <a:xfrm>
            <a:off x="2593238" y="5148072"/>
            <a:ext cx="329184" cy="4572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남은 시간"/>
          <p:cNvSpPr txBox="1"/>
          <p:nvPr/>
        </p:nvSpPr>
        <p:spPr>
          <a:xfrm>
            <a:off x="1555394" y="5248656"/>
            <a:ext cx="1188720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91" name="버튼 안내 종료"/>
          <p:cNvSpPr/>
          <p:nvPr/>
        </p:nvSpPr>
        <p:spPr>
          <a:xfrm>
            <a:off x="3018434" y="5248656"/>
            <a:ext cx="950976" cy="274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버튼 라벨"/>
          <p:cNvSpPr txBox="1"/>
          <p:nvPr/>
        </p:nvSpPr>
        <p:spPr>
          <a:xfrm>
            <a:off x="3018434" y="5248656"/>
            <a:ext cx="95097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93" name="도착 시각 · 요금"/>
          <p:cNvSpPr txBox="1"/>
          <p:nvPr/>
        </p:nvSpPr>
        <p:spPr>
          <a:xfrm>
            <a:off x="1555394" y="5559552"/>
            <a:ext cx="182880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94" name="전체 경로 바"/>
          <p:cNvSpPr/>
          <p:nvPr/>
        </p:nvSpPr>
        <p:spPr>
          <a:xfrm>
            <a:off x="1555394" y="5797296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경로 바 라벨"/>
          <p:cNvSpPr txBox="1"/>
          <p:nvPr/>
        </p:nvSpPr>
        <p:spPr>
          <a:xfrm>
            <a:off x="1555394" y="5797296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96" name="전체 경로 바"/>
          <p:cNvSpPr/>
          <p:nvPr/>
        </p:nvSpPr>
        <p:spPr>
          <a:xfrm>
            <a:off x="2158898" y="5797296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경로 바 라벨"/>
          <p:cNvSpPr txBox="1"/>
          <p:nvPr/>
        </p:nvSpPr>
        <p:spPr>
          <a:xfrm>
            <a:off x="2158898" y="5797296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98" name="전체 경로 바"/>
          <p:cNvSpPr/>
          <p:nvPr/>
        </p:nvSpPr>
        <p:spPr>
          <a:xfrm>
            <a:off x="3055010" y="5797296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경로 바 라벨"/>
          <p:cNvSpPr txBox="1"/>
          <p:nvPr/>
        </p:nvSpPr>
        <p:spPr>
          <a:xfrm>
            <a:off x="3055010" y="5797296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0" name="현재 위치 표식"/>
          <p:cNvSpPr txBox="1"/>
          <p:nvPr/>
        </p:nvSpPr>
        <p:spPr>
          <a:xfrm>
            <a:off x="1939442" y="5998464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101" name="현재 위치 라벨"/>
          <p:cNvSpPr txBox="1"/>
          <p:nvPr/>
        </p:nvSpPr>
        <p:spPr>
          <a:xfrm>
            <a:off x="2250338" y="5998464"/>
            <a:ext cx="10972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0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102" name="전체 경로 바"/>
          <p:cNvSpPr/>
          <p:nvPr/>
        </p:nvSpPr>
        <p:spPr>
          <a:xfrm>
            <a:off x="4727448" y="3898087"/>
            <a:ext cx="56692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경로 바 라벨"/>
          <p:cNvSpPr txBox="1"/>
          <p:nvPr/>
        </p:nvSpPr>
        <p:spPr>
          <a:xfrm>
            <a:off x="4727448" y="3898087"/>
            <a:ext cx="56692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104" name="전체 경로 바"/>
          <p:cNvSpPr/>
          <p:nvPr/>
        </p:nvSpPr>
        <p:spPr>
          <a:xfrm>
            <a:off x="5330952" y="3898087"/>
            <a:ext cx="859536" cy="182880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경로 바 라벨"/>
          <p:cNvSpPr txBox="1"/>
          <p:nvPr/>
        </p:nvSpPr>
        <p:spPr>
          <a:xfrm>
            <a:off x="5330952" y="3898087"/>
            <a:ext cx="859536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106" name="전체 경로 바"/>
          <p:cNvSpPr/>
          <p:nvPr/>
        </p:nvSpPr>
        <p:spPr>
          <a:xfrm>
            <a:off x="6227064" y="3898087"/>
            <a:ext cx="658368" cy="182880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경로 바 라벨"/>
          <p:cNvSpPr txBox="1"/>
          <p:nvPr/>
        </p:nvSpPr>
        <p:spPr>
          <a:xfrm>
            <a:off x="6227064" y="3898087"/>
            <a:ext cx="658368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108" name="현재 위치 마커"/>
          <p:cNvSpPr/>
          <p:nvPr/>
        </p:nvSpPr>
        <p:spPr>
          <a:xfrm>
            <a:off x="2579522" y="4293108"/>
            <a:ext cx="155448" cy="155448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현재 위치 셰브론"/>
          <p:cNvSpPr txBox="1"/>
          <p:nvPr/>
        </p:nvSpPr>
        <p:spPr>
          <a:xfrm>
            <a:off x="2579522" y="4293108"/>
            <a:ext cx="155448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110" name="숫자배지 4">
            <a:extLst>
              <a:ext uri="{FF2B5EF4-FFF2-40B4-BE49-F238E27FC236}">
                <a16:creationId xmlns:a16="http://schemas.microsoft.com/office/drawing/2014/main" id="{989F1D08-B99E-9B63-E1E0-C3A4B037F3C4}"/>
              </a:ext>
            </a:extLst>
          </p:cNvPr>
          <p:cNvSpPr/>
          <p:nvPr/>
        </p:nvSpPr>
        <p:spPr>
          <a:xfrm>
            <a:off x="4024274" y="13716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1" name="숫자배지 0"/>
          <p:cNvSpPr/>
          <p:nvPr/>
        </p:nvSpPr>
        <p:spPr>
          <a:xfrm>
            <a:off x="1116482" y="144475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0</a:t>
            </a:r>
          </a:p>
        </p:txBody>
      </p:sp>
      <p:sp>
        <p:nvSpPr>
          <p:cNvPr id="112" name="숫자배지 1"/>
          <p:cNvSpPr/>
          <p:nvPr/>
        </p:nvSpPr>
        <p:spPr>
          <a:xfrm>
            <a:off x="1116482" y="11521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3" name="숫자배지 3"/>
          <p:cNvSpPr/>
          <p:nvPr/>
        </p:nvSpPr>
        <p:spPr>
          <a:xfrm>
            <a:off x="1116482" y="18562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4" name="숫자배지 3-1"/>
          <p:cNvSpPr/>
          <p:nvPr/>
        </p:nvSpPr>
        <p:spPr>
          <a:xfrm>
            <a:off x="2073858" y="213969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15" name="숫자배지 5"/>
          <p:cNvSpPr/>
          <p:nvPr/>
        </p:nvSpPr>
        <p:spPr>
          <a:xfrm>
            <a:off x="4024274" y="444032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6" name="숫자배지 2"/>
          <p:cNvSpPr/>
          <p:nvPr/>
        </p:nvSpPr>
        <p:spPr>
          <a:xfrm>
            <a:off x="1116482" y="254203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7" name="숫자배지 7"/>
          <p:cNvSpPr/>
          <p:nvPr/>
        </p:nvSpPr>
        <p:spPr>
          <a:xfrm>
            <a:off x="1116482" y="51846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18" name="숫자배지 6"/>
          <p:cNvSpPr/>
          <p:nvPr/>
        </p:nvSpPr>
        <p:spPr>
          <a:xfrm>
            <a:off x="7196328" y="47365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가로 화면 — 실외 · 대중교통 공통 (1/3)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29192" y="1447800"/>
          <a:ext cx="2972409" cy="442797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행동 지시 배너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좌측 열 최상단 · 1단 · 문형은 세로와 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펼침에서는 시트에 가려짐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배너 좌측 · 탑바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이동처는 세로와 같음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화면 전체 — 배너 · 시트는 좌측 열로 지도 위에 얹힘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상하 분할 미적용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종류 · 표출 조건은 세로와 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좌측 열에 가리지 않는 자리에 배치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실외 · 대중교통은 「내 위치」 · [재탐색]을 지도 우하단에 배치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현재 위치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실내는 아래쪽 · 실외는 중앙 — 좌측 열을 뺀 지도 영역 기준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2021738" y="1185062"/>
            <a:ext cx="4625035" cy="246065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지도"/>
          <p:cNvSpPr/>
          <p:nvPr/>
        </p:nvSpPr>
        <p:spPr>
          <a:xfrm>
            <a:off x="2030882" y="1194206"/>
            <a:ext cx="4606747" cy="2442362"/>
          </a:xfrm>
          <a:prstGeom prst="roundRect">
            <a:avLst>
              <a:gd name="adj" fmla="val 6271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4417466" y="1276502"/>
            <a:ext cx="497204" cy="222885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지도 컨트롤"/>
          <p:cNvSpPr/>
          <p:nvPr/>
        </p:nvSpPr>
        <p:spPr>
          <a:xfrm>
            <a:off x="5962802" y="1276502"/>
            <a:ext cx="592531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지도 컨트롤 라벨"/>
          <p:cNvSpPr txBox="1"/>
          <p:nvPr/>
        </p:nvSpPr>
        <p:spPr>
          <a:xfrm>
            <a:off x="5962802" y="1276502"/>
            <a:ext cx="592531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19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4417466" y="2264054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4417466" y="2264054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＋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4417466" y="2609697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4417466" y="2609697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－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지도 컨트롤"/>
          <p:cNvSpPr/>
          <p:nvPr/>
        </p:nvSpPr>
        <p:spPr>
          <a:xfrm>
            <a:off x="6078016" y="2922422"/>
            <a:ext cx="478962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지도 컨트롤 라벨"/>
          <p:cNvSpPr txBox="1"/>
          <p:nvPr/>
        </p:nvSpPr>
        <p:spPr>
          <a:xfrm>
            <a:off x="6078016" y="2922422"/>
            <a:ext cx="478962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25" name="도면 구역"/>
          <p:cNvSpPr/>
          <p:nvPr/>
        </p:nvSpPr>
        <p:spPr>
          <a:xfrm>
            <a:off x="5459882" y="1605686"/>
            <a:ext cx="477316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도면 구역 라벨"/>
          <p:cNvSpPr txBox="1"/>
          <p:nvPr/>
        </p:nvSpPr>
        <p:spPr>
          <a:xfrm>
            <a:off x="5459882" y="1605686"/>
            <a:ext cx="477316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27" name="층 이동 마커"/>
          <p:cNvSpPr txBox="1"/>
          <p:nvPr/>
        </p:nvSpPr>
        <p:spPr>
          <a:xfrm>
            <a:off x="4764938" y="1642262"/>
            <a:ext cx="41148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28" name="도면 경로선"/>
          <p:cNvSpPr/>
          <p:nvPr/>
        </p:nvSpPr>
        <p:spPr>
          <a:xfrm>
            <a:off x="5148986" y="1843430"/>
            <a:ext cx="512064" cy="32918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도면 경로선"/>
          <p:cNvSpPr/>
          <p:nvPr/>
        </p:nvSpPr>
        <p:spPr>
          <a:xfrm>
            <a:off x="5148986" y="1843430"/>
            <a:ext cx="32918" cy="13167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도면 구역"/>
          <p:cNvSpPr/>
          <p:nvPr/>
        </p:nvSpPr>
        <p:spPr>
          <a:xfrm>
            <a:off x="4527194" y="3087014"/>
            <a:ext cx="510235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도면 구역 라벨"/>
          <p:cNvSpPr txBox="1"/>
          <p:nvPr/>
        </p:nvSpPr>
        <p:spPr>
          <a:xfrm>
            <a:off x="4527194" y="3087014"/>
            <a:ext cx="510235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32" name="현재 위치 마커"/>
          <p:cNvSpPr/>
          <p:nvPr/>
        </p:nvSpPr>
        <p:spPr>
          <a:xfrm>
            <a:off x="5096865" y="3123590"/>
            <a:ext cx="139903" cy="139903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현재 위치 셰브론"/>
          <p:cNvSpPr txBox="1"/>
          <p:nvPr/>
        </p:nvSpPr>
        <p:spPr>
          <a:xfrm>
            <a:off x="5096865" y="3123590"/>
            <a:ext cx="139903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34" name="다음 행동 지시 배너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2113178" y="1276502"/>
            <a:ext cx="2194560" cy="378561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cxnSp>
        <p:nvCxnSpPr>
          <p:cNvPr id="35" name="뒤로가기"/>
          <p:cNvCxnSpPr/>
          <p:nvPr/>
        </p:nvCxnSpPr>
        <p:spPr>
          <a:xfrm flipH="1">
            <a:off x="2228392" y="1424635"/>
            <a:ext cx="68580" cy="42519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/>
          <p:cNvCxnSpPr/>
          <p:nvPr/>
        </p:nvCxnSpPr>
        <p:spPr>
          <a:xfrm flipH="1" flipV="1">
            <a:off x="2228392" y="1465783"/>
            <a:ext cx="68580" cy="42519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배너 구분선"/>
          <p:cNvSpPr/>
          <p:nvPr/>
        </p:nvSpPr>
        <p:spPr>
          <a:xfrm>
            <a:off x="2392984" y="1317650"/>
            <a:ext cx="8229" cy="296265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2458821" y="1367028"/>
            <a:ext cx="1794052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9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9" name="바텀시트"/>
          <p:cNvSpPr/>
          <p:nvPr/>
        </p:nvSpPr>
        <p:spPr>
          <a:xfrm>
            <a:off x="2113178" y="2510028"/>
            <a:ext cx="2194560" cy="11356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시트 손잡이"/>
          <p:cNvSpPr/>
          <p:nvPr/>
        </p:nvSpPr>
        <p:spPr>
          <a:xfrm>
            <a:off x="3062325" y="2567635"/>
            <a:ext cx="296265" cy="41148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남은 시간"/>
          <p:cNvSpPr txBox="1"/>
          <p:nvPr/>
        </p:nvSpPr>
        <p:spPr>
          <a:xfrm>
            <a:off x="2253081" y="2658160"/>
            <a:ext cx="1069848" cy="230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5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42" name="버튼 안내 종료"/>
          <p:cNvSpPr/>
          <p:nvPr/>
        </p:nvSpPr>
        <p:spPr>
          <a:xfrm>
            <a:off x="3342132" y="2658160"/>
            <a:ext cx="85587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버튼 라벨"/>
          <p:cNvSpPr txBox="1"/>
          <p:nvPr/>
        </p:nvSpPr>
        <p:spPr>
          <a:xfrm>
            <a:off x="3342132" y="2658160"/>
            <a:ext cx="855878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5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44" name="도착 시각 · 요금"/>
          <p:cNvSpPr txBox="1"/>
          <p:nvPr/>
        </p:nvSpPr>
        <p:spPr>
          <a:xfrm>
            <a:off x="2253081" y="2937967"/>
            <a:ext cx="164592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75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45" name="전체 경로 바"/>
          <p:cNvSpPr/>
          <p:nvPr/>
        </p:nvSpPr>
        <p:spPr>
          <a:xfrm>
            <a:off x="2253081" y="3151936"/>
            <a:ext cx="510235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경로 바 라벨"/>
          <p:cNvSpPr txBox="1"/>
          <p:nvPr/>
        </p:nvSpPr>
        <p:spPr>
          <a:xfrm>
            <a:off x="2253081" y="3151936"/>
            <a:ext cx="51023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47" name="전체 경로 바"/>
          <p:cNvSpPr/>
          <p:nvPr/>
        </p:nvSpPr>
        <p:spPr>
          <a:xfrm>
            <a:off x="2796235" y="3151936"/>
            <a:ext cx="773582" cy="164592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경로 바 라벨"/>
          <p:cNvSpPr txBox="1"/>
          <p:nvPr/>
        </p:nvSpPr>
        <p:spPr>
          <a:xfrm>
            <a:off x="2796235" y="3151936"/>
            <a:ext cx="77358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49" name="전체 경로 바"/>
          <p:cNvSpPr/>
          <p:nvPr/>
        </p:nvSpPr>
        <p:spPr>
          <a:xfrm>
            <a:off x="3602735" y="3151936"/>
            <a:ext cx="592531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경로 바 라벨"/>
          <p:cNvSpPr txBox="1"/>
          <p:nvPr/>
        </p:nvSpPr>
        <p:spPr>
          <a:xfrm>
            <a:off x="3602735" y="3151936"/>
            <a:ext cx="592531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51" name="현재 위치 표식"/>
          <p:cNvSpPr txBox="1"/>
          <p:nvPr/>
        </p:nvSpPr>
        <p:spPr>
          <a:xfrm>
            <a:off x="2598724" y="3332988"/>
            <a:ext cx="329184" cy="1316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52" name="현재 위치 라벨"/>
          <p:cNvSpPr txBox="1"/>
          <p:nvPr/>
        </p:nvSpPr>
        <p:spPr>
          <a:xfrm>
            <a:off x="2878531" y="3332988"/>
            <a:ext cx="987552" cy="1316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5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53" name="목업 프레임"/>
          <p:cNvSpPr/>
          <p:nvPr/>
        </p:nvSpPr>
        <p:spPr>
          <a:xfrm>
            <a:off x="2021738" y="3879799"/>
            <a:ext cx="4625035" cy="246065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지도"/>
          <p:cNvSpPr/>
          <p:nvPr/>
        </p:nvSpPr>
        <p:spPr>
          <a:xfrm>
            <a:off x="2030882" y="3888943"/>
            <a:ext cx="4606747" cy="2442362"/>
          </a:xfrm>
          <a:prstGeom prst="roundRect">
            <a:avLst>
              <a:gd name="adj" fmla="val 6271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층 칩"/>
          <p:cNvSpPr/>
          <p:nvPr/>
        </p:nvSpPr>
        <p:spPr>
          <a:xfrm>
            <a:off x="4417466" y="3971239"/>
            <a:ext cx="497204" cy="222885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56" name="지도 컨트롤"/>
          <p:cNvSpPr/>
          <p:nvPr/>
        </p:nvSpPr>
        <p:spPr>
          <a:xfrm>
            <a:off x="5962802" y="3971239"/>
            <a:ext cx="592531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지도 컨트롤 라벨"/>
          <p:cNvSpPr txBox="1"/>
          <p:nvPr/>
        </p:nvSpPr>
        <p:spPr>
          <a:xfrm>
            <a:off x="5962802" y="3971239"/>
            <a:ext cx="592531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8" name="지도 컨트롤 확대"/>
          <p:cNvSpPr/>
          <p:nvPr/>
        </p:nvSpPr>
        <p:spPr>
          <a:xfrm>
            <a:off x="4417466" y="4958791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컨트롤 라벨"/>
          <p:cNvSpPr txBox="1"/>
          <p:nvPr/>
        </p:nvSpPr>
        <p:spPr>
          <a:xfrm>
            <a:off x="4417466" y="4958791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＋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지도 컨트롤 축소"/>
          <p:cNvSpPr/>
          <p:nvPr/>
        </p:nvSpPr>
        <p:spPr>
          <a:xfrm>
            <a:off x="4417466" y="5304434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컨트롤 라벨"/>
          <p:cNvSpPr txBox="1"/>
          <p:nvPr/>
        </p:nvSpPr>
        <p:spPr>
          <a:xfrm>
            <a:off x="4417466" y="5304434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－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지도 컨트롤"/>
          <p:cNvSpPr/>
          <p:nvPr/>
        </p:nvSpPr>
        <p:spPr>
          <a:xfrm>
            <a:off x="6078016" y="5617159"/>
            <a:ext cx="478962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지도 컨트롤 라벨"/>
          <p:cNvSpPr txBox="1"/>
          <p:nvPr/>
        </p:nvSpPr>
        <p:spPr>
          <a:xfrm>
            <a:off x="6078016" y="5617159"/>
            <a:ext cx="478962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4" name="지도 컨트롤"/>
          <p:cNvSpPr/>
          <p:nvPr/>
        </p:nvSpPr>
        <p:spPr>
          <a:xfrm>
            <a:off x="5633618" y="6035040"/>
            <a:ext cx="559612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지도 컨트롤 라벨"/>
          <p:cNvSpPr txBox="1"/>
          <p:nvPr/>
        </p:nvSpPr>
        <p:spPr>
          <a:xfrm>
            <a:off x="5633618" y="6035040"/>
            <a:ext cx="559612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6" name="도면 구역"/>
          <p:cNvSpPr/>
          <p:nvPr/>
        </p:nvSpPr>
        <p:spPr>
          <a:xfrm>
            <a:off x="5459882" y="4300423"/>
            <a:ext cx="477316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도면 구역 라벨"/>
          <p:cNvSpPr txBox="1"/>
          <p:nvPr/>
        </p:nvSpPr>
        <p:spPr>
          <a:xfrm>
            <a:off x="5459882" y="4300423"/>
            <a:ext cx="477316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68" name="층 이동 마커"/>
          <p:cNvSpPr txBox="1"/>
          <p:nvPr/>
        </p:nvSpPr>
        <p:spPr>
          <a:xfrm>
            <a:off x="4764938" y="4336999"/>
            <a:ext cx="41148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9" name="도면 경로선"/>
          <p:cNvSpPr/>
          <p:nvPr/>
        </p:nvSpPr>
        <p:spPr>
          <a:xfrm>
            <a:off x="5148986" y="4538167"/>
            <a:ext cx="512064" cy="32918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도면 경로선"/>
          <p:cNvSpPr/>
          <p:nvPr/>
        </p:nvSpPr>
        <p:spPr>
          <a:xfrm>
            <a:off x="5148986" y="4538167"/>
            <a:ext cx="32918" cy="13167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도면 구역"/>
          <p:cNvSpPr/>
          <p:nvPr/>
        </p:nvSpPr>
        <p:spPr>
          <a:xfrm>
            <a:off x="4527194" y="5781751"/>
            <a:ext cx="510235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구역 라벨"/>
          <p:cNvSpPr txBox="1"/>
          <p:nvPr/>
        </p:nvSpPr>
        <p:spPr>
          <a:xfrm>
            <a:off x="4527194" y="5781751"/>
            <a:ext cx="510235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3" name="현재 위치 마커"/>
          <p:cNvSpPr/>
          <p:nvPr/>
        </p:nvSpPr>
        <p:spPr>
          <a:xfrm>
            <a:off x="5096865" y="5818327"/>
            <a:ext cx="139903" cy="139903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현재 위치 셰브론"/>
          <p:cNvSpPr txBox="1"/>
          <p:nvPr/>
        </p:nvSpPr>
        <p:spPr>
          <a:xfrm>
            <a:off x="5096865" y="5818327"/>
            <a:ext cx="139903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75" name="뒤로가기 플로팅"/>
          <p:cNvSpPr/>
          <p:nvPr/>
        </p:nvSpPr>
        <p:spPr>
          <a:xfrm>
            <a:off x="2113178" y="3971239"/>
            <a:ext cx="263347" cy="263347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6" name="뒤로가기"/>
          <p:cNvCxnSpPr/>
          <p:nvPr/>
        </p:nvCxnSpPr>
        <p:spPr>
          <a:xfrm flipH="1">
            <a:off x="2210104" y="4060850"/>
            <a:ext cx="68580" cy="42519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뒤로가기"/>
          <p:cNvCxnSpPr/>
          <p:nvPr/>
        </p:nvCxnSpPr>
        <p:spPr>
          <a:xfrm flipH="1" flipV="1">
            <a:off x="2210104" y="4101998"/>
            <a:ext cx="68580" cy="42519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바텀시트"/>
          <p:cNvSpPr/>
          <p:nvPr/>
        </p:nvSpPr>
        <p:spPr>
          <a:xfrm>
            <a:off x="2113178" y="4289450"/>
            <a:ext cx="2194560" cy="20509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시트 손잡이"/>
          <p:cNvSpPr/>
          <p:nvPr/>
        </p:nvSpPr>
        <p:spPr>
          <a:xfrm>
            <a:off x="3062325" y="4347057"/>
            <a:ext cx="296265" cy="41148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남은 시간"/>
          <p:cNvSpPr txBox="1"/>
          <p:nvPr/>
        </p:nvSpPr>
        <p:spPr>
          <a:xfrm>
            <a:off x="2253081" y="4437583"/>
            <a:ext cx="1069848" cy="230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5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81" name="버튼 안내 종료"/>
          <p:cNvSpPr/>
          <p:nvPr/>
        </p:nvSpPr>
        <p:spPr>
          <a:xfrm>
            <a:off x="3342132" y="4437583"/>
            <a:ext cx="85587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버튼 라벨"/>
          <p:cNvSpPr txBox="1"/>
          <p:nvPr/>
        </p:nvSpPr>
        <p:spPr>
          <a:xfrm>
            <a:off x="3342132" y="4437583"/>
            <a:ext cx="855878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5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83" name="도착 시각 · 요금"/>
          <p:cNvSpPr txBox="1"/>
          <p:nvPr/>
        </p:nvSpPr>
        <p:spPr>
          <a:xfrm>
            <a:off x="2253081" y="4717389"/>
            <a:ext cx="164592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75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84" name="전체 경로 바"/>
          <p:cNvSpPr/>
          <p:nvPr/>
        </p:nvSpPr>
        <p:spPr>
          <a:xfrm>
            <a:off x="2253081" y="4931359"/>
            <a:ext cx="510235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경로 바 라벨"/>
          <p:cNvSpPr txBox="1"/>
          <p:nvPr/>
        </p:nvSpPr>
        <p:spPr>
          <a:xfrm>
            <a:off x="2253081" y="4931359"/>
            <a:ext cx="51023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6" name="전체 경로 바"/>
          <p:cNvSpPr/>
          <p:nvPr/>
        </p:nvSpPr>
        <p:spPr>
          <a:xfrm>
            <a:off x="2796235" y="4931359"/>
            <a:ext cx="773582" cy="164592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경로 바 라벨"/>
          <p:cNvSpPr txBox="1"/>
          <p:nvPr/>
        </p:nvSpPr>
        <p:spPr>
          <a:xfrm>
            <a:off x="2796235" y="4931359"/>
            <a:ext cx="77358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88" name="전체 경로 바"/>
          <p:cNvSpPr/>
          <p:nvPr/>
        </p:nvSpPr>
        <p:spPr>
          <a:xfrm>
            <a:off x="3602735" y="4931359"/>
            <a:ext cx="592531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경로 바 라벨"/>
          <p:cNvSpPr txBox="1"/>
          <p:nvPr/>
        </p:nvSpPr>
        <p:spPr>
          <a:xfrm>
            <a:off x="3602735" y="4931359"/>
            <a:ext cx="592531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90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2222906" y="5158130"/>
            <a:ext cx="1975104" cy="9144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91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2300630" y="5295290"/>
            <a:ext cx="0" cy="100584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2254910" y="5254142"/>
            <a:ext cx="94073" cy="94199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6905" tIns="33452" rIns="66905" bIns="3345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3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2387498" y="5222138"/>
            <a:ext cx="128016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4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2387498" y="5405018"/>
            <a:ext cx="155448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 dirty="0" err="1">
                <a:solidFill>
                  <a:srgbClr val="14181F"/>
                </a:solidFill>
                <a:latin typeface="Pretendard"/>
              </a:rPr>
              <a:t>1번 출입구까지 도보 341m (3분)</a:t>
            </a:r>
            <a:endParaRPr sz="575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타원 116"/>
          <p:cNvSpPr/>
          <p:nvPr/>
        </p:nvSpPr>
        <p:spPr>
          <a:xfrm>
            <a:off x="2254910" y="5619902"/>
            <a:ext cx="94073" cy="94199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6905" tIns="33452" rIns="66905" bIns="3345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6" name="경로 노드"/>
          <p:cNvSpPr/>
          <p:nvPr/>
        </p:nvSpPr>
        <p:spPr>
          <a:xfrm>
            <a:off x="2387498" y="5587898"/>
            <a:ext cx="128016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97" name="경로 행동"/>
          <p:cNvSpPr/>
          <p:nvPr/>
        </p:nvSpPr>
        <p:spPr>
          <a:xfrm>
            <a:off x="2387498" y="5770778"/>
            <a:ext cx="155448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 dirty="0" err="1">
                <a:solidFill>
                  <a:srgbClr val="14181F"/>
                </a:solidFill>
                <a:latin typeface="Pretendard"/>
              </a:rPr>
              <a:t>에스컬레이터로 B1 대합실</a:t>
            </a:r>
            <a:endParaRPr sz="575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8" name="경로 행동"/>
          <p:cNvSpPr/>
          <p:nvPr/>
        </p:nvSpPr>
        <p:spPr>
          <a:xfrm>
            <a:off x="2387498" y="5953658"/>
            <a:ext cx="155448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 dirty="0" err="1">
                <a:solidFill>
                  <a:srgbClr val="14181F"/>
                </a:solidFill>
                <a:latin typeface="Pretendard"/>
              </a:rPr>
              <a:t>3번 게이트 통과 (교통약자)</a:t>
            </a:r>
            <a:endParaRPr sz="575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9" name="경로 거리">
            <a:extLst>
              <a:ext uri="{FF2B5EF4-FFF2-40B4-BE49-F238E27FC236}">
                <a16:creationId xmlns:a16="http://schemas.microsoft.com/office/drawing/2014/main" id="{78DF6DB8-5533-01B2-DE06-3DCD320C40AE}"/>
              </a:ext>
            </a:extLst>
          </p:cNvPr>
          <p:cNvSpPr/>
          <p:nvPr/>
        </p:nvSpPr>
        <p:spPr>
          <a:xfrm>
            <a:off x="3524097" y="5953658"/>
            <a:ext cx="600075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575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00" name="ⓒ 스크롤바"/>
          <p:cNvSpPr/>
          <p:nvPr/>
        </p:nvSpPr>
        <p:spPr>
          <a:xfrm>
            <a:off x="4216298" y="5240426"/>
            <a:ext cx="32918" cy="86868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숫자배지 1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1719986" y="1276502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2" name="숫자배지 2"/>
          <p:cNvSpPr/>
          <p:nvPr/>
        </p:nvSpPr>
        <p:spPr>
          <a:xfrm>
            <a:off x="1719986" y="1505102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3" name="숫자배지 3"/>
          <p:cNvSpPr/>
          <p:nvPr/>
        </p:nvSpPr>
        <p:spPr>
          <a:xfrm>
            <a:off x="6738213" y="2099462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4" name="숫자배지 3-1"/>
          <p:cNvSpPr/>
          <p:nvPr/>
        </p:nvSpPr>
        <p:spPr>
          <a:xfrm>
            <a:off x="6738213" y="2931566"/>
            <a:ext cx="31363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05" name="숫자배지 3-2"/>
          <p:cNvSpPr/>
          <p:nvPr/>
        </p:nvSpPr>
        <p:spPr>
          <a:xfrm>
            <a:off x="5277002" y="3105302"/>
            <a:ext cx="31363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106" name="숫자배지 4"/>
          <p:cNvSpPr/>
          <p:nvPr/>
        </p:nvSpPr>
        <p:spPr>
          <a:xfrm>
            <a:off x="1719986" y="2601468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7" name="숫자배지 5"/>
          <p:cNvSpPr/>
          <p:nvPr/>
        </p:nvSpPr>
        <p:spPr>
          <a:xfrm>
            <a:off x="1719986" y="4007815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08" name="숫자배지 6"/>
          <p:cNvSpPr/>
          <p:nvPr/>
        </p:nvSpPr>
        <p:spPr>
          <a:xfrm>
            <a:off x="1719986" y="4417466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09" name="숫자배지 7"/>
          <p:cNvSpPr/>
          <p:nvPr/>
        </p:nvSpPr>
        <p:spPr>
          <a:xfrm>
            <a:off x="1719986" y="5496458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가로 화면 — 실외 · 대중교통 공통 (2/3)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29192" y="1447800"/>
          <a:ext cx="2972409" cy="399836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— 접힘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좌측 열 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구성 · 접힘 / 펼침 동작은 세로와 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목업 위는 접힘(기본), 아래는 펼침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플로팅 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펼침 동안만 화면 좌상단에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형태는 지도 화면의 플로팅 뒤로가기와 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이동처는 2와 같음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— 펼침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5 바로 아래까지 올라옴 · 5를 덮지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 배너는 시트에 가려짐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펼침 동안 다음 행동 지시는 음성 · 진동으로만 전달 — 시트를 접으면 화면 표출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경로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요약 아래 · 이 영역만 스크롤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하이라이트 · 행 선택 시 지도 이동 · 현재 위치 인디케이터는 세로와 같음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2021738" y="1185062"/>
            <a:ext cx="4625035" cy="246065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지도"/>
          <p:cNvSpPr/>
          <p:nvPr/>
        </p:nvSpPr>
        <p:spPr>
          <a:xfrm>
            <a:off x="2030882" y="1194206"/>
            <a:ext cx="4606747" cy="2442362"/>
          </a:xfrm>
          <a:prstGeom prst="roundRect">
            <a:avLst>
              <a:gd name="adj" fmla="val 6271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4417466" y="1276502"/>
            <a:ext cx="497204" cy="222885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지도 컨트롤"/>
          <p:cNvSpPr/>
          <p:nvPr/>
        </p:nvSpPr>
        <p:spPr>
          <a:xfrm>
            <a:off x="5962802" y="1276502"/>
            <a:ext cx="592531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지도 컨트롤 라벨"/>
          <p:cNvSpPr txBox="1"/>
          <p:nvPr/>
        </p:nvSpPr>
        <p:spPr>
          <a:xfrm>
            <a:off x="5962802" y="1276502"/>
            <a:ext cx="592531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19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4417466" y="2264054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4417466" y="2264054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＋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4417466" y="2609697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4417466" y="2609697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－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지도 컨트롤"/>
          <p:cNvSpPr/>
          <p:nvPr/>
        </p:nvSpPr>
        <p:spPr>
          <a:xfrm>
            <a:off x="6078016" y="2922422"/>
            <a:ext cx="478962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지도 컨트롤 라벨"/>
          <p:cNvSpPr txBox="1"/>
          <p:nvPr/>
        </p:nvSpPr>
        <p:spPr>
          <a:xfrm>
            <a:off x="6078016" y="2922422"/>
            <a:ext cx="478962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25" name="도면 구역"/>
          <p:cNvSpPr/>
          <p:nvPr/>
        </p:nvSpPr>
        <p:spPr>
          <a:xfrm>
            <a:off x="5459882" y="1605686"/>
            <a:ext cx="477316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도면 구역 라벨"/>
          <p:cNvSpPr txBox="1"/>
          <p:nvPr/>
        </p:nvSpPr>
        <p:spPr>
          <a:xfrm>
            <a:off x="5459882" y="1605686"/>
            <a:ext cx="477316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27" name="층 이동 마커"/>
          <p:cNvSpPr txBox="1"/>
          <p:nvPr/>
        </p:nvSpPr>
        <p:spPr>
          <a:xfrm>
            <a:off x="4764938" y="1642262"/>
            <a:ext cx="41148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28" name="도면 경로선"/>
          <p:cNvSpPr/>
          <p:nvPr/>
        </p:nvSpPr>
        <p:spPr>
          <a:xfrm>
            <a:off x="5148986" y="1843430"/>
            <a:ext cx="512064" cy="32918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도면 경로선"/>
          <p:cNvSpPr/>
          <p:nvPr/>
        </p:nvSpPr>
        <p:spPr>
          <a:xfrm>
            <a:off x="5148986" y="1843430"/>
            <a:ext cx="32918" cy="13167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도면 구역"/>
          <p:cNvSpPr/>
          <p:nvPr/>
        </p:nvSpPr>
        <p:spPr>
          <a:xfrm>
            <a:off x="4527194" y="3087014"/>
            <a:ext cx="510235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도면 구역 라벨"/>
          <p:cNvSpPr txBox="1"/>
          <p:nvPr/>
        </p:nvSpPr>
        <p:spPr>
          <a:xfrm>
            <a:off x="4527194" y="3087014"/>
            <a:ext cx="510235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32" name="현재 위치 마커"/>
          <p:cNvSpPr/>
          <p:nvPr/>
        </p:nvSpPr>
        <p:spPr>
          <a:xfrm>
            <a:off x="5096865" y="3123590"/>
            <a:ext cx="139903" cy="139903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현재 위치 셰브론"/>
          <p:cNvSpPr txBox="1"/>
          <p:nvPr/>
        </p:nvSpPr>
        <p:spPr>
          <a:xfrm>
            <a:off x="5096865" y="3123590"/>
            <a:ext cx="139903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34" name="다음 행동 지시 배너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2113178" y="1276502"/>
            <a:ext cx="2194560" cy="378561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cxnSp>
        <p:nvCxnSpPr>
          <p:cNvPr id="35" name="뒤로가기"/>
          <p:cNvCxnSpPr/>
          <p:nvPr/>
        </p:nvCxnSpPr>
        <p:spPr>
          <a:xfrm flipH="1">
            <a:off x="2228392" y="1424635"/>
            <a:ext cx="68580" cy="42519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/>
          <p:cNvCxnSpPr/>
          <p:nvPr/>
        </p:nvCxnSpPr>
        <p:spPr>
          <a:xfrm flipH="1" flipV="1">
            <a:off x="2228392" y="1465783"/>
            <a:ext cx="68580" cy="42519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배너 구분선"/>
          <p:cNvSpPr/>
          <p:nvPr/>
        </p:nvSpPr>
        <p:spPr>
          <a:xfrm>
            <a:off x="2392984" y="1317650"/>
            <a:ext cx="8229" cy="296265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2458821" y="1367028"/>
            <a:ext cx="1794052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9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9" name="바텀시트"/>
          <p:cNvSpPr/>
          <p:nvPr/>
        </p:nvSpPr>
        <p:spPr>
          <a:xfrm>
            <a:off x="2113178" y="2510028"/>
            <a:ext cx="2194560" cy="11356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시트 손잡이"/>
          <p:cNvSpPr/>
          <p:nvPr/>
        </p:nvSpPr>
        <p:spPr>
          <a:xfrm>
            <a:off x="3062325" y="2567635"/>
            <a:ext cx="296265" cy="41148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남은 시간"/>
          <p:cNvSpPr txBox="1"/>
          <p:nvPr/>
        </p:nvSpPr>
        <p:spPr>
          <a:xfrm>
            <a:off x="2253081" y="2658160"/>
            <a:ext cx="1069848" cy="230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5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42" name="버튼 안내 종료"/>
          <p:cNvSpPr/>
          <p:nvPr/>
        </p:nvSpPr>
        <p:spPr>
          <a:xfrm>
            <a:off x="3342132" y="2658160"/>
            <a:ext cx="85587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버튼 라벨"/>
          <p:cNvSpPr txBox="1"/>
          <p:nvPr/>
        </p:nvSpPr>
        <p:spPr>
          <a:xfrm>
            <a:off x="3342132" y="2658160"/>
            <a:ext cx="855878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5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44" name="도착 시각 · 요금"/>
          <p:cNvSpPr txBox="1"/>
          <p:nvPr/>
        </p:nvSpPr>
        <p:spPr>
          <a:xfrm>
            <a:off x="2253081" y="2937967"/>
            <a:ext cx="164592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75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45" name="전체 경로 바"/>
          <p:cNvSpPr/>
          <p:nvPr/>
        </p:nvSpPr>
        <p:spPr>
          <a:xfrm>
            <a:off x="2253081" y="3151936"/>
            <a:ext cx="510235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경로 바 라벨"/>
          <p:cNvSpPr txBox="1"/>
          <p:nvPr/>
        </p:nvSpPr>
        <p:spPr>
          <a:xfrm>
            <a:off x="2253081" y="3151936"/>
            <a:ext cx="51023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47" name="전체 경로 바"/>
          <p:cNvSpPr/>
          <p:nvPr/>
        </p:nvSpPr>
        <p:spPr>
          <a:xfrm>
            <a:off x="2796235" y="3151936"/>
            <a:ext cx="773582" cy="164592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경로 바 라벨"/>
          <p:cNvSpPr txBox="1"/>
          <p:nvPr/>
        </p:nvSpPr>
        <p:spPr>
          <a:xfrm>
            <a:off x="2796235" y="3151936"/>
            <a:ext cx="77358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49" name="전체 경로 바"/>
          <p:cNvSpPr/>
          <p:nvPr/>
        </p:nvSpPr>
        <p:spPr>
          <a:xfrm>
            <a:off x="3602735" y="3151936"/>
            <a:ext cx="592531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경로 바 라벨"/>
          <p:cNvSpPr txBox="1"/>
          <p:nvPr/>
        </p:nvSpPr>
        <p:spPr>
          <a:xfrm>
            <a:off x="3602735" y="3151936"/>
            <a:ext cx="592531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51" name="현재 위치 표식"/>
          <p:cNvSpPr txBox="1"/>
          <p:nvPr/>
        </p:nvSpPr>
        <p:spPr>
          <a:xfrm>
            <a:off x="2598724" y="3332988"/>
            <a:ext cx="329184" cy="1316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52" name="현재 위치 라벨"/>
          <p:cNvSpPr txBox="1"/>
          <p:nvPr/>
        </p:nvSpPr>
        <p:spPr>
          <a:xfrm>
            <a:off x="2878531" y="3332988"/>
            <a:ext cx="987552" cy="1316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5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53" name="목업 프레임"/>
          <p:cNvSpPr/>
          <p:nvPr/>
        </p:nvSpPr>
        <p:spPr>
          <a:xfrm>
            <a:off x="2021738" y="3879799"/>
            <a:ext cx="4625035" cy="246065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지도"/>
          <p:cNvSpPr/>
          <p:nvPr/>
        </p:nvSpPr>
        <p:spPr>
          <a:xfrm>
            <a:off x="2030882" y="3888943"/>
            <a:ext cx="4606747" cy="2442362"/>
          </a:xfrm>
          <a:prstGeom prst="roundRect">
            <a:avLst>
              <a:gd name="adj" fmla="val 6271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층 칩"/>
          <p:cNvSpPr/>
          <p:nvPr/>
        </p:nvSpPr>
        <p:spPr>
          <a:xfrm>
            <a:off x="4417466" y="3971239"/>
            <a:ext cx="497204" cy="222885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56" name="지도 컨트롤"/>
          <p:cNvSpPr/>
          <p:nvPr/>
        </p:nvSpPr>
        <p:spPr>
          <a:xfrm>
            <a:off x="5962802" y="3971239"/>
            <a:ext cx="592531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지도 컨트롤 라벨"/>
          <p:cNvSpPr txBox="1"/>
          <p:nvPr/>
        </p:nvSpPr>
        <p:spPr>
          <a:xfrm>
            <a:off x="5962802" y="3971239"/>
            <a:ext cx="592531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8" name="지도 컨트롤 확대"/>
          <p:cNvSpPr/>
          <p:nvPr/>
        </p:nvSpPr>
        <p:spPr>
          <a:xfrm>
            <a:off x="4417466" y="4958791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컨트롤 라벨"/>
          <p:cNvSpPr txBox="1"/>
          <p:nvPr/>
        </p:nvSpPr>
        <p:spPr>
          <a:xfrm>
            <a:off x="4417466" y="4958791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＋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지도 컨트롤 축소"/>
          <p:cNvSpPr/>
          <p:nvPr/>
        </p:nvSpPr>
        <p:spPr>
          <a:xfrm>
            <a:off x="4417466" y="5304434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컨트롤 라벨"/>
          <p:cNvSpPr txBox="1"/>
          <p:nvPr/>
        </p:nvSpPr>
        <p:spPr>
          <a:xfrm>
            <a:off x="4417466" y="5304434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－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지도 컨트롤"/>
          <p:cNvSpPr/>
          <p:nvPr/>
        </p:nvSpPr>
        <p:spPr>
          <a:xfrm>
            <a:off x="6078016" y="5617159"/>
            <a:ext cx="478962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지도 컨트롤 라벨"/>
          <p:cNvSpPr txBox="1"/>
          <p:nvPr/>
        </p:nvSpPr>
        <p:spPr>
          <a:xfrm>
            <a:off x="6078016" y="5617159"/>
            <a:ext cx="478962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4" name="지도 컨트롤"/>
          <p:cNvSpPr/>
          <p:nvPr/>
        </p:nvSpPr>
        <p:spPr>
          <a:xfrm>
            <a:off x="5633618" y="6035040"/>
            <a:ext cx="559612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지도 컨트롤 라벨"/>
          <p:cNvSpPr txBox="1"/>
          <p:nvPr/>
        </p:nvSpPr>
        <p:spPr>
          <a:xfrm>
            <a:off x="5633618" y="6035040"/>
            <a:ext cx="559612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6" name="도면 구역"/>
          <p:cNvSpPr/>
          <p:nvPr/>
        </p:nvSpPr>
        <p:spPr>
          <a:xfrm>
            <a:off x="5459882" y="4300423"/>
            <a:ext cx="477316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도면 구역 라벨"/>
          <p:cNvSpPr txBox="1"/>
          <p:nvPr/>
        </p:nvSpPr>
        <p:spPr>
          <a:xfrm>
            <a:off x="5459882" y="4300423"/>
            <a:ext cx="477316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68" name="층 이동 마커"/>
          <p:cNvSpPr txBox="1"/>
          <p:nvPr/>
        </p:nvSpPr>
        <p:spPr>
          <a:xfrm>
            <a:off x="4764938" y="4336999"/>
            <a:ext cx="41148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9" name="도면 경로선"/>
          <p:cNvSpPr/>
          <p:nvPr/>
        </p:nvSpPr>
        <p:spPr>
          <a:xfrm>
            <a:off x="5148986" y="4538167"/>
            <a:ext cx="512064" cy="32918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도면 경로선"/>
          <p:cNvSpPr/>
          <p:nvPr/>
        </p:nvSpPr>
        <p:spPr>
          <a:xfrm>
            <a:off x="5148986" y="4538167"/>
            <a:ext cx="32918" cy="13167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도면 구역"/>
          <p:cNvSpPr/>
          <p:nvPr/>
        </p:nvSpPr>
        <p:spPr>
          <a:xfrm>
            <a:off x="4527194" y="5781751"/>
            <a:ext cx="510235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구역 라벨"/>
          <p:cNvSpPr txBox="1"/>
          <p:nvPr/>
        </p:nvSpPr>
        <p:spPr>
          <a:xfrm>
            <a:off x="4527194" y="5781751"/>
            <a:ext cx="510235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3" name="현재 위치 마커"/>
          <p:cNvSpPr/>
          <p:nvPr/>
        </p:nvSpPr>
        <p:spPr>
          <a:xfrm>
            <a:off x="5096865" y="5818327"/>
            <a:ext cx="139903" cy="139903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현재 위치 셰브론"/>
          <p:cNvSpPr txBox="1"/>
          <p:nvPr/>
        </p:nvSpPr>
        <p:spPr>
          <a:xfrm>
            <a:off x="5096865" y="5818327"/>
            <a:ext cx="139903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75" name="뒤로가기 플로팅"/>
          <p:cNvSpPr/>
          <p:nvPr/>
        </p:nvSpPr>
        <p:spPr>
          <a:xfrm>
            <a:off x="2113178" y="3971239"/>
            <a:ext cx="263347" cy="263347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6" name="뒤로가기"/>
          <p:cNvCxnSpPr/>
          <p:nvPr/>
        </p:nvCxnSpPr>
        <p:spPr>
          <a:xfrm flipH="1">
            <a:off x="2210104" y="4060850"/>
            <a:ext cx="68580" cy="42519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뒤로가기"/>
          <p:cNvCxnSpPr/>
          <p:nvPr/>
        </p:nvCxnSpPr>
        <p:spPr>
          <a:xfrm flipH="1" flipV="1">
            <a:off x="2210104" y="4101998"/>
            <a:ext cx="68580" cy="42519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바텀시트"/>
          <p:cNvSpPr/>
          <p:nvPr/>
        </p:nvSpPr>
        <p:spPr>
          <a:xfrm>
            <a:off x="2113178" y="4289450"/>
            <a:ext cx="2194560" cy="20509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시트 손잡이"/>
          <p:cNvSpPr/>
          <p:nvPr/>
        </p:nvSpPr>
        <p:spPr>
          <a:xfrm>
            <a:off x="3062325" y="4347057"/>
            <a:ext cx="296265" cy="41148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남은 시간"/>
          <p:cNvSpPr txBox="1"/>
          <p:nvPr/>
        </p:nvSpPr>
        <p:spPr>
          <a:xfrm>
            <a:off x="2253081" y="4437583"/>
            <a:ext cx="1069848" cy="230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5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81" name="버튼 안내 종료"/>
          <p:cNvSpPr/>
          <p:nvPr/>
        </p:nvSpPr>
        <p:spPr>
          <a:xfrm>
            <a:off x="3342132" y="4437583"/>
            <a:ext cx="85587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버튼 라벨"/>
          <p:cNvSpPr txBox="1"/>
          <p:nvPr/>
        </p:nvSpPr>
        <p:spPr>
          <a:xfrm>
            <a:off x="3342132" y="4437583"/>
            <a:ext cx="855878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5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83" name="도착 시각 · 요금"/>
          <p:cNvSpPr txBox="1"/>
          <p:nvPr/>
        </p:nvSpPr>
        <p:spPr>
          <a:xfrm>
            <a:off x="2253081" y="4717389"/>
            <a:ext cx="164592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75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84" name="전체 경로 바"/>
          <p:cNvSpPr/>
          <p:nvPr/>
        </p:nvSpPr>
        <p:spPr>
          <a:xfrm>
            <a:off x="2253081" y="4931359"/>
            <a:ext cx="510235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경로 바 라벨"/>
          <p:cNvSpPr txBox="1"/>
          <p:nvPr/>
        </p:nvSpPr>
        <p:spPr>
          <a:xfrm>
            <a:off x="2253081" y="4931359"/>
            <a:ext cx="51023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6" name="전체 경로 바"/>
          <p:cNvSpPr/>
          <p:nvPr/>
        </p:nvSpPr>
        <p:spPr>
          <a:xfrm>
            <a:off x="2796235" y="4931359"/>
            <a:ext cx="773582" cy="164592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경로 바 라벨"/>
          <p:cNvSpPr txBox="1"/>
          <p:nvPr/>
        </p:nvSpPr>
        <p:spPr>
          <a:xfrm>
            <a:off x="2796235" y="4931359"/>
            <a:ext cx="77358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88" name="전체 경로 바"/>
          <p:cNvSpPr/>
          <p:nvPr/>
        </p:nvSpPr>
        <p:spPr>
          <a:xfrm>
            <a:off x="3602735" y="4931359"/>
            <a:ext cx="592531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경로 바 라벨"/>
          <p:cNvSpPr txBox="1"/>
          <p:nvPr/>
        </p:nvSpPr>
        <p:spPr>
          <a:xfrm>
            <a:off x="3602735" y="4931359"/>
            <a:ext cx="592531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90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2222906" y="5158130"/>
            <a:ext cx="1975104" cy="9144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91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2300630" y="5295290"/>
            <a:ext cx="0" cy="100584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2254910" y="5254142"/>
            <a:ext cx="94073" cy="94199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6905" tIns="33452" rIns="66905" bIns="3345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3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2387498" y="5222138"/>
            <a:ext cx="128016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4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2387498" y="5405018"/>
            <a:ext cx="155448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 dirty="0" err="1">
                <a:solidFill>
                  <a:srgbClr val="14181F"/>
                </a:solidFill>
                <a:latin typeface="Pretendard"/>
              </a:rPr>
              <a:t>1번 출입구까지 도보 341m (3분)</a:t>
            </a:r>
            <a:endParaRPr sz="575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타원 116"/>
          <p:cNvSpPr/>
          <p:nvPr/>
        </p:nvSpPr>
        <p:spPr>
          <a:xfrm>
            <a:off x="2254910" y="5619902"/>
            <a:ext cx="94073" cy="94199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6905" tIns="33452" rIns="66905" bIns="3345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6" name="경로 노드"/>
          <p:cNvSpPr/>
          <p:nvPr/>
        </p:nvSpPr>
        <p:spPr>
          <a:xfrm>
            <a:off x="2387498" y="5587898"/>
            <a:ext cx="128016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97" name="경로 행동"/>
          <p:cNvSpPr/>
          <p:nvPr/>
        </p:nvSpPr>
        <p:spPr>
          <a:xfrm>
            <a:off x="2387498" y="5770778"/>
            <a:ext cx="155448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 dirty="0" err="1">
                <a:solidFill>
                  <a:srgbClr val="14181F"/>
                </a:solidFill>
                <a:latin typeface="Pretendard"/>
              </a:rPr>
              <a:t>에스컬레이터로 B1 대합실</a:t>
            </a:r>
            <a:endParaRPr sz="575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8" name="경로 행동"/>
          <p:cNvSpPr/>
          <p:nvPr/>
        </p:nvSpPr>
        <p:spPr>
          <a:xfrm>
            <a:off x="2387498" y="5953658"/>
            <a:ext cx="155448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 dirty="0" err="1">
                <a:solidFill>
                  <a:srgbClr val="14181F"/>
                </a:solidFill>
                <a:latin typeface="Pretendard"/>
              </a:rPr>
              <a:t>3번 게이트 통과 (교통약자)</a:t>
            </a:r>
            <a:endParaRPr sz="575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9" name="경로 거리">
            <a:extLst>
              <a:ext uri="{FF2B5EF4-FFF2-40B4-BE49-F238E27FC236}">
                <a16:creationId xmlns:a16="http://schemas.microsoft.com/office/drawing/2014/main" id="{78DF6DB8-5533-01B2-DE06-3DCD320C40AE}"/>
              </a:ext>
            </a:extLst>
          </p:cNvPr>
          <p:cNvSpPr/>
          <p:nvPr/>
        </p:nvSpPr>
        <p:spPr>
          <a:xfrm>
            <a:off x="3524097" y="5953658"/>
            <a:ext cx="600075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575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00" name="ⓒ 스크롤바"/>
          <p:cNvSpPr/>
          <p:nvPr/>
        </p:nvSpPr>
        <p:spPr>
          <a:xfrm>
            <a:off x="4216298" y="5240426"/>
            <a:ext cx="32918" cy="86868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숫자배지 1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1719986" y="1276502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2" name="숫자배지 2"/>
          <p:cNvSpPr/>
          <p:nvPr/>
        </p:nvSpPr>
        <p:spPr>
          <a:xfrm>
            <a:off x="1719986" y="1505102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3" name="숫자배지 3"/>
          <p:cNvSpPr/>
          <p:nvPr/>
        </p:nvSpPr>
        <p:spPr>
          <a:xfrm>
            <a:off x="6738213" y="2099462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4" name="숫자배지 3-1"/>
          <p:cNvSpPr/>
          <p:nvPr/>
        </p:nvSpPr>
        <p:spPr>
          <a:xfrm>
            <a:off x="6738213" y="2931566"/>
            <a:ext cx="31363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05" name="숫자배지 3-2"/>
          <p:cNvSpPr/>
          <p:nvPr/>
        </p:nvSpPr>
        <p:spPr>
          <a:xfrm>
            <a:off x="5277002" y="3105302"/>
            <a:ext cx="31363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106" name="숫자배지 4"/>
          <p:cNvSpPr/>
          <p:nvPr/>
        </p:nvSpPr>
        <p:spPr>
          <a:xfrm>
            <a:off x="1719986" y="2601468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7" name="숫자배지 5"/>
          <p:cNvSpPr/>
          <p:nvPr/>
        </p:nvSpPr>
        <p:spPr>
          <a:xfrm>
            <a:off x="1719986" y="4007815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08" name="숫자배지 6"/>
          <p:cNvSpPr/>
          <p:nvPr/>
        </p:nvSpPr>
        <p:spPr>
          <a:xfrm>
            <a:off x="1719986" y="4417466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09" name="숫자배지 7"/>
          <p:cNvSpPr/>
          <p:nvPr/>
        </p:nvSpPr>
        <p:spPr>
          <a:xfrm>
            <a:off x="1719986" y="5496458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5BD7EF7D-44D1-7DBC-76EB-67D6813C385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3995C15C-FF8C-F8F7-1CBC-856AE2A698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722700F5-AEBB-5768-F103-670FFCA8A429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450AF5DE-6A21-6CEE-06BF-F9BFBB72325E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4E99ED79-F09A-AF51-B316-890538FC1627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가로 화면 — 실외 · 대중교통 공통 (3/3)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AA82C1-0161-7868-A2BB-BE1658794DC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99262E2-10CB-F590-CB43-A32990C7234D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CDE776DF-9AE8-64B1-07C9-40400706D0A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BE4883E1-1B20-9BC6-2D34-7298AE4ED3BA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9453181-F344-EE9F-DD37-FE1C1D725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923502"/>
              </p:ext>
            </p:extLst>
          </p:nvPr>
        </p:nvGraphicFramePr>
        <p:xfrm>
          <a:off x="8629192" y="1447800"/>
          <a:ext cx="2972409" cy="193227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방향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· 음성 · 재탐색이 끊기거나 새로 나가지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위치 · 축척 · 방위 · 보고 있는 층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경로 상세 하이라이트 · 자동 복귀 타이머 유지 — 회전을 지도 조작으로 세지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세로로 돌아오면 시트는 회전 전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회전은 앱이 따로 알리지 않음 — 음성 · 진동 · 토스트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>
            <a:extLst>
              <a:ext uri="{FF2B5EF4-FFF2-40B4-BE49-F238E27FC236}">
                <a16:creationId xmlns:a16="http://schemas.microsoft.com/office/drawing/2014/main" id="{98B7778E-6DC7-2DCE-399D-89030A7ECECA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>
            <a:extLst>
              <a:ext uri="{FF2B5EF4-FFF2-40B4-BE49-F238E27FC236}">
                <a16:creationId xmlns:a16="http://schemas.microsoft.com/office/drawing/2014/main" id="{A59A5AA9-AB31-8B42-DDBD-0E9853032BDD}"/>
              </a:ext>
            </a:extLst>
          </p:cNvPr>
          <p:cNvSpPr/>
          <p:nvPr/>
        </p:nvSpPr>
        <p:spPr>
          <a:xfrm>
            <a:off x="2021738" y="1185062"/>
            <a:ext cx="4625035" cy="246065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지도"/>
          <p:cNvSpPr/>
          <p:nvPr/>
        </p:nvSpPr>
        <p:spPr>
          <a:xfrm>
            <a:off x="2030882" y="1194206"/>
            <a:ext cx="4606747" cy="2442362"/>
          </a:xfrm>
          <a:prstGeom prst="roundRect">
            <a:avLst>
              <a:gd name="adj" fmla="val 6271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층 칩">
            <a:extLst>
              <a:ext uri="{FF2B5EF4-FFF2-40B4-BE49-F238E27FC236}">
                <a16:creationId xmlns:a16="http://schemas.microsoft.com/office/drawing/2014/main" id="{A43A1E73-3A09-478B-D041-36562E6C8775}"/>
              </a:ext>
            </a:extLst>
          </p:cNvPr>
          <p:cNvSpPr/>
          <p:nvPr/>
        </p:nvSpPr>
        <p:spPr>
          <a:xfrm>
            <a:off x="4417466" y="1276502"/>
            <a:ext cx="497204" cy="222885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17" name="지도 컨트롤"/>
          <p:cNvSpPr/>
          <p:nvPr/>
        </p:nvSpPr>
        <p:spPr>
          <a:xfrm>
            <a:off x="5962802" y="1276502"/>
            <a:ext cx="592531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지도 컨트롤 라벨"/>
          <p:cNvSpPr txBox="1"/>
          <p:nvPr/>
        </p:nvSpPr>
        <p:spPr>
          <a:xfrm>
            <a:off x="5962802" y="1276502"/>
            <a:ext cx="592531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19" name="지도 컨트롤 확대">
            <a:extLst>
              <a:ext uri="{FF2B5EF4-FFF2-40B4-BE49-F238E27FC236}">
                <a16:creationId xmlns:a16="http://schemas.microsoft.com/office/drawing/2014/main" id="{6665FE69-C049-D8CE-D573-985E067DA0AB}"/>
              </a:ext>
            </a:extLst>
          </p:cNvPr>
          <p:cNvSpPr/>
          <p:nvPr/>
        </p:nvSpPr>
        <p:spPr>
          <a:xfrm>
            <a:off x="4417466" y="2264054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컨트롤 라벨">
            <a:extLst>
              <a:ext uri="{FF2B5EF4-FFF2-40B4-BE49-F238E27FC236}">
                <a16:creationId xmlns:a16="http://schemas.microsoft.com/office/drawing/2014/main" id="{951DB373-5744-780B-2814-5346428B6F79}"/>
              </a:ext>
            </a:extLst>
          </p:cNvPr>
          <p:cNvSpPr txBox="1"/>
          <p:nvPr/>
        </p:nvSpPr>
        <p:spPr>
          <a:xfrm>
            <a:off x="4417466" y="2264054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＋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1" name="지도 컨트롤 축소">
            <a:extLst>
              <a:ext uri="{FF2B5EF4-FFF2-40B4-BE49-F238E27FC236}">
                <a16:creationId xmlns:a16="http://schemas.microsoft.com/office/drawing/2014/main" id="{1F60595A-76F7-4904-8469-1A04F9331164}"/>
              </a:ext>
            </a:extLst>
          </p:cNvPr>
          <p:cNvSpPr/>
          <p:nvPr/>
        </p:nvSpPr>
        <p:spPr>
          <a:xfrm>
            <a:off x="4417466" y="2609697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컨트롤 라벨">
            <a:extLst>
              <a:ext uri="{FF2B5EF4-FFF2-40B4-BE49-F238E27FC236}">
                <a16:creationId xmlns:a16="http://schemas.microsoft.com/office/drawing/2014/main" id="{FF390F98-EAFE-14EF-0546-05DAA664E5A8}"/>
              </a:ext>
            </a:extLst>
          </p:cNvPr>
          <p:cNvSpPr txBox="1"/>
          <p:nvPr/>
        </p:nvSpPr>
        <p:spPr>
          <a:xfrm>
            <a:off x="4417466" y="2609697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－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지도 컨트롤"/>
          <p:cNvSpPr/>
          <p:nvPr/>
        </p:nvSpPr>
        <p:spPr>
          <a:xfrm>
            <a:off x="6078016" y="2922422"/>
            <a:ext cx="478962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지도 컨트롤 라벨"/>
          <p:cNvSpPr txBox="1"/>
          <p:nvPr/>
        </p:nvSpPr>
        <p:spPr>
          <a:xfrm>
            <a:off x="6078016" y="2922422"/>
            <a:ext cx="478962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25" name="도면 구역"/>
          <p:cNvSpPr/>
          <p:nvPr/>
        </p:nvSpPr>
        <p:spPr>
          <a:xfrm>
            <a:off x="5459882" y="1605686"/>
            <a:ext cx="477316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도면 구역 라벨"/>
          <p:cNvSpPr txBox="1"/>
          <p:nvPr/>
        </p:nvSpPr>
        <p:spPr>
          <a:xfrm>
            <a:off x="5459882" y="1605686"/>
            <a:ext cx="477316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27" name="층 이동 마커"/>
          <p:cNvSpPr txBox="1"/>
          <p:nvPr/>
        </p:nvSpPr>
        <p:spPr>
          <a:xfrm>
            <a:off x="4764938" y="1642262"/>
            <a:ext cx="41148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28" name="도면 경로선"/>
          <p:cNvSpPr/>
          <p:nvPr/>
        </p:nvSpPr>
        <p:spPr>
          <a:xfrm>
            <a:off x="5148986" y="1843430"/>
            <a:ext cx="512064" cy="32918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도면 경로선"/>
          <p:cNvSpPr/>
          <p:nvPr/>
        </p:nvSpPr>
        <p:spPr>
          <a:xfrm>
            <a:off x="5148986" y="1843430"/>
            <a:ext cx="32918" cy="13167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도면 구역"/>
          <p:cNvSpPr/>
          <p:nvPr/>
        </p:nvSpPr>
        <p:spPr>
          <a:xfrm>
            <a:off x="4527194" y="3087014"/>
            <a:ext cx="510235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도면 구역 라벨"/>
          <p:cNvSpPr txBox="1"/>
          <p:nvPr/>
        </p:nvSpPr>
        <p:spPr>
          <a:xfrm>
            <a:off x="4527194" y="3087014"/>
            <a:ext cx="510235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32" name="현재 위치 마커"/>
          <p:cNvSpPr/>
          <p:nvPr/>
        </p:nvSpPr>
        <p:spPr>
          <a:xfrm>
            <a:off x="5096865" y="3123590"/>
            <a:ext cx="139903" cy="139903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현재 위치 셰브론"/>
          <p:cNvSpPr txBox="1"/>
          <p:nvPr/>
        </p:nvSpPr>
        <p:spPr>
          <a:xfrm>
            <a:off x="5096865" y="3123590"/>
            <a:ext cx="139903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34" name="다음 행동 지시 배너">
            <a:extLst>
              <a:ext uri="{FF2B5EF4-FFF2-40B4-BE49-F238E27FC236}">
                <a16:creationId xmlns:a16="http://schemas.microsoft.com/office/drawing/2014/main" id="{93508FF7-BA9C-0D7E-29DB-2414877616CA}"/>
              </a:ext>
            </a:extLst>
          </p:cNvPr>
          <p:cNvSpPr/>
          <p:nvPr/>
        </p:nvSpPr>
        <p:spPr>
          <a:xfrm>
            <a:off x="2113178" y="1276502"/>
            <a:ext cx="2194560" cy="378561"/>
          </a:xfrm>
          <a:prstGeom prst="roundRect">
            <a:avLst>
              <a:gd name="adj" fmla="val 16666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cxnSp>
        <p:nvCxnSpPr>
          <p:cNvPr id="35" name="뒤로가기"/>
          <p:cNvCxnSpPr/>
          <p:nvPr/>
        </p:nvCxnSpPr>
        <p:spPr>
          <a:xfrm flipH="1">
            <a:off x="2228392" y="1424635"/>
            <a:ext cx="68580" cy="42519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/>
          <p:cNvCxnSpPr/>
          <p:nvPr/>
        </p:nvCxnSpPr>
        <p:spPr>
          <a:xfrm flipH="1" flipV="1">
            <a:off x="2228392" y="1465783"/>
            <a:ext cx="68580" cy="42519"/>
          </a:xfrm>
          <a:prstGeom prst="line">
            <a:avLst/>
          </a:prstGeom>
          <a:ln w="1524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배너 구분선"/>
          <p:cNvSpPr/>
          <p:nvPr/>
        </p:nvSpPr>
        <p:spPr>
          <a:xfrm>
            <a:off x="2392984" y="1317650"/>
            <a:ext cx="8229" cy="296265"/>
          </a:xfrm>
          <a:prstGeom prst="rect">
            <a:avLst/>
          </a:prstGeom>
          <a:noFill/>
          <a:ln w="9525">
            <a:solidFill>
              <a:srgbClr val="5A7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다음 행동 지시 라벨">
            <a:extLst>
              <a:ext uri="{FF2B5EF4-FFF2-40B4-BE49-F238E27FC236}">
                <a16:creationId xmlns:a16="http://schemas.microsoft.com/office/drawing/2014/main" id="{7B206E1F-8F70-1974-353B-4B9122778B9E}"/>
              </a:ext>
            </a:extLst>
          </p:cNvPr>
          <p:cNvSpPr txBox="1"/>
          <p:nvPr/>
        </p:nvSpPr>
        <p:spPr>
          <a:xfrm>
            <a:off x="2458821" y="1367028"/>
            <a:ext cx="1794052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900" b="1" spc="-20" dirty="0">
                <a:solidFill>
                  <a:srgbClr val="FFFFFF"/>
                </a:solidFill>
                <a:latin typeface="Pretendard"/>
              </a:rPr>
              <a:t>40m 앞 엘리베이터 탑승</a:t>
            </a:r>
            <a:endParaRPr sz="9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9" name="바텀시트"/>
          <p:cNvSpPr/>
          <p:nvPr/>
        </p:nvSpPr>
        <p:spPr>
          <a:xfrm>
            <a:off x="2113178" y="2510028"/>
            <a:ext cx="2194560" cy="11356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시트 손잡이"/>
          <p:cNvSpPr/>
          <p:nvPr/>
        </p:nvSpPr>
        <p:spPr>
          <a:xfrm>
            <a:off x="3062325" y="2567635"/>
            <a:ext cx="296265" cy="41148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남은 시간"/>
          <p:cNvSpPr txBox="1"/>
          <p:nvPr/>
        </p:nvSpPr>
        <p:spPr>
          <a:xfrm>
            <a:off x="2253081" y="2658160"/>
            <a:ext cx="1069848" cy="230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5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42" name="버튼 안내 종료"/>
          <p:cNvSpPr/>
          <p:nvPr/>
        </p:nvSpPr>
        <p:spPr>
          <a:xfrm>
            <a:off x="3342132" y="2658160"/>
            <a:ext cx="85587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버튼 라벨"/>
          <p:cNvSpPr txBox="1"/>
          <p:nvPr/>
        </p:nvSpPr>
        <p:spPr>
          <a:xfrm>
            <a:off x="3342132" y="2658160"/>
            <a:ext cx="855878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5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44" name="도착 시각 · 요금"/>
          <p:cNvSpPr txBox="1"/>
          <p:nvPr/>
        </p:nvSpPr>
        <p:spPr>
          <a:xfrm>
            <a:off x="2253081" y="2937967"/>
            <a:ext cx="164592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75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45" name="전체 경로 바"/>
          <p:cNvSpPr/>
          <p:nvPr/>
        </p:nvSpPr>
        <p:spPr>
          <a:xfrm>
            <a:off x="2253081" y="3151936"/>
            <a:ext cx="510235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경로 바 라벨"/>
          <p:cNvSpPr txBox="1"/>
          <p:nvPr/>
        </p:nvSpPr>
        <p:spPr>
          <a:xfrm>
            <a:off x="2253081" y="3151936"/>
            <a:ext cx="51023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47" name="전체 경로 바"/>
          <p:cNvSpPr/>
          <p:nvPr/>
        </p:nvSpPr>
        <p:spPr>
          <a:xfrm>
            <a:off x="2796235" y="3151936"/>
            <a:ext cx="773582" cy="164592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경로 바 라벨"/>
          <p:cNvSpPr txBox="1"/>
          <p:nvPr/>
        </p:nvSpPr>
        <p:spPr>
          <a:xfrm>
            <a:off x="2796235" y="3151936"/>
            <a:ext cx="77358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49" name="전체 경로 바"/>
          <p:cNvSpPr/>
          <p:nvPr/>
        </p:nvSpPr>
        <p:spPr>
          <a:xfrm>
            <a:off x="3602735" y="3151936"/>
            <a:ext cx="592531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경로 바 라벨"/>
          <p:cNvSpPr txBox="1"/>
          <p:nvPr/>
        </p:nvSpPr>
        <p:spPr>
          <a:xfrm>
            <a:off x="3602735" y="3151936"/>
            <a:ext cx="592531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51" name="현재 위치 표식"/>
          <p:cNvSpPr txBox="1"/>
          <p:nvPr/>
        </p:nvSpPr>
        <p:spPr>
          <a:xfrm>
            <a:off x="2598724" y="3332988"/>
            <a:ext cx="329184" cy="1316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2D4CC8"/>
                </a:solidFill>
                <a:latin typeface="Pretendard"/>
              </a:rPr>
              <a:t>▲</a:t>
            </a:r>
          </a:p>
        </p:txBody>
      </p:sp>
      <p:sp>
        <p:nvSpPr>
          <p:cNvPr id="52" name="현재 위치 라벨"/>
          <p:cNvSpPr txBox="1"/>
          <p:nvPr/>
        </p:nvSpPr>
        <p:spPr>
          <a:xfrm>
            <a:off x="2878531" y="3332988"/>
            <a:ext cx="987552" cy="13167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75" b="0">
                <a:solidFill>
                  <a:srgbClr val="5B6573"/>
                </a:solidFill>
                <a:latin typeface="Pretendard"/>
              </a:rPr>
              <a:t>현재 위치</a:t>
            </a:r>
          </a:p>
        </p:txBody>
      </p:sp>
      <p:sp>
        <p:nvSpPr>
          <p:cNvPr id="53" name="목업 프레임"/>
          <p:cNvSpPr/>
          <p:nvPr/>
        </p:nvSpPr>
        <p:spPr>
          <a:xfrm>
            <a:off x="2021738" y="3879799"/>
            <a:ext cx="4625035" cy="2460650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지도"/>
          <p:cNvSpPr/>
          <p:nvPr/>
        </p:nvSpPr>
        <p:spPr>
          <a:xfrm>
            <a:off x="2030882" y="3888943"/>
            <a:ext cx="4606747" cy="2442362"/>
          </a:xfrm>
          <a:prstGeom prst="roundRect">
            <a:avLst>
              <a:gd name="adj" fmla="val 6271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층 칩"/>
          <p:cNvSpPr/>
          <p:nvPr/>
        </p:nvSpPr>
        <p:spPr>
          <a:xfrm>
            <a:off x="4417466" y="3971239"/>
            <a:ext cx="497204" cy="222885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00" b="0" dirty="0">
                <a:solidFill>
                  <a:srgbClr val="14181F"/>
                </a:solidFill>
                <a:latin typeface="Pretendard"/>
              </a:rPr>
              <a:t>B2 ⌄</a:t>
            </a:r>
          </a:p>
        </p:txBody>
      </p:sp>
      <p:sp>
        <p:nvSpPr>
          <p:cNvPr id="56" name="지도 컨트롤"/>
          <p:cNvSpPr/>
          <p:nvPr/>
        </p:nvSpPr>
        <p:spPr>
          <a:xfrm>
            <a:off x="5962802" y="3971239"/>
            <a:ext cx="592531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지도 컨트롤 라벨"/>
          <p:cNvSpPr txBox="1"/>
          <p:nvPr/>
        </p:nvSpPr>
        <p:spPr>
          <a:xfrm>
            <a:off x="5962802" y="3971239"/>
            <a:ext cx="592531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정북 복원</a:t>
            </a:r>
          </a:p>
        </p:txBody>
      </p:sp>
      <p:sp>
        <p:nvSpPr>
          <p:cNvPr id="58" name="지도 컨트롤 확대"/>
          <p:cNvSpPr/>
          <p:nvPr/>
        </p:nvSpPr>
        <p:spPr>
          <a:xfrm>
            <a:off x="4417466" y="4958791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컨트롤 라벨"/>
          <p:cNvSpPr txBox="1"/>
          <p:nvPr/>
        </p:nvSpPr>
        <p:spPr>
          <a:xfrm>
            <a:off x="4417466" y="4958791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＋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0" name="지도 컨트롤 축소"/>
          <p:cNvSpPr/>
          <p:nvPr/>
        </p:nvSpPr>
        <p:spPr>
          <a:xfrm>
            <a:off x="4417466" y="5304434"/>
            <a:ext cx="291465" cy="291465"/>
          </a:xfrm>
          <a:prstGeom prst="roundRect">
            <a:avLst>
              <a:gd name="adj" fmla="val 3235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컨트롤 라벨"/>
          <p:cNvSpPr txBox="1"/>
          <p:nvPr/>
        </p:nvSpPr>
        <p:spPr>
          <a:xfrm>
            <a:off x="4417466" y="5304434"/>
            <a:ext cx="291465" cy="2914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700" spc="-22" dirty="0">
                <a:solidFill>
                  <a:srgbClr val="14181F"/>
                </a:solidFill>
                <a:latin typeface="Pretendard"/>
              </a:rPr>
              <a:t>－</a:t>
            </a:r>
            <a:endParaRPr sz="700" b="0" spc="-22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2" name="지도 컨트롤"/>
          <p:cNvSpPr/>
          <p:nvPr/>
        </p:nvSpPr>
        <p:spPr>
          <a:xfrm>
            <a:off x="6078016" y="5617159"/>
            <a:ext cx="478962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지도 컨트롤 라벨"/>
          <p:cNvSpPr txBox="1"/>
          <p:nvPr/>
        </p:nvSpPr>
        <p:spPr>
          <a:xfrm>
            <a:off x="6078016" y="5617159"/>
            <a:ext cx="478962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재탐색</a:t>
            </a:r>
          </a:p>
        </p:txBody>
      </p:sp>
      <p:sp>
        <p:nvSpPr>
          <p:cNvPr id="64" name="지도 컨트롤"/>
          <p:cNvSpPr/>
          <p:nvPr/>
        </p:nvSpPr>
        <p:spPr>
          <a:xfrm>
            <a:off x="5633618" y="6035040"/>
            <a:ext cx="559612" cy="21396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지도 컨트롤 라벨"/>
          <p:cNvSpPr txBox="1"/>
          <p:nvPr/>
        </p:nvSpPr>
        <p:spPr>
          <a:xfrm>
            <a:off x="5633618" y="6035040"/>
            <a:ext cx="559612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현위치로</a:t>
            </a:r>
          </a:p>
        </p:txBody>
      </p:sp>
      <p:sp>
        <p:nvSpPr>
          <p:cNvPr id="66" name="도면 구역"/>
          <p:cNvSpPr/>
          <p:nvPr/>
        </p:nvSpPr>
        <p:spPr>
          <a:xfrm>
            <a:off x="5459882" y="4300423"/>
            <a:ext cx="477316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도면 구역 라벨"/>
          <p:cNvSpPr txBox="1"/>
          <p:nvPr/>
        </p:nvSpPr>
        <p:spPr>
          <a:xfrm>
            <a:off x="5459882" y="4300423"/>
            <a:ext cx="477316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승강장</a:t>
            </a:r>
          </a:p>
        </p:txBody>
      </p:sp>
      <p:sp>
        <p:nvSpPr>
          <p:cNvPr id="68" name="층 이동 마커"/>
          <p:cNvSpPr txBox="1"/>
          <p:nvPr/>
        </p:nvSpPr>
        <p:spPr>
          <a:xfrm>
            <a:off x="4764938" y="4336999"/>
            <a:ext cx="41148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2D4CC8"/>
                </a:solidFill>
                <a:latin typeface="Pretendard"/>
              </a:rPr>
              <a:t>↓ B1</a:t>
            </a:r>
          </a:p>
        </p:txBody>
      </p:sp>
      <p:sp>
        <p:nvSpPr>
          <p:cNvPr id="69" name="도면 경로선"/>
          <p:cNvSpPr/>
          <p:nvPr/>
        </p:nvSpPr>
        <p:spPr>
          <a:xfrm>
            <a:off x="5148986" y="4538167"/>
            <a:ext cx="512064" cy="32918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도면 경로선"/>
          <p:cNvSpPr/>
          <p:nvPr/>
        </p:nvSpPr>
        <p:spPr>
          <a:xfrm>
            <a:off x="5148986" y="4538167"/>
            <a:ext cx="32918" cy="1316736"/>
          </a:xfrm>
          <a:prstGeom prst="rect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도면 구역"/>
          <p:cNvSpPr/>
          <p:nvPr/>
        </p:nvSpPr>
        <p:spPr>
          <a:xfrm>
            <a:off x="4527194" y="5781751"/>
            <a:ext cx="510235" cy="213969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도면 구역 라벨"/>
          <p:cNvSpPr txBox="1"/>
          <p:nvPr/>
        </p:nvSpPr>
        <p:spPr>
          <a:xfrm>
            <a:off x="4527194" y="5781751"/>
            <a:ext cx="510235" cy="21396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50" b="0">
                <a:solidFill>
                  <a:srgbClr val="5B6573"/>
                </a:solidFill>
                <a:latin typeface="Pretendard"/>
              </a:rPr>
              <a:t>대합실</a:t>
            </a:r>
          </a:p>
        </p:txBody>
      </p:sp>
      <p:sp>
        <p:nvSpPr>
          <p:cNvPr id="73" name="현재 위치 마커"/>
          <p:cNvSpPr/>
          <p:nvPr/>
        </p:nvSpPr>
        <p:spPr>
          <a:xfrm>
            <a:off x="5096865" y="5818327"/>
            <a:ext cx="139903" cy="139903"/>
          </a:xfrm>
          <a:prstGeom prst="ellipse">
            <a:avLst/>
          </a:prstGeom>
          <a:solidFill>
            <a:srgbClr val="2D4CC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현재 위치 셰브론"/>
          <p:cNvSpPr txBox="1"/>
          <p:nvPr/>
        </p:nvSpPr>
        <p:spPr>
          <a:xfrm>
            <a:off x="5096865" y="5818327"/>
            <a:ext cx="139903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5" b="1">
                <a:solidFill>
                  <a:srgbClr val="FFFFFF"/>
                </a:solidFill>
                <a:latin typeface="Pretendard"/>
              </a:rPr>
              <a:t>∧</a:t>
            </a:r>
          </a:p>
        </p:txBody>
      </p:sp>
      <p:sp>
        <p:nvSpPr>
          <p:cNvPr id="75" name="뒤로가기 플로팅"/>
          <p:cNvSpPr/>
          <p:nvPr/>
        </p:nvSpPr>
        <p:spPr>
          <a:xfrm>
            <a:off x="2113178" y="3971239"/>
            <a:ext cx="263347" cy="263347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76" name="뒤로가기"/>
          <p:cNvCxnSpPr/>
          <p:nvPr/>
        </p:nvCxnSpPr>
        <p:spPr>
          <a:xfrm flipH="1">
            <a:off x="2210104" y="4060850"/>
            <a:ext cx="68580" cy="42519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뒤로가기"/>
          <p:cNvCxnSpPr/>
          <p:nvPr/>
        </p:nvCxnSpPr>
        <p:spPr>
          <a:xfrm flipH="1" flipV="1">
            <a:off x="2210104" y="4101998"/>
            <a:ext cx="68580" cy="42519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바텀시트"/>
          <p:cNvSpPr/>
          <p:nvPr/>
        </p:nvSpPr>
        <p:spPr>
          <a:xfrm>
            <a:off x="2113178" y="4289450"/>
            <a:ext cx="2194560" cy="205099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시트 손잡이"/>
          <p:cNvSpPr/>
          <p:nvPr/>
        </p:nvSpPr>
        <p:spPr>
          <a:xfrm>
            <a:off x="3062325" y="4347057"/>
            <a:ext cx="296265" cy="41148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남은 시간"/>
          <p:cNvSpPr txBox="1"/>
          <p:nvPr/>
        </p:nvSpPr>
        <p:spPr>
          <a:xfrm>
            <a:off x="2253081" y="4437583"/>
            <a:ext cx="1069848" cy="2304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75" b="1">
                <a:solidFill>
                  <a:srgbClr val="14181F"/>
                </a:solidFill>
                <a:latin typeface="Pretendard"/>
              </a:rPr>
              <a:t>14분 남음</a:t>
            </a:r>
          </a:p>
        </p:txBody>
      </p:sp>
      <p:sp>
        <p:nvSpPr>
          <p:cNvPr id="81" name="버튼 안내 종료"/>
          <p:cNvSpPr/>
          <p:nvPr/>
        </p:nvSpPr>
        <p:spPr>
          <a:xfrm>
            <a:off x="3342132" y="4437583"/>
            <a:ext cx="855878" cy="2468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버튼 라벨"/>
          <p:cNvSpPr txBox="1"/>
          <p:nvPr/>
        </p:nvSpPr>
        <p:spPr>
          <a:xfrm>
            <a:off x="3342132" y="4437583"/>
            <a:ext cx="855878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5" b="1">
                <a:solidFill>
                  <a:srgbClr val="14181F"/>
                </a:solidFill>
                <a:latin typeface="Pretendard"/>
              </a:rPr>
              <a:t>안내 종료</a:t>
            </a:r>
          </a:p>
        </p:txBody>
      </p:sp>
      <p:sp>
        <p:nvSpPr>
          <p:cNvPr id="83" name="도착 시각 · 요금"/>
          <p:cNvSpPr txBox="1"/>
          <p:nvPr/>
        </p:nvSpPr>
        <p:spPr>
          <a:xfrm>
            <a:off x="2253081" y="4717389"/>
            <a:ext cx="1645920" cy="1399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75" b="0">
                <a:solidFill>
                  <a:srgbClr val="5B6573"/>
                </a:solidFill>
                <a:latin typeface="Pretendard"/>
              </a:rPr>
              <a:t>15:09 도착 · 1,500원</a:t>
            </a:r>
          </a:p>
        </p:txBody>
      </p:sp>
      <p:sp>
        <p:nvSpPr>
          <p:cNvPr id="84" name="전체 경로 바"/>
          <p:cNvSpPr/>
          <p:nvPr/>
        </p:nvSpPr>
        <p:spPr>
          <a:xfrm>
            <a:off x="2253081" y="4931359"/>
            <a:ext cx="510235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경로 바 라벨"/>
          <p:cNvSpPr txBox="1"/>
          <p:nvPr/>
        </p:nvSpPr>
        <p:spPr>
          <a:xfrm>
            <a:off x="2253081" y="4931359"/>
            <a:ext cx="510235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3분</a:t>
            </a:r>
          </a:p>
        </p:txBody>
      </p:sp>
      <p:sp>
        <p:nvSpPr>
          <p:cNvPr id="86" name="전체 경로 바"/>
          <p:cNvSpPr/>
          <p:nvPr/>
        </p:nvSpPr>
        <p:spPr>
          <a:xfrm>
            <a:off x="2796235" y="4931359"/>
            <a:ext cx="773582" cy="164592"/>
          </a:xfrm>
          <a:prstGeom prst="roundRect">
            <a:avLst/>
          </a:prstGeom>
          <a:solidFill>
            <a:srgbClr val="00A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경로 바 라벨"/>
          <p:cNvSpPr txBox="1"/>
          <p:nvPr/>
        </p:nvSpPr>
        <p:spPr>
          <a:xfrm>
            <a:off x="2796235" y="4931359"/>
            <a:ext cx="77358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FFFFFF"/>
                </a:solidFill>
                <a:latin typeface="Pretendard"/>
              </a:rPr>
              <a:t>🚇 ②호선 16분</a:t>
            </a:r>
          </a:p>
        </p:txBody>
      </p:sp>
      <p:sp>
        <p:nvSpPr>
          <p:cNvPr id="88" name="전체 경로 바"/>
          <p:cNvSpPr/>
          <p:nvPr/>
        </p:nvSpPr>
        <p:spPr>
          <a:xfrm>
            <a:off x="3602735" y="4931359"/>
            <a:ext cx="592531" cy="164592"/>
          </a:xfrm>
          <a:prstGeom prst="round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경로 바 라벨"/>
          <p:cNvSpPr txBox="1"/>
          <p:nvPr/>
        </p:nvSpPr>
        <p:spPr>
          <a:xfrm>
            <a:off x="3602735" y="4931359"/>
            <a:ext cx="592531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575" b="0">
                <a:solidFill>
                  <a:srgbClr val="3E4652"/>
                </a:solidFill>
                <a:latin typeface="Pretendard"/>
              </a:rPr>
              <a:t>🚶 도보 10분</a:t>
            </a:r>
          </a:p>
        </p:txBody>
      </p:sp>
      <p:sp>
        <p:nvSpPr>
          <p:cNvPr id="90" name="리스트 구분선">
            <a:extLst>
              <a:ext uri="{FF2B5EF4-FFF2-40B4-BE49-F238E27FC236}">
                <a16:creationId xmlns:a16="http://schemas.microsoft.com/office/drawing/2014/main" id="{9A7DB66F-6EAB-15C2-D2AE-E1742378B219}"/>
              </a:ext>
            </a:extLst>
          </p:cNvPr>
          <p:cNvSpPr/>
          <p:nvPr/>
        </p:nvSpPr>
        <p:spPr>
          <a:xfrm>
            <a:off x="2222906" y="5158130"/>
            <a:ext cx="1975104" cy="9144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91" name="직선 연결선 123">
            <a:extLst>
              <a:ext uri="{FF2B5EF4-FFF2-40B4-BE49-F238E27FC236}">
                <a16:creationId xmlns:a16="http://schemas.microsoft.com/office/drawing/2014/main" id="{9743EE29-7083-26C6-A1FF-34526F2B867B}"/>
              </a:ext>
            </a:extLst>
          </p:cNvPr>
          <p:cNvCxnSpPr>
            <a:cxnSpLocks/>
          </p:cNvCxnSpPr>
          <p:nvPr/>
        </p:nvCxnSpPr>
        <p:spPr>
          <a:xfrm>
            <a:off x="2300630" y="5295290"/>
            <a:ext cx="0" cy="1005840"/>
          </a:xfrm>
          <a:prstGeom prst="line">
            <a:avLst/>
          </a:prstGeom>
          <a:ln w="9525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타원 116">
            <a:extLst>
              <a:ext uri="{FF2B5EF4-FFF2-40B4-BE49-F238E27FC236}">
                <a16:creationId xmlns:a16="http://schemas.microsoft.com/office/drawing/2014/main" id="{DFC61979-4FC8-AB51-50DC-619B1BC0B22C}"/>
              </a:ext>
            </a:extLst>
          </p:cNvPr>
          <p:cNvSpPr/>
          <p:nvPr/>
        </p:nvSpPr>
        <p:spPr>
          <a:xfrm>
            <a:off x="2254910" y="5254142"/>
            <a:ext cx="94073" cy="94199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6905" tIns="33452" rIns="66905" bIns="3345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3" name="경로 노드">
            <a:extLst>
              <a:ext uri="{FF2B5EF4-FFF2-40B4-BE49-F238E27FC236}">
                <a16:creationId xmlns:a16="http://schemas.microsoft.com/office/drawing/2014/main" id="{A3E27A46-12C1-55BE-9394-8782C4C531CD}"/>
              </a:ext>
            </a:extLst>
          </p:cNvPr>
          <p:cNvSpPr/>
          <p:nvPr/>
        </p:nvSpPr>
        <p:spPr>
          <a:xfrm>
            <a:off x="2387498" y="5222138"/>
            <a:ext cx="128016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94" name="경로 행동">
            <a:extLst>
              <a:ext uri="{FF2B5EF4-FFF2-40B4-BE49-F238E27FC236}">
                <a16:creationId xmlns:a16="http://schemas.microsoft.com/office/drawing/2014/main" id="{28B98999-B23A-4BDE-4814-13335D12E6E9}"/>
              </a:ext>
            </a:extLst>
          </p:cNvPr>
          <p:cNvSpPr/>
          <p:nvPr/>
        </p:nvSpPr>
        <p:spPr>
          <a:xfrm>
            <a:off x="2387498" y="5405018"/>
            <a:ext cx="155448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 dirty="0" err="1">
                <a:solidFill>
                  <a:srgbClr val="14181F"/>
                </a:solidFill>
                <a:latin typeface="Pretendard"/>
              </a:rPr>
              <a:t>1번 출입구까지 도보 341m (3분)</a:t>
            </a:r>
            <a:endParaRPr sz="575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5" name="타원 116"/>
          <p:cNvSpPr/>
          <p:nvPr/>
        </p:nvSpPr>
        <p:spPr>
          <a:xfrm>
            <a:off x="2254910" y="5619902"/>
            <a:ext cx="94073" cy="94199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6905" tIns="33452" rIns="66905" bIns="3345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6" name="경로 노드"/>
          <p:cNvSpPr/>
          <p:nvPr/>
        </p:nvSpPr>
        <p:spPr>
          <a:xfrm>
            <a:off x="2387498" y="5587898"/>
            <a:ext cx="128016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>
                <a:solidFill>
                  <a:srgbClr val="14181F"/>
                </a:solidFill>
                <a:latin typeface="Pretendard"/>
              </a:rPr>
              <a:t>시청역 1번 출입구</a:t>
            </a:r>
          </a:p>
        </p:txBody>
      </p:sp>
      <p:sp>
        <p:nvSpPr>
          <p:cNvPr id="97" name="경로 행동"/>
          <p:cNvSpPr/>
          <p:nvPr/>
        </p:nvSpPr>
        <p:spPr>
          <a:xfrm>
            <a:off x="2387498" y="5770778"/>
            <a:ext cx="155448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 dirty="0" err="1">
                <a:solidFill>
                  <a:srgbClr val="14181F"/>
                </a:solidFill>
                <a:latin typeface="Pretendard"/>
              </a:rPr>
              <a:t>에스컬레이터로 B1 대합실</a:t>
            </a:r>
            <a:endParaRPr sz="575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8" name="경로 행동"/>
          <p:cNvSpPr/>
          <p:nvPr/>
        </p:nvSpPr>
        <p:spPr>
          <a:xfrm>
            <a:off x="2387498" y="5953658"/>
            <a:ext cx="1554480" cy="156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575" dirty="0" err="1">
                <a:solidFill>
                  <a:srgbClr val="14181F"/>
                </a:solidFill>
                <a:latin typeface="Pretendard"/>
              </a:rPr>
              <a:t>3번 게이트 통과 (교통약자)</a:t>
            </a:r>
            <a:endParaRPr sz="575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99" name="경로 거리">
            <a:extLst>
              <a:ext uri="{FF2B5EF4-FFF2-40B4-BE49-F238E27FC236}">
                <a16:creationId xmlns:a16="http://schemas.microsoft.com/office/drawing/2014/main" id="{78DF6DB8-5533-01B2-DE06-3DCD320C40AE}"/>
              </a:ext>
            </a:extLst>
          </p:cNvPr>
          <p:cNvSpPr/>
          <p:nvPr/>
        </p:nvSpPr>
        <p:spPr>
          <a:xfrm>
            <a:off x="3524097" y="5953658"/>
            <a:ext cx="600075" cy="15430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6905" tIns="33452" rIns="66905" bIns="33452" rtlCol="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575">
                <a:solidFill>
                  <a:srgbClr val="14181F"/>
                </a:solidFill>
                <a:latin typeface="Pretendard"/>
              </a:rPr>
              <a:t>약 65m</a:t>
            </a:r>
          </a:p>
        </p:txBody>
      </p:sp>
      <p:sp>
        <p:nvSpPr>
          <p:cNvPr id="100" name="ⓒ 스크롤바"/>
          <p:cNvSpPr/>
          <p:nvPr/>
        </p:nvSpPr>
        <p:spPr>
          <a:xfrm>
            <a:off x="4216298" y="5240426"/>
            <a:ext cx="32918" cy="86868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숫자배지 1">
            <a:extLst>
              <a:ext uri="{FF2B5EF4-FFF2-40B4-BE49-F238E27FC236}">
                <a16:creationId xmlns:a16="http://schemas.microsoft.com/office/drawing/2014/main" id="{6773462D-8C3F-99FE-DDEC-0A2E8B53BAE5}"/>
              </a:ext>
            </a:extLst>
          </p:cNvPr>
          <p:cNvSpPr/>
          <p:nvPr/>
        </p:nvSpPr>
        <p:spPr>
          <a:xfrm>
            <a:off x="1719986" y="1276502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2" name="숫자배지 2"/>
          <p:cNvSpPr/>
          <p:nvPr/>
        </p:nvSpPr>
        <p:spPr>
          <a:xfrm>
            <a:off x="1719986" y="1505102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3" name="숫자배지 3"/>
          <p:cNvSpPr/>
          <p:nvPr/>
        </p:nvSpPr>
        <p:spPr>
          <a:xfrm>
            <a:off x="6738213" y="2099462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4" name="숫자배지 3-1"/>
          <p:cNvSpPr/>
          <p:nvPr/>
        </p:nvSpPr>
        <p:spPr>
          <a:xfrm>
            <a:off x="6738213" y="2931566"/>
            <a:ext cx="31363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105" name="숫자배지 3-2"/>
          <p:cNvSpPr/>
          <p:nvPr/>
        </p:nvSpPr>
        <p:spPr>
          <a:xfrm>
            <a:off x="5277002" y="3105302"/>
            <a:ext cx="31363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106" name="숫자배지 4"/>
          <p:cNvSpPr/>
          <p:nvPr/>
        </p:nvSpPr>
        <p:spPr>
          <a:xfrm>
            <a:off x="1719986" y="2601468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7" name="숫자배지 5"/>
          <p:cNvSpPr/>
          <p:nvPr/>
        </p:nvSpPr>
        <p:spPr>
          <a:xfrm>
            <a:off x="1719986" y="4007815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08" name="숫자배지 6"/>
          <p:cNvSpPr/>
          <p:nvPr/>
        </p:nvSpPr>
        <p:spPr>
          <a:xfrm>
            <a:off x="1719986" y="4417466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09" name="숫자배지 7"/>
          <p:cNvSpPr/>
          <p:nvPr/>
        </p:nvSpPr>
        <p:spPr>
          <a:xfrm>
            <a:off x="1719986" y="5496458"/>
            <a:ext cx="191109" cy="191109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AF7FCC3B-65CA-DE6C-5F9B-6CCF3768E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(1/3)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2570"/>
              </p:ext>
            </p:extLst>
          </p:nvPr>
        </p:nvGraphicFramePr>
        <p:xfrm>
          <a:off x="8629192" y="1447800"/>
          <a:ext cx="2972409" cy="434888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비지도 구조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적용 조건은 계정의 교통약자 유형 「전맹」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지도 · 배너를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탑바 · 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뒤로가기만 표출 · 타이틀 없음 · 설정 진입점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안내를 시작한 자리로 이동 — 음성으로 시작했으면 챗봇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안내를 중단하지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도착지 카드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3줄 — 라벨 「도착지」 ＋ 장소명 ＋ 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누를 수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방향 지시면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화살표 ＋ 잔여거리 ＋ 방향 라벨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방향은 「12시 방향」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잔여거리는 다음 행동 지점까지의 거리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누르면 현재 안내 재낭독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3095599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3095599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3197199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3349599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17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3349599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18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3349599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19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3813149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4257649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3987895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2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4533995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3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3095599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12시 방향</a:t>
            </a:r>
          </a:p>
        </p:txBody>
      </p:sp>
      <p:sp>
        <p:nvSpPr>
          <p:cNvPr id="24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3197199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3857599" y="495696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6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3095599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3197199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28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3197199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29" name="S2/길안내 종료 버튼"/>
          <p:cNvSpPr/>
          <p:nvPr/>
        </p:nvSpPr>
        <p:spPr>
          <a:xfrm>
            <a:off x="3197199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0" name="S2/길안내 종료 라벨"/>
          <p:cNvSpPr txBox="1"/>
          <p:nvPr/>
        </p:nvSpPr>
        <p:spPr>
          <a:xfrm>
            <a:off x="3959199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1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32" name="뒤로가기"/>
          <p:cNvCxnSpPr/>
          <p:nvPr/>
        </p:nvCxnSpPr>
        <p:spPr>
          <a:xfrm flipH="1">
            <a:off x="3280172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3280172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820924" y="12252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/>
          <p:cNvSpPr/>
          <p:nvPr/>
        </p:nvSpPr>
        <p:spPr>
          <a:xfrm>
            <a:off x="5618988" y="131673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2"/>
          <p:cNvSpPr/>
          <p:nvPr/>
        </p:nvSpPr>
        <p:spPr>
          <a:xfrm>
            <a:off x="561898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7" name="숫자배지 3"/>
          <p:cNvSpPr/>
          <p:nvPr/>
        </p:nvSpPr>
        <p:spPr>
          <a:xfrm>
            <a:off x="5618988" y="31821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8" name="숫자배지 4"/>
          <p:cNvSpPr/>
          <p:nvPr/>
        </p:nvSpPr>
        <p:spPr>
          <a:xfrm>
            <a:off x="5618988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9" name="숫자배지 5"/>
          <p:cNvSpPr/>
          <p:nvPr/>
        </p:nvSpPr>
        <p:spPr>
          <a:xfrm>
            <a:off x="5618988" y="605332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2077355"/>
      </p:ext>
    </p:extLst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(2/3)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2570"/>
              </p:ext>
            </p:extLst>
          </p:nvPr>
        </p:nvGraphicFramePr>
        <p:xfrm>
          <a:off x="8629192" y="1447800"/>
          <a:ext cx="2972409" cy="439780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버튼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세로 직렬 — [음성인식 시작하기] · [안내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[안내 종료]는 낭독 순서 마지막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중 질의는 [음성인식 시작하기]가 단일 입구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현재 위치 블록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2줄 — 라벨 「현재 위치」 ＋ 주소 · 누를 수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측위 미확정 시 「위치를 확인하는 중입니다.」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6823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두지 않는 것 · 음성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하단 Nav · 진행 단계 표시 · 절대 방위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「내 앞에 무엇이 있나요?」 · 하차 알림 · 잔여 정류장 등의 기능은 음성 명령으로 실행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안내 문장 4형 — 직진 · 회전 예고 · 회전 시점 · 도착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화면 문장 = 음성 문장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3095599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3095599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3197199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3349599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17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3349599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18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3349599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19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3813149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4257649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3987895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2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4533995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3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3095599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12시 방향</a:t>
            </a:r>
          </a:p>
        </p:txBody>
      </p:sp>
      <p:sp>
        <p:nvSpPr>
          <p:cNvPr id="24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3197199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3857599" y="495696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6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3095599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3197199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28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3197199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29" name="S2/길안내 종료 버튼"/>
          <p:cNvSpPr/>
          <p:nvPr/>
        </p:nvSpPr>
        <p:spPr>
          <a:xfrm>
            <a:off x="3197199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0" name="S2/길안내 종료 라벨"/>
          <p:cNvSpPr txBox="1"/>
          <p:nvPr/>
        </p:nvSpPr>
        <p:spPr>
          <a:xfrm>
            <a:off x="3959199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1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32" name="뒤로가기"/>
          <p:cNvCxnSpPr/>
          <p:nvPr/>
        </p:nvCxnSpPr>
        <p:spPr>
          <a:xfrm flipH="1">
            <a:off x="3280172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3280172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820924" y="12252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/>
          <p:cNvSpPr/>
          <p:nvPr/>
        </p:nvSpPr>
        <p:spPr>
          <a:xfrm>
            <a:off x="5618988" y="131673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2"/>
          <p:cNvSpPr/>
          <p:nvPr/>
        </p:nvSpPr>
        <p:spPr>
          <a:xfrm>
            <a:off x="561898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7" name="숫자배지 3"/>
          <p:cNvSpPr/>
          <p:nvPr/>
        </p:nvSpPr>
        <p:spPr>
          <a:xfrm>
            <a:off x="5618988" y="31821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8" name="숫자배지 4"/>
          <p:cNvSpPr/>
          <p:nvPr/>
        </p:nvSpPr>
        <p:spPr>
          <a:xfrm>
            <a:off x="5618988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9" name="숫자배지 5"/>
          <p:cNvSpPr/>
          <p:nvPr/>
        </p:nvSpPr>
        <p:spPr>
          <a:xfrm>
            <a:off x="5618988" y="605332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BD529FE3-3AB1-2D7C-3612-8C78C943AB41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38ABAEB-1BCA-53E6-09C7-31C14445251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EB51657D-DB4A-31B1-F631-462A43F317E7}"/>
              </a:ext>
            </a:extLst>
          </p:cNvPr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6099358E-BFA0-E7D1-B93C-11424EF6ED81}"/>
              </a:ext>
            </a:extLst>
          </p:cNvPr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실외 내비게이션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0390C95F-623A-7ECD-39E0-2D64F17E3AEA}"/>
              </a:ext>
            </a:extLst>
          </p:cNvPr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>
                <a:solidFill>
                  <a:srgbClr val="8A94A3"/>
                </a:solidFill>
                <a:latin typeface="Pretendard"/>
              </a:rPr>
              <a:t>전맹 (3/3)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82B7F34F-08BB-5620-5BD7-F8DF074E4010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DCB3946F-FAD8-25AC-4F9C-AC7A8CB51183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85C9987B-499D-B6B9-B2E2-9C999D3EEC69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4E2B25A1-8700-ED68-3B0F-3D1ADADBAF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1B385F1-BD30-B165-1FDD-92137EC6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102570"/>
              </p:ext>
            </p:extLst>
          </p:nvPr>
        </p:nvGraphicFramePr>
        <p:xfrm>
          <a:off x="8629192" y="1447800"/>
          <a:ext cx="2972409" cy="348254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 안내 낭독 시점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잔여거리 갱신에 aria-live를 걸지 않음 — 안내는 앱 TTS 단일 채널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계기 3종 — 행동 이벤트(회전 예고 · 회전 시점 · 도착) · 거리 경과 · 사용자 요청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 경과 주기 — 100m 초과 50m마다 / 100m 이하 30m마다 / 30m 이하 10m마다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회전 예고는 30m 앞 · 이벤트가 거리 경과를 이김 — 겹치면 거리 경과를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낭독 순서 · 예외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→ 도착지 카드 → 방향 지시면 → [음성인식 시작하기] → 현재 위치 → [안내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[안내 종료]만 화면 순서를 따르지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문안은 「도착했습니다.」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마이크 권한 거부 시에도 [음성인식 시작하기]는 동작 — 챗봇에서 텍스트 입력으로 이어짐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3095599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3095599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3197199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3349599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도착지</a:t>
            </a:r>
          </a:p>
        </p:txBody>
      </p:sp>
      <p:sp>
        <p:nvSpPr>
          <p:cNvPr id="17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3349599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서대문역</a:t>
            </a:r>
          </a:p>
        </p:txBody>
      </p:sp>
      <p:sp>
        <p:nvSpPr>
          <p:cNvPr id="18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3349599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서울시 종로구 통일로 126</a:t>
            </a:r>
          </a:p>
        </p:txBody>
      </p:sp>
      <p:sp>
        <p:nvSpPr>
          <p:cNvPr id="19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3813149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4257649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3987895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464</a:t>
            </a:r>
          </a:p>
        </p:txBody>
      </p:sp>
      <p:sp>
        <p:nvSpPr>
          <p:cNvPr id="22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4533995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3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3095599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12시 방향</a:t>
            </a:r>
          </a:p>
        </p:txBody>
      </p:sp>
      <p:sp>
        <p:nvSpPr>
          <p:cNvPr id="24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3197199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3857599" y="4956962"/>
            <a:ext cx="9525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6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3095599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3197199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28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3197199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서울 서대문구 경기대로 47 진양빌딩</a:t>
            </a:r>
          </a:p>
        </p:txBody>
      </p:sp>
      <p:sp>
        <p:nvSpPr>
          <p:cNvPr id="29" name="S2/길안내 종료 버튼"/>
          <p:cNvSpPr/>
          <p:nvPr/>
        </p:nvSpPr>
        <p:spPr>
          <a:xfrm>
            <a:off x="3197199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0" name="S2/길안내 종료 라벨"/>
          <p:cNvSpPr txBox="1"/>
          <p:nvPr/>
        </p:nvSpPr>
        <p:spPr>
          <a:xfrm>
            <a:off x="3959199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1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32" name="뒤로가기"/>
          <p:cNvCxnSpPr/>
          <p:nvPr/>
        </p:nvCxnSpPr>
        <p:spPr>
          <a:xfrm flipH="1">
            <a:off x="3280172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3280172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숫자배지 1">
            <a:extLst>
              <a:ext uri="{FF2B5EF4-FFF2-40B4-BE49-F238E27FC236}">
                <a16:creationId xmlns:a16="http://schemas.microsoft.com/office/drawing/2014/main" id="{A6913C0A-01FF-7443-4E87-6D8D58993AD8}"/>
              </a:ext>
            </a:extLst>
          </p:cNvPr>
          <p:cNvSpPr/>
          <p:nvPr/>
        </p:nvSpPr>
        <p:spPr>
          <a:xfrm>
            <a:off x="2820924" y="12252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1-1"/>
          <p:cNvSpPr/>
          <p:nvPr/>
        </p:nvSpPr>
        <p:spPr>
          <a:xfrm>
            <a:off x="5618988" y="131673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6" name="숫자배지 2"/>
          <p:cNvSpPr/>
          <p:nvPr/>
        </p:nvSpPr>
        <p:spPr>
          <a:xfrm>
            <a:off x="561898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7" name="숫자배지 3"/>
          <p:cNvSpPr/>
          <p:nvPr/>
        </p:nvSpPr>
        <p:spPr>
          <a:xfrm>
            <a:off x="5618988" y="31821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8" name="숫자배지 4"/>
          <p:cNvSpPr/>
          <p:nvPr/>
        </p:nvSpPr>
        <p:spPr>
          <a:xfrm>
            <a:off x="5618988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39" name="숫자배지 5"/>
          <p:cNvSpPr/>
          <p:nvPr/>
        </p:nvSpPr>
        <p:spPr>
          <a:xfrm>
            <a:off x="5618988" y="605332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(1/2)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4428"/>
              </p:ext>
            </p:extLst>
          </p:nvPr>
        </p:nvGraphicFramePr>
        <p:xfrm>
          <a:off x="8629192" y="1447800"/>
          <a:ext cx="2972409" cy="293172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45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비지도 구조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도면을 쓰지 않음 — 지도 컨트롤 5종을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 축은 살아 있음 — 낭독 ①이 현재 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낭독 순서 — 층이 맨 앞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층 → 방향 지시면(지시 ＋ 남은 거리) → 도착지 → [음성인식 시작하기] → [안내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층이 바뀌면 바뀐 층을 먼저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층 이동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이용 설비를 함께 낭독 — 엘리베이터 · 에스컬레이터 · 계단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 이동은 별도 안내 단계로 구성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층을 바꿔 보는 수단은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19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B2 승강장</a:t>
            </a:r>
          </a:p>
        </p:txBody>
      </p:sp>
      <p:sp>
        <p:nvSpPr>
          <p:cNvPr id="20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목표 B1 대합실</a:t>
            </a:r>
          </a:p>
        </p:txBody>
      </p:sp>
      <p:sp>
        <p:nvSpPr>
          <p:cNvPr id="21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32</a:t>
            </a:r>
          </a:p>
        </p:txBody>
      </p:sp>
      <p:sp>
        <p:nvSpPr>
          <p:cNvPr id="24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5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앞으로 직진</a:t>
            </a:r>
          </a:p>
        </p:txBody>
      </p:sp>
      <p:sp>
        <p:nvSpPr>
          <p:cNvPr id="26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엘리베이터까지</a:t>
            </a:r>
          </a:p>
        </p:txBody>
      </p:sp>
      <p:sp>
        <p:nvSpPr>
          <p:cNvPr id="27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226640" y="4956962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1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3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B2 · 승강장 3-2 구역</a:t>
            </a:r>
          </a:p>
        </p:txBody>
      </p:sp>
      <p:sp>
        <p:nvSpPr>
          <p:cNvPr id="34" name="S2/길안내 종료 버튼"/>
          <p:cNvSpPr/>
          <p:nvPr/>
        </p:nvSpPr>
        <p:spPr>
          <a:xfrm>
            <a:off x="1664665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5" name="S2/길안내 종료 라벨"/>
          <p:cNvSpPr txBox="1"/>
          <p:nvPr/>
        </p:nvSpPr>
        <p:spPr>
          <a:xfrm>
            <a:off x="2426665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6" name="S2/프레임"/>
          <p:cNvSpPr/>
          <p:nvPr/>
        </p:nvSpPr>
        <p:spPr>
          <a:xfrm>
            <a:off x="451581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S2/TopBar 구분선"/>
          <p:cNvSpPr/>
          <p:nvPr/>
        </p:nvSpPr>
        <p:spPr>
          <a:xfrm>
            <a:off x="451581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S2/도착지 카드"/>
          <p:cNvSpPr/>
          <p:nvPr/>
        </p:nvSpPr>
        <p:spPr>
          <a:xfrm>
            <a:off x="461741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S2/도착지 라벨"/>
          <p:cNvSpPr txBox="1"/>
          <p:nvPr/>
        </p:nvSpPr>
        <p:spPr>
          <a:xfrm>
            <a:off x="476981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41" name="S2/도착지명"/>
          <p:cNvSpPr txBox="1"/>
          <p:nvPr/>
        </p:nvSpPr>
        <p:spPr>
          <a:xfrm>
            <a:off x="476981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B1 대합실</a:t>
            </a:r>
          </a:p>
        </p:txBody>
      </p:sp>
      <p:sp>
        <p:nvSpPr>
          <p:cNvPr id="42" name="S2/도착지 주소"/>
          <p:cNvSpPr txBox="1"/>
          <p:nvPr/>
        </p:nvSpPr>
        <p:spPr>
          <a:xfrm>
            <a:off x="476981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도착지 5번 출구</a:t>
            </a:r>
          </a:p>
        </p:txBody>
      </p:sp>
      <p:sp>
        <p:nvSpPr>
          <p:cNvPr id="43" name="S2/방향 지시 면"/>
          <p:cNvSpPr/>
          <p:nvPr/>
        </p:nvSpPr>
        <p:spPr>
          <a:xfrm>
            <a:off x="523336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S2/방향화살표"/>
          <p:cNvSpPr/>
          <p:nvPr/>
        </p:nvSpPr>
        <p:spPr>
          <a:xfrm>
            <a:off x="567786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S2/거리 수치"/>
          <p:cNvSpPr txBox="1"/>
          <p:nvPr/>
        </p:nvSpPr>
        <p:spPr>
          <a:xfrm>
            <a:off x="540811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18</a:t>
            </a:r>
          </a:p>
        </p:txBody>
      </p:sp>
      <p:sp>
        <p:nvSpPr>
          <p:cNvPr id="46" name="S2/거리 단위"/>
          <p:cNvSpPr txBox="1"/>
          <p:nvPr/>
        </p:nvSpPr>
        <p:spPr>
          <a:xfrm>
            <a:off x="595421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47" name="S2/방향 라벨"/>
          <p:cNvSpPr txBox="1"/>
          <p:nvPr/>
        </p:nvSpPr>
        <p:spPr>
          <a:xfrm>
            <a:off x="451581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엘리베이터 탑승</a:t>
            </a:r>
          </a:p>
        </p:txBody>
      </p:sp>
      <p:sp>
        <p:nvSpPr>
          <p:cNvPr id="48" name="S2/방위"/>
          <p:cNvSpPr txBox="1"/>
          <p:nvPr/>
        </p:nvSpPr>
        <p:spPr>
          <a:xfrm>
            <a:off x="451581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B2 → B1 이동</a:t>
            </a:r>
          </a:p>
        </p:txBody>
      </p:sp>
      <p:sp>
        <p:nvSpPr>
          <p:cNvPr id="49" name="S2/방향 다시 듣기 버튼"/>
          <p:cNvSpPr/>
          <p:nvPr/>
        </p:nvSpPr>
        <p:spPr>
          <a:xfrm>
            <a:off x="4617415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S2/방향 다시 듣기 라벨"/>
          <p:cNvSpPr txBox="1"/>
          <p:nvPr/>
        </p:nvSpPr>
        <p:spPr>
          <a:xfrm>
            <a:off x="5179390" y="4956962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3" name="S2/현재 위치 구분선"/>
          <p:cNvSpPr/>
          <p:nvPr/>
        </p:nvSpPr>
        <p:spPr>
          <a:xfrm>
            <a:off x="451581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S2/현재 위치 라벨"/>
          <p:cNvSpPr txBox="1"/>
          <p:nvPr/>
        </p:nvSpPr>
        <p:spPr>
          <a:xfrm>
            <a:off x="461741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55" name="S2/현재 위치 주소"/>
          <p:cNvSpPr txBox="1"/>
          <p:nvPr/>
        </p:nvSpPr>
        <p:spPr>
          <a:xfrm>
            <a:off x="461741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B1 · 대합실 2-4 구역</a:t>
            </a:r>
          </a:p>
        </p:txBody>
      </p:sp>
      <p:sp>
        <p:nvSpPr>
          <p:cNvPr id="56" name="S2/길안내 종료 버튼"/>
          <p:cNvSpPr/>
          <p:nvPr/>
        </p:nvSpPr>
        <p:spPr>
          <a:xfrm>
            <a:off x="4617415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7" name="S2/길안내 종료 라벨"/>
          <p:cNvSpPr txBox="1"/>
          <p:nvPr/>
        </p:nvSpPr>
        <p:spPr>
          <a:xfrm>
            <a:off x="5379415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1288390" y="123444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2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4104742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0" name="숫자배지 3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4104742" y="425196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4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4104742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62" name="뒤로가기"/>
          <p:cNvCxnSpPr/>
          <p:nvPr/>
        </p:nvCxnSpPr>
        <p:spPr>
          <a:xfrm flipH="1">
            <a:off x="1747638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뒤로가기"/>
          <p:cNvCxnSpPr/>
          <p:nvPr/>
        </p:nvCxnSpPr>
        <p:spPr>
          <a:xfrm flipH="1" flipV="1">
            <a:off x="1747638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뒤로가기"/>
          <p:cNvCxnSpPr/>
          <p:nvPr/>
        </p:nvCxnSpPr>
        <p:spPr>
          <a:xfrm flipH="1">
            <a:off x="4700388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뒤로가기"/>
          <p:cNvCxnSpPr/>
          <p:nvPr/>
        </p:nvCxnSpPr>
        <p:spPr>
          <a:xfrm flipH="1" flipV="1">
            <a:off x="4700388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6635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2-4-2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05840" y="228600"/>
            <a:ext cx="193029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실내 내비게이션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3100730" y="228600"/>
            <a:ext cx="782635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전맹 (2/2)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94428"/>
              </p:ext>
            </p:extLst>
          </p:nvPr>
        </p:nvGraphicFramePr>
        <p:xfrm>
          <a:off x="8629192" y="1447800"/>
          <a:ext cx="2972409" cy="212008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[다시 듣기] 전용 버튼 미제공 · 재낭독은 방향 지시면 누르기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원칙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다음 행동 지시는 낭독에서도 한 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전체 경로는 실외 · 실내를 나누지 않고 한 흐름으로 낭독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진동은 음성과 함께 제공 — 단독 안내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측위 저하 · 경로 이탈도 낭독으로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S2/프레임">
            <a:extLst>
              <a:ext uri="{FF2B5EF4-FFF2-40B4-BE49-F238E27FC236}">
                <a16:creationId xmlns:a16="http://schemas.microsoft.com/office/drawing/2014/main" id="{510F8586-894D-5520-310B-2E92E6C196C0}"/>
              </a:ext>
            </a:extLst>
          </p:cNvPr>
          <p:cNvSpPr/>
          <p:nvPr/>
        </p:nvSpPr>
        <p:spPr>
          <a:xfrm>
            <a:off x="156306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S2/TopBar 구분선">
            <a:extLst>
              <a:ext uri="{FF2B5EF4-FFF2-40B4-BE49-F238E27FC236}">
                <a16:creationId xmlns:a16="http://schemas.microsoft.com/office/drawing/2014/main" id="{AB11D31F-2B04-742C-88B6-194D7007A4DC}"/>
              </a:ext>
            </a:extLst>
          </p:cNvPr>
          <p:cNvSpPr/>
          <p:nvPr/>
        </p:nvSpPr>
        <p:spPr>
          <a:xfrm>
            <a:off x="156306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S2/도착지 카드">
            <a:extLst>
              <a:ext uri="{FF2B5EF4-FFF2-40B4-BE49-F238E27FC236}">
                <a16:creationId xmlns:a16="http://schemas.microsoft.com/office/drawing/2014/main" id="{AB14FEDA-EA1F-6B78-E401-66EC3A1EC226}"/>
              </a:ext>
            </a:extLst>
          </p:cNvPr>
          <p:cNvSpPr/>
          <p:nvPr/>
        </p:nvSpPr>
        <p:spPr>
          <a:xfrm>
            <a:off x="166466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S2/도착지 라벨">
            <a:extLst>
              <a:ext uri="{FF2B5EF4-FFF2-40B4-BE49-F238E27FC236}">
                <a16:creationId xmlns:a16="http://schemas.microsoft.com/office/drawing/2014/main" id="{D7CB5FA5-795B-EE46-5E75-530292B24CB3}"/>
              </a:ext>
            </a:extLst>
          </p:cNvPr>
          <p:cNvSpPr txBox="1"/>
          <p:nvPr/>
        </p:nvSpPr>
        <p:spPr>
          <a:xfrm>
            <a:off x="181706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19" name="S2/도착지명">
            <a:extLst>
              <a:ext uri="{FF2B5EF4-FFF2-40B4-BE49-F238E27FC236}">
                <a16:creationId xmlns:a16="http://schemas.microsoft.com/office/drawing/2014/main" id="{E27DE100-99C3-B814-6344-5371726B5FF1}"/>
              </a:ext>
            </a:extLst>
          </p:cNvPr>
          <p:cNvSpPr txBox="1"/>
          <p:nvPr/>
        </p:nvSpPr>
        <p:spPr>
          <a:xfrm>
            <a:off x="181706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B2 승강장</a:t>
            </a:r>
          </a:p>
        </p:txBody>
      </p:sp>
      <p:sp>
        <p:nvSpPr>
          <p:cNvPr id="20" name="S2/도착지 주소">
            <a:extLst>
              <a:ext uri="{FF2B5EF4-FFF2-40B4-BE49-F238E27FC236}">
                <a16:creationId xmlns:a16="http://schemas.microsoft.com/office/drawing/2014/main" id="{5D55AC55-3F47-C4C8-0A43-6EA98A28FCB3}"/>
              </a:ext>
            </a:extLst>
          </p:cNvPr>
          <p:cNvSpPr txBox="1"/>
          <p:nvPr/>
        </p:nvSpPr>
        <p:spPr>
          <a:xfrm>
            <a:off x="181706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목표 B1 대합실</a:t>
            </a:r>
          </a:p>
        </p:txBody>
      </p:sp>
      <p:sp>
        <p:nvSpPr>
          <p:cNvPr id="21" name="S2/방향 지시 면">
            <a:extLst>
              <a:ext uri="{FF2B5EF4-FFF2-40B4-BE49-F238E27FC236}">
                <a16:creationId xmlns:a16="http://schemas.microsoft.com/office/drawing/2014/main" id="{AB060150-3228-FD62-2350-7EFF31507CC7}"/>
              </a:ext>
            </a:extLst>
          </p:cNvPr>
          <p:cNvSpPr/>
          <p:nvPr/>
        </p:nvSpPr>
        <p:spPr>
          <a:xfrm>
            <a:off x="228061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S2/방향화살표">
            <a:extLst>
              <a:ext uri="{FF2B5EF4-FFF2-40B4-BE49-F238E27FC236}">
                <a16:creationId xmlns:a16="http://schemas.microsoft.com/office/drawing/2014/main" id="{F0D65575-9ED3-9C28-7F76-64B728215905}"/>
              </a:ext>
            </a:extLst>
          </p:cNvPr>
          <p:cNvSpPr/>
          <p:nvPr/>
        </p:nvSpPr>
        <p:spPr>
          <a:xfrm>
            <a:off x="272511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S2/거리 수치">
            <a:extLst>
              <a:ext uri="{FF2B5EF4-FFF2-40B4-BE49-F238E27FC236}">
                <a16:creationId xmlns:a16="http://schemas.microsoft.com/office/drawing/2014/main" id="{C959289F-7443-A12D-FD9A-25631AACAE0D}"/>
              </a:ext>
            </a:extLst>
          </p:cNvPr>
          <p:cNvSpPr txBox="1"/>
          <p:nvPr/>
        </p:nvSpPr>
        <p:spPr>
          <a:xfrm>
            <a:off x="245536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32</a:t>
            </a:r>
          </a:p>
        </p:txBody>
      </p:sp>
      <p:sp>
        <p:nvSpPr>
          <p:cNvPr id="24" name="S2/거리 단위">
            <a:extLst>
              <a:ext uri="{FF2B5EF4-FFF2-40B4-BE49-F238E27FC236}">
                <a16:creationId xmlns:a16="http://schemas.microsoft.com/office/drawing/2014/main" id="{DF35035E-A1DB-F791-E1FD-CDF0D21A5C6A}"/>
              </a:ext>
            </a:extLst>
          </p:cNvPr>
          <p:cNvSpPr txBox="1"/>
          <p:nvPr/>
        </p:nvSpPr>
        <p:spPr>
          <a:xfrm>
            <a:off x="300146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25" name="S2/방향 라벨">
            <a:extLst>
              <a:ext uri="{FF2B5EF4-FFF2-40B4-BE49-F238E27FC236}">
                <a16:creationId xmlns:a16="http://schemas.microsoft.com/office/drawing/2014/main" id="{698B5BF7-92A7-6478-C22C-2145280A1D5B}"/>
              </a:ext>
            </a:extLst>
          </p:cNvPr>
          <p:cNvSpPr txBox="1"/>
          <p:nvPr/>
        </p:nvSpPr>
        <p:spPr>
          <a:xfrm>
            <a:off x="156306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앞으로 직진</a:t>
            </a:r>
          </a:p>
        </p:txBody>
      </p:sp>
      <p:sp>
        <p:nvSpPr>
          <p:cNvPr id="26" name="S2/방위">
            <a:extLst>
              <a:ext uri="{FF2B5EF4-FFF2-40B4-BE49-F238E27FC236}">
                <a16:creationId xmlns:a16="http://schemas.microsoft.com/office/drawing/2014/main" id="{BAD453CA-3150-88AA-EABD-318AC1571561}"/>
              </a:ext>
            </a:extLst>
          </p:cNvPr>
          <p:cNvSpPr txBox="1"/>
          <p:nvPr/>
        </p:nvSpPr>
        <p:spPr>
          <a:xfrm>
            <a:off x="156306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엘리베이터까지</a:t>
            </a:r>
          </a:p>
        </p:txBody>
      </p:sp>
      <p:sp>
        <p:nvSpPr>
          <p:cNvPr id="27" name="S2/방향 다시 듣기 버튼">
            <a:extLst>
              <a:ext uri="{FF2B5EF4-FFF2-40B4-BE49-F238E27FC236}">
                <a16:creationId xmlns:a16="http://schemas.microsoft.com/office/drawing/2014/main" id="{95AC9260-653C-1CAD-50FE-A56DC80DD174}"/>
              </a:ext>
            </a:extLst>
          </p:cNvPr>
          <p:cNvSpPr/>
          <p:nvPr/>
        </p:nvSpPr>
        <p:spPr>
          <a:xfrm>
            <a:off x="1664665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S2/방향 다시 듣기 라벨">
            <a:extLst>
              <a:ext uri="{FF2B5EF4-FFF2-40B4-BE49-F238E27FC236}">
                <a16:creationId xmlns:a16="http://schemas.microsoft.com/office/drawing/2014/main" id="{66567B06-6E9A-D663-6490-673068E82A4D}"/>
              </a:ext>
            </a:extLst>
          </p:cNvPr>
          <p:cNvSpPr txBox="1"/>
          <p:nvPr/>
        </p:nvSpPr>
        <p:spPr>
          <a:xfrm>
            <a:off x="2226640" y="4956962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1" name="S2/현재 위치 구분선">
            <a:extLst>
              <a:ext uri="{FF2B5EF4-FFF2-40B4-BE49-F238E27FC236}">
                <a16:creationId xmlns:a16="http://schemas.microsoft.com/office/drawing/2014/main" id="{5D29A639-3220-7A94-1233-E97DC9ABF49D}"/>
              </a:ext>
            </a:extLst>
          </p:cNvPr>
          <p:cNvSpPr/>
          <p:nvPr/>
        </p:nvSpPr>
        <p:spPr>
          <a:xfrm>
            <a:off x="156306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S2/현재 위치 라벨">
            <a:extLst>
              <a:ext uri="{FF2B5EF4-FFF2-40B4-BE49-F238E27FC236}">
                <a16:creationId xmlns:a16="http://schemas.microsoft.com/office/drawing/2014/main" id="{937B9FA6-8B1B-6487-7AA7-B55B8F45F63A}"/>
              </a:ext>
            </a:extLst>
          </p:cNvPr>
          <p:cNvSpPr txBox="1"/>
          <p:nvPr/>
        </p:nvSpPr>
        <p:spPr>
          <a:xfrm>
            <a:off x="166466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33" name="S2/현재 위치 주소">
            <a:extLst>
              <a:ext uri="{FF2B5EF4-FFF2-40B4-BE49-F238E27FC236}">
                <a16:creationId xmlns:a16="http://schemas.microsoft.com/office/drawing/2014/main" id="{7F9CFAB1-BAB4-73CA-746C-49A3964A48FF}"/>
              </a:ext>
            </a:extLst>
          </p:cNvPr>
          <p:cNvSpPr txBox="1"/>
          <p:nvPr/>
        </p:nvSpPr>
        <p:spPr>
          <a:xfrm>
            <a:off x="166466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B2 · 승강장 3-2 구역</a:t>
            </a:r>
          </a:p>
        </p:txBody>
      </p:sp>
      <p:sp>
        <p:nvSpPr>
          <p:cNvPr id="34" name="S2/길안내 종료 버튼"/>
          <p:cNvSpPr/>
          <p:nvPr/>
        </p:nvSpPr>
        <p:spPr>
          <a:xfrm>
            <a:off x="1664665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35" name="S2/길안내 종료 라벨"/>
          <p:cNvSpPr txBox="1"/>
          <p:nvPr/>
        </p:nvSpPr>
        <p:spPr>
          <a:xfrm>
            <a:off x="2426665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36" name="S2/프레임"/>
          <p:cNvSpPr/>
          <p:nvPr/>
        </p:nvSpPr>
        <p:spPr>
          <a:xfrm>
            <a:off x="4515815" y="1196975"/>
            <a:ext cx="2476500" cy="535940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1430">
            <a:solidFill>
              <a:srgbClr val="D3D9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S2/TopBar 구분선"/>
          <p:cNvSpPr/>
          <p:nvPr/>
        </p:nvSpPr>
        <p:spPr>
          <a:xfrm>
            <a:off x="4515815" y="15906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S2/도착지 카드"/>
          <p:cNvSpPr/>
          <p:nvPr/>
        </p:nvSpPr>
        <p:spPr>
          <a:xfrm>
            <a:off x="4617415" y="1704975"/>
            <a:ext cx="22733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S2/도착지 라벨"/>
          <p:cNvSpPr txBox="1"/>
          <p:nvPr/>
        </p:nvSpPr>
        <p:spPr>
          <a:xfrm>
            <a:off x="4769815" y="1857375"/>
            <a:ext cx="19685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층</a:t>
            </a:r>
          </a:p>
        </p:txBody>
      </p:sp>
      <p:sp>
        <p:nvSpPr>
          <p:cNvPr id="41" name="S2/도착지명"/>
          <p:cNvSpPr txBox="1"/>
          <p:nvPr/>
        </p:nvSpPr>
        <p:spPr>
          <a:xfrm>
            <a:off x="4769815" y="2035175"/>
            <a:ext cx="1968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spc="-42">
                <a:solidFill>
                  <a:srgbClr val="171C1C"/>
                </a:solidFill>
                <a:latin typeface="Pretendard"/>
              </a:rPr>
              <a:t>B1 대합실</a:t>
            </a:r>
          </a:p>
        </p:txBody>
      </p:sp>
      <p:sp>
        <p:nvSpPr>
          <p:cNvPr id="42" name="S2/도착지 주소"/>
          <p:cNvSpPr txBox="1"/>
          <p:nvPr/>
        </p:nvSpPr>
        <p:spPr>
          <a:xfrm>
            <a:off x="4769815" y="2314575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374151"/>
                </a:solidFill>
                <a:latin typeface="Pretendard"/>
              </a:rPr>
              <a:t>시청역 · 도착지 5번 출구</a:t>
            </a:r>
          </a:p>
        </p:txBody>
      </p:sp>
      <p:sp>
        <p:nvSpPr>
          <p:cNvPr id="43" name="S2/방향 지시 면"/>
          <p:cNvSpPr/>
          <p:nvPr/>
        </p:nvSpPr>
        <p:spPr>
          <a:xfrm>
            <a:off x="5233365" y="2759075"/>
            <a:ext cx="1041400" cy="1041400"/>
          </a:xfrm>
          <a:prstGeom prst="ellipse">
            <a:avLst/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S2/방향화살표"/>
          <p:cNvSpPr/>
          <p:nvPr/>
        </p:nvSpPr>
        <p:spPr>
          <a:xfrm>
            <a:off x="5677865" y="3178175"/>
            <a:ext cx="152400" cy="203200"/>
          </a:xfrm>
          <a:prstGeom prst="upArrow">
            <a:avLst>
              <a:gd name="adj1" fmla="val 42000"/>
              <a:gd name="adj2" fmla="val 4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S2/거리 수치"/>
          <p:cNvSpPr txBox="1"/>
          <p:nvPr/>
        </p:nvSpPr>
        <p:spPr>
          <a:xfrm>
            <a:off x="5408111" y="3889375"/>
            <a:ext cx="457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800" b="1" spc="-54">
                <a:solidFill>
                  <a:srgbClr val="171C1C"/>
                </a:solidFill>
                <a:latin typeface="Pretendard"/>
              </a:rPr>
              <a:t>18</a:t>
            </a:r>
          </a:p>
        </p:txBody>
      </p:sp>
      <p:sp>
        <p:nvSpPr>
          <p:cNvPr id="46" name="S2/거리 단위"/>
          <p:cNvSpPr txBox="1"/>
          <p:nvPr/>
        </p:nvSpPr>
        <p:spPr>
          <a:xfrm>
            <a:off x="5954211" y="3956430"/>
            <a:ext cx="254000" cy="223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spc="-20">
                <a:solidFill>
                  <a:srgbClr val="374151"/>
                </a:solidFill>
                <a:latin typeface="Pretendard"/>
              </a:rPr>
              <a:t>m</a:t>
            </a:r>
          </a:p>
        </p:txBody>
      </p:sp>
      <p:sp>
        <p:nvSpPr>
          <p:cNvPr id="47" name="S2/방향 라벨"/>
          <p:cNvSpPr txBox="1"/>
          <p:nvPr/>
        </p:nvSpPr>
        <p:spPr>
          <a:xfrm>
            <a:off x="4515815" y="4194175"/>
            <a:ext cx="2476500" cy="241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spc="-28">
                <a:solidFill>
                  <a:srgbClr val="171C1C"/>
                </a:solidFill>
                <a:latin typeface="Pretendard"/>
              </a:rPr>
              <a:t>엘리베이터 탑승</a:t>
            </a:r>
          </a:p>
        </p:txBody>
      </p:sp>
      <p:sp>
        <p:nvSpPr>
          <p:cNvPr id="48" name="S2/방위"/>
          <p:cNvSpPr txBox="1"/>
          <p:nvPr/>
        </p:nvSpPr>
        <p:spPr>
          <a:xfrm>
            <a:off x="4515815" y="4460875"/>
            <a:ext cx="24765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spc="-20">
                <a:solidFill>
                  <a:srgbClr val="374151"/>
                </a:solidFill>
                <a:latin typeface="Pretendard"/>
              </a:rPr>
              <a:t>B2 → B1 이동</a:t>
            </a:r>
          </a:p>
        </p:txBody>
      </p:sp>
      <p:sp>
        <p:nvSpPr>
          <p:cNvPr id="49" name="S2/방향 다시 듣기 버튼"/>
          <p:cNvSpPr/>
          <p:nvPr/>
        </p:nvSpPr>
        <p:spPr>
          <a:xfrm>
            <a:off x="4617415" y="4846320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1A4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0" name="S2/방향 다시 듣기 라벨"/>
          <p:cNvSpPr txBox="1"/>
          <p:nvPr/>
        </p:nvSpPr>
        <p:spPr>
          <a:xfrm>
            <a:off x="5179390" y="4956962"/>
            <a:ext cx="11430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FFFFFF"/>
                </a:solidFill>
                <a:latin typeface="Pretendard"/>
              </a:rPr>
              <a:t>음성인식 시작하기</a:t>
            </a:r>
            <a:endParaRPr sz="1000" b="1" spc="-20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53" name="S2/현재 위치 구분선"/>
          <p:cNvSpPr/>
          <p:nvPr/>
        </p:nvSpPr>
        <p:spPr>
          <a:xfrm>
            <a:off x="4515815" y="5883275"/>
            <a:ext cx="2476500" cy="1270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S2/현재 위치 라벨"/>
          <p:cNvSpPr txBox="1"/>
          <p:nvPr/>
        </p:nvSpPr>
        <p:spPr>
          <a:xfrm>
            <a:off x="4617415" y="6035675"/>
            <a:ext cx="2273300" cy="139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spc="16">
                <a:solidFill>
                  <a:srgbClr val="374151"/>
                </a:solidFill>
                <a:latin typeface="Pretendard"/>
              </a:rPr>
              <a:t>현재 위치</a:t>
            </a:r>
          </a:p>
        </p:txBody>
      </p:sp>
      <p:sp>
        <p:nvSpPr>
          <p:cNvPr id="55" name="S2/현재 위치 주소"/>
          <p:cNvSpPr txBox="1"/>
          <p:nvPr/>
        </p:nvSpPr>
        <p:spPr>
          <a:xfrm>
            <a:off x="4617415" y="6213475"/>
            <a:ext cx="2273300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spc="-20">
                <a:solidFill>
                  <a:srgbClr val="171C1C"/>
                </a:solidFill>
                <a:latin typeface="Pretendard"/>
              </a:rPr>
              <a:t>시청역 B1 · 대합실 2-4 구역</a:t>
            </a:r>
          </a:p>
        </p:txBody>
      </p:sp>
      <p:sp>
        <p:nvSpPr>
          <p:cNvPr id="56" name="S2/길안내 종료 버튼"/>
          <p:cNvSpPr/>
          <p:nvPr/>
        </p:nvSpPr>
        <p:spPr>
          <a:xfrm>
            <a:off x="4617415" y="5312664"/>
            <a:ext cx="2273300" cy="374904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57" name="S2/길안내 종료 라벨"/>
          <p:cNvSpPr txBox="1"/>
          <p:nvPr/>
        </p:nvSpPr>
        <p:spPr>
          <a:xfrm>
            <a:off x="5379415" y="5423306"/>
            <a:ext cx="7493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000" b="1" spc="-20">
                <a:solidFill>
                  <a:srgbClr val="171C1C"/>
                </a:solidFill>
                <a:latin typeface="Pretendard"/>
              </a:rPr>
              <a:t>안내 종료</a:t>
            </a:r>
            <a:endParaRPr sz="1000" b="1" spc="-20" dirty="0">
              <a:solidFill>
                <a:srgbClr val="171C1C"/>
              </a:solidFill>
              <a:latin typeface="Pretendard"/>
            </a:endParaRP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1288390" y="123444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2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4104742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0" name="숫자배지 3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4104742" y="425196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1" name="숫자배지 4">
            <a:extLst>
              <a:ext uri="{FF2B5EF4-FFF2-40B4-BE49-F238E27FC236}">
                <a16:creationId xmlns:a16="http://schemas.microsoft.com/office/drawing/2014/main" id="{B3EE25C0-9449-6376-5D48-1E56D604A453}"/>
              </a:ext>
            </a:extLst>
          </p:cNvPr>
          <p:cNvSpPr/>
          <p:nvPr/>
        </p:nvSpPr>
        <p:spPr>
          <a:xfrm>
            <a:off x="4104742" y="4956048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cxnSp>
        <p:nvCxnSpPr>
          <p:cNvPr id="62" name="뒤로가기"/>
          <p:cNvCxnSpPr/>
          <p:nvPr/>
        </p:nvCxnSpPr>
        <p:spPr>
          <a:xfrm flipH="1">
            <a:off x="1747638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뒤로가기"/>
          <p:cNvCxnSpPr/>
          <p:nvPr/>
        </p:nvCxnSpPr>
        <p:spPr>
          <a:xfrm flipH="1" flipV="1">
            <a:off x="1747638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뒤로가기"/>
          <p:cNvCxnSpPr/>
          <p:nvPr/>
        </p:nvCxnSpPr>
        <p:spPr>
          <a:xfrm flipH="1">
            <a:off x="4700388" y="135369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뒤로가기"/>
          <p:cNvCxnSpPr/>
          <p:nvPr/>
        </p:nvCxnSpPr>
        <p:spPr>
          <a:xfrm flipH="1" flipV="1">
            <a:off x="4700388" y="13994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60140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챗봇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40836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4A3"/>
                </a:solidFill>
                <a:latin typeface="Pretendard"/>
              </a:rPr>
              <a:t>NLU 의도 5종 응답 규격 및 음성으로 제공 불가 기능 예시</a:t>
            </a:r>
          </a:p>
        </p:txBody>
      </p:sp>
      <p:sp>
        <p:nvSpPr>
          <p:cNvPr id="7" name="표"/>
          <p:cNvSpPr/>
          <p:nvPr/>
        </p:nvSpPr>
        <p:spPr>
          <a:xfrm>
            <a:off x="419100" y="1136904"/>
            <a:ext cx="11353800" cy="24955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표 머리 바탕"/>
          <p:cNvSpPr/>
          <p:nvPr/>
        </p:nvSpPr>
        <p:spPr>
          <a:xfrm>
            <a:off x="428625" y="114642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표 머리 밑줄"/>
          <p:cNvSpPr/>
          <p:nvPr/>
        </p:nvSpPr>
        <p:spPr>
          <a:xfrm>
            <a:off x="419100" y="155600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표 머리"/>
          <p:cNvSpPr txBox="1"/>
          <p:nvPr/>
        </p:nvSpPr>
        <p:spPr>
          <a:xfrm>
            <a:off x="552450" y="1136904"/>
            <a:ext cx="327485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11" name="표 머리"/>
          <p:cNvSpPr txBox="1"/>
          <p:nvPr/>
        </p:nvSpPr>
        <p:spPr>
          <a:xfrm>
            <a:off x="4094002" y="1136904"/>
            <a:ext cx="7545548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응답에 반드시 담기는 것</a:t>
            </a:r>
          </a:p>
        </p:txBody>
      </p:sp>
      <p:sp>
        <p:nvSpPr>
          <p:cNvPr id="12" name="표 본문"/>
          <p:cNvSpPr txBox="1"/>
          <p:nvPr/>
        </p:nvSpPr>
        <p:spPr>
          <a:xfrm>
            <a:off x="552450" y="167982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하차 알림 요청 ‘하차 알림 해줘’</a:t>
            </a:r>
          </a:p>
        </p:txBody>
      </p:sp>
      <p:sp>
        <p:nvSpPr>
          <p:cNvPr id="13" name="표 본문"/>
          <p:cNvSpPr txBox="1"/>
          <p:nvPr/>
        </p:nvSpPr>
        <p:spPr>
          <a:xfrm>
            <a:off x="4094002" y="167982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하차 1정거장 전 알림 설정 · 설정 결과를 음성 + 화면으로 확인 결과 카드에서 즉시 해제할 수 있을 것</a:t>
            </a:r>
          </a:p>
        </p:txBody>
      </p:sp>
      <p:sp>
        <p:nvSpPr>
          <p:cNvPr id="14" name="구분선"/>
          <p:cNvSpPr/>
          <p:nvPr/>
        </p:nvSpPr>
        <p:spPr>
          <a:xfrm>
            <a:off x="419100" y="197129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표 본문"/>
          <p:cNvSpPr txBox="1"/>
          <p:nvPr/>
        </p:nvSpPr>
        <p:spPr>
          <a:xfrm>
            <a:off x="552450" y="209511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잔여 정류장 문의 ‘몇 정거장 남았어?’</a:t>
            </a:r>
          </a:p>
        </p:txBody>
      </p:sp>
      <p:sp>
        <p:nvSpPr>
          <p:cNvPr id="16" name="표 본문"/>
          <p:cNvSpPr txBox="1"/>
          <p:nvPr/>
        </p:nvSpPr>
        <p:spPr>
          <a:xfrm>
            <a:off x="4094002" y="209511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남은 정거장 수 · 예상 소요 시간 하차 1정거장 전에 다시 알려준다는 고지</a:t>
            </a:r>
          </a:p>
        </p:txBody>
      </p:sp>
      <p:sp>
        <p:nvSpPr>
          <p:cNvPr id="17" name="구분선"/>
          <p:cNvSpPr/>
          <p:nvPr/>
        </p:nvSpPr>
        <p:spPr>
          <a:xfrm>
            <a:off x="419100" y="238658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표 본문"/>
          <p:cNvSpPr txBox="1"/>
          <p:nvPr/>
        </p:nvSpPr>
        <p:spPr>
          <a:xfrm>
            <a:off x="552450" y="251040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목적지 안내 (화면 명칭 = 도착지 안내)</a:t>
            </a:r>
          </a:p>
        </p:txBody>
      </p:sp>
      <p:sp>
        <p:nvSpPr>
          <p:cNvPr id="19" name="표 본문"/>
          <p:cNvSpPr txBox="1"/>
          <p:nvPr/>
        </p:nvSpPr>
        <p:spPr>
          <a:xfrm>
            <a:off x="4094002" y="251040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조건을 반영한 경로 제안 · 도보 시간 · 계단 유무 ★ 임의 실행 없이 ‘안내를 시작할까요?’로 확인</a:t>
            </a:r>
          </a:p>
        </p:txBody>
      </p:sp>
      <p:sp>
        <p:nvSpPr>
          <p:cNvPr id="20" name="구분선"/>
          <p:cNvSpPr/>
          <p:nvPr/>
        </p:nvSpPr>
        <p:spPr>
          <a:xfrm>
            <a:off x="419100" y="28018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표 본문"/>
          <p:cNvSpPr txBox="1"/>
          <p:nvPr/>
        </p:nvSpPr>
        <p:spPr>
          <a:xfrm>
            <a:off x="552450" y="292569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주변 시설 문의 =‘내 앞에 무엇이 있나요?’</a:t>
            </a:r>
          </a:p>
        </p:txBody>
      </p:sp>
      <p:sp>
        <p:nvSpPr>
          <p:cNvPr id="22" name="표 본문"/>
          <p:cNvSpPr txBox="1"/>
          <p:nvPr/>
        </p:nvSpPr>
        <p:spPr>
          <a:xfrm>
            <a:off x="4094002" y="292569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시계방향 · 지형지물 · 남은 거리 · 예상 보행시간 안내 중 화면을 눌러도 끊기지 않을 것</a:t>
            </a:r>
          </a:p>
        </p:txBody>
      </p:sp>
      <p:sp>
        <p:nvSpPr>
          <p:cNvPr id="23" name="구분선"/>
          <p:cNvSpPr/>
          <p:nvPr/>
        </p:nvSpPr>
        <p:spPr>
          <a:xfrm>
            <a:off x="419100" y="321716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표 본문"/>
          <p:cNvSpPr txBox="1"/>
          <p:nvPr/>
        </p:nvSpPr>
        <p:spPr>
          <a:xfrm>
            <a:off x="552450" y="3340989"/>
            <a:ext cx="327485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플랫폼 위치 문의 ‘승차 위치가 어디야?’</a:t>
            </a:r>
          </a:p>
        </p:txBody>
      </p:sp>
      <p:sp>
        <p:nvSpPr>
          <p:cNvPr id="25" name="표 본문"/>
          <p:cNvSpPr txBox="1"/>
          <p:nvPr/>
        </p:nvSpPr>
        <p:spPr>
          <a:xfrm>
            <a:off x="4094002" y="3340989"/>
            <a:ext cx="7545548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>
                <a:solidFill>
                  <a:srgbClr val="5B6573"/>
                </a:solidFill>
                <a:latin typeface="Pretendard"/>
              </a:rPr>
              <a:t>승차 위치 · 플랫폼 방향 · 실내는 그리드 셀 단위 ★ 다음 행동 지시는 항상 한 개</a:t>
            </a:r>
          </a:p>
        </p:txBody>
      </p:sp>
      <p:sp>
        <p:nvSpPr>
          <p:cNvPr id="26" name="표">
            <a:extLst>
              <a:ext uri="{FF2B5EF4-FFF2-40B4-BE49-F238E27FC236}">
                <a16:creationId xmlns:a16="http://schemas.microsoft.com/office/drawing/2014/main" id="{94E57335-8206-13BA-799F-FFCAF031D9C5}"/>
              </a:ext>
            </a:extLst>
          </p:cNvPr>
          <p:cNvSpPr/>
          <p:nvPr/>
        </p:nvSpPr>
        <p:spPr>
          <a:xfrm>
            <a:off x="428625" y="4143184"/>
            <a:ext cx="11353800" cy="2583180"/>
          </a:xfrm>
          <a:prstGeom prst="roundRect">
            <a:avLst>
              <a:gd name="adj" fmla="val 44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표 머리 바탕">
            <a:extLst>
              <a:ext uri="{FF2B5EF4-FFF2-40B4-BE49-F238E27FC236}">
                <a16:creationId xmlns:a16="http://schemas.microsoft.com/office/drawing/2014/main" id="{7DC8CB41-DBEE-AFEF-24C0-23D25E08BBAC}"/>
              </a:ext>
            </a:extLst>
          </p:cNvPr>
          <p:cNvSpPr/>
          <p:nvPr/>
        </p:nvSpPr>
        <p:spPr>
          <a:xfrm>
            <a:off x="438150" y="4152709"/>
            <a:ext cx="11334750" cy="409575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표 머리 밑줄">
            <a:extLst>
              <a:ext uri="{FF2B5EF4-FFF2-40B4-BE49-F238E27FC236}">
                <a16:creationId xmlns:a16="http://schemas.microsoft.com/office/drawing/2014/main" id="{87FA2C7E-89EE-DC64-8B95-D5CCA9F9EFBA}"/>
              </a:ext>
            </a:extLst>
          </p:cNvPr>
          <p:cNvSpPr/>
          <p:nvPr/>
        </p:nvSpPr>
        <p:spPr>
          <a:xfrm>
            <a:off x="428625" y="4562284"/>
            <a:ext cx="113538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표 머리">
            <a:extLst>
              <a:ext uri="{FF2B5EF4-FFF2-40B4-BE49-F238E27FC236}">
                <a16:creationId xmlns:a16="http://schemas.microsoft.com/office/drawing/2014/main" id="{44757808-6AD4-65DC-3F99-8CAF6BDA95E9}"/>
              </a:ext>
            </a:extLst>
          </p:cNvPr>
          <p:cNvSpPr txBox="1"/>
          <p:nvPr/>
        </p:nvSpPr>
        <p:spPr>
          <a:xfrm>
            <a:off x="1147191" y="4143184"/>
            <a:ext cx="2233219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>
                <a:solidFill>
                  <a:srgbClr val="14181F"/>
                </a:solidFill>
                <a:latin typeface="Pretendard"/>
              </a:rPr>
              <a:t>항목 · 사용자 질의 예</a:t>
            </a:r>
          </a:p>
        </p:txBody>
      </p:sp>
      <p:sp>
        <p:nvSpPr>
          <p:cNvPr id="30" name="표 머리">
            <a:extLst>
              <a:ext uri="{FF2B5EF4-FFF2-40B4-BE49-F238E27FC236}">
                <a16:creationId xmlns:a16="http://schemas.microsoft.com/office/drawing/2014/main" id="{831623B0-1230-0E37-A143-EECB3F3579D0}"/>
              </a:ext>
            </a:extLst>
          </p:cNvPr>
          <p:cNvSpPr txBox="1"/>
          <p:nvPr/>
        </p:nvSpPr>
        <p:spPr>
          <a:xfrm>
            <a:off x="4061638" y="4143184"/>
            <a:ext cx="4524812" cy="419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dirty="0" err="1">
                <a:solidFill>
                  <a:srgbClr val="14181F"/>
                </a:solidFill>
                <a:latin typeface="Pretendard"/>
              </a:rPr>
              <a:t>제공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불가</a:t>
            </a:r>
            <a:r>
              <a:rPr sz="862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62" b="1" dirty="0" err="1">
                <a:solidFill>
                  <a:srgbClr val="14181F"/>
                </a:solidFill>
                <a:latin typeface="Pretendard"/>
              </a:rPr>
              <a:t>사유</a:t>
            </a:r>
            <a:endParaRPr sz="862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표 본문">
            <a:extLst>
              <a:ext uri="{FF2B5EF4-FFF2-40B4-BE49-F238E27FC236}">
                <a16:creationId xmlns:a16="http://schemas.microsoft.com/office/drawing/2014/main" id="{5B1CA3CA-CC34-5862-CD87-2B35141A276B}"/>
              </a:ext>
            </a:extLst>
          </p:cNvPr>
          <p:cNvSpPr txBox="1"/>
          <p:nvPr/>
        </p:nvSpPr>
        <p:spPr>
          <a:xfrm>
            <a:off x="1147191" y="468610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버스 도착 ‘순서’ ‘몇 번째로 들어와?’</a:t>
            </a:r>
          </a:p>
        </p:txBody>
      </p:sp>
      <p:sp>
        <p:nvSpPr>
          <p:cNvPr id="32" name="표 본문">
            <a:extLst>
              <a:ext uri="{FF2B5EF4-FFF2-40B4-BE49-F238E27FC236}">
                <a16:creationId xmlns:a16="http://schemas.microsoft.com/office/drawing/2014/main" id="{0ABBC2D9-396C-58C3-5DA8-621A84F27756}"/>
              </a:ext>
            </a:extLst>
          </p:cNvPr>
          <p:cNvSpPr txBox="1"/>
          <p:nvPr/>
        </p:nvSpPr>
        <p:spPr>
          <a:xfrm>
            <a:off x="4061638" y="4686109"/>
            <a:ext cx="4524812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노드-링크가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정류장~정류장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1개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링크라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교차로·신호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대기를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ETA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를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구간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분해할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수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33" name="구분선">
            <a:extLst>
              <a:ext uri="{FF2B5EF4-FFF2-40B4-BE49-F238E27FC236}">
                <a16:creationId xmlns:a16="http://schemas.microsoft.com/office/drawing/2014/main" id="{43999BA7-5F31-24F7-0DBC-C9BBA655276F}"/>
              </a:ext>
            </a:extLst>
          </p:cNvPr>
          <p:cNvSpPr/>
          <p:nvPr/>
        </p:nvSpPr>
        <p:spPr>
          <a:xfrm>
            <a:off x="428625" y="514521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표 본문">
            <a:extLst>
              <a:ext uri="{FF2B5EF4-FFF2-40B4-BE49-F238E27FC236}">
                <a16:creationId xmlns:a16="http://schemas.microsoft.com/office/drawing/2014/main" id="{2CBF79E4-6104-12E2-FD8B-EEC632C8AD1B}"/>
              </a:ext>
            </a:extLst>
          </p:cNvPr>
          <p:cNvSpPr txBox="1"/>
          <p:nvPr/>
        </p:nvSpPr>
        <p:spPr>
          <a:xfrm>
            <a:off x="1147191" y="526903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취소 ‘예약 취소해줘’</a:t>
            </a:r>
          </a:p>
        </p:txBody>
      </p:sp>
      <p:sp>
        <p:nvSpPr>
          <p:cNvPr id="35" name="표 본문">
            <a:extLst>
              <a:ext uri="{FF2B5EF4-FFF2-40B4-BE49-F238E27FC236}">
                <a16:creationId xmlns:a16="http://schemas.microsoft.com/office/drawing/2014/main" id="{866EBF08-2A37-DC0B-09C3-DE1E96194F65}"/>
              </a:ext>
            </a:extLst>
          </p:cNvPr>
          <p:cNvSpPr txBox="1"/>
          <p:nvPr/>
        </p:nvSpPr>
        <p:spPr>
          <a:xfrm>
            <a:off x="4061637" y="5269039"/>
            <a:ext cx="5034861" cy="2240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MQTT→관제→차량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즉시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전달되며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,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나간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예약을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취소하는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기능이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BIS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없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음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(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단말기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개조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필요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)</a:t>
            </a:r>
          </a:p>
        </p:txBody>
      </p:sp>
      <p:sp>
        <p:nvSpPr>
          <p:cNvPr id="36" name="구분선">
            <a:extLst>
              <a:ext uri="{FF2B5EF4-FFF2-40B4-BE49-F238E27FC236}">
                <a16:creationId xmlns:a16="http://schemas.microsoft.com/office/drawing/2014/main" id="{2FEBF124-038B-DB70-5FA9-49BA4B425A71}"/>
              </a:ext>
            </a:extLst>
          </p:cNvPr>
          <p:cNvSpPr/>
          <p:nvPr/>
        </p:nvSpPr>
        <p:spPr>
          <a:xfrm>
            <a:off x="428625" y="572814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표 본문">
            <a:extLst>
              <a:ext uri="{FF2B5EF4-FFF2-40B4-BE49-F238E27FC236}">
                <a16:creationId xmlns:a16="http://schemas.microsoft.com/office/drawing/2014/main" id="{83689ED7-AA5E-4A29-CD99-12F4BF003A8F}"/>
              </a:ext>
            </a:extLst>
          </p:cNvPr>
          <p:cNvSpPr txBox="1"/>
          <p:nvPr/>
        </p:nvSpPr>
        <p:spPr>
          <a:xfrm>
            <a:off x="1147191" y="5851969"/>
            <a:ext cx="2233219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>
                <a:solidFill>
                  <a:srgbClr val="14181F"/>
                </a:solidFill>
                <a:latin typeface="Pretendard"/>
              </a:rPr>
              <a:t>예약 사전 발신 ‘미리 예약해둘래’</a:t>
            </a:r>
          </a:p>
        </p:txBody>
      </p:sp>
      <p:sp>
        <p:nvSpPr>
          <p:cNvPr id="38" name="표 본문">
            <a:extLst>
              <a:ext uri="{FF2B5EF4-FFF2-40B4-BE49-F238E27FC236}">
                <a16:creationId xmlns:a16="http://schemas.microsoft.com/office/drawing/2014/main" id="{2796B676-1A03-9D06-6572-31DCA44DC534}"/>
              </a:ext>
            </a:extLst>
          </p:cNvPr>
          <p:cNvSpPr txBox="1"/>
          <p:nvPr/>
        </p:nvSpPr>
        <p:spPr>
          <a:xfrm>
            <a:off x="4061638" y="5851969"/>
            <a:ext cx="5545500" cy="392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ko-KR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미리 전송 시 단말기까지 그대로 전송되므로 앱이 예약 정보를 저장하고 있다가 ‘사용자가 정류장에 있을 때’ 발신해야 </a:t>
            </a:r>
            <a:r>
              <a:rPr lang="ko-KR" altLang="en-US" sz="86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함</a:t>
            </a:r>
            <a:endParaRPr sz="860" b="0" spc="-8" dirty="0">
              <a:solidFill>
                <a:schemeClr val="tx1">
                  <a:lumMod val="65000"/>
                  <a:lumOff val="35000"/>
                </a:schemeClr>
              </a:solidFill>
              <a:latin typeface="Pretendard"/>
            </a:endParaRPr>
          </a:p>
        </p:txBody>
      </p:sp>
      <p:sp>
        <p:nvSpPr>
          <p:cNvPr id="39" name="구분선">
            <a:extLst>
              <a:ext uri="{FF2B5EF4-FFF2-40B4-BE49-F238E27FC236}">
                <a16:creationId xmlns:a16="http://schemas.microsoft.com/office/drawing/2014/main" id="{1195B5E7-23BF-9E08-BC7B-1F5100043323}"/>
              </a:ext>
            </a:extLst>
          </p:cNvPr>
          <p:cNvSpPr/>
          <p:nvPr/>
        </p:nvSpPr>
        <p:spPr>
          <a:xfrm>
            <a:off x="428625" y="6311074"/>
            <a:ext cx="11353800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표 본문">
            <a:extLst>
              <a:ext uri="{FF2B5EF4-FFF2-40B4-BE49-F238E27FC236}">
                <a16:creationId xmlns:a16="http://schemas.microsoft.com/office/drawing/2014/main" id="{6B03AE59-A88E-972A-E276-2D14CA0A1A15}"/>
              </a:ext>
            </a:extLst>
          </p:cNvPr>
          <p:cNvSpPr txBox="1"/>
          <p:nvPr/>
        </p:nvSpPr>
        <p:spPr>
          <a:xfrm>
            <a:off x="1147191" y="6434899"/>
            <a:ext cx="2233219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만차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·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혼잡도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‘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자리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825" b="1" spc="-8" dirty="0" err="1">
                <a:solidFill>
                  <a:srgbClr val="14181F"/>
                </a:solidFill>
                <a:latin typeface="Pretendard"/>
              </a:rPr>
              <a:t>있어</a:t>
            </a:r>
            <a:r>
              <a:rPr sz="825" b="1" spc="-8" dirty="0">
                <a:solidFill>
                  <a:srgbClr val="14181F"/>
                </a:solidFill>
                <a:latin typeface="Pretendard"/>
              </a:rPr>
              <a:t>?’</a:t>
            </a:r>
          </a:p>
        </p:txBody>
      </p:sp>
      <p:sp>
        <p:nvSpPr>
          <p:cNvPr id="41" name="표 본문">
            <a:extLst>
              <a:ext uri="{FF2B5EF4-FFF2-40B4-BE49-F238E27FC236}">
                <a16:creationId xmlns:a16="http://schemas.microsoft.com/office/drawing/2014/main" id="{2A661CE6-0A2F-1DA9-5B85-D8704EF2AD60}"/>
              </a:ext>
            </a:extLst>
          </p:cNvPr>
          <p:cNvSpPr txBox="1"/>
          <p:nvPr/>
        </p:nvSpPr>
        <p:spPr>
          <a:xfrm>
            <a:off x="4061638" y="6434899"/>
            <a:ext cx="4524812" cy="2247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릴리즈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범위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밖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— 2027-01-04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이후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고도화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단계에</a:t>
            </a:r>
            <a:r>
              <a:rPr sz="825" b="0" spc="-8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8" dirty="0" err="1">
                <a:solidFill>
                  <a:srgbClr val="5B6573"/>
                </a:solidFill>
                <a:latin typeface="Pretendard"/>
              </a:rPr>
              <a:t>배정</a:t>
            </a:r>
            <a:r>
              <a:rPr lang="ko-KR" altLang="en-US" sz="825" b="0" spc="-8" dirty="0">
                <a:solidFill>
                  <a:srgbClr val="5B6573"/>
                </a:solidFill>
                <a:latin typeface="Pretendard"/>
              </a:rPr>
              <a:t>되어 있음 </a:t>
            </a:r>
            <a:endParaRPr sz="825" b="0" spc="-8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2" name="흐름 1-0 홈">
            <a:extLst>
              <a:ext uri="{FF2B5EF4-FFF2-40B4-BE49-F238E27FC236}">
                <a16:creationId xmlns:a16="http://schemas.microsoft.com/office/drawing/2014/main" id="{64A67CAD-1588-F47C-E2E3-9FD9715AA230}"/>
              </a:ext>
            </a:extLst>
          </p:cNvPr>
          <p:cNvSpPr/>
          <p:nvPr/>
        </p:nvSpPr>
        <p:spPr>
          <a:xfrm>
            <a:off x="440245" y="770927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흐름 제목">
            <a:extLst>
              <a:ext uri="{FF2B5EF4-FFF2-40B4-BE49-F238E27FC236}">
                <a16:creationId xmlns:a16="http://schemas.microsoft.com/office/drawing/2014/main" id="{0B33B846-41CE-99EB-C576-518712232179}"/>
              </a:ext>
            </a:extLst>
          </p:cNvPr>
          <p:cNvSpPr txBox="1"/>
          <p:nvPr/>
        </p:nvSpPr>
        <p:spPr>
          <a:xfrm>
            <a:off x="545020" y="770927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NLU </a:t>
            </a:r>
            <a:r>
              <a:rPr lang="en-US" sz="862" b="1" spc="-17" dirty="0" err="1">
                <a:solidFill>
                  <a:srgbClr val="2D4CC8"/>
                </a:solidFill>
                <a:latin typeface="Pretendard"/>
              </a:rPr>
              <a:t>의도</a:t>
            </a:r>
            <a:r>
              <a:rPr lang="en-US" sz="862" b="1" spc="-17" dirty="0">
                <a:solidFill>
                  <a:srgbClr val="2D4CC8"/>
                </a:solidFill>
                <a:latin typeface="Pretendard"/>
              </a:rPr>
              <a:t> </a:t>
            </a:r>
            <a:r>
              <a:rPr lang="en-US" altLang="ko-KR" sz="862" b="1" spc="-17" dirty="0">
                <a:solidFill>
                  <a:srgbClr val="2D4CC8"/>
                </a:solidFill>
                <a:latin typeface="Pretendard"/>
              </a:rPr>
              <a:t>5</a:t>
            </a:r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종 응답 규격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4" name="흐름 1-0 홈">
            <a:extLst>
              <a:ext uri="{FF2B5EF4-FFF2-40B4-BE49-F238E27FC236}">
                <a16:creationId xmlns:a16="http://schemas.microsoft.com/office/drawing/2014/main" id="{C58FC55C-3DD7-034D-9A25-5403261DD502}"/>
              </a:ext>
            </a:extLst>
          </p:cNvPr>
          <p:cNvSpPr/>
          <p:nvPr/>
        </p:nvSpPr>
        <p:spPr>
          <a:xfrm>
            <a:off x="440245" y="3775873"/>
            <a:ext cx="1407756" cy="300636"/>
          </a:xfrm>
          <a:prstGeom prst="roundRect">
            <a:avLst>
              <a:gd name="adj" fmla="val 22262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흐름 제목">
            <a:extLst>
              <a:ext uri="{FF2B5EF4-FFF2-40B4-BE49-F238E27FC236}">
                <a16:creationId xmlns:a16="http://schemas.microsoft.com/office/drawing/2014/main" id="{727824C4-3C26-B356-369C-11D1E26765F1}"/>
              </a:ext>
            </a:extLst>
          </p:cNvPr>
          <p:cNvSpPr txBox="1"/>
          <p:nvPr/>
        </p:nvSpPr>
        <p:spPr>
          <a:xfrm>
            <a:off x="545020" y="3775873"/>
            <a:ext cx="1198206" cy="3006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862" b="1" spc="-17" dirty="0">
                <a:solidFill>
                  <a:srgbClr val="2D4CC8"/>
                </a:solidFill>
                <a:latin typeface="Pretendard"/>
              </a:rPr>
              <a:t>제공 불가 기능 사례</a:t>
            </a:r>
            <a:endParaRPr sz="862" b="1" spc="-17" dirty="0">
              <a:solidFill>
                <a:srgbClr val="2D4CC8"/>
              </a:solidFill>
              <a:latin typeface="Pretendard"/>
            </a:endParaRPr>
          </a:p>
        </p:txBody>
      </p:sp>
      <p:sp>
        <p:nvSpPr>
          <p:cNvPr id="46" name="화면번호 칩">
            <a:extLst>
              <a:ext uri="{FF2B5EF4-FFF2-40B4-BE49-F238E27FC236}">
                <a16:creationId xmlns:a16="http://schemas.microsoft.com/office/drawing/2014/main" id="{A89D8484-FBA7-3881-90E7-1A170A927F23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D204CAD5-4223-9DB5-1E73-813BC1BFC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BA9B1DFC-9F69-F6D6-0F32-426D3877DEA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A823272C-FC23-513B-33E5-CAC1270C5C8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4F3D0D84-B15D-328E-EFA9-83C2C8261B55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023028D-1807-C536-8AF0-2957B3903E49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25C167E-C544-43E5-4B99-18EC63104292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(1/3)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1C07F7FB-4229-CAEE-F876-E5BEA99F578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0BB4044A-729B-7140-A9E5-7BDD3982E071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BD5E546C-F422-B890-1945-DD42E6437E26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2D746381-01AA-223B-9C45-8664AF8B70AB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버튼 음성인식 시작하기">
            <a:extLst>
              <a:ext uri="{FF2B5EF4-FFF2-40B4-BE49-F238E27FC236}">
                <a16:creationId xmlns:a16="http://schemas.microsoft.com/office/drawing/2014/main" id="{11BA980F-1D36-82E6-988E-B49496E29240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버튼 라벨">
            <a:extLst>
              <a:ext uri="{FF2B5EF4-FFF2-40B4-BE49-F238E27FC236}">
                <a16:creationId xmlns:a16="http://schemas.microsoft.com/office/drawing/2014/main" id="{CA79BA13-C23F-9761-3665-F46255F03B31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4" name="섹션 제목">
            <a:extLst>
              <a:ext uri="{FF2B5EF4-FFF2-40B4-BE49-F238E27FC236}">
                <a16:creationId xmlns:a16="http://schemas.microsoft.com/office/drawing/2014/main" id="{7FBEAA14-9885-FFC6-D270-9C813419D8F1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더보기">
            <a:extLst>
              <a:ext uri="{FF2B5EF4-FFF2-40B4-BE49-F238E27FC236}">
                <a16:creationId xmlns:a16="http://schemas.microsoft.com/office/drawing/2014/main" id="{42ED0DC3-43E8-0AEA-E7F6-23C2826ED5B7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더보기">
            <a:extLst>
              <a:ext uri="{FF2B5EF4-FFF2-40B4-BE49-F238E27FC236}">
                <a16:creationId xmlns:a16="http://schemas.microsoft.com/office/drawing/2014/main" id="{8AA8DDCD-DA43-30FF-3640-D9F633E56580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칩 집">
            <a:extLst>
              <a:ext uri="{FF2B5EF4-FFF2-40B4-BE49-F238E27FC236}">
                <a16:creationId xmlns:a16="http://schemas.microsoft.com/office/drawing/2014/main" id="{45EBD6C1-517C-7E74-24AA-95B01CCAAE16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F344D89F-5B8C-76E7-25DB-DBA87FD7588C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9D8E4EDD-4166-ADDB-EB28-4FD1BCE270DA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3877A0B2-B3CA-A791-C0C6-C7427AF0269D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칩 추가">
            <a:extLst>
              <a:ext uri="{FF2B5EF4-FFF2-40B4-BE49-F238E27FC236}">
                <a16:creationId xmlns:a16="http://schemas.microsoft.com/office/drawing/2014/main" id="{0DCE89B7-896B-4869-8BCD-B9D19CD817D3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2A281B53-A9BC-D49E-AB4C-FDB6AA92B48D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3" name="섹션 제목">
            <a:extLst>
              <a:ext uri="{FF2B5EF4-FFF2-40B4-BE49-F238E27FC236}">
                <a16:creationId xmlns:a16="http://schemas.microsoft.com/office/drawing/2014/main" id="{3F948580-2456-38B0-6707-F0C1E488F06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BFD8CC82-BD89-A1DA-54FC-03D4B1FB3B25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090D7F60-CC54-563D-1527-95270D954DB2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9ACE5243-3830-9F88-081F-5D49492E0EF4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47B94A0D-DED5-617F-77C3-E433415C79E8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DA895BC2-661D-35EE-933D-BBA0E117D70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3B3DD0F1-BD9E-5B0D-04C1-2B467BFD7238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E1873292-27C5-8756-9C7C-589DC3C7AF76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9BC2E57F-4904-B01E-03FD-21A28C870FDD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DEB49D30-BF5A-9246-5988-7138AA66FE68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BDF009FC-8CBE-F268-7255-581F7A4DD4CF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0230A0D2-0A9D-C14A-75B8-7B27DA94769C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86A455DF-0CD3-BA77-A37B-34582F976F7D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EB40CD05-E016-E0D1-8990-6B6A2BB3CEE6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9AA8F23F-0174-6634-F580-359051D17A73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528BD8C-0E33-3410-0748-3C2343DE190D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9" name="리스트 행">
            <a:extLst>
              <a:ext uri="{FF2B5EF4-FFF2-40B4-BE49-F238E27FC236}">
                <a16:creationId xmlns:a16="http://schemas.microsoft.com/office/drawing/2014/main" id="{9DC53CE4-BCE9-5F23-8A50-78C0A807DF14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D4D39293-EC63-F4CD-1916-C219B2B1D1B5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DED09780-6DC6-E749-4C5F-849D84C05330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>
            <a:extLst>
              <a:ext uri="{FF2B5EF4-FFF2-40B4-BE49-F238E27FC236}">
                <a16:creationId xmlns:a16="http://schemas.microsoft.com/office/drawing/2014/main" id="{1DA0D916-8270-E915-468F-382CBF03AAFC}"/>
              </a:ext>
            </a:extLst>
          </p:cNvPr>
          <p:cNvSpPr/>
          <p:nvPr/>
        </p:nvSpPr>
        <p:spPr>
          <a:xfrm>
            <a:off x="458152" y="128282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3D38C49B-BC80-1A2E-5895-6273978DE5ED}"/>
              </a:ext>
            </a:extLst>
          </p:cNvPr>
          <p:cNvSpPr txBox="1"/>
          <p:nvPr/>
        </p:nvSpPr>
        <p:spPr>
          <a:xfrm>
            <a:off x="604456" y="136055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>
            <a:extLst>
              <a:ext uri="{FF2B5EF4-FFF2-40B4-BE49-F238E27FC236}">
                <a16:creationId xmlns:a16="http://schemas.microsoft.com/office/drawing/2014/main" id="{10CD6A0A-465D-9DF6-19FB-10CE2D62EB7C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>
            <a:extLst>
              <a:ext uri="{FF2B5EF4-FFF2-40B4-BE49-F238E27FC236}">
                <a16:creationId xmlns:a16="http://schemas.microsoft.com/office/drawing/2014/main" id="{59FA91BD-4A87-2154-7E58-6062CC761279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>
            <a:extLst>
              <a:ext uri="{FF2B5EF4-FFF2-40B4-BE49-F238E27FC236}">
                <a16:creationId xmlns:a16="http://schemas.microsoft.com/office/drawing/2014/main" id="{22D72641-3030-82B5-4652-0C565EB85CEE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>
            <a:extLst>
              <a:ext uri="{FF2B5EF4-FFF2-40B4-BE49-F238E27FC236}">
                <a16:creationId xmlns:a16="http://schemas.microsoft.com/office/drawing/2014/main" id="{32FE3469-95FB-1476-5ED4-DEA58A91BD7D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>
            <a:extLst>
              <a:ext uri="{FF2B5EF4-FFF2-40B4-BE49-F238E27FC236}">
                <a16:creationId xmlns:a16="http://schemas.microsoft.com/office/drawing/2014/main" id="{6879972F-9BF7-D0C0-33AA-E23FB88C213E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>
            <a:extLst>
              <a:ext uri="{FF2B5EF4-FFF2-40B4-BE49-F238E27FC236}">
                <a16:creationId xmlns:a16="http://schemas.microsoft.com/office/drawing/2014/main" id="{5A041D91-EA4E-B1D3-22C0-275649CBA3A3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>
            <a:extLst>
              <a:ext uri="{FF2B5EF4-FFF2-40B4-BE49-F238E27FC236}">
                <a16:creationId xmlns:a16="http://schemas.microsoft.com/office/drawing/2014/main" id="{8749CB7E-090B-E0E9-21A5-73F94B891B82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>
            <a:extLst>
              <a:ext uri="{FF2B5EF4-FFF2-40B4-BE49-F238E27FC236}">
                <a16:creationId xmlns:a16="http://schemas.microsoft.com/office/drawing/2014/main" id="{1A5082C7-9C67-0D85-FE31-5DB6A483FC6D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>
            <a:extLst>
              <a:ext uri="{FF2B5EF4-FFF2-40B4-BE49-F238E27FC236}">
                <a16:creationId xmlns:a16="http://schemas.microsoft.com/office/drawing/2014/main" id="{8A51A9CA-9313-EEAA-E689-C3EB9DC6E317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>
            <a:extLst>
              <a:ext uri="{FF2B5EF4-FFF2-40B4-BE49-F238E27FC236}">
                <a16:creationId xmlns:a16="http://schemas.microsoft.com/office/drawing/2014/main" id="{7C6D66D9-DCE4-963A-594C-435956E88C39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 2">
            <a:extLst>
              <a:ext uri="{FF2B5EF4-FFF2-40B4-BE49-F238E27FC236}">
                <a16:creationId xmlns:a16="http://schemas.microsoft.com/office/drawing/2014/main" id="{3528FAEA-1406-F993-746A-E38D2E96029B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목업 프레임 3">
            <a:extLst>
              <a:ext uri="{FF2B5EF4-FFF2-40B4-BE49-F238E27FC236}">
                <a16:creationId xmlns:a16="http://schemas.microsoft.com/office/drawing/2014/main" id="{818E2DD7-E601-3BD1-F9F1-3ECE69516B53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Rectangle 9048">
            <a:extLst>
              <a:ext uri="{FF2B5EF4-FFF2-40B4-BE49-F238E27FC236}">
                <a16:creationId xmlns:a16="http://schemas.microsoft.com/office/drawing/2014/main" id="{CAAEEA04-FDF7-C3E7-55B7-B22AFD77E0FF}"/>
              </a:ext>
            </a:extLst>
          </p:cNvPr>
          <p:cNvSpPr/>
          <p:nvPr/>
        </p:nvSpPr>
        <p:spPr>
          <a:xfrm>
            <a:off x="3296201" y="1840952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57" name="Rounded Rectangle 9049">
            <a:extLst>
              <a:ext uri="{FF2B5EF4-FFF2-40B4-BE49-F238E27FC236}">
                <a16:creationId xmlns:a16="http://schemas.microsoft.com/office/drawing/2014/main" id="{7CEFE17C-ADB8-9B95-C108-65A103CC3032}"/>
              </a:ext>
            </a:extLst>
          </p:cNvPr>
          <p:cNvSpPr/>
          <p:nvPr/>
        </p:nvSpPr>
        <p:spPr>
          <a:xfrm>
            <a:off x="3350287" y="1783756"/>
            <a:ext cx="2433901" cy="1102872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음성으로 목적지를 찾거나 도움을 받을 수 있어요.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마이크 권한이 필요해요. 다음 화면에서 허용해 주세요.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58" name="Rounded Rectangle 9052">
            <a:extLst>
              <a:ext uri="{FF2B5EF4-FFF2-40B4-BE49-F238E27FC236}">
                <a16:creationId xmlns:a16="http://schemas.microsoft.com/office/drawing/2014/main" id="{60998EB7-7732-713C-4D9C-2C61F172728D}"/>
              </a:ext>
            </a:extLst>
          </p:cNvPr>
          <p:cNvSpPr/>
          <p:nvPr/>
        </p:nvSpPr>
        <p:spPr>
          <a:xfrm>
            <a:off x="3541872" y="297677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59" name="Rounded Rectangle 9054">
            <a:extLst>
              <a:ext uri="{FF2B5EF4-FFF2-40B4-BE49-F238E27FC236}">
                <a16:creationId xmlns:a16="http://schemas.microsoft.com/office/drawing/2014/main" id="{C5B73407-131D-1EE6-3D1F-E0F3FBCDF27D}"/>
              </a:ext>
            </a:extLst>
          </p:cNvPr>
          <p:cNvSpPr/>
          <p:nvPr/>
        </p:nvSpPr>
        <p:spPr>
          <a:xfrm>
            <a:off x="3350287" y="3463553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없어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음성으로 말할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60" name="Rounded Rectangle 9057">
            <a:extLst>
              <a:ext uri="{FF2B5EF4-FFF2-40B4-BE49-F238E27FC236}">
                <a16:creationId xmlns:a16="http://schemas.microsoft.com/office/drawing/2014/main" id="{5BBBDB70-D2DD-B0D0-9435-7D1FFFC1691F}"/>
              </a:ext>
            </a:extLst>
          </p:cNvPr>
          <p:cNvSpPr/>
          <p:nvPr/>
        </p:nvSpPr>
        <p:spPr>
          <a:xfrm>
            <a:off x="3541871" y="4220766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설정으로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이동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D07682CF-C569-DC4D-FAB9-FBF7BEDCD123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2" name="Oval 26">
            <a:extLst>
              <a:ext uri="{FF2B5EF4-FFF2-40B4-BE49-F238E27FC236}">
                <a16:creationId xmlns:a16="http://schemas.microsoft.com/office/drawing/2014/main" id="{7951E632-B55C-493B-F7E1-5B48BF5D9835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63" name="탑바 구분선">
            <a:extLst>
              <a:ext uri="{FF2B5EF4-FFF2-40B4-BE49-F238E27FC236}">
                <a16:creationId xmlns:a16="http://schemas.microsoft.com/office/drawing/2014/main" id="{B239BE4C-A490-CC59-9B40-53F00B2BBDB8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탑바 타이틀">
            <a:extLst>
              <a:ext uri="{FF2B5EF4-FFF2-40B4-BE49-F238E27FC236}">
                <a16:creationId xmlns:a16="http://schemas.microsoft.com/office/drawing/2014/main" id="{69ED55A9-8F87-3441-09D1-F1AC8FC1494E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5" name="뒤로가기">
            <a:extLst>
              <a:ext uri="{FF2B5EF4-FFF2-40B4-BE49-F238E27FC236}">
                <a16:creationId xmlns:a16="http://schemas.microsoft.com/office/drawing/2014/main" id="{FEDB0094-D365-A7A2-A295-587931122F80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>
            <a:extLst>
              <a:ext uri="{FF2B5EF4-FFF2-40B4-BE49-F238E27FC236}">
                <a16:creationId xmlns:a16="http://schemas.microsoft.com/office/drawing/2014/main" id="{258A9874-4A0F-03B0-6766-71B1567C7BA3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34EB46A1-0925-ED8E-7632-5A3CCF80E715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탑바 타이틀">
            <a:extLst>
              <a:ext uri="{FF2B5EF4-FFF2-40B4-BE49-F238E27FC236}">
                <a16:creationId xmlns:a16="http://schemas.microsoft.com/office/drawing/2014/main" id="{87C3369E-C6E0-F81F-8ECF-8D9F6F9D6D81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91317D16-C96A-610C-7DAC-2D4F3CFBBE6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EAC35C5B-B46F-C11A-1875-FE0BD2C98AAB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음성 안내 문구">
            <a:extLst>
              <a:ext uri="{FF2B5EF4-FFF2-40B4-BE49-F238E27FC236}">
                <a16:creationId xmlns:a16="http://schemas.microsoft.com/office/drawing/2014/main" id="{30B79B53-8720-34CB-3296-F7A3AF0D8E5A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72" name="Description 패널">
            <a:extLst>
              <a:ext uri="{FF2B5EF4-FFF2-40B4-BE49-F238E27FC236}">
                <a16:creationId xmlns:a16="http://schemas.microsoft.com/office/drawing/2014/main" id="{99308B92-1807-2F4B-C104-79F61FDAC3DC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Description 제목">
            <a:extLst>
              <a:ext uri="{FF2B5EF4-FFF2-40B4-BE49-F238E27FC236}">
                <a16:creationId xmlns:a16="http://schemas.microsoft.com/office/drawing/2014/main" id="{DE110AEC-81AD-35BB-FF13-2021BFA3E52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4" name="Description 밑줄">
            <a:extLst>
              <a:ext uri="{FF2B5EF4-FFF2-40B4-BE49-F238E27FC236}">
                <a16:creationId xmlns:a16="http://schemas.microsoft.com/office/drawing/2014/main" id="{0B0DC8FD-4E25-01F3-BCB8-7E7D5474B99D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5" name="Description 표">
            <a:extLst>
              <a:ext uri="{FF2B5EF4-FFF2-40B4-BE49-F238E27FC236}">
                <a16:creationId xmlns:a16="http://schemas.microsoft.com/office/drawing/2014/main" id="{E966093F-B46E-49C5-99CE-C29B2CDE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44954"/>
              </p:ext>
            </p:extLst>
          </p:nvPr>
        </p:nvGraphicFramePr>
        <p:xfrm>
          <a:off x="9277502" y="1447800"/>
          <a:ext cx="2553309" cy="271530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시작하기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유형을 전맹으로 선택한 사용자에게만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길안내에서만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음성인식 시작하기 버튼을 누르면 최초 1회 진행되는 튜토리얼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전맹은 조작 방법을 안내 문구에 포함해 자동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튜토리얼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7" name="섹션 액션 편집"/>
          <p:cNvSpPr txBox="1"/>
          <p:nvPr/>
        </p:nvSpPr>
        <p:spPr>
          <a:xfrm>
            <a:off x="2413826" y="5033256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78" name="숫자배지 1">
            <a:extLst>
              <a:ext uri="{FF2B5EF4-FFF2-40B4-BE49-F238E27FC236}">
                <a16:creationId xmlns:a16="http://schemas.microsoft.com/office/drawing/2014/main" id="{ADAA22A4-0F23-82DF-4B0F-7A3E2E61FEB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-1">
            <a:extLst>
              <a:ext uri="{FF2B5EF4-FFF2-40B4-BE49-F238E27FC236}">
                <a16:creationId xmlns:a16="http://schemas.microsoft.com/office/drawing/2014/main" id="{0B1E9865-36F7-3BC3-A99A-12A2369EB326}"/>
              </a:ext>
            </a:extLst>
          </p:cNvPr>
          <p:cNvSpPr/>
          <p:nvPr/>
        </p:nvSpPr>
        <p:spPr>
          <a:xfrm>
            <a:off x="5590968" y="217839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0" name="숫자배지 2-2">
            <a:extLst>
              <a:ext uri="{FF2B5EF4-FFF2-40B4-BE49-F238E27FC236}">
                <a16:creationId xmlns:a16="http://schemas.microsoft.com/office/drawing/2014/main" id="{480CF68B-7FD9-2663-8C2F-81A704527DDD}"/>
              </a:ext>
            </a:extLst>
          </p:cNvPr>
          <p:cNvSpPr/>
          <p:nvPr/>
        </p:nvSpPr>
        <p:spPr>
          <a:xfrm>
            <a:off x="4873303" y="28939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1" name="숫자배지 2">
            <a:extLst>
              <a:ext uri="{FF2B5EF4-FFF2-40B4-BE49-F238E27FC236}">
                <a16:creationId xmlns:a16="http://schemas.microsoft.com/office/drawing/2014/main" id="{A0A735AE-8C8B-A7D7-B0D9-EF4AB9095AA3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2" name="숫자배지 2-3">
            <a:extLst>
              <a:ext uri="{FF2B5EF4-FFF2-40B4-BE49-F238E27FC236}">
                <a16:creationId xmlns:a16="http://schemas.microsoft.com/office/drawing/2014/main" id="{AEA8F407-85F9-45EE-B1F0-8AD055C88EF2}"/>
              </a:ext>
            </a:extLst>
          </p:cNvPr>
          <p:cNvSpPr/>
          <p:nvPr/>
        </p:nvSpPr>
        <p:spPr>
          <a:xfrm>
            <a:off x="5464766" y="342934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3" name="숫자배지 2-4">
            <a:extLst>
              <a:ext uri="{FF2B5EF4-FFF2-40B4-BE49-F238E27FC236}">
                <a16:creationId xmlns:a16="http://schemas.microsoft.com/office/drawing/2014/main" id="{DF598524-D6C6-6914-8093-DC8226DAFA89}"/>
              </a:ext>
            </a:extLst>
          </p:cNvPr>
          <p:cNvSpPr/>
          <p:nvPr/>
        </p:nvSpPr>
        <p:spPr>
          <a:xfrm>
            <a:off x="5005029" y="417209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4" name="숫자배지 3">
            <a:extLst>
              <a:ext uri="{FF2B5EF4-FFF2-40B4-BE49-F238E27FC236}">
                <a16:creationId xmlns:a16="http://schemas.microsoft.com/office/drawing/2014/main" id="{758B06B2-9BD2-2415-F2A8-53124F2ADB2A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16324036"/>
      </p:ext>
    </p:extLst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BA9B1DFC-9F69-F6D6-0F32-426D3877DEA5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A823272C-FC23-513B-33E5-CAC1270C5C8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4F3D0D84-B15D-328E-EFA9-83C2C8261B55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5023028D-1807-C536-8AF0-2957B3903E49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125C167E-C544-43E5-4B99-18EC63104292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(2/3)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1C07F7FB-4229-CAEE-F876-E5BEA99F578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>
            <a:extLst>
              <a:ext uri="{FF2B5EF4-FFF2-40B4-BE49-F238E27FC236}">
                <a16:creationId xmlns:a16="http://schemas.microsoft.com/office/drawing/2014/main" id="{0BB4044A-729B-7140-A9E5-7BDD3982E071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바텀시트">
            <a:extLst>
              <a:ext uri="{FF2B5EF4-FFF2-40B4-BE49-F238E27FC236}">
                <a16:creationId xmlns:a16="http://schemas.microsoft.com/office/drawing/2014/main" id="{BD5E546C-F422-B890-1945-DD42E6437E26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시트 손잡이">
            <a:extLst>
              <a:ext uri="{FF2B5EF4-FFF2-40B4-BE49-F238E27FC236}">
                <a16:creationId xmlns:a16="http://schemas.microsoft.com/office/drawing/2014/main" id="{2D746381-01AA-223B-9C45-8664AF8B70AB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버튼 음성인식 시작하기">
            <a:extLst>
              <a:ext uri="{FF2B5EF4-FFF2-40B4-BE49-F238E27FC236}">
                <a16:creationId xmlns:a16="http://schemas.microsoft.com/office/drawing/2014/main" id="{11BA980F-1D36-82E6-988E-B49496E29240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버튼 라벨">
            <a:extLst>
              <a:ext uri="{FF2B5EF4-FFF2-40B4-BE49-F238E27FC236}">
                <a16:creationId xmlns:a16="http://schemas.microsoft.com/office/drawing/2014/main" id="{CA79BA13-C23F-9761-3665-F46255F03B31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4" name="섹션 제목">
            <a:extLst>
              <a:ext uri="{FF2B5EF4-FFF2-40B4-BE49-F238E27FC236}">
                <a16:creationId xmlns:a16="http://schemas.microsoft.com/office/drawing/2014/main" id="{7FBEAA14-9885-FFC6-D270-9C813419D8F1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더보기">
            <a:extLst>
              <a:ext uri="{FF2B5EF4-FFF2-40B4-BE49-F238E27FC236}">
                <a16:creationId xmlns:a16="http://schemas.microsoft.com/office/drawing/2014/main" id="{42ED0DC3-43E8-0AEA-E7F6-23C2826ED5B7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더보기">
            <a:extLst>
              <a:ext uri="{FF2B5EF4-FFF2-40B4-BE49-F238E27FC236}">
                <a16:creationId xmlns:a16="http://schemas.microsoft.com/office/drawing/2014/main" id="{8AA8DDCD-DA43-30FF-3640-D9F633E56580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칩 집">
            <a:extLst>
              <a:ext uri="{FF2B5EF4-FFF2-40B4-BE49-F238E27FC236}">
                <a16:creationId xmlns:a16="http://schemas.microsoft.com/office/drawing/2014/main" id="{45EBD6C1-517C-7E74-24AA-95B01CCAAE16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칩 라벨">
            <a:extLst>
              <a:ext uri="{FF2B5EF4-FFF2-40B4-BE49-F238E27FC236}">
                <a16:creationId xmlns:a16="http://schemas.microsoft.com/office/drawing/2014/main" id="{F344D89F-5B8C-76E7-25DB-DBA87FD7588C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칩 추가">
            <a:extLst>
              <a:ext uri="{FF2B5EF4-FFF2-40B4-BE49-F238E27FC236}">
                <a16:creationId xmlns:a16="http://schemas.microsoft.com/office/drawing/2014/main" id="{9D8E4EDD-4166-ADDB-EB28-4FD1BCE270DA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칩 라벨">
            <a:extLst>
              <a:ext uri="{FF2B5EF4-FFF2-40B4-BE49-F238E27FC236}">
                <a16:creationId xmlns:a16="http://schemas.microsoft.com/office/drawing/2014/main" id="{3877A0B2-B3CA-A791-C0C6-C7427AF0269D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1" name="칩 추가">
            <a:extLst>
              <a:ext uri="{FF2B5EF4-FFF2-40B4-BE49-F238E27FC236}">
                <a16:creationId xmlns:a16="http://schemas.microsoft.com/office/drawing/2014/main" id="{0DCE89B7-896B-4869-8BCD-B9D19CD817D3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2A281B53-A9BC-D49E-AB4C-FDB6AA92B48D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3" name="섹션 제목">
            <a:extLst>
              <a:ext uri="{FF2B5EF4-FFF2-40B4-BE49-F238E27FC236}">
                <a16:creationId xmlns:a16="http://schemas.microsoft.com/office/drawing/2014/main" id="{3F948580-2456-38B0-6707-F0C1E488F06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4" name="칩 지하철 내 수유실">
            <a:extLst>
              <a:ext uri="{FF2B5EF4-FFF2-40B4-BE49-F238E27FC236}">
                <a16:creationId xmlns:a16="http://schemas.microsoft.com/office/drawing/2014/main" id="{BFD8CC82-BD89-A1DA-54FC-03D4B1FB3B25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칩 라벨">
            <a:extLst>
              <a:ext uri="{FF2B5EF4-FFF2-40B4-BE49-F238E27FC236}">
                <a16:creationId xmlns:a16="http://schemas.microsoft.com/office/drawing/2014/main" id="{090D7F60-CC54-563D-1527-95270D954DB2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6" name="칩 장애인 화장실">
            <a:extLst>
              <a:ext uri="{FF2B5EF4-FFF2-40B4-BE49-F238E27FC236}">
                <a16:creationId xmlns:a16="http://schemas.microsoft.com/office/drawing/2014/main" id="{9ACE5243-3830-9F88-081F-5D49492E0EF4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칩 라벨">
            <a:extLst>
              <a:ext uri="{FF2B5EF4-FFF2-40B4-BE49-F238E27FC236}">
                <a16:creationId xmlns:a16="http://schemas.microsoft.com/office/drawing/2014/main" id="{47B94A0D-DED5-617F-77C3-E433415C79E8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28" name="칩 휠체어 충전소">
            <a:extLst>
              <a:ext uri="{FF2B5EF4-FFF2-40B4-BE49-F238E27FC236}">
                <a16:creationId xmlns:a16="http://schemas.microsoft.com/office/drawing/2014/main" id="{DA895BC2-661D-35EE-933D-BBA0E117D70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3B3DD0F1-BD9E-5B0D-04C1-2B467BFD7238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0" name="칩 엘리베이터 위치">
            <a:extLst>
              <a:ext uri="{FF2B5EF4-FFF2-40B4-BE49-F238E27FC236}">
                <a16:creationId xmlns:a16="http://schemas.microsoft.com/office/drawing/2014/main" id="{E1873292-27C5-8756-9C7C-589DC3C7AF76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9BC2E57F-4904-B01E-03FD-21A28C870FDD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2" name="칩 접근성 정보 조회">
            <a:extLst>
              <a:ext uri="{FF2B5EF4-FFF2-40B4-BE49-F238E27FC236}">
                <a16:creationId xmlns:a16="http://schemas.microsoft.com/office/drawing/2014/main" id="{DEB49D30-BF5A-9246-5988-7138AA66FE68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BDF009FC-8CBE-F268-7255-581F7A4DD4CF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4" name="칩 에스컬레이터 위치">
            <a:extLst>
              <a:ext uri="{FF2B5EF4-FFF2-40B4-BE49-F238E27FC236}">
                <a16:creationId xmlns:a16="http://schemas.microsoft.com/office/drawing/2014/main" id="{0230A0D2-0A9D-C14A-75B8-7B27DA94769C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86A455DF-0CD3-BA77-A37B-34582F976F7D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36" name="칩 청계천 이동 약자 ">
            <a:extLst>
              <a:ext uri="{FF2B5EF4-FFF2-40B4-BE49-F238E27FC236}">
                <a16:creationId xmlns:a16="http://schemas.microsoft.com/office/drawing/2014/main" id="{EB40CD05-E016-E0D1-8990-6B6A2BB3CEE6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9AA8F23F-0174-6634-F580-359051D17A73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38" name="섹션 제목">
            <a:extLst>
              <a:ext uri="{FF2B5EF4-FFF2-40B4-BE49-F238E27FC236}">
                <a16:creationId xmlns:a16="http://schemas.microsoft.com/office/drawing/2014/main" id="{D528BD8C-0E33-3410-0748-3C2343DE190D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39" name="리스트 행">
            <a:extLst>
              <a:ext uri="{FF2B5EF4-FFF2-40B4-BE49-F238E27FC236}">
                <a16:creationId xmlns:a16="http://schemas.microsoft.com/office/drawing/2014/main" id="{9DC53CE4-BCE9-5F23-8A50-78C0A807DF14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>
            <a:extLst>
              <a:ext uri="{FF2B5EF4-FFF2-40B4-BE49-F238E27FC236}">
                <a16:creationId xmlns:a16="http://schemas.microsoft.com/office/drawing/2014/main" id="{D4D39293-EC63-F4CD-1916-C219B2B1D1B5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DED09780-6DC6-E749-4C5F-849D84C05330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검색창">
            <a:extLst>
              <a:ext uri="{FF2B5EF4-FFF2-40B4-BE49-F238E27FC236}">
                <a16:creationId xmlns:a16="http://schemas.microsoft.com/office/drawing/2014/main" id="{1DA0D916-8270-E915-468F-382CBF03AAFC}"/>
              </a:ext>
            </a:extLst>
          </p:cNvPr>
          <p:cNvSpPr/>
          <p:nvPr/>
        </p:nvSpPr>
        <p:spPr>
          <a:xfrm>
            <a:off x="458152" y="128282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검색창 문구">
            <a:extLst>
              <a:ext uri="{FF2B5EF4-FFF2-40B4-BE49-F238E27FC236}">
                <a16:creationId xmlns:a16="http://schemas.microsoft.com/office/drawing/2014/main" id="{3D38C49B-BC80-1A2E-5895-6273978DE5ED}"/>
              </a:ext>
            </a:extLst>
          </p:cNvPr>
          <p:cNvSpPr txBox="1"/>
          <p:nvPr/>
        </p:nvSpPr>
        <p:spPr>
          <a:xfrm>
            <a:off x="604456" y="136055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4" name="하단 Nav 바탕">
            <a:extLst>
              <a:ext uri="{FF2B5EF4-FFF2-40B4-BE49-F238E27FC236}">
                <a16:creationId xmlns:a16="http://schemas.microsoft.com/office/drawing/2014/main" id="{10CD6A0A-465D-9DF6-19FB-10CE2D62EB7C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하단 Nav 구분선">
            <a:extLst>
              <a:ext uri="{FF2B5EF4-FFF2-40B4-BE49-F238E27FC236}">
                <a16:creationId xmlns:a16="http://schemas.microsoft.com/office/drawing/2014/main" id="{59FA91BD-4A87-2154-7E58-6062CC761279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아이콘 nav">
            <a:extLst>
              <a:ext uri="{FF2B5EF4-FFF2-40B4-BE49-F238E27FC236}">
                <a16:creationId xmlns:a16="http://schemas.microsoft.com/office/drawing/2014/main" id="{22D72641-3030-82B5-4652-0C565EB85CEE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Nav 길안내">
            <a:extLst>
              <a:ext uri="{FF2B5EF4-FFF2-40B4-BE49-F238E27FC236}">
                <a16:creationId xmlns:a16="http://schemas.microsoft.com/office/drawing/2014/main" id="{32FE3469-95FB-1476-5ED4-DEA58A91BD7D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48" name="아이콘 home">
            <a:extLst>
              <a:ext uri="{FF2B5EF4-FFF2-40B4-BE49-F238E27FC236}">
                <a16:creationId xmlns:a16="http://schemas.microsoft.com/office/drawing/2014/main" id="{6879972F-9BF7-D0C0-33AA-E23FB88C213E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아이콘 home">
            <a:extLst>
              <a:ext uri="{FF2B5EF4-FFF2-40B4-BE49-F238E27FC236}">
                <a16:creationId xmlns:a16="http://schemas.microsoft.com/office/drawing/2014/main" id="{5A041D91-EA4E-B1D3-22C0-275649CBA3A3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Nav 홈">
            <a:extLst>
              <a:ext uri="{FF2B5EF4-FFF2-40B4-BE49-F238E27FC236}">
                <a16:creationId xmlns:a16="http://schemas.microsoft.com/office/drawing/2014/main" id="{8749CB7E-090B-E0E9-21A5-73F94B891B82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1" name="아이콘 user">
            <a:extLst>
              <a:ext uri="{FF2B5EF4-FFF2-40B4-BE49-F238E27FC236}">
                <a16:creationId xmlns:a16="http://schemas.microsoft.com/office/drawing/2014/main" id="{1A5082C7-9C67-0D85-FE31-5DB6A483FC6D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아이콘 user">
            <a:extLst>
              <a:ext uri="{FF2B5EF4-FFF2-40B4-BE49-F238E27FC236}">
                <a16:creationId xmlns:a16="http://schemas.microsoft.com/office/drawing/2014/main" id="{8A51A9CA-9313-EEAA-E689-C3EB9DC6E317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Nav 마이페이지">
            <a:extLst>
              <a:ext uri="{FF2B5EF4-FFF2-40B4-BE49-F238E27FC236}">
                <a16:creationId xmlns:a16="http://schemas.microsoft.com/office/drawing/2014/main" id="{7C6D66D9-DCE4-963A-594C-435956E88C39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4" name="목업 프레임 2">
            <a:extLst>
              <a:ext uri="{FF2B5EF4-FFF2-40B4-BE49-F238E27FC236}">
                <a16:creationId xmlns:a16="http://schemas.microsoft.com/office/drawing/2014/main" id="{3528FAEA-1406-F993-746A-E38D2E96029B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목업 프레임 3">
            <a:extLst>
              <a:ext uri="{FF2B5EF4-FFF2-40B4-BE49-F238E27FC236}">
                <a16:creationId xmlns:a16="http://schemas.microsoft.com/office/drawing/2014/main" id="{818E2DD7-E601-3BD1-F9F1-3ECE69516B53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Rectangle 9048">
            <a:extLst>
              <a:ext uri="{FF2B5EF4-FFF2-40B4-BE49-F238E27FC236}">
                <a16:creationId xmlns:a16="http://schemas.microsoft.com/office/drawing/2014/main" id="{CAAEEA04-FDF7-C3E7-55B7-B22AFD77E0FF}"/>
              </a:ext>
            </a:extLst>
          </p:cNvPr>
          <p:cNvSpPr/>
          <p:nvPr/>
        </p:nvSpPr>
        <p:spPr>
          <a:xfrm>
            <a:off x="3296201" y="1840952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57" name="Rounded Rectangle 9049">
            <a:extLst>
              <a:ext uri="{FF2B5EF4-FFF2-40B4-BE49-F238E27FC236}">
                <a16:creationId xmlns:a16="http://schemas.microsoft.com/office/drawing/2014/main" id="{7CEFE17C-ADB8-9B95-C108-65A103CC3032}"/>
              </a:ext>
            </a:extLst>
          </p:cNvPr>
          <p:cNvSpPr/>
          <p:nvPr/>
        </p:nvSpPr>
        <p:spPr>
          <a:xfrm>
            <a:off x="3350287" y="1783756"/>
            <a:ext cx="2433901" cy="1102872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음성으로 목적지를 찾거나 도움을 받을 수 있어요.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마이크 권한이 필요해요. 다음 화면에서 허용해 주세요.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58" name="Rounded Rectangle 9052">
            <a:extLst>
              <a:ext uri="{FF2B5EF4-FFF2-40B4-BE49-F238E27FC236}">
                <a16:creationId xmlns:a16="http://schemas.microsoft.com/office/drawing/2014/main" id="{60998EB7-7732-713C-4D9C-2C61F172728D}"/>
              </a:ext>
            </a:extLst>
          </p:cNvPr>
          <p:cNvSpPr/>
          <p:nvPr/>
        </p:nvSpPr>
        <p:spPr>
          <a:xfrm>
            <a:off x="3541872" y="297677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59" name="Rounded Rectangle 9054">
            <a:extLst>
              <a:ext uri="{FF2B5EF4-FFF2-40B4-BE49-F238E27FC236}">
                <a16:creationId xmlns:a16="http://schemas.microsoft.com/office/drawing/2014/main" id="{C5B73407-131D-1EE6-3D1F-E0F3FBCDF27D}"/>
              </a:ext>
            </a:extLst>
          </p:cNvPr>
          <p:cNvSpPr/>
          <p:nvPr/>
        </p:nvSpPr>
        <p:spPr>
          <a:xfrm>
            <a:off x="3350287" y="3463553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없어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음성으로 말할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60" name="Rounded Rectangle 9057">
            <a:extLst>
              <a:ext uri="{FF2B5EF4-FFF2-40B4-BE49-F238E27FC236}">
                <a16:creationId xmlns:a16="http://schemas.microsoft.com/office/drawing/2014/main" id="{5BBBDB70-D2DD-B0D0-9435-7D1FFFC1691F}"/>
              </a:ext>
            </a:extLst>
          </p:cNvPr>
          <p:cNvSpPr/>
          <p:nvPr/>
        </p:nvSpPr>
        <p:spPr>
          <a:xfrm>
            <a:off x="3541871" y="4220436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설정으로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이동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Rounded Rectangle 25">
            <a:extLst>
              <a:ext uri="{FF2B5EF4-FFF2-40B4-BE49-F238E27FC236}">
                <a16:creationId xmlns:a16="http://schemas.microsoft.com/office/drawing/2014/main" id="{D07682CF-C569-DC4D-FAB9-FBF7BEDCD123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2" name="Oval 26">
            <a:extLst>
              <a:ext uri="{FF2B5EF4-FFF2-40B4-BE49-F238E27FC236}">
                <a16:creationId xmlns:a16="http://schemas.microsoft.com/office/drawing/2014/main" id="{7951E632-B55C-493B-F7E1-5B48BF5D9835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63" name="탑바 구분선">
            <a:extLst>
              <a:ext uri="{FF2B5EF4-FFF2-40B4-BE49-F238E27FC236}">
                <a16:creationId xmlns:a16="http://schemas.microsoft.com/office/drawing/2014/main" id="{B239BE4C-A490-CC59-9B40-53F00B2BBDB8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탑바 타이틀">
            <a:extLst>
              <a:ext uri="{FF2B5EF4-FFF2-40B4-BE49-F238E27FC236}">
                <a16:creationId xmlns:a16="http://schemas.microsoft.com/office/drawing/2014/main" id="{69ED55A9-8F87-3441-09D1-F1AC8FC1494E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5" name="뒤로가기">
            <a:extLst>
              <a:ext uri="{FF2B5EF4-FFF2-40B4-BE49-F238E27FC236}">
                <a16:creationId xmlns:a16="http://schemas.microsoft.com/office/drawing/2014/main" id="{FEDB0094-D365-A7A2-A295-587931122F80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>
            <a:extLst>
              <a:ext uri="{FF2B5EF4-FFF2-40B4-BE49-F238E27FC236}">
                <a16:creationId xmlns:a16="http://schemas.microsoft.com/office/drawing/2014/main" id="{258A9874-4A0F-03B0-6766-71B1567C7BA3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34EB46A1-0925-ED8E-7632-5A3CCF80E715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탑바 타이틀">
            <a:extLst>
              <a:ext uri="{FF2B5EF4-FFF2-40B4-BE49-F238E27FC236}">
                <a16:creationId xmlns:a16="http://schemas.microsoft.com/office/drawing/2014/main" id="{87C3369E-C6E0-F81F-8ECF-8D9F6F9D6D81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91317D16-C96A-610C-7DAC-2D4F3CFBBE6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EAC35C5B-B46F-C11A-1875-FE0BD2C98AAB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음성 안내 문구">
            <a:extLst>
              <a:ext uri="{FF2B5EF4-FFF2-40B4-BE49-F238E27FC236}">
                <a16:creationId xmlns:a16="http://schemas.microsoft.com/office/drawing/2014/main" id="{30B79B53-8720-34CB-3296-F7A3AF0D8E5A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72" name="Description 패널">
            <a:extLst>
              <a:ext uri="{FF2B5EF4-FFF2-40B4-BE49-F238E27FC236}">
                <a16:creationId xmlns:a16="http://schemas.microsoft.com/office/drawing/2014/main" id="{99308B92-1807-2F4B-C104-79F61FDAC3DC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Description 제목">
            <a:extLst>
              <a:ext uri="{FF2B5EF4-FFF2-40B4-BE49-F238E27FC236}">
                <a16:creationId xmlns:a16="http://schemas.microsoft.com/office/drawing/2014/main" id="{DE110AEC-81AD-35BB-FF13-2021BFA3E52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74" name="Description 밑줄">
            <a:extLst>
              <a:ext uri="{FF2B5EF4-FFF2-40B4-BE49-F238E27FC236}">
                <a16:creationId xmlns:a16="http://schemas.microsoft.com/office/drawing/2014/main" id="{0B0DC8FD-4E25-01F3-BCB8-7E7D5474B99D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75" name="Description 표">
            <a:extLst>
              <a:ext uri="{FF2B5EF4-FFF2-40B4-BE49-F238E27FC236}">
                <a16:creationId xmlns:a16="http://schemas.microsoft.com/office/drawing/2014/main" id="{E966093F-B46E-49C5-99CE-C29B2CDEF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944954"/>
              </p:ext>
            </p:extLst>
          </p:nvPr>
        </p:nvGraphicFramePr>
        <p:xfrm>
          <a:off x="9277502" y="1447800"/>
          <a:ext cx="2553309" cy="42687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알겠어요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마이크 권한이 켜져 있으면 튜토리얼 종료 후 음성인식 페이지로 진입(3)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꺼져 있으면 마이크 권한 설정 안내문구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666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마이크 권한 설정 안내문구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「마이크 권한이 없어 음성으로 말할 수 없어요. 설정에서 마이크를 켜 주세요.」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권한 판단은 최초 1회가 아니라 챗봇 진입 시마다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설정에서 켜지 않고 돌아와도 챗봇 페이지로 — 튜토리얼로 되돌리지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설정으로 이동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앱의 권한 화면으로 바로 이동(딥링크)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권한 안내가 서면 초점이 이 버튼으로 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앱을 벗어난다는 사실을 낭독 라벨로 사전 고지 · 확인 팝업은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7" name="섹션 액션 편집"/>
          <p:cNvSpPr txBox="1"/>
          <p:nvPr/>
        </p:nvSpPr>
        <p:spPr>
          <a:xfrm>
            <a:off x="2413826" y="5033256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78" name="숫자배지 1">
            <a:extLst>
              <a:ext uri="{FF2B5EF4-FFF2-40B4-BE49-F238E27FC236}">
                <a16:creationId xmlns:a16="http://schemas.microsoft.com/office/drawing/2014/main" id="{ADAA22A4-0F23-82DF-4B0F-7A3E2E61FEB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-1">
            <a:extLst>
              <a:ext uri="{FF2B5EF4-FFF2-40B4-BE49-F238E27FC236}">
                <a16:creationId xmlns:a16="http://schemas.microsoft.com/office/drawing/2014/main" id="{0B1E9865-36F7-3BC3-A99A-12A2369EB326}"/>
              </a:ext>
            </a:extLst>
          </p:cNvPr>
          <p:cNvSpPr/>
          <p:nvPr/>
        </p:nvSpPr>
        <p:spPr>
          <a:xfrm>
            <a:off x="5590968" y="217839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0" name="숫자배지 2-2">
            <a:extLst>
              <a:ext uri="{FF2B5EF4-FFF2-40B4-BE49-F238E27FC236}">
                <a16:creationId xmlns:a16="http://schemas.microsoft.com/office/drawing/2014/main" id="{480CF68B-7FD9-2663-8C2F-81A704527DDD}"/>
              </a:ext>
            </a:extLst>
          </p:cNvPr>
          <p:cNvSpPr/>
          <p:nvPr/>
        </p:nvSpPr>
        <p:spPr>
          <a:xfrm>
            <a:off x="4873303" y="28939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1" name="숫자배지 2">
            <a:extLst>
              <a:ext uri="{FF2B5EF4-FFF2-40B4-BE49-F238E27FC236}">
                <a16:creationId xmlns:a16="http://schemas.microsoft.com/office/drawing/2014/main" id="{A0A735AE-8C8B-A7D7-B0D9-EF4AB9095AA3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2" name="숫자배지 2-3">
            <a:extLst>
              <a:ext uri="{FF2B5EF4-FFF2-40B4-BE49-F238E27FC236}">
                <a16:creationId xmlns:a16="http://schemas.microsoft.com/office/drawing/2014/main" id="{AEA8F407-85F9-45EE-B1F0-8AD055C88EF2}"/>
              </a:ext>
            </a:extLst>
          </p:cNvPr>
          <p:cNvSpPr/>
          <p:nvPr/>
        </p:nvSpPr>
        <p:spPr>
          <a:xfrm>
            <a:off x="5464766" y="342934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3" name="숫자배지 2-4">
            <a:extLst>
              <a:ext uri="{FF2B5EF4-FFF2-40B4-BE49-F238E27FC236}">
                <a16:creationId xmlns:a16="http://schemas.microsoft.com/office/drawing/2014/main" id="{DF598524-D6C6-6914-8093-DC8226DAFA89}"/>
              </a:ext>
            </a:extLst>
          </p:cNvPr>
          <p:cNvSpPr/>
          <p:nvPr/>
        </p:nvSpPr>
        <p:spPr>
          <a:xfrm>
            <a:off x="5005029" y="417197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4" name="숫자배지 3">
            <a:extLst>
              <a:ext uri="{FF2B5EF4-FFF2-40B4-BE49-F238E27FC236}">
                <a16:creationId xmlns:a16="http://schemas.microsoft.com/office/drawing/2014/main" id="{758B06B2-9BD2-2415-F2A8-53124F2ADB2A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(3/3)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66AA05DC-83ED-A13F-FBF0-40D7082E13DB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7C98E2B6-EEF7-0D7B-8256-A0F755451ED8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8E4A7A78-632F-42E1-EE5D-B70A6A780C56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350419"/>
              </p:ext>
            </p:extLst>
          </p:nvPr>
        </p:nvGraphicFramePr>
        <p:xfrm>
          <a:off x="9277502" y="1447800"/>
          <a:ext cx="2553309" cy="350794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· 챗봇 페이지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페이지 진입 시마다 「화면 어디든 길게 눌러 음성인식을 시작해보세요.」 낭독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짧게 누르기(탭)는 아무 동작도 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길게 누르기는 진행 중 낭독을 중단하고 수집을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텍스트 입력창은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666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전맹 길안내 화면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지도에서 직접 영역을 눌러 장소를 선택하는 기능 미제공 · 음성 또는 검색 툴로만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인근 편의시설 7칩은 「저시력 · 전맹」 기준 순서로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최근 도착지는 최신 2건 표출 — 시트를 넘치면 내부 스크롤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3BD3F645-7057-10F0-5384-B47FCE3D8837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바텀시트">
            <a:extLst>
              <a:ext uri="{FF2B5EF4-FFF2-40B4-BE49-F238E27FC236}">
                <a16:creationId xmlns:a16="http://schemas.microsoft.com/office/drawing/2014/main" id="{9D6AF533-2897-A269-FF36-20BB1BD1A5F9}"/>
              </a:ext>
            </a:extLst>
          </p:cNvPr>
          <p:cNvSpPr/>
          <p:nvPr/>
        </p:nvSpPr>
        <p:spPr>
          <a:xfrm>
            <a:off x="309562" y="1781175"/>
            <a:ext cx="2714625" cy="454342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시트 손잡이">
            <a:extLst>
              <a:ext uri="{FF2B5EF4-FFF2-40B4-BE49-F238E27FC236}">
                <a16:creationId xmlns:a16="http://schemas.microsoft.com/office/drawing/2014/main" id="{BCFC5051-7729-D019-70F6-B52B02319A12}"/>
              </a:ext>
            </a:extLst>
          </p:cNvPr>
          <p:cNvSpPr/>
          <p:nvPr/>
        </p:nvSpPr>
        <p:spPr>
          <a:xfrm>
            <a:off x="1495425" y="18669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버튼 음성인식 시작하기">
            <a:extLst>
              <a:ext uri="{FF2B5EF4-FFF2-40B4-BE49-F238E27FC236}">
                <a16:creationId xmlns:a16="http://schemas.microsoft.com/office/drawing/2014/main" id="{6A83645D-B0D0-643D-9209-1AAAE43DAB11}"/>
              </a:ext>
            </a:extLst>
          </p:cNvPr>
          <p:cNvSpPr/>
          <p:nvPr/>
        </p:nvSpPr>
        <p:spPr>
          <a:xfrm>
            <a:off x="452438" y="1990725"/>
            <a:ext cx="2428875" cy="393107"/>
          </a:xfrm>
          <a:prstGeom prst="roundRect">
            <a:avLst>
              <a:gd name="adj" fmla="val 266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버튼 라벨">
            <a:extLst>
              <a:ext uri="{FF2B5EF4-FFF2-40B4-BE49-F238E27FC236}">
                <a16:creationId xmlns:a16="http://schemas.microsoft.com/office/drawing/2014/main" id="{B9786525-5B96-1F64-D04F-FE9656E1646D}"/>
              </a:ext>
            </a:extLst>
          </p:cNvPr>
          <p:cNvSpPr txBox="1"/>
          <p:nvPr/>
        </p:nvSpPr>
        <p:spPr>
          <a:xfrm>
            <a:off x="452438" y="1990725"/>
            <a:ext cx="242887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음성인식 시작하기</a:t>
            </a:r>
          </a:p>
        </p:txBody>
      </p:sp>
      <p:sp>
        <p:nvSpPr>
          <p:cNvPr id="18" name="섹션 제목">
            <a:extLst>
              <a:ext uri="{FF2B5EF4-FFF2-40B4-BE49-F238E27FC236}">
                <a16:creationId xmlns:a16="http://schemas.microsoft.com/office/drawing/2014/main" id="{B432A107-BE2D-BE03-5426-04EABD31EC79}"/>
              </a:ext>
            </a:extLst>
          </p:cNvPr>
          <p:cNvSpPr txBox="1"/>
          <p:nvPr/>
        </p:nvSpPr>
        <p:spPr>
          <a:xfrm>
            <a:off x="452438" y="2614568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9" name="더보기">
            <a:extLst>
              <a:ext uri="{FF2B5EF4-FFF2-40B4-BE49-F238E27FC236}">
                <a16:creationId xmlns:a16="http://schemas.microsoft.com/office/drawing/2014/main" id="{23237916-261E-0E93-9A25-F49BD5F080FD}"/>
              </a:ext>
            </a:extLst>
          </p:cNvPr>
          <p:cNvCxnSpPr/>
          <p:nvPr/>
        </p:nvCxnSpPr>
        <p:spPr>
          <a:xfrm>
            <a:off x="2795588" y="26743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더보기">
            <a:extLst>
              <a:ext uri="{FF2B5EF4-FFF2-40B4-BE49-F238E27FC236}">
                <a16:creationId xmlns:a16="http://schemas.microsoft.com/office/drawing/2014/main" id="{125A127A-845A-D707-DE5F-86AB93B53B62}"/>
              </a:ext>
            </a:extLst>
          </p:cNvPr>
          <p:cNvCxnSpPr/>
          <p:nvPr/>
        </p:nvCxnSpPr>
        <p:spPr>
          <a:xfrm flipV="1">
            <a:off x="2795588" y="27098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칩 집">
            <a:extLst>
              <a:ext uri="{FF2B5EF4-FFF2-40B4-BE49-F238E27FC236}">
                <a16:creationId xmlns:a16="http://schemas.microsoft.com/office/drawing/2014/main" id="{949DB9DA-8701-3F21-6F3E-271956AF7BD1}"/>
              </a:ext>
            </a:extLst>
          </p:cNvPr>
          <p:cNvSpPr/>
          <p:nvPr/>
        </p:nvSpPr>
        <p:spPr>
          <a:xfrm>
            <a:off x="45243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칩 라벨">
            <a:extLst>
              <a:ext uri="{FF2B5EF4-FFF2-40B4-BE49-F238E27FC236}">
                <a16:creationId xmlns:a16="http://schemas.microsoft.com/office/drawing/2014/main" id="{E44E5821-6FF7-1253-5565-46B11F9A91C6}"/>
              </a:ext>
            </a:extLst>
          </p:cNvPr>
          <p:cNvSpPr txBox="1"/>
          <p:nvPr/>
        </p:nvSpPr>
        <p:spPr>
          <a:xfrm>
            <a:off x="49053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3" name="칩 추가">
            <a:extLst>
              <a:ext uri="{FF2B5EF4-FFF2-40B4-BE49-F238E27FC236}">
                <a16:creationId xmlns:a16="http://schemas.microsoft.com/office/drawing/2014/main" id="{85E70A3C-52E3-B39A-24F3-CE8D05B614B1}"/>
              </a:ext>
            </a:extLst>
          </p:cNvPr>
          <p:cNvSpPr/>
          <p:nvPr/>
        </p:nvSpPr>
        <p:spPr>
          <a:xfrm>
            <a:off x="1287463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칩 라벨">
            <a:extLst>
              <a:ext uri="{FF2B5EF4-FFF2-40B4-BE49-F238E27FC236}">
                <a16:creationId xmlns:a16="http://schemas.microsoft.com/office/drawing/2014/main" id="{E63144B0-CD95-9936-0D5B-0CE3271C1CAC}"/>
              </a:ext>
            </a:extLst>
          </p:cNvPr>
          <p:cNvSpPr txBox="1"/>
          <p:nvPr/>
        </p:nvSpPr>
        <p:spPr>
          <a:xfrm>
            <a:off x="1325563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5" name="칩 추가">
            <a:extLst>
              <a:ext uri="{FF2B5EF4-FFF2-40B4-BE49-F238E27FC236}">
                <a16:creationId xmlns:a16="http://schemas.microsoft.com/office/drawing/2014/main" id="{C6E48DFF-9CCD-1894-E6D9-8B93D6556408}"/>
              </a:ext>
            </a:extLst>
          </p:cNvPr>
          <p:cNvSpPr/>
          <p:nvPr/>
        </p:nvSpPr>
        <p:spPr>
          <a:xfrm>
            <a:off x="2122488" y="2843168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칩 라벨">
            <a:extLst>
              <a:ext uri="{FF2B5EF4-FFF2-40B4-BE49-F238E27FC236}">
                <a16:creationId xmlns:a16="http://schemas.microsoft.com/office/drawing/2014/main" id="{BA931600-185C-F268-5B05-5BC1315DB275}"/>
              </a:ext>
            </a:extLst>
          </p:cNvPr>
          <p:cNvSpPr txBox="1"/>
          <p:nvPr/>
        </p:nvSpPr>
        <p:spPr>
          <a:xfrm>
            <a:off x="2160588" y="2843168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7" name="섹션 제목">
            <a:extLst>
              <a:ext uri="{FF2B5EF4-FFF2-40B4-BE49-F238E27FC236}">
                <a16:creationId xmlns:a16="http://schemas.microsoft.com/office/drawing/2014/main" id="{53D6C048-2FF4-2731-F62D-0E5A3628CA18}"/>
              </a:ext>
            </a:extLst>
          </p:cNvPr>
          <p:cNvSpPr txBox="1"/>
          <p:nvPr/>
        </p:nvSpPr>
        <p:spPr>
          <a:xfrm>
            <a:off x="452438" y="342454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28" name="칩 지하철 내 수유실">
            <a:extLst>
              <a:ext uri="{FF2B5EF4-FFF2-40B4-BE49-F238E27FC236}">
                <a16:creationId xmlns:a16="http://schemas.microsoft.com/office/drawing/2014/main" id="{E376E85E-76A5-8009-F1FC-8B7AA0EB52D4}"/>
              </a:ext>
            </a:extLst>
          </p:cNvPr>
          <p:cNvSpPr/>
          <p:nvPr/>
        </p:nvSpPr>
        <p:spPr>
          <a:xfrm>
            <a:off x="45243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칩 라벨">
            <a:extLst>
              <a:ext uri="{FF2B5EF4-FFF2-40B4-BE49-F238E27FC236}">
                <a16:creationId xmlns:a16="http://schemas.microsoft.com/office/drawing/2014/main" id="{5512D0F0-5567-87FA-08EC-54CF9FE3B23E}"/>
              </a:ext>
            </a:extLst>
          </p:cNvPr>
          <p:cNvSpPr txBox="1"/>
          <p:nvPr/>
        </p:nvSpPr>
        <p:spPr>
          <a:xfrm>
            <a:off x="49053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30" name="칩 장애인 화장실">
            <a:extLst>
              <a:ext uri="{FF2B5EF4-FFF2-40B4-BE49-F238E27FC236}">
                <a16:creationId xmlns:a16="http://schemas.microsoft.com/office/drawing/2014/main" id="{AC746802-4514-BA08-BFC3-DE32495CC15F}"/>
              </a:ext>
            </a:extLst>
          </p:cNvPr>
          <p:cNvSpPr/>
          <p:nvPr/>
        </p:nvSpPr>
        <p:spPr>
          <a:xfrm>
            <a:off x="1287463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칩 라벨">
            <a:extLst>
              <a:ext uri="{FF2B5EF4-FFF2-40B4-BE49-F238E27FC236}">
                <a16:creationId xmlns:a16="http://schemas.microsoft.com/office/drawing/2014/main" id="{5CCF76E7-F5ED-2B26-B70D-D29A9F570D03}"/>
              </a:ext>
            </a:extLst>
          </p:cNvPr>
          <p:cNvSpPr txBox="1"/>
          <p:nvPr/>
        </p:nvSpPr>
        <p:spPr>
          <a:xfrm>
            <a:off x="1325563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32" name="칩 휠체어 충전소">
            <a:extLst>
              <a:ext uri="{FF2B5EF4-FFF2-40B4-BE49-F238E27FC236}">
                <a16:creationId xmlns:a16="http://schemas.microsoft.com/office/drawing/2014/main" id="{3E755FC9-D875-CE78-C80A-E6E76719643A}"/>
              </a:ext>
            </a:extLst>
          </p:cNvPr>
          <p:cNvSpPr/>
          <p:nvPr/>
        </p:nvSpPr>
        <p:spPr>
          <a:xfrm>
            <a:off x="2122488" y="3653149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칩 라벨">
            <a:extLst>
              <a:ext uri="{FF2B5EF4-FFF2-40B4-BE49-F238E27FC236}">
                <a16:creationId xmlns:a16="http://schemas.microsoft.com/office/drawing/2014/main" id="{37FBDA3B-9B84-A7BC-A2B6-8B168C08CB06}"/>
              </a:ext>
            </a:extLst>
          </p:cNvPr>
          <p:cNvSpPr txBox="1"/>
          <p:nvPr/>
        </p:nvSpPr>
        <p:spPr>
          <a:xfrm>
            <a:off x="2160588" y="3653149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34" name="칩 엘리베이터 위치">
            <a:extLst>
              <a:ext uri="{FF2B5EF4-FFF2-40B4-BE49-F238E27FC236}">
                <a16:creationId xmlns:a16="http://schemas.microsoft.com/office/drawing/2014/main" id="{3D0DEDFE-CA4F-C677-B491-FB0426421251}"/>
              </a:ext>
            </a:extLst>
          </p:cNvPr>
          <p:cNvSpPr/>
          <p:nvPr/>
        </p:nvSpPr>
        <p:spPr>
          <a:xfrm>
            <a:off x="45243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칩 라벨">
            <a:extLst>
              <a:ext uri="{FF2B5EF4-FFF2-40B4-BE49-F238E27FC236}">
                <a16:creationId xmlns:a16="http://schemas.microsoft.com/office/drawing/2014/main" id="{C5A1C5C0-CB2F-7AB4-BD04-E4D7FCF516A2}"/>
              </a:ext>
            </a:extLst>
          </p:cNvPr>
          <p:cNvSpPr txBox="1"/>
          <p:nvPr/>
        </p:nvSpPr>
        <p:spPr>
          <a:xfrm>
            <a:off x="49053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36" name="칩 접근성 정보 조회">
            <a:extLst>
              <a:ext uri="{FF2B5EF4-FFF2-40B4-BE49-F238E27FC236}">
                <a16:creationId xmlns:a16="http://schemas.microsoft.com/office/drawing/2014/main" id="{FC3D4AD2-0E1B-6D8D-5C9D-83B456F78584}"/>
              </a:ext>
            </a:extLst>
          </p:cNvPr>
          <p:cNvSpPr/>
          <p:nvPr/>
        </p:nvSpPr>
        <p:spPr>
          <a:xfrm>
            <a:off x="1287463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칩 라벨">
            <a:extLst>
              <a:ext uri="{FF2B5EF4-FFF2-40B4-BE49-F238E27FC236}">
                <a16:creationId xmlns:a16="http://schemas.microsoft.com/office/drawing/2014/main" id="{A0004062-248F-8611-CCBC-8332710BFA13}"/>
              </a:ext>
            </a:extLst>
          </p:cNvPr>
          <p:cNvSpPr txBox="1"/>
          <p:nvPr/>
        </p:nvSpPr>
        <p:spPr>
          <a:xfrm>
            <a:off x="1325563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38" name="칩 에스컬레이터 위치">
            <a:extLst>
              <a:ext uri="{FF2B5EF4-FFF2-40B4-BE49-F238E27FC236}">
                <a16:creationId xmlns:a16="http://schemas.microsoft.com/office/drawing/2014/main" id="{B814A549-A4C3-EBFE-B143-4CD6EF860AD8}"/>
              </a:ext>
            </a:extLst>
          </p:cNvPr>
          <p:cNvSpPr/>
          <p:nvPr/>
        </p:nvSpPr>
        <p:spPr>
          <a:xfrm>
            <a:off x="2122488" y="4061656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칩 라벨">
            <a:extLst>
              <a:ext uri="{FF2B5EF4-FFF2-40B4-BE49-F238E27FC236}">
                <a16:creationId xmlns:a16="http://schemas.microsoft.com/office/drawing/2014/main" id="{B6DD8401-9DD3-9B45-A0B4-2972B964899B}"/>
              </a:ext>
            </a:extLst>
          </p:cNvPr>
          <p:cNvSpPr txBox="1"/>
          <p:nvPr/>
        </p:nvSpPr>
        <p:spPr>
          <a:xfrm>
            <a:off x="2160588" y="4061656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휠체어 충전소</a:t>
            </a:r>
          </a:p>
        </p:txBody>
      </p:sp>
      <p:sp>
        <p:nvSpPr>
          <p:cNvPr id="40" name="칩 청계천 이동 약자 ">
            <a:extLst>
              <a:ext uri="{FF2B5EF4-FFF2-40B4-BE49-F238E27FC236}">
                <a16:creationId xmlns:a16="http://schemas.microsoft.com/office/drawing/2014/main" id="{128C0099-2CE6-833C-47FE-4E83CA7ADB35}"/>
              </a:ext>
            </a:extLst>
          </p:cNvPr>
          <p:cNvSpPr/>
          <p:nvPr/>
        </p:nvSpPr>
        <p:spPr>
          <a:xfrm>
            <a:off x="452438" y="4470163"/>
            <a:ext cx="758825" cy="341832"/>
          </a:xfrm>
          <a:prstGeom prst="roundRect">
            <a:avLst>
              <a:gd name="adj" fmla="val 2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칩 라벨">
            <a:extLst>
              <a:ext uri="{FF2B5EF4-FFF2-40B4-BE49-F238E27FC236}">
                <a16:creationId xmlns:a16="http://schemas.microsoft.com/office/drawing/2014/main" id="{6818BE2C-8E6E-82C8-842C-1B845C2B5AF4}"/>
              </a:ext>
            </a:extLst>
          </p:cNvPr>
          <p:cNvSpPr txBox="1"/>
          <p:nvPr/>
        </p:nvSpPr>
        <p:spPr>
          <a:xfrm>
            <a:off x="490538" y="4470163"/>
            <a:ext cx="682625" cy="3418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787" b="0" spc="-22">
                <a:solidFill>
                  <a:srgbClr val="14181F"/>
                </a:solidFill>
                <a:latin typeface="Pretendard"/>
              </a:rPr>
              <a:t>청계천 이동 약자 시설물</a:t>
            </a:r>
          </a:p>
        </p:txBody>
      </p:sp>
      <p:sp>
        <p:nvSpPr>
          <p:cNvPr id="42" name="섹션 제목">
            <a:extLst>
              <a:ext uri="{FF2B5EF4-FFF2-40B4-BE49-F238E27FC236}">
                <a16:creationId xmlns:a16="http://schemas.microsoft.com/office/drawing/2014/main" id="{E1DD1589-DC9C-49DD-2095-7BF3709F7717}"/>
              </a:ext>
            </a:extLst>
          </p:cNvPr>
          <p:cNvSpPr txBox="1"/>
          <p:nvPr/>
        </p:nvSpPr>
        <p:spPr>
          <a:xfrm>
            <a:off x="452438" y="5051544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최근 도착지</a:t>
            </a:r>
          </a:p>
        </p:txBody>
      </p:sp>
      <p:sp>
        <p:nvSpPr>
          <p:cNvPr id="43" name="리스트 행">
            <a:extLst>
              <a:ext uri="{FF2B5EF4-FFF2-40B4-BE49-F238E27FC236}">
                <a16:creationId xmlns:a16="http://schemas.microsoft.com/office/drawing/2014/main" id="{A85714D8-83A1-5AD9-34A8-10B407A343CC}"/>
              </a:ext>
            </a:extLst>
          </p:cNvPr>
          <p:cNvSpPr/>
          <p:nvPr/>
        </p:nvSpPr>
        <p:spPr>
          <a:xfrm>
            <a:off x="452438" y="5280144"/>
            <a:ext cx="2428875" cy="393107"/>
          </a:xfrm>
          <a:prstGeom prst="roundRect">
            <a:avLst>
              <a:gd name="adj" fmla="val 2907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행 제목">
            <a:extLst>
              <a:ext uri="{FF2B5EF4-FFF2-40B4-BE49-F238E27FC236}">
                <a16:creationId xmlns:a16="http://schemas.microsoft.com/office/drawing/2014/main" id="{805A6BC6-23AC-7E49-05B2-0E795B9F9186}"/>
              </a:ext>
            </a:extLst>
          </p:cNvPr>
          <p:cNvSpPr txBox="1"/>
          <p:nvPr/>
        </p:nvSpPr>
        <p:spPr>
          <a:xfrm>
            <a:off x="585788" y="5280144"/>
            <a:ext cx="1990725" cy="39310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9511DC1D-8EAE-3C2C-A2E9-1F47339B029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검색창">
            <a:extLst>
              <a:ext uri="{FF2B5EF4-FFF2-40B4-BE49-F238E27FC236}">
                <a16:creationId xmlns:a16="http://schemas.microsoft.com/office/drawing/2014/main" id="{4522617E-AB7C-4DAF-5856-6D8627DBDF37}"/>
              </a:ext>
            </a:extLst>
          </p:cNvPr>
          <p:cNvSpPr/>
          <p:nvPr/>
        </p:nvSpPr>
        <p:spPr>
          <a:xfrm>
            <a:off x="458152" y="1282827"/>
            <a:ext cx="244221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검색창 문구">
            <a:extLst>
              <a:ext uri="{FF2B5EF4-FFF2-40B4-BE49-F238E27FC236}">
                <a16:creationId xmlns:a16="http://schemas.microsoft.com/office/drawing/2014/main" id="{3AB10241-C689-803F-C497-03ABD621AD22}"/>
              </a:ext>
            </a:extLst>
          </p:cNvPr>
          <p:cNvSpPr txBox="1"/>
          <p:nvPr/>
        </p:nvSpPr>
        <p:spPr>
          <a:xfrm>
            <a:off x="604456" y="1360551"/>
            <a:ext cx="2186178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장소, 주소 검색</a:t>
            </a:r>
          </a:p>
        </p:txBody>
      </p:sp>
      <p:sp>
        <p:nvSpPr>
          <p:cNvPr id="48" name="하단 Nav 바탕">
            <a:extLst>
              <a:ext uri="{FF2B5EF4-FFF2-40B4-BE49-F238E27FC236}">
                <a16:creationId xmlns:a16="http://schemas.microsoft.com/office/drawing/2014/main" id="{ACE9296F-37F0-93AE-F299-969C6E28E305}"/>
              </a:ext>
            </a:extLst>
          </p:cNvPr>
          <p:cNvSpPr/>
          <p:nvPr/>
        </p:nvSpPr>
        <p:spPr>
          <a:xfrm>
            <a:off x="309562" y="5743575"/>
            <a:ext cx="271462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하단 Nav 구분선">
            <a:extLst>
              <a:ext uri="{FF2B5EF4-FFF2-40B4-BE49-F238E27FC236}">
                <a16:creationId xmlns:a16="http://schemas.microsoft.com/office/drawing/2014/main" id="{E5188CA3-9C46-EC45-0796-860972395C1C}"/>
              </a:ext>
            </a:extLst>
          </p:cNvPr>
          <p:cNvSpPr/>
          <p:nvPr/>
        </p:nvSpPr>
        <p:spPr>
          <a:xfrm>
            <a:off x="309562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아이콘 nav">
            <a:extLst>
              <a:ext uri="{FF2B5EF4-FFF2-40B4-BE49-F238E27FC236}">
                <a16:creationId xmlns:a16="http://schemas.microsoft.com/office/drawing/2014/main" id="{F73F727A-E560-0593-8C5D-AF532F8A69A0}"/>
              </a:ext>
            </a:extLst>
          </p:cNvPr>
          <p:cNvSpPr/>
          <p:nvPr/>
        </p:nvSpPr>
        <p:spPr>
          <a:xfrm>
            <a:off x="1598866" y="5887402"/>
            <a:ext cx="136017" cy="160020"/>
          </a:xfrm>
          <a:prstGeom prst="triangl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Nav 길안내">
            <a:extLst>
              <a:ext uri="{FF2B5EF4-FFF2-40B4-BE49-F238E27FC236}">
                <a16:creationId xmlns:a16="http://schemas.microsoft.com/office/drawing/2014/main" id="{25A75DD2-1CB6-05A0-F3C6-35218B1B440A}"/>
              </a:ext>
            </a:extLst>
          </p:cNvPr>
          <p:cNvSpPr txBox="1"/>
          <p:nvPr/>
        </p:nvSpPr>
        <p:spPr>
          <a:xfrm>
            <a:off x="1211262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길안내</a:t>
            </a:r>
          </a:p>
        </p:txBody>
      </p:sp>
      <p:sp>
        <p:nvSpPr>
          <p:cNvPr id="52" name="아이콘 home">
            <a:extLst>
              <a:ext uri="{FF2B5EF4-FFF2-40B4-BE49-F238E27FC236}">
                <a16:creationId xmlns:a16="http://schemas.microsoft.com/office/drawing/2014/main" id="{71AC095E-B511-608E-6DB5-B2F5C5E38492}"/>
              </a:ext>
            </a:extLst>
          </p:cNvPr>
          <p:cNvSpPr/>
          <p:nvPr/>
        </p:nvSpPr>
        <p:spPr>
          <a:xfrm>
            <a:off x="671640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아이콘 home">
            <a:extLst>
              <a:ext uri="{FF2B5EF4-FFF2-40B4-BE49-F238E27FC236}">
                <a16:creationId xmlns:a16="http://schemas.microsoft.com/office/drawing/2014/main" id="{A00161C1-45E4-E1DC-9A15-9008E3E9D905}"/>
              </a:ext>
            </a:extLst>
          </p:cNvPr>
          <p:cNvSpPr/>
          <p:nvPr/>
        </p:nvSpPr>
        <p:spPr>
          <a:xfrm>
            <a:off x="699644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Nav 홈">
            <a:extLst>
              <a:ext uri="{FF2B5EF4-FFF2-40B4-BE49-F238E27FC236}">
                <a16:creationId xmlns:a16="http://schemas.microsoft.com/office/drawing/2014/main" id="{1B8B04E4-B9F3-FD75-99AD-C0C0D7518907}"/>
              </a:ext>
            </a:extLst>
          </p:cNvPr>
          <p:cNvSpPr txBox="1"/>
          <p:nvPr/>
        </p:nvSpPr>
        <p:spPr>
          <a:xfrm>
            <a:off x="30003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55" name="아이콘 user">
            <a:extLst>
              <a:ext uri="{FF2B5EF4-FFF2-40B4-BE49-F238E27FC236}">
                <a16:creationId xmlns:a16="http://schemas.microsoft.com/office/drawing/2014/main" id="{1EC1652F-4A12-CE2B-DCCF-4563700C8353}"/>
              </a:ext>
            </a:extLst>
          </p:cNvPr>
          <p:cNvSpPr/>
          <p:nvPr/>
        </p:nvSpPr>
        <p:spPr>
          <a:xfrm>
            <a:off x="2542096" y="5887402"/>
            <a:ext cx="72009" cy="72009"/>
          </a:xfrm>
          <a:prstGeom prst="ellips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아이콘 user">
            <a:extLst>
              <a:ext uri="{FF2B5EF4-FFF2-40B4-BE49-F238E27FC236}">
                <a16:creationId xmlns:a16="http://schemas.microsoft.com/office/drawing/2014/main" id="{99756529-4580-05A6-0212-D111EE0CC30B}"/>
              </a:ext>
            </a:extLst>
          </p:cNvPr>
          <p:cNvSpPr/>
          <p:nvPr/>
        </p:nvSpPr>
        <p:spPr>
          <a:xfrm>
            <a:off x="2506091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Nav 마이페이지">
            <a:extLst>
              <a:ext uri="{FF2B5EF4-FFF2-40B4-BE49-F238E27FC236}">
                <a16:creationId xmlns:a16="http://schemas.microsoft.com/office/drawing/2014/main" id="{9DC771D0-CD57-CF7B-A6C9-B8A97EF7C8B2}"/>
              </a:ext>
            </a:extLst>
          </p:cNvPr>
          <p:cNvSpPr txBox="1"/>
          <p:nvPr/>
        </p:nvSpPr>
        <p:spPr>
          <a:xfrm>
            <a:off x="2122488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마이페이지</a:t>
            </a:r>
          </a:p>
        </p:txBody>
      </p:sp>
      <p:sp>
        <p:nvSpPr>
          <p:cNvPr id="58" name="목업 프레임 2">
            <a:extLst>
              <a:ext uri="{FF2B5EF4-FFF2-40B4-BE49-F238E27FC236}">
                <a16:creationId xmlns:a16="http://schemas.microsoft.com/office/drawing/2014/main" id="{A865E440-E8D8-E330-F304-CBD71ECB6CBA}"/>
              </a:ext>
            </a:extLst>
          </p:cNvPr>
          <p:cNvSpPr/>
          <p:nvPr/>
        </p:nvSpPr>
        <p:spPr>
          <a:xfrm>
            <a:off x="3224085" y="1198540"/>
            <a:ext cx="2686306" cy="5080469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목업 프레임 3">
            <a:extLst>
              <a:ext uri="{FF2B5EF4-FFF2-40B4-BE49-F238E27FC236}">
                <a16:creationId xmlns:a16="http://schemas.microsoft.com/office/drawing/2014/main" id="{7B472722-0572-AE59-DDD5-EB745154A1EF}"/>
              </a:ext>
            </a:extLst>
          </p:cNvPr>
          <p:cNvSpPr/>
          <p:nvPr/>
        </p:nvSpPr>
        <p:spPr>
          <a:xfrm>
            <a:off x="6082959" y="1200697"/>
            <a:ext cx="2690406" cy="507513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Rectangle 9048">
            <a:extLst>
              <a:ext uri="{FF2B5EF4-FFF2-40B4-BE49-F238E27FC236}">
                <a16:creationId xmlns:a16="http://schemas.microsoft.com/office/drawing/2014/main" id="{F2AE145D-272C-944D-3800-B4DFFC70DFDF}"/>
              </a:ext>
            </a:extLst>
          </p:cNvPr>
          <p:cNvSpPr/>
          <p:nvPr/>
        </p:nvSpPr>
        <p:spPr>
          <a:xfrm>
            <a:off x="3296201" y="1840952"/>
            <a:ext cx="2542075" cy="540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61" name="Rounded Rectangle 9049">
            <a:extLst>
              <a:ext uri="{FF2B5EF4-FFF2-40B4-BE49-F238E27FC236}">
                <a16:creationId xmlns:a16="http://schemas.microsoft.com/office/drawing/2014/main" id="{BFBA9DE6-8092-A5FB-46B9-709ACFEF8BC2}"/>
              </a:ext>
            </a:extLst>
          </p:cNvPr>
          <p:cNvSpPr/>
          <p:nvPr/>
        </p:nvSpPr>
        <p:spPr>
          <a:xfrm>
            <a:off x="3350287" y="1783756"/>
            <a:ext cx="2433901" cy="1102872"/>
          </a:xfrm>
          <a:prstGeom prst="roundRect">
            <a:avLst>
              <a:gd name="adj" fmla="val 1509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음성으로 목적지를 찾거나 도움을 받을 수 있어요.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마이크 권한이 필요해요. 다음 화면에서 허용해 주세요.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이렇게 사용해요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1. 화면을 길게 누릅니다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2. 하고 싶은 말을 합니다</a:t>
            </a:r>
          </a:p>
          <a:p>
            <a:pPr algn="ctr">
              <a:lnSpc>
                <a:spcPct val="110000"/>
              </a:lnSpc>
            </a:pPr>
            <a:r>
              <a:rPr sz="739" b="0">
                <a:solidFill>
                  <a:srgbClr val="14181F"/>
                </a:solidFill>
                <a:latin typeface="Pretendard"/>
              </a:rPr>
              <a:t>3. 손을 떼면 인식이 끝납니다</a:t>
            </a:r>
          </a:p>
        </p:txBody>
      </p:sp>
      <p:sp>
        <p:nvSpPr>
          <p:cNvPr id="62" name="Rounded Rectangle 9052">
            <a:extLst>
              <a:ext uri="{FF2B5EF4-FFF2-40B4-BE49-F238E27FC236}">
                <a16:creationId xmlns:a16="http://schemas.microsoft.com/office/drawing/2014/main" id="{781D099E-9C70-A897-E902-2DA846E146A1}"/>
              </a:ext>
            </a:extLst>
          </p:cNvPr>
          <p:cNvSpPr/>
          <p:nvPr/>
        </p:nvSpPr>
        <p:spPr>
          <a:xfrm>
            <a:off x="3541872" y="2976772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알겠어요</a:t>
            </a:r>
          </a:p>
        </p:txBody>
      </p:sp>
      <p:sp>
        <p:nvSpPr>
          <p:cNvPr id="63" name="Rounded Rectangle 9054">
            <a:extLst>
              <a:ext uri="{FF2B5EF4-FFF2-40B4-BE49-F238E27FC236}">
                <a16:creationId xmlns:a16="http://schemas.microsoft.com/office/drawing/2014/main" id="{1F1ECD78-3DF8-F134-1FB4-91C7AAE54503}"/>
              </a:ext>
            </a:extLst>
          </p:cNvPr>
          <p:cNvSpPr/>
          <p:nvPr/>
        </p:nvSpPr>
        <p:spPr>
          <a:xfrm>
            <a:off x="3350287" y="3463553"/>
            <a:ext cx="2433901" cy="667069"/>
          </a:xfrm>
          <a:prstGeom prst="roundRect">
            <a:avLst>
              <a:gd name="adj" fmla="val 19990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마이크 권한이 없어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음성으로 말할 수 없어요.</a:t>
            </a:r>
          </a:p>
          <a:p>
            <a:pPr algn="ctr">
              <a:lnSpc>
                <a:spcPct val="110000"/>
              </a:lnSpc>
            </a:pPr>
            <a:r>
              <a:rPr sz="690" b="0">
                <a:solidFill>
                  <a:srgbClr val="14181F"/>
                </a:solidFill>
                <a:latin typeface="Pretendard"/>
              </a:rPr>
              <a:t>설정에서 마이크를 켜 주세요.</a:t>
            </a:r>
          </a:p>
        </p:txBody>
      </p:sp>
      <p:sp>
        <p:nvSpPr>
          <p:cNvPr id="64" name="Rounded Rectangle 9057">
            <a:extLst>
              <a:ext uri="{FF2B5EF4-FFF2-40B4-BE49-F238E27FC236}">
                <a16:creationId xmlns:a16="http://schemas.microsoft.com/office/drawing/2014/main" id="{84EF67DC-1B31-DB24-B6EA-8CB465652B13}"/>
              </a:ext>
            </a:extLst>
          </p:cNvPr>
          <p:cNvSpPr/>
          <p:nvPr/>
        </p:nvSpPr>
        <p:spPr>
          <a:xfrm>
            <a:off x="3541871" y="4220436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설정으로 이동</a:t>
            </a:r>
          </a:p>
        </p:txBody>
      </p:sp>
      <p:sp>
        <p:nvSpPr>
          <p:cNvPr id="65" name="Rounded Rectangle 25">
            <a:extLst>
              <a:ext uri="{FF2B5EF4-FFF2-40B4-BE49-F238E27FC236}">
                <a16:creationId xmlns:a16="http://schemas.microsoft.com/office/drawing/2014/main" id="{01C220A9-E8C0-FD40-3CB5-396CA0F4AD79}"/>
              </a:ext>
            </a:extLst>
          </p:cNvPr>
          <p:cNvSpPr/>
          <p:nvPr/>
        </p:nvSpPr>
        <p:spPr>
          <a:xfrm>
            <a:off x="6573425" y="2338283"/>
            <a:ext cx="1713646" cy="1397240"/>
          </a:xfrm>
          <a:prstGeom prst="roundRect">
            <a:avLst>
              <a:gd name="adj" fmla="val 9543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66" name="Oval 26">
            <a:extLst>
              <a:ext uri="{FF2B5EF4-FFF2-40B4-BE49-F238E27FC236}">
                <a16:creationId xmlns:a16="http://schemas.microsoft.com/office/drawing/2014/main" id="{996EE8CA-E501-EB71-93D5-B574A07530C8}"/>
              </a:ext>
            </a:extLst>
          </p:cNvPr>
          <p:cNvSpPr/>
          <p:nvPr/>
        </p:nvSpPr>
        <p:spPr>
          <a:xfrm>
            <a:off x="7047725" y="2630556"/>
            <a:ext cx="808958" cy="808958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녹음</a:t>
            </a:r>
          </a:p>
          <a:p>
            <a:pPr algn="ctr">
              <a:lnSpc>
                <a:spcPct val="125000"/>
              </a:lnSpc>
            </a:pPr>
            <a:r>
              <a:rPr sz="690">
                <a:solidFill>
                  <a:srgbClr val="FFFFFF"/>
                </a:solidFill>
                <a:latin typeface="Pretendard"/>
              </a:rPr>
              <a:t>아이콘</a:t>
            </a:r>
          </a:p>
        </p:txBody>
      </p:sp>
      <p:sp>
        <p:nvSpPr>
          <p:cNvPr id="67" name="탑바 구분선">
            <a:extLst>
              <a:ext uri="{FF2B5EF4-FFF2-40B4-BE49-F238E27FC236}">
                <a16:creationId xmlns:a16="http://schemas.microsoft.com/office/drawing/2014/main" id="{89F80D98-63AF-9E28-F56D-59B31D59E6B2}"/>
              </a:ext>
            </a:extLst>
          </p:cNvPr>
          <p:cNvSpPr/>
          <p:nvPr/>
        </p:nvSpPr>
        <p:spPr>
          <a:xfrm>
            <a:off x="3233610" y="1655740"/>
            <a:ext cx="26672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탑바 타이틀">
            <a:extLst>
              <a:ext uri="{FF2B5EF4-FFF2-40B4-BE49-F238E27FC236}">
                <a16:creationId xmlns:a16="http://schemas.microsoft.com/office/drawing/2014/main" id="{B91BACBB-362D-DDD8-3B77-8258AE8A6A49}"/>
              </a:ext>
            </a:extLst>
          </p:cNvPr>
          <p:cNvSpPr txBox="1"/>
          <p:nvPr/>
        </p:nvSpPr>
        <p:spPr>
          <a:xfrm>
            <a:off x="3643185" y="1312840"/>
            <a:ext cx="18481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69" name="뒤로가기">
            <a:extLst>
              <a:ext uri="{FF2B5EF4-FFF2-40B4-BE49-F238E27FC236}">
                <a16:creationId xmlns:a16="http://schemas.microsoft.com/office/drawing/2014/main" id="{14DAD30A-ACE3-D366-F5B4-1B6C9008CFCC}"/>
              </a:ext>
            </a:extLst>
          </p:cNvPr>
          <p:cNvCxnSpPr/>
          <p:nvPr/>
        </p:nvCxnSpPr>
        <p:spPr>
          <a:xfrm flipH="1">
            <a:off x="3376485" y="13798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>
            <a:extLst>
              <a:ext uri="{FF2B5EF4-FFF2-40B4-BE49-F238E27FC236}">
                <a16:creationId xmlns:a16="http://schemas.microsoft.com/office/drawing/2014/main" id="{3C955FF1-31FC-B157-8A3F-3201776DB79E}"/>
              </a:ext>
            </a:extLst>
          </p:cNvPr>
          <p:cNvCxnSpPr/>
          <p:nvPr/>
        </p:nvCxnSpPr>
        <p:spPr>
          <a:xfrm flipH="1" flipV="1">
            <a:off x="3376485" y="142714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탑바 구분선">
            <a:extLst>
              <a:ext uri="{FF2B5EF4-FFF2-40B4-BE49-F238E27FC236}">
                <a16:creationId xmlns:a16="http://schemas.microsoft.com/office/drawing/2014/main" id="{89DB36DC-B4A0-5F6E-3F3B-0660320291C1}"/>
              </a:ext>
            </a:extLst>
          </p:cNvPr>
          <p:cNvSpPr/>
          <p:nvPr/>
        </p:nvSpPr>
        <p:spPr>
          <a:xfrm>
            <a:off x="6092484" y="1657897"/>
            <a:ext cx="2671356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탑바 타이틀">
            <a:extLst>
              <a:ext uri="{FF2B5EF4-FFF2-40B4-BE49-F238E27FC236}">
                <a16:creationId xmlns:a16="http://schemas.microsoft.com/office/drawing/2014/main" id="{B7F275FE-CCDD-7436-6188-BAC6DEBC7BC9}"/>
              </a:ext>
            </a:extLst>
          </p:cNvPr>
          <p:cNvSpPr txBox="1"/>
          <p:nvPr/>
        </p:nvSpPr>
        <p:spPr>
          <a:xfrm>
            <a:off x="6502059" y="1314997"/>
            <a:ext cx="1852206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73" name="뒤로가기">
            <a:extLst>
              <a:ext uri="{FF2B5EF4-FFF2-40B4-BE49-F238E27FC236}">
                <a16:creationId xmlns:a16="http://schemas.microsoft.com/office/drawing/2014/main" id="{637D1AB4-EA60-CC1F-B54C-226357AFF014}"/>
              </a:ext>
            </a:extLst>
          </p:cNvPr>
          <p:cNvCxnSpPr/>
          <p:nvPr/>
        </p:nvCxnSpPr>
        <p:spPr>
          <a:xfrm flipH="1">
            <a:off x="6235359" y="138205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뒤로가기">
            <a:extLst>
              <a:ext uri="{FF2B5EF4-FFF2-40B4-BE49-F238E27FC236}">
                <a16:creationId xmlns:a16="http://schemas.microsoft.com/office/drawing/2014/main" id="{85979F49-E54F-0A4A-69D7-1BFD76D77B27}"/>
              </a:ext>
            </a:extLst>
          </p:cNvPr>
          <p:cNvCxnSpPr/>
          <p:nvPr/>
        </p:nvCxnSpPr>
        <p:spPr>
          <a:xfrm flipH="1" flipV="1">
            <a:off x="6235359" y="14292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음성 안내 문구">
            <a:extLst>
              <a:ext uri="{FF2B5EF4-FFF2-40B4-BE49-F238E27FC236}">
                <a16:creationId xmlns:a16="http://schemas.microsoft.com/office/drawing/2014/main" id="{66F19CDF-4E98-41C0-5B01-EFA0166B01E7}"/>
              </a:ext>
            </a:extLst>
          </p:cNvPr>
          <p:cNvSpPr txBox="1"/>
          <p:nvPr/>
        </p:nvSpPr>
        <p:spPr>
          <a:xfrm>
            <a:off x="6178209" y="5951982"/>
            <a:ext cx="2499906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7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7" name="섹션 액션 편집"/>
          <p:cNvSpPr txBox="1"/>
          <p:nvPr/>
        </p:nvSpPr>
        <p:spPr>
          <a:xfrm>
            <a:off x="2413826" y="5033256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78" name="숫자배지 1">
            <a:extLst>
              <a:ext uri="{FF2B5EF4-FFF2-40B4-BE49-F238E27FC236}">
                <a16:creationId xmlns:a16="http://schemas.microsoft.com/office/drawing/2014/main" id="{4A253520-8909-D29F-3CE6-CDFD11139E43}"/>
              </a:ext>
            </a:extLst>
          </p:cNvPr>
          <p:cNvSpPr/>
          <p:nvPr/>
        </p:nvSpPr>
        <p:spPr>
          <a:xfrm>
            <a:off x="71438" y="25567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-1">
            <a:extLst>
              <a:ext uri="{FF2B5EF4-FFF2-40B4-BE49-F238E27FC236}">
                <a16:creationId xmlns:a16="http://schemas.microsoft.com/office/drawing/2014/main" id="{9C6B28B1-72FA-C2BF-4C9E-393DD95EEE6C}"/>
              </a:ext>
            </a:extLst>
          </p:cNvPr>
          <p:cNvSpPr/>
          <p:nvPr/>
        </p:nvSpPr>
        <p:spPr>
          <a:xfrm>
            <a:off x="5590968" y="217839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0" name="숫자배지 2-2">
            <a:extLst>
              <a:ext uri="{FF2B5EF4-FFF2-40B4-BE49-F238E27FC236}">
                <a16:creationId xmlns:a16="http://schemas.microsoft.com/office/drawing/2014/main" id="{F0EB1C53-62D4-8D33-4469-A80009876D93}"/>
              </a:ext>
            </a:extLst>
          </p:cNvPr>
          <p:cNvSpPr/>
          <p:nvPr/>
        </p:nvSpPr>
        <p:spPr>
          <a:xfrm>
            <a:off x="4873303" y="28939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81" name="숫자배지 2">
            <a:extLst>
              <a:ext uri="{FF2B5EF4-FFF2-40B4-BE49-F238E27FC236}">
                <a16:creationId xmlns:a16="http://schemas.microsoft.com/office/drawing/2014/main" id="{6F398305-9B9C-7F6E-713B-614B9EF5EAFB}"/>
              </a:ext>
            </a:extLst>
          </p:cNvPr>
          <p:cNvSpPr/>
          <p:nvPr/>
        </p:nvSpPr>
        <p:spPr>
          <a:xfrm>
            <a:off x="5307942" y="110513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2" name="숫자배지 2-3">
            <a:extLst>
              <a:ext uri="{FF2B5EF4-FFF2-40B4-BE49-F238E27FC236}">
                <a16:creationId xmlns:a16="http://schemas.microsoft.com/office/drawing/2014/main" id="{50968D16-0CB9-CF61-C4F9-74A0D9028DBD}"/>
              </a:ext>
            </a:extLst>
          </p:cNvPr>
          <p:cNvSpPr/>
          <p:nvPr/>
        </p:nvSpPr>
        <p:spPr>
          <a:xfrm>
            <a:off x="5464766" y="342934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83" name="숫자배지 2-4">
            <a:extLst>
              <a:ext uri="{FF2B5EF4-FFF2-40B4-BE49-F238E27FC236}">
                <a16:creationId xmlns:a16="http://schemas.microsoft.com/office/drawing/2014/main" id="{55BE8880-1F89-71C6-DD70-8B61AFCE7629}"/>
              </a:ext>
            </a:extLst>
          </p:cNvPr>
          <p:cNvSpPr/>
          <p:nvPr/>
        </p:nvSpPr>
        <p:spPr>
          <a:xfrm>
            <a:off x="5005029" y="417197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84" name="숫자배지 3">
            <a:extLst>
              <a:ext uri="{FF2B5EF4-FFF2-40B4-BE49-F238E27FC236}">
                <a16:creationId xmlns:a16="http://schemas.microsoft.com/office/drawing/2014/main" id="{E7F1DB11-85A3-4626-3C63-A84A9328F418}"/>
              </a:ext>
            </a:extLst>
          </p:cNvPr>
          <p:cNvSpPr/>
          <p:nvPr/>
        </p:nvSpPr>
        <p:spPr>
          <a:xfrm>
            <a:off x="8067607" y="10894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 (1/4)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0327ECDD-CB70-6CEA-63BE-28BAF5BBDBBF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F237A1A5-6174-80C7-9978-0129BFC573F3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7435F079-2216-ED0E-277D-BE76A8AE24F1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TextBox 1281">
            <a:extLst>
              <a:ext uri="{FF2B5EF4-FFF2-40B4-BE49-F238E27FC236}">
                <a16:creationId xmlns:a16="http://schemas.microsoft.com/office/drawing/2014/main" id="{1EDDB943-BB18-89BC-A287-634B20C7F642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2" name="Connector 33">
            <a:extLst>
              <a:ext uri="{FF2B5EF4-FFF2-40B4-BE49-F238E27FC236}">
                <a16:creationId xmlns:a16="http://schemas.microsoft.com/office/drawing/2014/main" id="{0EB12F07-1B92-C8E7-6670-F6D96541A4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34">
            <a:extLst>
              <a:ext uri="{FF2B5EF4-FFF2-40B4-BE49-F238E27FC236}">
                <a16:creationId xmlns:a16="http://schemas.microsoft.com/office/drawing/2014/main" id="{9211897F-AE7A-A0A0-8AAD-8B89C8FBFC42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4" name="Rounded Rectangle 35">
            <a:extLst>
              <a:ext uri="{FF2B5EF4-FFF2-40B4-BE49-F238E27FC236}">
                <a16:creationId xmlns:a16="http://schemas.microsoft.com/office/drawing/2014/main" id="{B45E58AD-4F68-0EC2-C9D0-ECC1EB4F6509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5" name="사각형: 둥근 모서리 4">
            <a:extLst>
              <a:ext uri="{FF2B5EF4-FFF2-40B4-BE49-F238E27FC236}">
                <a16:creationId xmlns:a16="http://schemas.microsoft.com/office/drawing/2014/main" id="{C15A226B-EEB1-8319-6319-A0190196AF8D}"/>
              </a:ext>
            </a:extLst>
          </p:cNvPr>
          <p:cNvSpPr/>
          <p:nvPr/>
        </p:nvSpPr>
        <p:spPr>
          <a:xfrm>
            <a:off x="3493366" y="3712463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다음 장소보기</a:t>
            </a:r>
          </a:p>
        </p:txBody>
      </p:sp>
      <p:sp>
        <p:nvSpPr>
          <p:cNvPr id="16" name="TextBox 25">
            <a:extLst>
              <a:ext uri="{FF2B5EF4-FFF2-40B4-BE49-F238E27FC236}">
                <a16:creationId xmlns:a16="http://schemas.microsoft.com/office/drawing/2014/main" id="{7A6B53A0-99C0-9ECD-A209-ECEC061DB3BC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17" name="Connector 24">
            <a:extLst>
              <a:ext uri="{FF2B5EF4-FFF2-40B4-BE49-F238E27FC236}">
                <a16:creationId xmlns:a16="http://schemas.microsoft.com/office/drawing/2014/main" id="{E483FC0E-CD8A-3BD9-A026-49DE23CF98D2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25">
            <a:extLst>
              <a:ext uri="{FF2B5EF4-FFF2-40B4-BE49-F238E27FC236}">
                <a16:creationId xmlns:a16="http://schemas.microsoft.com/office/drawing/2014/main" id="{7628C243-656B-22DE-081F-D3CDF9C3AEF4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9AAC14C3-D870-50C9-5561-925482ED64B6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0" name="TextBox 33">
            <a:extLst>
              <a:ext uri="{FF2B5EF4-FFF2-40B4-BE49-F238E27FC236}">
                <a16:creationId xmlns:a16="http://schemas.microsoft.com/office/drawing/2014/main" id="{E0661400-963F-6AA2-E398-8D5B5E9D08B4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1" name="Rounded Rectangle 38">
            <a:extLst>
              <a:ext uri="{FF2B5EF4-FFF2-40B4-BE49-F238E27FC236}">
                <a16:creationId xmlns:a16="http://schemas.microsoft.com/office/drawing/2014/main" id="{39CC1F22-5248-5CD9-1959-8AB1FAEF9C99}"/>
              </a:ext>
            </a:extLst>
          </p:cNvPr>
          <p:cNvSpPr/>
          <p:nvPr/>
        </p:nvSpPr>
        <p:spPr>
          <a:xfrm>
            <a:off x="3516497" y="489203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대화</a:t>
            </a:r>
            <a:r>
              <a:rPr sz="976" b="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dirty="0" err="1">
                <a:solidFill>
                  <a:srgbClr val="14181F"/>
                </a:solidFill>
                <a:latin typeface="Pretendard"/>
              </a:rPr>
              <a:t>종료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542FCC97-F260-9CD9-CF36-BC064285D329}"/>
              </a:ext>
            </a:extLst>
          </p:cNvPr>
          <p:cNvSpPr/>
          <p:nvPr/>
        </p:nvSpPr>
        <p:spPr>
          <a:xfrm>
            <a:off x="3497231" y="449884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출발지로 설정하기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Rounded Rectangle 38">
            <a:extLst>
              <a:ext uri="{FF2B5EF4-FFF2-40B4-BE49-F238E27FC236}">
                <a16:creationId xmlns:a16="http://schemas.microsoft.com/office/drawing/2014/main" id="{1A5792BF-98B9-0AAA-4746-FF706B020752}"/>
              </a:ext>
            </a:extLst>
          </p:cNvPr>
          <p:cNvSpPr/>
          <p:nvPr/>
        </p:nvSpPr>
        <p:spPr>
          <a:xfrm>
            <a:off x="3497231" y="4105655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 dirty="0" err="1">
                <a:solidFill>
                  <a:srgbClr val="14181F"/>
                </a:solidFill>
                <a:latin typeface="Pretendard"/>
              </a:rPr>
              <a:t>이 장소로 길안내 시작하기</a:t>
            </a:r>
            <a:endParaRPr sz="976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4" name="직사각형 10">
            <a:extLst>
              <a:ext uri="{FF2B5EF4-FFF2-40B4-BE49-F238E27FC236}">
                <a16:creationId xmlns:a16="http://schemas.microsoft.com/office/drawing/2014/main" id="{47904B4B-075B-6D58-7CEC-51476A285844}"/>
              </a:ext>
            </a:extLst>
          </p:cNvPr>
          <p:cNvSpPr/>
          <p:nvPr/>
        </p:nvSpPr>
        <p:spPr>
          <a:xfrm>
            <a:off x="3451511" y="4059935"/>
            <a:ext cx="2161438" cy="1206436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481E167E-9FE2-C9C9-C821-FE24015F944C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>
            <a:extLst>
              <a:ext uri="{FF2B5EF4-FFF2-40B4-BE49-F238E27FC236}">
                <a16:creationId xmlns:a16="http://schemas.microsoft.com/office/drawing/2014/main" id="{E3F5E77C-B3E8-85A9-80B7-FFAB114B4AFB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뒤로가기">
            <a:extLst>
              <a:ext uri="{FF2B5EF4-FFF2-40B4-BE49-F238E27FC236}">
                <a16:creationId xmlns:a16="http://schemas.microsoft.com/office/drawing/2014/main" id="{775F7CFC-AF12-1410-3BFB-8BBB90A04F35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뒤로가기">
            <a:extLst>
              <a:ext uri="{FF2B5EF4-FFF2-40B4-BE49-F238E27FC236}">
                <a16:creationId xmlns:a16="http://schemas.microsoft.com/office/drawing/2014/main" id="{A560224A-00B2-A906-BEDC-C5BEC0BB1EEE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음성 안내 문구">
            <a:extLst>
              <a:ext uri="{FF2B5EF4-FFF2-40B4-BE49-F238E27FC236}">
                <a16:creationId xmlns:a16="http://schemas.microsoft.com/office/drawing/2014/main" id="{2A7AE4AE-C642-D954-FEE1-8BDBE82EB70F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0" name="리스트 구분선">
            <a:extLst>
              <a:ext uri="{FF2B5EF4-FFF2-40B4-BE49-F238E27FC236}">
                <a16:creationId xmlns:a16="http://schemas.microsoft.com/office/drawing/2014/main" id="{71323AE9-386B-F160-EC82-67D205DC6D66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리스트 구분선">
            <a:extLst>
              <a:ext uri="{FF2B5EF4-FFF2-40B4-BE49-F238E27FC236}">
                <a16:creationId xmlns:a16="http://schemas.microsoft.com/office/drawing/2014/main" id="{8D4FAF8C-7966-E404-9BBD-C5A15B224664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리스트 구분선">
            <a:extLst>
              <a:ext uri="{FF2B5EF4-FFF2-40B4-BE49-F238E27FC236}">
                <a16:creationId xmlns:a16="http://schemas.microsoft.com/office/drawing/2014/main" id="{A4D399CF-6C2E-65C0-405B-4FB506014D4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Description 패널">
            <a:extLst>
              <a:ext uri="{FF2B5EF4-FFF2-40B4-BE49-F238E27FC236}">
                <a16:creationId xmlns:a16="http://schemas.microsoft.com/office/drawing/2014/main" id="{66EF341A-0D5C-8107-F3BD-CF3FC9898BD9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Description 제목">
            <a:extLst>
              <a:ext uri="{FF2B5EF4-FFF2-40B4-BE49-F238E27FC236}">
                <a16:creationId xmlns:a16="http://schemas.microsoft.com/office/drawing/2014/main" id="{B3B83850-665D-901B-FC51-39C017376185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5" name="Description 밑줄">
            <a:extLst>
              <a:ext uri="{FF2B5EF4-FFF2-40B4-BE49-F238E27FC236}">
                <a16:creationId xmlns:a16="http://schemas.microsoft.com/office/drawing/2014/main" id="{040C0494-8EF3-2E72-28DC-D1FE4E92783F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673670"/>
              </p:ext>
            </p:extLst>
          </p:nvPr>
        </p:nvGraphicFramePr>
        <p:xfrm>
          <a:off x="9277502" y="1447800"/>
          <a:ext cx="2553309" cy="431317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유저가 「음성인식 시작하기」로 대화하며 장소를 검색한 경우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인식 상태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음성 수집 상태와, 수집하지 않는 상태가 다르게 표현되도록 디자인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0026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응답 — 음성 ＋ 텍스트 동시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「화면 어디든 길게 눌러~」는 사라지고 「손을 떼면 음성인식이 끝나요.」만 표출 · 읽어주지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음성인식을 통한 장소 검색 완료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화면 어디든 길게 눌러 시작 · 시작 · 종료 시 효과음 ＋ 진동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사용자 질의 말풍선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음성 인식(STT) 결과를 텍스트로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잘못 인식되면 화면을 다시 길게 눌러 재질의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목업 프레임">
            <a:extLst>
              <a:ext uri="{FF2B5EF4-FFF2-40B4-BE49-F238E27FC236}">
                <a16:creationId xmlns:a16="http://schemas.microsoft.com/office/drawing/2014/main" id="{8DF5B6A2-6180-F05C-79F7-F3569F384B4E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안내">
            <a:extLst>
              <a:ext uri="{FF2B5EF4-FFF2-40B4-BE49-F238E27FC236}">
                <a16:creationId xmlns:a16="http://schemas.microsoft.com/office/drawing/2014/main" id="{35D58275-2B5F-0370-8319-A581FF216024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39" name="바텀시트">
            <a:extLst>
              <a:ext uri="{FF2B5EF4-FFF2-40B4-BE49-F238E27FC236}">
                <a16:creationId xmlns:a16="http://schemas.microsoft.com/office/drawing/2014/main" id="{B7BC2B32-3C27-84F9-A764-C49AF0A1E3D0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시트 손잡이">
            <a:extLst>
              <a:ext uri="{FF2B5EF4-FFF2-40B4-BE49-F238E27FC236}">
                <a16:creationId xmlns:a16="http://schemas.microsoft.com/office/drawing/2014/main" id="{16E1A3B9-8AB2-E1B4-1AE1-C59651E3F79A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섹션 제목">
            <a:extLst>
              <a:ext uri="{FF2B5EF4-FFF2-40B4-BE49-F238E27FC236}">
                <a16:creationId xmlns:a16="http://schemas.microsoft.com/office/drawing/2014/main" id="{787F58B9-755A-7C16-EB1E-CAFEDB307E16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2" name="본문">
            <a:extLst>
              <a:ext uri="{FF2B5EF4-FFF2-40B4-BE49-F238E27FC236}">
                <a16:creationId xmlns:a16="http://schemas.microsoft.com/office/drawing/2014/main" id="{898C5312-F35A-A1DD-8FD5-340FF9F6A328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3" name="본문">
            <a:extLst>
              <a:ext uri="{FF2B5EF4-FFF2-40B4-BE49-F238E27FC236}">
                <a16:creationId xmlns:a16="http://schemas.microsoft.com/office/drawing/2014/main" id="{C5B0B144-8BBF-4D6C-9EC3-1B6E14B37C2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4" name="본문">
            <a:extLst>
              <a:ext uri="{FF2B5EF4-FFF2-40B4-BE49-F238E27FC236}">
                <a16:creationId xmlns:a16="http://schemas.microsoft.com/office/drawing/2014/main" id="{5CFEC4D6-D483-B4AF-2FF2-D75220BB03BF}"/>
              </a:ext>
            </a:extLst>
          </p:cNvPr>
          <p:cNvSpPr txBox="1"/>
          <p:nvPr/>
        </p:nvSpPr>
        <p:spPr>
          <a:xfrm>
            <a:off x="6394380" y="539496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도착지로</a:t>
            </a:r>
            <a:r>
              <a:rPr sz="976" b="0" spc="-16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76" b="0" spc="-16" dirty="0" err="1">
                <a:solidFill>
                  <a:srgbClr val="14181F"/>
                </a:solidFill>
                <a:latin typeface="Pretendard"/>
              </a:rPr>
              <a:t>설정</a:t>
            </a:r>
            <a:endParaRPr sz="976" b="0" spc="-16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BC8B395B-0E42-76CA-62EB-DCFF44AEBC8D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060A6248-F7A2-CE09-FAE7-54736126B530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63653C23-C675-4846-D08A-7E337F8082AC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1185">
            <a:extLst>
              <a:ext uri="{FF2B5EF4-FFF2-40B4-BE49-F238E27FC236}">
                <a16:creationId xmlns:a16="http://schemas.microsoft.com/office/drawing/2014/main" id="{3CE49798-D9BB-02FC-60F4-F2F146E26B80}"/>
              </a:ext>
            </a:extLst>
          </p:cNvPr>
          <p:cNvSpPr/>
          <p:nvPr/>
        </p:nvSpPr>
        <p:spPr>
          <a:xfrm>
            <a:off x="6348660" y="4944679"/>
            <a:ext cx="2142171" cy="824613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0" name="숫자배지 2">
            <a:extLst>
              <a:ext uri="{FF2B5EF4-FFF2-40B4-BE49-F238E27FC236}">
                <a16:creationId xmlns:a16="http://schemas.microsoft.com/office/drawing/2014/main" id="{D5BB2C24-23F8-1605-C9A2-9FBD9D6D3CD7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1" name="숫자배지 2-1">
            <a:extLst>
              <a:ext uri="{FF2B5EF4-FFF2-40B4-BE49-F238E27FC236}">
                <a16:creationId xmlns:a16="http://schemas.microsoft.com/office/drawing/2014/main" id="{80ABB995-16B7-11FA-CDD6-9890F6FF8101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2" name="숫자배지 2-2">
            <a:extLst>
              <a:ext uri="{FF2B5EF4-FFF2-40B4-BE49-F238E27FC236}">
                <a16:creationId xmlns:a16="http://schemas.microsoft.com/office/drawing/2014/main" id="{6FC377C5-5386-0488-7AC5-3BBFAE8FA255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3" name="숫자배지 2-3">
            <a:extLst>
              <a:ext uri="{FF2B5EF4-FFF2-40B4-BE49-F238E27FC236}">
                <a16:creationId xmlns:a16="http://schemas.microsoft.com/office/drawing/2014/main" id="{7CAD4D10-3406-88C0-9F97-4FEB6B75AEE2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4" name="숫자배지 2-4">
            <a:extLst>
              <a:ext uri="{FF2B5EF4-FFF2-40B4-BE49-F238E27FC236}">
                <a16:creationId xmlns:a16="http://schemas.microsoft.com/office/drawing/2014/main" id="{CA644EA8-9403-5A07-D3DE-A653A085D8B4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5" name="숫자배지 2-5">
            <a:extLst>
              <a:ext uri="{FF2B5EF4-FFF2-40B4-BE49-F238E27FC236}">
                <a16:creationId xmlns:a16="http://schemas.microsoft.com/office/drawing/2014/main" id="{4B25B973-C02C-DD55-7F2F-E7132E57344A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6" name="숫자배지 1-1">
            <a:extLst>
              <a:ext uri="{FF2B5EF4-FFF2-40B4-BE49-F238E27FC236}">
                <a16:creationId xmlns:a16="http://schemas.microsoft.com/office/drawing/2014/main" id="{43E25C98-D69A-EC6F-FD33-8DCE195CEA73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7" name="숫자배지 1-2">
            <a:extLst>
              <a:ext uri="{FF2B5EF4-FFF2-40B4-BE49-F238E27FC236}">
                <a16:creationId xmlns:a16="http://schemas.microsoft.com/office/drawing/2014/main" id="{1E26BDB6-0937-BF3C-06B9-CC8452524E3D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0B4FE92A-0D1B-0E1C-A8CD-1C24A401CC13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3">
            <a:extLst>
              <a:ext uri="{FF2B5EF4-FFF2-40B4-BE49-F238E27FC236}">
                <a16:creationId xmlns:a16="http://schemas.microsoft.com/office/drawing/2014/main" id="{2D71868D-E624-0C54-D3E5-DE4DA6F080DE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0" name="숫자배지 3-2">
            <a:extLst>
              <a:ext uri="{FF2B5EF4-FFF2-40B4-BE49-F238E27FC236}">
                <a16:creationId xmlns:a16="http://schemas.microsoft.com/office/drawing/2014/main" id="{07587787-911B-32BE-225D-7FAD66F5AE14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 (2/4)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111442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352551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3687"/>
              </p:ext>
            </p:extLst>
          </p:nvPr>
        </p:nvGraphicFramePr>
        <p:xfrm>
          <a:off x="9277502" y="1447800"/>
          <a:ext cx="2553309" cy="505820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68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 결과 응답 말풍선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TTS 음성 ＋ 텍스트 동시 · 음성 우선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낭독 순서 — 머리 문장 → 장소명 → 주소 → 접근성 3행 → 설정된 슬롯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주소는 지번 풀주소에 광역 포함 · 도로명 하위주소를 괄호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정확도 최상위 1건만 안내 — 나열하지 않음 · 결과 없음 · 실패도 사유를 음성으로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다음 장소보기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다음 순위 1건을 새 말풍선으로 표출 · 단계는 바뀌지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3650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단계별 버튼 — 슬롯 상태로 갈림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1단계(빈 슬롯) — [다음 장소보기] · [이 장소로 길안내 시작하기] · [출발지로 설정하기] · [대화 종료] · 2단계(출발지)는 3번째가 [경유지 추가하기]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3단계(출발지 · 도착지) — [다음 장소보기] · [경유지 추가 후 길안내 시작] · [대화 종료]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전맹은 세로 직렬 · [이 장소로 길안내 시작하기]는 탐색 후 확인 루프 · 설정 버튼은 슬롯을 채우고 대기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9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3493366" y="3712463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다음 장소보기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3516497" y="489203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3497231" y="449884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설정하기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3497231" y="4105655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 장소로 길안내 시작하기</a:t>
            </a:r>
          </a:p>
        </p:txBody>
      </p:sp>
      <p:sp>
        <p:nvSpPr>
          <p:cNvPr id="28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3451511" y="4059935"/>
            <a:ext cx="2161438" cy="1206436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4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목업 프레임">
            <a:extLst>
              <a:ext uri="{FF2B5EF4-FFF2-40B4-BE49-F238E27FC236}">
                <a16:creationId xmlns:a16="http://schemas.microsoft.com/office/drawing/2014/main" id="{82A9CDFF-98E8-3745-1C6F-42836DF36DF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안내">
            <a:extLst>
              <a:ext uri="{FF2B5EF4-FFF2-40B4-BE49-F238E27FC236}">
                <a16:creationId xmlns:a16="http://schemas.microsoft.com/office/drawing/2014/main" id="{3AB08C6D-40C5-C115-4B23-CC3DEFAE3D48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39" name="바텀시트">
            <a:extLst>
              <a:ext uri="{FF2B5EF4-FFF2-40B4-BE49-F238E27FC236}">
                <a16:creationId xmlns:a16="http://schemas.microsoft.com/office/drawing/2014/main" id="{96F500A2-8A4C-BB27-F385-751D9F8B7C8A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시트 손잡이">
            <a:extLst>
              <a:ext uri="{FF2B5EF4-FFF2-40B4-BE49-F238E27FC236}">
                <a16:creationId xmlns:a16="http://schemas.microsoft.com/office/drawing/2014/main" id="{4C6FE9FA-AFD4-4845-5E5D-6A6C35063139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섹션 제목">
            <a:extLst>
              <a:ext uri="{FF2B5EF4-FFF2-40B4-BE49-F238E27FC236}">
                <a16:creationId xmlns:a16="http://schemas.microsoft.com/office/drawing/2014/main" id="{D44F173A-1A37-58BE-6397-8BAE7EC50623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2" name="본문">
            <a:extLst>
              <a:ext uri="{FF2B5EF4-FFF2-40B4-BE49-F238E27FC236}">
                <a16:creationId xmlns:a16="http://schemas.microsoft.com/office/drawing/2014/main" id="{FFA9C65D-1B75-E15C-24FF-2EA2C6033C23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3" name="본문">
            <a:extLst>
              <a:ext uri="{FF2B5EF4-FFF2-40B4-BE49-F238E27FC236}">
                <a16:creationId xmlns:a16="http://schemas.microsoft.com/office/drawing/2014/main" id="{F1B9F510-8E71-9438-0AB6-FD8FD356F2F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4" name="본문">
            <a:extLst>
              <a:ext uri="{FF2B5EF4-FFF2-40B4-BE49-F238E27FC236}">
                <a16:creationId xmlns:a16="http://schemas.microsoft.com/office/drawing/2014/main" id="{F97D6B00-5235-0013-EB7C-7EC4C973B8D9}"/>
              </a:ext>
            </a:extLst>
          </p:cNvPr>
          <p:cNvSpPr txBox="1"/>
          <p:nvPr/>
        </p:nvSpPr>
        <p:spPr>
          <a:xfrm>
            <a:off x="6394380" y="539496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6C549924-C1F8-3D36-5FB4-E8F3F952701C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27F2325B-3589-B350-505F-2635BC790BE1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7EEE6760-CD12-75AB-1CD9-6F8CF1513305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1185">
            <a:extLst>
              <a:ext uri="{FF2B5EF4-FFF2-40B4-BE49-F238E27FC236}">
                <a16:creationId xmlns:a16="http://schemas.microsoft.com/office/drawing/2014/main" id="{55B11955-8BD5-0F0D-AEAE-240C6F341789}"/>
              </a:ext>
            </a:extLst>
          </p:cNvPr>
          <p:cNvSpPr/>
          <p:nvPr/>
        </p:nvSpPr>
        <p:spPr>
          <a:xfrm>
            <a:off x="6348660" y="4944679"/>
            <a:ext cx="2142171" cy="824613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0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1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2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3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4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5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6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7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3">
            <a:extLst>
              <a:ext uri="{FF2B5EF4-FFF2-40B4-BE49-F238E27FC236}">
                <a16:creationId xmlns:a16="http://schemas.microsoft.com/office/drawing/2014/main" id="{A4AFFA92-AD56-5377-5480-CD0FE8E4B738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0" name="숫자배지 3-2">
            <a:extLst>
              <a:ext uri="{FF2B5EF4-FFF2-40B4-BE49-F238E27FC236}">
                <a16:creationId xmlns:a16="http://schemas.microsoft.com/office/drawing/2014/main" id="{25CA9F39-7182-8D83-7F96-0FA06593CF5B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 (3/4)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111442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352551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3687"/>
              </p:ext>
            </p:extLst>
          </p:nvPr>
        </p:nvGraphicFramePr>
        <p:xfrm>
          <a:off x="9277502" y="1447800"/>
          <a:ext cx="2553309" cy="78623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대화 종료 후 이전 페이지로 복귀 · 채팅을 별도로 저장하지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1802955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4650073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5013570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4894699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5654565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5013570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9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4967509" y="3712463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다음 장소보기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2163479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2044607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2300469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2781585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2623495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4990640" y="489203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4971374" y="449884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설정하기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4971374" y="4105655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 장소로 길안내 시작하기</a:t>
            </a:r>
          </a:p>
        </p:txBody>
      </p:sp>
      <p:sp>
        <p:nvSpPr>
          <p:cNvPr id="28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4925654" y="4059935"/>
            <a:ext cx="2161438" cy="1206436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1955355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1955355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4802473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4802473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4745323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4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4783423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4783423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4783423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6846694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6656708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0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4874702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1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4814763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2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4532829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43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4709029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44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2469672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5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2146302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6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3788743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검색 (4/4)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3C095FA4-E1A4-4EE4-FCC0-2D9E15747C3A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E49B00D2-8F57-3ACB-BBE5-4FD5581BD3F5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E75479A1-81E0-F5F0-C2B4-AD0589C4B583}"/>
              </a:ext>
            </a:extLst>
          </p:cNvPr>
          <p:cNvSpPr txBox="1"/>
          <p:nvPr/>
        </p:nvSpPr>
        <p:spPr>
          <a:xfrm>
            <a:off x="9315450" y="1114426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2F8A5FE8-7DA3-91F6-A6A5-5097BD0C5950}"/>
              </a:ext>
            </a:extLst>
          </p:cNvPr>
          <p:cNvSpPr/>
          <p:nvPr/>
        </p:nvSpPr>
        <p:spPr>
          <a:xfrm>
            <a:off x="9315450" y="1352551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243687"/>
              </p:ext>
            </p:extLst>
          </p:nvPr>
        </p:nvGraphicFramePr>
        <p:xfrm>
          <a:off x="9277502" y="1447800"/>
          <a:ext cx="2553309" cy="405556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42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응답 대기 · 무음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대기가 길어지면 「답을 찾고 있어요.」를 한 번만 낭독 — 반복하지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제한 시간을 넘기면 「답을 받지 못했어요. 화면을 길게 누르고 다시 말씀해 주세요.」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인식 결과가 비면 「잘 못 들었어요. 화면을 길게 누르고 다시 말씀해 주세요.」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자동으로 다시 듣기를 시작하지 않음 · 토스트로 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팝업 · 토스트는 대화 안으로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2-7 안에서는 팝업도 토스트도 쓰지 않음 — 대화 위에 레이어를 얹지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완료 고지는 응답 말풍선이 겸함 · 확인이 필요한 건은 응답 말풍선 ＋ 챗봇 버튼이 받음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말풍선은 흐름에 남아 다시 훑을 수 있음 — 자동으로 걷어내지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 1">
            <a:extLst>
              <a:ext uri="{FF2B5EF4-FFF2-40B4-BE49-F238E27FC236}">
                <a16:creationId xmlns:a16="http://schemas.microsoft.com/office/drawing/2014/main" id="{30103E6B-ABCD-5E8D-A641-08953C164076}"/>
              </a:ext>
            </a:extLst>
          </p:cNvPr>
          <p:cNvSpPr/>
          <p:nvPr/>
        </p:nvSpPr>
        <p:spPr>
          <a:xfrm>
            <a:off x="328812" y="1202368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목업 프레임 2">
            <a:extLst>
              <a:ext uri="{FF2B5EF4-FFF2-40B4-BE49-F238E27FC236}">
                <a16:creationId xmlns:a16="http://schemas.microsoft.com/office/drawing/2014/main" id="{DC1E2C38-512A-73C6-4354-FB1C8477DB43}"/>
              </a:ext>
            </a:extLst>
          </p:cNvPr>
          <p:cNvSpPr/>
          <p:nvPr/>
        </p:nvSpPr>
        <p:spPr>
          <a:xfrm>
            <a:off x="3175930" y="1202773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extBox 1281">
            <a:extLst>
              <a:ext uri="{FF2B5EF4-FFF2-40B4-BE49-F238E27FC236}">
                <a16:creationId xmlns:a16="http://schemas.microsoft.com/office/drawing/2014/main" id="{AE08A684-1623-2BAF-7C91-64025DB84263}"/>
              </a:ext>
            </a:extLst>
          </p:cNvPr>
          <p:cNvSpPr/>
          <p:nvPr/>
        </p:nvSpPr>
        <p:spPr>
          <a:xfrm>
            <a:off x="3539427" y="1536875"/>
            <a:ext cx="2012594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음성인식 </a:t>
            </a:r>
            <a:r>
              <a:rPr lang="en-US" altLang="ko-KR" sz="850" b="1" dirty="0">
                <a:solidFill>
                  <a:srgbClr val="14181F"/>
                </a:solidFill>
                <a:latin typeface="Pretendard"/>
              </a:rPr>
              <a:t>· </a:t>
            </a:r>
            <a:r>
              <a:rPr lang="ko-KR" altLang="en-US" sz="850" b="1" dirty="0" err="1">
                <a:solidFill>
                  <a:srgbClr val="14181F"/>
                </a:solidFill>
                <a:latin typeface="Pretendard"/>
              </a:rPr>
              <a:t>챗봇</a:t>
            </a:r>
            <a:r>
              <a:rPr lang="ko-KR" altLang="en-US" sz="850" b="1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87E0A42C-2980-E83D-B9F7-BF76145376A4}"/>
              </a:ext>
            </a:extLst>
          </p:cNvPr>
          <p:cNvCxnSpPr/>
          <p:nvPr/>
        </p:nvCxnSpPr>
        <p:spPr>
          <a:xfrm>
            <a:off x="3420556" y="1847772"/>
            <a:ext cx="2250338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4">
            <a:extLst>
              <a:ext uri="{FF2B5EF4-FFF2-40B4-BE49-F238E27FC236}">
                <a16:creationId xmlns:a16="http://schemas.microsoft.com/office/drawing/2014/main" id="{EE8C9BDB-A379-4D01-5DF3-BB28A9B29CC0}"/>
              </a:ext>
            </a:extLst>
          </p:cNvPr>
          <p:cNvSpPr/>
          <p:nvPr/>
        </p:nvSpPr>
        <p:spPr>
          <a:xfrm>
            <a:off x="4180422" y="1994075"/>
            <a:ext cx="1371600" cy="5029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서울특별시청 검색</a:t>
            </a:r>
          </a:p>
        </p:txBody>
      </p: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D0500DC1-C29A-7D40-1833-67116392CE74}"/>
              </a:ext>
            </a:extLst>
          </p:cNvPr>
          <p:cNvSpPr/>
          <p:nvPr/>
        </p:nvSpPr>
        <p:spPr>
          <a:xfrm>
            <a:off x="3539427" y="2625012"/>
            <a:ext cx="1828800" cy="960120"/>
          </a:xfrm>
          <a:prstGeom prst="roundRect">
            <a:avLst>
              <a:gd name="adj" fmla="val 13888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장소를 검색했어요. 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장소명: 서울특별시청</a:t>
            </a:r>
          </a:p>
          <a:p>
            <a:pPr algn="l">
              <a:lnSpc>
                <a:spcPct val="125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주소: 서울특별시 중구 세종대로 110</a:t>
            </a:r>
          </a:p>
        </p:txBody>
      </p:sp>
      <p:sp>
        <p:nvSpPr>
          <p:cNvPr id="19" name="사각형: 둥근 모서리 4">
            <a:extLst>
              <a:ext uri="{FF2B5EF4-FFF2-40B4-BE49-F238E27FC236}">
                <a16:creationId xmlns:a16="http://schemas.microsoft.com/office/drawing/2014/main" id="{AA7E6620-85FD-FE5C-D2AD-0CF290F0C0F9}"/>
              </a:ext>
            </a:extLst>
          </p:cNvPr>
          <p:cNvSpPr/>
          <p:nvPr/>
        </p:nvSpPr>
        <p:spPr>
          <a:xfrm>
            <a:off x="3493366" y="3712463"/>
            <a:ext cx="2051124" cy="328238"/>
          </a:xfrm>
          <a:prstGeom prst="roundRect">
            <a:avLst>
              <a:gd name="adj" fmla="val 3192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>
                <a:solidFill>
                  <a:srgbClr val="14181F"/>
                </a:solidFill>
                <a:latin typeface="Pretendard"/>
              </a:rPr>
              <a:t>다음 장소보기</a:t>
            </a:r>
          </a:p>
        </p:txBody>
      </p:sp>
      <p:sp>
        <p:nvSpPr>
          <p:cNvPr id="20" name="TextBox 25">
            <a:extLst>
              <a:ext uri="{FF2B5EF4-FFF2-40B4-BE49-F238E27FC236}">
                <a16:creationId xmlns:a16="http://schemas.microsoft.com/office/drawing/2014/main" id="{B7350454-BEE8-B15D-76D0-0BE6C0FB16AE}"/>
              </a:ext>
            </a:extLst>
          </p:cNvPr>
          <p:cNvSpPr/>
          <p:nvPr/>
        </p:nvSpPr>
        <p:spPr>
          <a:xfrm>
            <a:off x="689336" y="1580617"/>
            <a:ext cx="2012594" cy="1677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음성인식 · 챗봇 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123405ED-27C5-EC15-1111-A86158CCF82A}"/>
              </a:ext>
            </a:extLst>
          </p:cNvPr>
          <p:cNvCxnSpPr/>
          <p:nvPr/>
        </p:nvCxnSpPr>
        <p:spPr>
          <a:xfrm>
            <a:off x="570464" y="1847366"/>
            <a:ext cx="2250340" cy="0"/>
          </a:xfrm>
          <a:prstGeom prst="line">
            <a:avLst/>
          </a:prstGeom>
          <a:ln w="857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5">
            <a:extLst>
              <a:ext uri="{FF2B5EF4-FFF2-40B4-BE49-F238E27FC236}">
                <a16:creationId xmlns:a16="http://schemas.microsoft.com/office/drawing/2014/main" id="{1DA2AEB7-1E05-ABA8-8585-73AB407FD772}"/>
              </a:ext>
            </a:extLst>
          </p:cNvPr>
          <p:cNvSpPr/>
          <p:nvPr/>
        </p:nvSpPr>
        <p:spPr>
          <a:xfrm>
            <a:off x="826326" y="2356303"/>
            <a:ext cx="1738274" cy="1417320"/>
          </a:xfrm>
          <a:prstGeom prst="roundRect">
            <a:avLst>
              <a:gd name="adj" fmla="val 9408"/>
            </a:avLst>
          </a:prstGeom>
          <a:solidFill>
            <a:srgbClr val="FFFFFF"/>
          </a:solidFill>
          <a:ln w="9525">
            <a:solidFill>
              <a:srgbClr val="3B4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3" name="Oval 26">
            <a:extLst>
              <a:ext uri="{FF2B5EF4-FFF2-40B4-BE49-F238E27FC236}">
                <a16:creationId xmlns:a16="http://schemas.microsoft.com/office/drawing/2014/main" id="{DBF00858-952F-B29C-50D7-134B37C890F0}"/>
              </a:ext>
            </a:extLst>
          </p:cNvPr>
          <p:cNvSpPr/>
          <p:nvPr/>
        </p:nvSpPr>
        <p:spPr>
          <a:xfrm>
            <a:off x="1307442" y="2652776"/>
            <a:ext cx="820584" cy="820584"/>
          </a:xfrm>
          <a:prstGeom prst="ellipse">
            <a:avLst/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>
                <a:solidFill>
                  <a:srgbClr val="FFFFFF"/>
                </a:solidFill>
                <a:latin typeface="Pretendard"/>
              </a:rPr>
              <a:t>듣는 중</a:t>
            </a:r>
          </a:p>
        </p:txBody>
      </p:sp>
      <p:sp>
        <p:nvSpPr>
          <p:cNvPr id="24" name="TextBox 33">
            <a:extLst>
              <a:ext uri="{FF2B5EF4-FFF2-40B4-BE49-F238E27FC236}">
                <a16:creationId xmlns:a16="http://schemas.microsoft.com/office/drawing/2014/main" id="{4A87404B-C725-2DAC-81E5-58F78E15B199}"/>
              </a:ext>
            </a:extLst>
          </p:cNvPr>
          <p:cNvSpPr/>
          <p:nvPr/>
        </p:nvSpPr>
        <p:spPr>
          <a:xfrm>
            <a:off x="1149352" y="3935832"/>
            <a:ext cx="1165997" cy="20005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손을 떼면 음성인식이 끝나요.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FDC6E2B9-F4C2-1EFD-5BD9-DC6F62FF9419}"/>
              </a:ext>
            </a:extLst>
          </p:cNvPr>
          <p:cNvSpPr/>
          <p:nvPr/>
        </p:nvSpPr>
        <p:spPr>
          <a:xfrm>
            <a:off x="3516497" y="489203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2ABEEA68-1D05-4F6F-7802-044635FAD374}"/>
              </a:ext>
            </a:extLst>
          </p:cNvPr>
          <p:cNvSpPr/>
          <p:nvPr/>
        </p:nvSpPr>
        <p:spPr>
          <a:xfrm>
            <a:off x="3497231" y="4498847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출발지로 설정하기</a:t>
            </a:r>
          </a:p>
        </p:txBody>
      </p:sp>
      <p:sp>
        <p:nvSpPr>
          <p:cNvPr id="27" name="Rounded Rectangle 38">
            <a:extLst>
              <a:ext uri="{FF2B5EF4-FFF2-40B4-BE49-F238E27FC236}">
                <a16:creationId xmlns:a16="http://schemas.microsoft.com/office/drawing/2014/main" id="{3A01EDC7-D4BF-1F08-B7F1-DB7AD131A2C1}"/>
              </a:ext>
            </a:extLst>
          </p:cNvPr>
          <p:cNvSpPr/>
          <p:nvPr/>
        </p:nvSpPr>
        <p:spPr>
          <a:xfrm>
            <a:off x="3497231" y="4105655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 장소로 길안내 시작하기</a:t>
            </a:r>
          </a:p>
        </p:txBody>
      </p:sp>
      <p:sp>
        <p:nvSpPr>
          <p:cNvPr id="28" name="직사각형 10">
            <a:extLst>
              <a:ext uri="{FF2B5EF4-FFF2-40B4-BE49-F238E27FC236}">
                <a16:creationId xmlns:a16="http://schemas.microsoft.com/office/drawing/2014/main" id="{A88AAECC-57DE-0766-0AA1-793DFFF4B5B9}"/>
              </a:ext>
            </a:extLst>
          </p:cNvPr>
          <p:cNvSpPr/>
          <p:nvPr/>
        </p:nvSpPr>
        <p:spPr>
          <a:xfrm>
            <a:off x="3451511" y="4059935"/>
            <a:ext cx="2161438" cy="1206436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8C6DE698-B8FD-2E94-44C0-225438416ECF}"/>
              </a:ext>
            </a:extLst>
          </p:cNvPr>
          <p:cNvCxnSpPr/>
          <p:nvPr/>
        </p:nvCxnSpPr>
        <p:spPr>
          <a:xfrm flipH="1">
            <a:off x="481212" y="138372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8A5B298C-E71B-F79C-1856-80A896BB5123}"/>
              </a:ext>
            </a:extLst>
          </p:cNvPr>
          <p:cNvCxnSpPr/>
          <p:nvPr/>
        </p:nvCxnSpPr>
        <p:spPr>
          <a:xfrm flipH="1" flipV="1">
            <a:off x="481212" y="143096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932949CF-31EB-BDAF-3957-CC3D6E5B0F0D}"/>
              </a:ext>
            </a:extLst>
          </p:cNvPr>
          <p:cNvCxnSpPr/>
          <p:nvPr/>
        </p:nvCxnSpPr>
        <p:spPr>
          <a:xfrm flipH="1">
            <a:off x="3328330" y="138412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뒤로가기">
            <a:extLst>
              <a:ext uri="{FF2B5EF4-FFF2-40B4-BE49-F238E27FC236}">
                <a16:creationId xmlns:a16="http://schemas.microsoft.com/office/drawing/2014/main" id="{613E86FB-6701-4594-D161-D2D4C6EB99F1}"/>
              </a:ext>
            </a:extLst>
          </p:cNvPr>
          <p:cNvCxnSpPr/>
          <p:nvPr/>
        </p:nvCxnSpPr>
        <p:spPr>
          <a:xfrm flipH="1" flipV="1">
            <a:off x="3328330" y="143137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음성 안내 문구">
            <a:extLst>
              <a:ext uri="{FF2B5EF4-FFF2-40B4-BE49-F238E27FC236}">
                <a16:creationId xmlns:a16="http://schemas.microsoft.com/office/drawing/2014/main" id="{4835D0CD-D4F2-986F-84EE-08DB77224E4A}"/>
              </a:ext>
            </a:extLst>
          </p:cNvPr>
          <p:cNvSpPr txBox="1"/>
          <p:nvPr/>
        </p:nvSpPr>
        <p:spPr>
          <a:xfrm>
            <a:off x="3271180" y="6026996"/>
            <a:ext cx="2538571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4" name="리스트 구분선">
            <a:extLst>
              <a:ext uri="{FF2B5EF4-FFF2-40B4-BE49-F238E27FC236}">
                <a16:creationId xmlns:a16="http://schemas.microsoft.com/office/drawing/2014/main" id="{15C05CB1-DE41-6A5D-00DC-A968DFF81B11}"/>
              </a:ext>
            </a:extLst>
          </p:cNvPr>
          <p:cNvSpPr/>
          <p:nvPr/>
        </p:nvSpPr>
        <p:spPr>
          <a:xfrm>
            <a:off x="3309280" y="4463393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리스트 구분선">
            <a:extLst>
              <a:ext uri="{FF2B5EF4-FFF2-40B4-BE49-F238E27FC236}">
                <a16:creationId xmlns:a16="http://schemas.microsoft.com/office/drawing/2014/main" id="{5ECF9344-E228-EA40-B056-B848529165E5}"/>
              </a:ext>
            </a:extLst>
          </p:cNvPr>
          <p:cNvSpPr/>
          <p:nvPr/>
        </p:nvSpPr>
        <p:spPr>
          <a:xfrm>
            <a:off x="3309280" y="485725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리스트 구분선">
            <a:extLst>
              <a:ext uri="{FF2B5EF4-FFF2-40B4-BE49-F238E27FC236}">
                <a16:creationId xmlns:a16="http://schemas.microsoft.com/office/drawing/2014/main" id="{4B06B191-768E-7231-4F3F-25CEF9A7CEE8}"/>
              </a:ext>
            </a:extLst>
          </p:cNvPr>
          <p:cNvSpPr/>
          <p:nvPr/>
        </p:nvSpPr>
        <p:spPr>
          <a:xfrm>
            <a:off x="3309280" y="5250634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목업 프레임">
            <a:extLst>
              <a:ext uri="{FF2B5EF4-FFF2-40B4-BE49-F238E27FC236}">
                <a16:creationId xmlns:a16="http://schemas.microsoft.com/office/drawing/2014/main" id="{82A9CDFF-98E8-3745-1C6F-42836DF36DFA}"/>
              </a:ext>
            </a:extLst>
          </p:cNvPr>
          <p:cNvSpPr/>
          <p:nvPr/>
        </p:nvSpPr>
        <p:spPr>
          <a:xfrm>
            <a:off x="6052909" y="1204557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지도 안내">
            <a:extLst>
              <a:ext uri="{FF2B5EF4-FFF2-40B4-BE49-F238E27FC236}">
                <a16:creationId xmlns:a16="http://schemas.microsoft.com/office/drawing/2014/main" id="{3AB08C6D-40C5-C115-4B23-CC3DEFAE3D48}"/>
              </a:ext>
            </a:extLst>
          </p:cNvPr>
          <p:cNvSpPr txBox="1"/>
          <p:nvPr/>
        </p:nvSpPr>
        <p:spPr>
          <a:xfrm>
            <a:off x="6205309" y="1776057"/>
            <a:ext cx="2428875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검색 장소 위치 표시</a:t>
            </a:r>
          </a:p>
        </p:txBody>
      </p:sp>
      <p:sp>
        <p:nvSpPr>
          <p:cNvPr id="39" name="바텀시트">
            <a:extLst>
              <a:ext uri="{FF2B5EF4-FFF2-40B4-BE49-F238E27FC236}">
                <a16:creationId xmlns:a16="http://schemas.microsoft.com/office/drawing/2014/main" id="{96F500A2-8A4C-BB27-F385-751D9F8B7C8A}"/>
              </a:ext>
            </a:extLst>
          </p:cNvPr>
          <p:cNvSpPr/>
          <p:nvPr/>
        </p:nvSpPr>
        <p:spPr>
          <a:xfrm>
            <a:off x="6062434" y="3966809"/>
            <a:ext cx="2714625" cy="2371724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시트 손잡이">
            <a:extLst>
              <a:ext uri="{FF2B5EF4-FFF2-40B4-BE49-F238E27FC236}">
                <a16:creationId xmlns:a16="http://schemas.microsoft.com/office/drawing/2014/main" id="{4C6FE9FA-AFD4-4845-5E5D-6A6C35063139}"/>
              </a:ext>
            </a:extLst>
          </p:cNvPr>
          <p:cNvSpPr/>
          <p:nvPr/>
        </p:nvSpPr>
        <p:spPr>
          <a:xfrm>
            <a:off x="7248296" y="410568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섹션 제목">
            <a:extLst>
              <a:ext uri="{FF2B5EF4-FFF2-40B4-BE49-F238E27FC236}">
                <a16:creationId xmlns:a16="http://schemas.microsoft.com/office/drawing/2014/main" id="{D44F173A-1A37-58BE-6397-8BAE7EC50623}"/>
              </a:ext>
            </a:extLst>
          </p:cNvPr>
          <p:cNvSpPr txBox="1"/>
          <p:nvPr/>
        </p:nvSpPr>
        <p:spPr>
          <a:xfrm>
            <a:off x="6205309" y="4259289"/>
            <a:ext cx="2238375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2" name="본문">
            <a:extLst>
              <a:ext uri="{FF2B5EF4-FFF2-40B4-BE49-F238E27FC236}">
                <a16:creationId xmlns:a16="http://schemas.microsoft.com/office/drawing/2014/main" id="{FFA9C65D-1B75-E15C-24FF-2EA2C6033C23}"/>
              </a:ext>
            </a:extLst>
          </p:cNvPr>
          <p:cNvSpPr txBox="1"/>
          <p:nvPr/>
        </p:nvSpPr>
        <p:spPr>
          <a:xfrm>
            <a:off x="6205309" y="4506939"/>
            <a:ext cx="2428875" cy="4072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서울특별시청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04524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서울특별시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중구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</a:t>
            </a:r>
            <a:r>
              <a:rPr sz="825" b="0" spc="-16" dirty="0" err="1">
                <a:solidFill>
                  <a:srgbClr val="5B6573"/>
                </a:solidFill>
                <a:latin typeface="Pretendard"/>
              </a:rPr>
              <a:t>세종대로</a:t>
            </a:r>
            <a:r>
              <a:rPr sz="825" b="0" spc="-16" dirty="0">
                <a:solidFill>
                  <a:srgbClr val="5B6573"/>
                </a:solidFill>
                <a:latin typeface="Pretendard"/>
              </a:rPr>
              <a:t> 110</a:t>
            </a:r>
            <a:endParaRPr lang="en-US" sz="825" b="0" spc="-16" dirty="0">
              <a:solidFill>
                <a:srgbClr val="5B6573"/>
              </a:solidFill>
              <a:latin typeface="Pretendard"/>
            </a:endParaRPr>
          </a:p>
          <a:p>
            <a:pPr algn="l">
              <a:lnSpc>
                <a:spcPct val="145000"/>
              </a:lnSpc>
            </a:pP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도로명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: </a:t>
            </a:r>
            <a:r>
              <a:rPr lang="ko-KR" altLang="en-US" sz="825" spc="-16" dirty="0">
                <a:solidFill>
                  <a:srgbClr val="5B6573"/>
                </a:solidFill>
                <a:latin typeface="Pretendard"/>
              </a:rPr>
              <a:t>서울 중구 세종대로 </a:t>
            </a:r>
            <a:r>
              <a:rPr lang="en-US" altLang="ko-KR" sz="825" spc="-16" dirty="0">
                <a:solidFill>
                  <a:srgbClr val="5B6573"/>
                </a:solidFill>
                <a:latin typeface="Pretendard"/>
              </a:rPr>
              <a:t>110</a:t>
            </a:r>
            <a:endParaRPr sz="825" b="0" spc="-16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43" name="본문">
            <a:extLst>
              <a:ext uri="{FF2B5EF4-FFF2-40B4-BE49-F238E27FC236}">
                <a16:creationId xmlns:a16="http://schemas.microsoft.com/office/drawing/2014/main" id="{F1B9F510-8E71-9438-0AB6-FD8FD356F2F3}"/>
              </a:ext>
            </a:extLst>
          </p:cNvPr>
          <p:cNvSpPr txBox="1"/>
          <p:nvPr/>
        </p:nvSpPr>
        <p:spPr>
          <a:xfrm>
            <a:off x="6394380" y="4990399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출발지로 설정</a:t>
            </a:r>
          </a:p>
        </p:txBody>
      </p:sp>
      <p:sp>
        <p:nvSpPr>
          <p:cNvPr id="44" name="본문">
            <a:extLst>
              <a:ext uri="{FF2B5EF4-FFF2-40B4-BE49-F238E27FC236}">
                <a16:creationId xmlns:a16="http://schemas.microsoft.com/office/drawing/2014/main" id="{F97D6B00-5235-0013-EB7C-7EC4C973B8D9}"/>
              </a:ext>
            </a:extLst>
          </p:cNvPr>
          <p:cNvSpPr txBox="1"/>
          <p:nvPr/>
        </p:nvSpPr>
        <p:spPr>
          <a:xfrm>
            <a:off x="6394380" y="5394960"/>
            <a:ext cx="2050732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976" b="0" spc="-16">
                <a:solidFill>
                  <a:srgbClr val="14181F"/>
                </a:solidFill>
                <a:latin typeface="Pretendard"/>
              </a:rPr>
              <a:t>도착지로 설정</a:t>
            </a:r>
          </a:p>
        </p:txBody>
      </p:sp>
      <p:sp>
        <p:nvSpPr>
          <p:cNvPr id="45" name="탑바 구분선">
            <a:extLst>
              <a:ext uri="{FF2B5EF4-FFF2-40B4-BE49-F238E27FC236}">
                <a16:creationId xmlns:a16="http://schemas.microsoft.com/office/drawing/2014/main" id="{6C549924-C1F8-3D36-5FB4-E8F3F952701C}"/>
              </a:ext>
            </a:extLst>
          </p:cNvPr>
          <p:cNvSpPr/>
          <p:nvPr/>
        </p:nvSpPr>
        <p:spPr>
          <a:xfrm>
            <a:off x="6062434" y="1661757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>
            <a:extLst>
              <a:ext uri="{FF2B5EF4-FFF2-40B4-BE49-F238E27FC236}">
                <a16:creationId xmlns:a16="http://schemas.microsoft.com/office/drawing/2014/main" id="{27F2325B-3589-B350-505F-2635BC790BE1}"/>
              </a:ext>
            </a:extLst>
          </p:cNvPr>
          <p:cNvCxnSpPr/>
          <p:nvPr/>
        </p:nvCxnSpPr>
        <p:spPr>
          <a:xfrm flipH="1">
            <a:off x="6205309" y="138591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>
            <a:extLst>
              <a:ext uri="{FF2B5EF4-FFF2-40B4-BE49-F238E27FC236}">
                <a16:creationId xmlns:a16="http://schemas.microsoft.com/office/drawing/2014/main" id="{7EEE6760-CD12-75AB-1CD9-6F8CF1513305}"/>
              </a:ext>
            </a:extLst>
          </p:cNvPr>
          <p:cNvCxnSpPr/>
          <p:nvPr/>
        </p:nvCxnSpPr>
        <p:spPr>
          <a:xfrm flipH="1" flipV="1">
            <a:off x="6205309" y="143315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1185">
            <a:extLst>
              <a:ext uri="{FF2B5EF4-FFF2-40B4-BE49-F238E27FC236}">
                <a16:creationId xmlns:a16="http://schemas.microsoft.com/office/drawing/2014/main" id="{55B11955-8BD5-0F0D-AEAE-240C6F341789}"/>
              </a:ext>
            </a:extLst>
          </p:cNvPr>
          <p:cNvSpPr/>
          <p:nvPr/>
        </p:nvSpPr>
        <p:spPr>
          <a:xfrm>
            <a:off x="6348660" y="4944679"/>
            <a:ext cx="2142171" cy="824613"/>
          </a:xfrm>
          <a:prstGeom prst="rect">
            <a:avLst/>
          </a:prstGeom>
          <a:noFill/>
          <a:ln w="95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9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0" name="숫자배지 2">
            <a:extLst>
              <a:ext uri="{FF2B5EF4-FFF2-40B4-BE49-F238E27FC236}">
                <a16:creationId xmlns:a16="http://schemas.microsoft.com/office/drawing/2014/main" id="{C06A6504-1756-D4FB-40F4-5D12A3AFAC1B}"/>
              </a:ext>
            </a:extLst>
          </p:cNvPr>
          <p:cNvSpPr/>
          <p:nvPr/>
        </p:nvSpPr>
        <p:spPr>
          <a:xfrm>
            <a:off x="5372551" y="110711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1" name="숫자배지 2-1">
            <a:extLst>
              <a:ext uri="{FF2B5EF4-FFF2-40B4-BE49-F238E27FC236}">
                <a16:creationId xmlns:a16="http://schemas.microsoft.com/office/drawing/2014/main" id="{C3BC3FE4-35BC-CFB8-5253-929D50B3F7E2}"/>
              </a:ext>
            </a:extLst>
          </p:cNvPr>
          <p:cNvSpPr/>
          <p:nvPr/>
        </p:nvSpPr>
        <p:spPr>
          <a:xfrm>
            <a:off x="5182565" y="190840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2" name="숫자배지 2-2">
            <a:extLst>
              <a:ext uri="{FF2B5EF4-FFF2-40B4-BE49-F238E27FC236}">
                <a16:creationId xmlns:a16="http://schemas.microsoft.com/office/drawing/2014/main" id="{F85A2773-DB99-437B-6752-3306A4EAB677}"/>
              </a:ext>
            </a:extLst>
          </p:cNvPr>
          <p:cNvSpPr/>
          <p:nvPr/>
        </p:nvSpPr>
        <p:spPr>
          <a:xfrm>
            <a:off x="3400559" y="265783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53" name="숫자배지 2-3">
            <a:extLst>
              <a:ext uri="{FF2B5EF4-FFF2-40B4-BE49-F238E27FC236}">
                <a16:creationId xmlns:a16="http://schemas.microsoft.com/office/drawing/2014/main" id="{7EC373EE-6977-01B6-FEBD-9042D78193C0}"/>
              </a:ext>
            </a:extLst>
          </p:cNvPr>
          <p:cNvSpPr/>
          <p:nvPr/>
        </p:nvSpPr>
        <p:spPr>
          <a:xfrm>
            <a:off x="3340620" y="379795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54" name="숫자배지 2-4">
            <a:extLst>
              <a:ext uri="{FF2B5EF4-FFF2-40B4-BE49-F238E27FC236}">
                <a16:creationId xmlns:a16="http://schemas.microsoft.com/office/drawing/2014/main" id="{CD154358-D179-08B6-BDF9-3F9A11BBF551}"/>
              </a:ext>
            </a:extLst>
          </p:cNvPr>
          <p:cNvSpPr/>
          <p:nvPr/>
        </p:nvSpPr>
        <p:spPr>
          <a:xfrm>
            <a:off x="3058686" y="408727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2-4</a:t>
            </a:r>
          </a:p>
        </p:txBody>
      </p:sp>
      <p:sp>
        <p:nvSpPr>
          <p:cNvPr id="55" name="숫자배지 2-5">
            <a:extLst>
              <a:ext uri="{FF2B5EF4-FFF2-40B4-BE49-F238E27FC236}">
                <a16:creationId xmlns:a16="http://schemas.microsoft.com/office/drawing/2014/main" id="{4F2CA017-8201-CE9B-79BF-43094626BECC}"/>
              </a:ext>
            </a:extLst>
          </p:cNvPr>
          <p:cNvSpPr/>
          <p:nvPr/>
        </p:nvSpPr>
        <p:spPr>
          <a:xfrm>
            <a:off x="3234886" y="535537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2-5</a:t>
            </a:r>
          </a:p>
        </p:txBody>
      </p:sp>
      <p:sp>
        <p:nvSpPr>
          <p:cNvPr id="56" name="숫자배지 1-1">
            <a:extLst>
              <a:ext uri="{FF2B5EF4-FFF2-40B4-BE49-F238E27FC236}">
                <a16:creationId xmlns:a16="http://schemas.microsoft.com/office/drawing/2014/main" id="{097E5F8B-A366-F692-26AC-34B751BF185E}"/>
              </a:ext>
            </a:extLst>
          </p:cNvPr>
          <p:cNvSpPr/>
          <p:nvPr/>
        </p:nvSpPr>
        <p:spPr>
          <a:xfrm>
            <a:off x="995529" y="29115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7" name="숫자배지 1-2">
            <a:extLst>
              <a:ext uri="{FF2B5EF4-FFF2-40B4-BE49-F238E27FC236}">
                <a16:creationId xmlns:a16="http://schemas.microsoft.com/office/drawing/2014/main" id="{3871BC30-F2C1-95C4-DFCF-1DBC68D599EE}"/>
              </a:ext>
            </a:extLst>
          </p:cNvPr>
          <p:cNvSpPr/>
          <p:nvPr/>
        </p:nvSpPr>
        <p:spPr>
          <a:xfrm>
            <a:off x="672159" y="396271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8" name="숫자배지 1">
            <a:extLst>
              <a:ext uri="{FF2B5EF4-FFF2-40B4-BE49-F238E27FC236}">
                <a16:creationId xmlns:a16="http://schemas.microsoft.com/office/drawing/2014/main" id="{3C33DABB-7D85-338E-3A9C-6873FBDAFF1F}"/>
              </a:ext>
            </a:extLst>
          </p:cNvPr>
          <p:cNvSpPr/>
          <p:nvPr/>
        </p:nvSpPr>
        <p:spPr>
          <a:xfrm>
            <a:off x="2314600" y="11098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9" name="숫자배지 3">
            <a:extLst>
              <a:ext uri="{FF2B5EF4-FFF2-40B4-BE49-F238E27FC236}">
                <a16:creationId xmlns:a16="http://schemas.microsoft.com/office/drawing/2014/main" id="{A4AFFA92-AD56-5377-5480-CD0FE8E4B738}"/>
              </a:ext>
            </a:extLst>
          </p:cNvPr>
          <p:cNvSpPr/>
          <p:nvPr/>
        </p:nvSpPr>
        <p:spPr>
          <a:xfrm>
            <a:off x="6524184" y="329395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0" name="숫자배지 3-2">
            <a:extLst>
              <a:ext uri="{FF2B5EF4-FFF2-40B4-BE49-F238E27FC236}">
                <a16:creationId xmlns:a16="http://schemas.microsoft.com/office/drawing/2014/main" id="{25CA9F39-7182-8D83-7F96-0FA06593CF5B}"/>
              </a:ext>
            </a:extLst>
          </p:cNvPr>
          <p:cNvSpPr/>
          <p:nvPr/>
        </p:nvSpPr>
        <p:spPr>
          <a:xfrm>
            <a:off x="5966312" y="5009961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3-1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 (1/3)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C29309DA-3CAC-51A8-26AB-FB1AD3E61EFD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027B183F-4E74-981F-0989-F2416A3C5CAA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253AB163-4803-96E8-E0EF-F6555C6D9966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A7ED1C00-E01D-2785-6BCB-07CC546BB0F1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BDF7909-7D88-4A42-BDFA-BA5FC049F23E}"/>
              </a:ext>
            </a:extLst>
          </p:cNvPr>
          <p:cNvSpPr/>
          <p:nvPr/>
        </p:nvSpPr>
        <p:spPr>
          <a:xfrm>
            <a:off x="1470602" y="2540620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423BA42E-0D1B-8F57-C3F0-1B015E8704C0}"/>
              </a:ext>
            </a:extLst>
          </p:cNvPr>
          <p:cNvSpPr/>
          <p:nvPr/>
        </p:nvSpPr>
        <p:spPr>
          <a:xfrm>
            <a:off x="1470602" y="2981631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025DE766-5CB6-1A30-637C-617786F31DB3}"/>
              </a:ext>
            </a:extLst>
          </p:cNvPr>
          <p:cNvSpPr/>
          <p:nvPr/>
        </p:nvSpPr>
        <p:spPr>
          <a:xfrm>
            <a:off x="1470602" y="414292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5E174D9E-CDDB-9489-F680-068951692CA2}"/>
              </a:ext>
            </a:extLst>
          </p:cNvPr>
          <p:cNvSpPr/>
          <p:nvPr/>
        </p:nvSpPr>
        <p:spPr>
          <a:xfrm>
            <a:off x="1470602" y="45477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17A0DED2-4CE5-EE13-3614-618272F11C0E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60A9A5FE-D53F-EE95-B779-D49127658474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238ECCAC-BD8C-B7E1-45F1-8C288A155D24}"/>
              </a:ext>
            </a:extLst>
          </p:cNvPr>
          <p:cNvSpPr/>
          <p:nvPr/>
        </p:nvSpPr>
        <p:spPr>
          <a:xfrm>
            <a:off x="4919863" y="339008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11079B30-2D6A-0357-6EA2-A06C125B4E36}"/>
              </a:ext>
            </a:extLst>
          </p:cNvPr>
          <p:cNvSpPr/>
          <p:nvPr/>
        </p:nvSpPr>
        <p:spPr>
          <a:xfrm>
            <a:off x="4919863" y="379489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1491C212-1524-971C-2891-ABC68ACCDEB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236A1DB6-CBEC-E2F8-3C95-2CAF214AC7F1}"/>
              </a:ext>
            </a:extLst>
          </p:cNvPr>
          <p:cNvSpPr/>
          <p:nvPr/>
        </p:nvSpPr>
        <p:spPr>
          <a:xfrm>
            <a:off x="4919863" y="2512344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3B211332-C24D-B350-F0A1-7366B912719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AE416434-B4AF-74AB-9C7B-1CC911269B94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43FC7537-7391-4CD7-D9F1-7D4DBF847E85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412633FE-AEE9-FF90-93C3-362983B60150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ABC2C6F2-D0E1-1B0A-C8EC-78CB2A88323F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C0563EC4-A7BB-7CB0-5905-2200D3FE01F8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F3507CFC-F263-1580-BEE2-0D0C36E01C2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2FF9075F-74E9-B17D-369F-59FA40B6A455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FD0D2128-B6D3-5EDF-F280-1C3EEAE1CD8F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73627698-48DE-E7C1-1CD4-1DDFEB0FB1E0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21E06CEC-5FD4-6261-429D-CDFC8D2018D1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CB63BB20-DE36-BDF0-805D-3DEB80EA9EF1}"/>
              </a:ext>
            </a:extLst>
          </p:cNvPr>
          <p:cNvSpPr/>
          <p:nvPr/>
        </p:nvSpPr>
        <p:spPr>
          <a:xfrm>
            <a:off x="1208815" y="26243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E92F1D38-C8A6-2022-CC7D-0154F0704903}"/>
              </a:ext>
            </a:extLst>
          </p:cNvPr>
          <p:cNvSpPr/>
          <p:nvPr/>
        </p:nvSpPr>
        <p:spPr>
          <a:xfrm>
            <a:off x="1231144" y="30592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244718C-B3F9-08D3-59B4-FC3CE87005CB}"/>
              </a:ext>
            </a:extLst>
          </p:cNvPr>
          <p:cNvSpPr/>
          <p:nvPr/>
        </p:nvSpPr>
        <p:spPr>
          <a:xfrm>
            <a:off x="1144276" y="41939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E283E93-3D38-0F27-928E-E865C47B7126}"/>
              </a:ext>
            </a:extLst>
          </p:cNvPr>
          <p:cNvSpPr/>
          <p:nvPr/>
        </p:nvSpPr>
        <p:spPr>
          <a:xfrm>
            <a:off x="7195005" y="266398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936BD559-5D6E-9D07-52EE-E4869975FFD0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BB2E0CEC-0D21-B6E2-5B0D-B067FA01F48B}"/>
              </a:ext>
            </a:extLst>
          </p:cNvPr>
          <p:cNvSpPr/>
          <p:nvPr/>
        </p:nvSpPr>
        <p:spPr>
          <a:xfrm>
            <a:off x="7231581" y="34299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937830CF-E724-8E27-4DE2-073EE17870D8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7AA9AAC3-F92C-7EAE-8E46-A73080468D32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1210FEDD-F2A3-42C9-C7B1-B544EDD27BE9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70073"/>
              </p:ext>
            </p:extLst>
          </p:nvPr>
        </p:nvGraphicFramePr>
        <p:xfrm>
          <a:off x="8629192" y="1447800"/>
          <a:ext cx="2972409" cy="268990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내 앞에 무엇이 있나요? 정상 동작 케이스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위치 기준 주변 지형지물을 음성으로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안내 중 중단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중에는 화면을 눌러도 안내가 멈추지 않음을 먼저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모드 동작 시 가장 먼저 낭독하는 문구 · 현재 음성 안내 중임을 화면에도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적용 범위는 짧게 누르기(탭)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길게 누르기는 안내를 중단하고 수집을 시작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위치 확인 중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중단 금지 문구 다음으로 낭독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숫자배지 1-5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1104595" y="4629607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5" name="숫자배지 1-5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4553712" y="3877056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사용자 질의 버블"/>
          <p:cNvSpPr/>
          <p:nvPr/>
        </p:nvSpPr>
        <p:spPr>
          <a:xfrm>
            <a:off x="2734056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8" name="사용자 질의 버블"/>
          <p:cNvSpPr/>
          <p:nvPr/>
        </p:nvSpPr>
        <p:spPr>
          <a:xfrm>
            <a:off x="6181344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9" name="숫자배지 1-3-1"/>
          <p:cNvSpPr/>
          <p:nvPr/>
        </p:nvSpPr>
        <p:spPr>
          <a:xfrm>
            <a:off x="1143000" y="340156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1-3-1</a:t>
            </a:r>
          </a:p>
        </p:txBody>
      </p:sp>
      <p:sp>
        <p:nvSpPr>
          <p:cNvPr id="50" name="숫자배지 1-3-2"/>
          <p:cNvSpPr/>
          <p:nvPr/>
        </p:nvSpPr>
        <p:spPr>
          <a:xfrm>
            <a:off x="1069848" y="370332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1-3-2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 (2/3)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C29309DA-3CAC-51A8-26AB-FB1AD3E61EFD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027B183F-4E74-981F-0989-F2416A3C5CAA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253AB163-4803-96E8-E0EF-F6555C6D9966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A7ED1C00-E01D-2785-6BCB-07CC546BB0F1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BDF7909-7D88-4A42-BDFA-BA5FC049F23E}"/>
              </a:ext>
            </a:extLst>
          </p:cNvPr>
          <p:cNvSpPr/>
          <p:nvPr/>
        </p:nvSpPr>
        <p:spPr>
          <a:xfrm>
            <a:off x="1470602" y="2540620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423BA42E-0D1B-8F57-C3F0-1B015E8704C0}"/>
              </a:ext>
            </a:extLst>
          </p:cNvPr>
          <p:cNvSpPr/>
          <p:nvPr/>
        </p:nvSpPr>
        <p:spPr>
          <a:xfrm>
            <a:off x="1470602" y="2981631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025DE766-5CB6-1A30-637C-617786F31DB3}"/>
              </a:ext>
            </a:extLst>
          </p:cNvPr>
          <p:cNvSpPr/>
          <p:nvPr/>
        </p:nvSpPr>
        <p:spPr>
          <a:xfrm>
            <a:off x="1470602" y="414292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5E174D9E-CDDB-9489-F680-068951692CA2}"/>
              </a:ext>
            </a:extLst>
          </p:cNvPr>
          <p:cNvSpPr/>
          <p:nvPr/>
        </p:nvSpPr>
        <p:spPr>
          <a:xfrm>
            <a:off x="1470602" y="45477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17A0DED2-4CE5-EE13-3614-618272F11C0E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60A9A5FE-D53F-EE95-B779-D49127658474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238ECCAC-BD8C-B7E1-45F1-8C288A155D24}"/>
              </a:ext>
            </a:extLst>
          </p:cNvPr>
          <p:cNvSpPr/>
          <p:nvPr/>
        </p:nvSpPr>
        <p:spPr>
          <a:xfrm>
            <a:off x="4919863" y="339008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11079B30-2D6A-0357-6EA2-A06C125B4E36}"/>
              </a:ext>
            </a:extLst>
          </p:cNvPr>
          <p:cNvSpPr/>
          <p:nvPr/>
        </p:nvSpPr>
        <p:spPr>
          <a:xfrm>
            <a:off x="4919863" y="379489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1491C212-1524-971C-2891-ABC68ACCDEB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236A1DB6-CBEC-E2F8-3C95-2CAF214AC7F1}"/>
              </a:ext>
            </a:extLst>
          </p:cNvPr>
          <p:cNvSpPr/>
          <p:nvPr/>
        </p:nvSpPr>
        <p:spPr>
          <a:xfrm>
            <a:off x="4919863" y="2512344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3B211332-C24D-B350-F0A1-7366B912719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AE416434-B4AF-74AB-9C7B-1CC911269B94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43FC7537-7391-4CD7-D9F1-7D4DBF847E85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412633FE-AEE9-FF90-93C3-362983B60150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ABC2C6F2-D0E1-1B0A-C8EC-78CB2A88323F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C0563EC4-A7BB-7CB0-5905-2200D3FE01F8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F3507CFC-F263-1580-BEE2-0D0C36E01C2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2FF9075F-74E9-B17D-369F-59FA40B6A455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FD0D2128-B6D3-5EDF-F280-1C3EEAE1CD8F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73627698-48DE-E7C1-1CD4-1DDFEB0FB1E0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21E06CEC-5FD4-6261-429D-CDFC8D2018D1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CB63BB20-DE36-BDF0-805D-3DEB80EA9EF1}"/>
              </a:ext>
            </a:extLst>
          </p:cNvPr>
          <p:cNvSpPr/>
          <p:nvPr/>
        </p:nvSpPr>
        <p:spPr>
          <a:xfrm>
            <a:off x="1208815" y="26243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E92F1D38-C8A6-2022-CC7D-0154F0704903}"/>
              </a:ext>
            </a:extLst>
          </p:cNvPr>
          <p:cNvSpPr/>
          <p:nvPr/>
        </p:nvSpPr>
        <p:spPr>
          <a:xfrm>
            <a:off x="1231144" y="30592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244718C-B3F9-08D3-59B4-FC3CE87005CB}"/>
              </a:ext>
            </a:extLst>
          </p:cNvPr>
          <p:cNvSpPr/>
          <p:nvPr/>
        </p:nvSpPr>
        <p:spPr>
          <a:xfrm>
            <a:off x="1144276" y="41939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E283E93-3D38-0F27-928E-E865C47B7126}"/>
              </a:ext>
            </a:extLst>
          </p:cNvPr>
          <p:cNvSpPr/>
          <p:nvPr/>
        </p:nvSpPr>
        <p:spPr>
          <a:xfrm>
            <a:off x="7195005" y="266398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936BD559-5D6E-9D07-52EE-E4869975FFD0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BB2E0CEC-0D21-B6E2-5B0D-B067FA01F48B}"/>
              </a:ext>
            </a:extLst>
          </p:cNvPr>
          <p:cNvSpPr/>
          <p:nvPr/>
        </p:nvSpPr>
        <p:spPr>
          <a:xfrm>
            <a:off x="7231581" y="34299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937830CF-E724-8E27-4DE2-073EE17870D8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7AA9AAC3-F92C-7EAE-8E46-A73080468D32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1210FEDD-F2A3-42C9-C7B1-B544EDD27BE9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470073"/>
              </p:ext>
            </p:extLst>
          </p:nvPr>
        </p:nvGraphicFramePr>
        <p:xfrm>
          <a:off x="8629192" y="1447800"/>
          <a:ext cx="2972714" cy="4644387"/>
        </p:xfrm>
        <a:graphic>
          <a:graphicData uri="http://schemas.openxmlformats.org/drawingml/2006/table">
            <a:tbl>
              <a:tblPr/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5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확인된 내용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 · 우가 아니라 시계방향 · 지형지물 · 남은 거리 · 예상 보행시간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계단은 오르내림까지 붙임 — 「계단(내려가는 방향)」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응답은 TTS 음성 + 화면 텍스트 동시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탐색 범위 · 개수 상한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반경 50m · 전 방위 — 앞쪽으로 좁히지 않음 · 최대 4개 — 넘치면 읽지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읽는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안전 지물(계단 · 횡단보도 · 경사로) 먼저 → 그 안에서는 가까운 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나머지는 가까운 순 · 거리가 같으면 앞쪽(10~2시) 먼저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다시 듣기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마지막 응답을 재생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길안내 화면으로 돌아가기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 화면으로 복귀하며 대화도 함께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정상 · 측위 실패 양쪽에 모두 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숫자배지 1-5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1104595" y="4629607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5" name="숫자배지 1-5">
            <a:extLst>
              <a:ext uri="{FF2B5EF4-FFF2-40B4-BE49-F238E27FC236}">
                <a16:creationId xmlns:a16="http://schemas.microsoft.com/office/drawing/2014/main" id="{22D1044B-2719-7C0F-8644-C7E9FC03DB4A}"/>
              </a:ext>
            </a:extLst>
          </p:cNvPr>
          <p:cNvSpPr/>
          <p:nvPr/>
        </p:nvSpPr>
        <p:spPr>
          <a:xfrm>
            <a:off x="4553712" y="3877056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사용자 질의 버블"/>
          <p:cNvSpPr/>
          <p:nvPr/>
        </p:nvSpPr>
        <p:spPr>
          <a:xfrm>
            <a:off x="2734056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8" name="사용자 질의 버블"/>
          <p:cNvSpPr/>
          <p:nvPr/>
        </p:nvSpPr>
        <p:spPr>
          <a:xfrm>
            <a:off x="6181344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9" name="숫자배지 1-3-1"/>
          <p:cNvSpPr/>
          <p:nvPr/>
        </p:nvSpPr>
        <p:spPr>
          <a:xfrm>
            <a:off x="1143000" y="340156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1-3-1</a:t>
            </a:r>
          </a:p>
        </p:txBody>
      </p:sp>
      <p:sp>
        <p:nvSpPr>
          <p:cNvPr id="50" name="숫자배지 1-3-2"/>
          <p:cNvSpPr/>
          <p:nvPr/>
        </p:nvSpPr>
        <p:spPr>
          <a:xfrm>
            <a:off x="1069848" y="370332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AEF982FB-271E-1FD7-25E6-CF367226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BD1856D-78D8-D5C2-8464-02897F46005F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B762326B-926C-4C42-FAB2-D5611D39D7A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2BA064CD-731F-21C3-B8D8-0927E3144A9B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BD81201-124F-8B94-8564-3D64268588BE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F421B662-9CE5-1CB9-7CF0-B015DF8B5440}"/>
              </a:ext>
            </a:extLst>
          </p:cNvPr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 앞에 무엇이 있나요? (3/3)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90EA5CD0-EFB6-5C32-2F6B-435838FC625B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4E9579C-25F3-7F7F-F139-0906E83F043B}"/>
              </a:ext>
            </a:extLst>
          </p:cNvPr>
          <p:cNvSpPr/>
          <p:nvPr/>
        </p:nvSpPr>
        <p:spPr>
          <a:xfrm>
            <a:off x="134258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347CBA51-678D-7D9B-9FDD-0EDC291C28E0}"/>
              </a:ext>
            </a:extLst>
          </p:cNvPr>
          <p:cNvSpPr/>
          <p:nvPr/>
        </p:nvSpPr>
        <p:spPr>
          <a:xfrm>
            <a:off x="4792276" y="1205596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Rounded Rectangle 9029">
            <a:extLst>
              <a:ext uri="{FF2B5EF4-FFF2-40B4-BE49-F238E27FC236}">
                <a16:creationId xmlns:a16="http://schemas.microsoft.com/office/drawing/2014/main" id="{FECA6F5A-5629-6EFC-B02F-5AF57EB6AA2D}"/>
              </a:ext>
            </a:extLst>
          </p:cNvPr>
          <p:cNvSpPr/>
          <p:nvPr/>
        </p:nvSpPr>
        <p:spPr>
          <a:xfrm>
            <a:off x="147060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2" name="Rounded Rectangle 9034">
            <a:extLst>
              <a:ext uri="{FF2B5EF4-FFF2-40B4-BE49-F238E27FC236}">
                <a16:creationId xmlns:a16="http://schemas.microsoft.com/office/drawing/2014/main" id="{F8DF0A9C-9619-2940-75D0-300FB9FCD701}"/>
              </a:ext>
            </a:extLst>
          </p:cNvPr>
          <p:cNvSpPr/>
          <p:nvPr/>
        </p:nvSpPr>
        <p:spPr>
          <a:xfrm>
            <a:off x="1470602" y="2540620"/>
            <a:ext cx="2468880" cy="340427"/>
          </a:xfrm>
          <a:prstGeom prst="roundRect">
            <a:avLst>
              <a:gd name="adj" fmla="val 30777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위치를 확인하는 중입니다.</a:t>
            </a:r>
          </a:p>
        </p:txBody>
      </p:sp>
      <p:sp>
        <p:nvSpPr>
          <p:cNvPr id="13" name="Rounded Rectangle 9041">
            <a:extLst>
              <a:ext uri="{FF2B5EF4-FFF2-40B4-BE49-F238E27FC236}">
                <a16:creationId xmlns:a16="http://schemas.microsoft.com/office/drawing/2014/main" id="{E606D4A6-CFDB-8EEA-3003-1E3159DA2C1A}"/>
              </a:ext>
            </a:extLst>
          </p:cNvPr>
          <p:cNvSpPr/>
          <p:nvPr/>
        </p:nvSpPr>
        <p:spPr>
          <a:xfrm>
            <a:off x="1470602" y="2981631"/>
            <a:ext cx="2468880" cy="1069848"/>
          </a:xfrm>
          <a:prstGeom prst="roundRect">
            <a:avLst>
              <a:gd name="adj" fmla="val 12464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5시 방향     25 m    횡단보도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10시 방향    40 m    계단 (내려가는 방향)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12시 방향    15 m    편의점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2시 방향     30 m    버스정류장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예상 보행시간  40초</a:t>
            </a:r>
          </a:p>
        </p:txBody>
      </p:sp>
      <p:sp>
        <p:nvSpPr>
          <p:cNvPr id="14" name="Rounded Rectangle 9044">
            <a:extLst>
              <a:ext uri="{FF2B5EF4-FFF2-40B4-BE49-F238E27FC236}">
                <a16:creationId xmlns:a16="http://schemas.microsoft.com/office/drawing/2014/main" id="{E92BD315-2B49-38FA-BD36-D18BA5719E0F}"/>
              </a:ext>
            </a:extLst>
          </p:cNvPr>
          <p:cNvSpPr/>
          <p:nvPr/>
        </p:nvSpPr>
        <p:spPr>
          <a:xfrm>
            <a:off x="1470602" y="414292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5" name="Rounded Rectangle 9044">
            <a:extLst>
              <a:ext uri="{FF2B5EF4-FFF2-40B4-BE49-F238E27FC236}">
                <a16:creationId xmlns:a16="http://schemas.microsoft.com/office/drawing/2014/main" id="{41A37258-BA26-9F51-AA1C-962ACA2A5655}"/>
              </a:ext>
            </a:extLst>
          </p:cNvPr>
          <p:cNvSpPr/>
          <p:nvPr/>
        </p:nvSpPr>
        <p:spPr>
          <a:xfrm>
            <a:off x="1470602" y="454773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16" name="Rectangle 9027">
            <a:extLst>
              <a:ext uri="{FF2B5EF4-FFF2-40B4-BE49-F238E27FC236}">
                <a16:creationId xmlns:a16="http://schemas.microsoft.com/office/drawing/2014/main" id="{8DAABDDC-CB45-45F7-2F2A-626244346EFD}"/>
              </a:ext>
            </a:extLst>
          </p:cNvPr>
          <p:cNvSpPr/>
          <p:nvPr/>
        </p:nvSpPr>
        <p:spPr>
          <a:xfrm>
            <a:off x="142391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29">
            <a:extLst>
              <a:ext uri="{FF2B5EF4-FFF2-40B4-BE49-F238E27FC236}">
                <a16:creationId xmlns:a16="http://schemas.microsoft.com/office/drawing/2014/main" id="{4237DDFA-71B9-BD2F-4703-F7F9C68E5EA0}"/>
              </a:ext>
            </a:extLst>
          </p:cNvPr>
          <p:cNvSpPr/>
          <p:nvPr/>
        </p:nvSpPr>
        <p:spPr>
          <a:xfrm>
            <a:off x="4920292" y="17542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0">
                <a:solidFill>
                  <a:srgbClr val="FFFFFF"/>
                </a:solidFill>
                <a:latin typeface="Pretendard"/>
              </a:rPr>
              <a:t>음성 안내 중 · 화면을 눌러도 끊기지 않습니다</a:t>
            </a:r>
          </a:p>
        </p:txBody>
      </p:sp>
      <p:sp>
        <p:nvSpPr>
          <p:cNvPr id="18" name="Rounded Rectangle 9044">
            <a:extLst>
              <a:ext uri="{FF2B5EF4-FFF2-40B4-BE49-F238E27FC236}">
                <a16:creationId xmlns:a16="http://schemas.microsoft.com/office/drawing/2014/main" id="{8F1D3E65-BBFF-DE37-2623-8EAC537B0735}"/>
              </a:ext>
            </a:extLst>
          </p:cNvPr>
          <p:cNvSpPr/>
          <p:nvPr/>
        </p:nvSpPr>
        <p:spPr>
          <a:xfrm>
            <a:off x="4919863" y="3390080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시도하기</a:t>
            </a:r>
          </a:p>
        </p:txBody>
      </p:sp>
      <p:sp>
        <p:nvSpPr>
          <p:cNvPr id="19" name="Rounded Rectangle 9044">
            <a:extLst>
              <a:ext uri="{FF2B5EF4-FFF2-40B4-BE49-F238E27FC236}">
                <a16:creationId xmlns:a16="http://schemas.microsoft.com/office/drawing/2014/main" id="{3297FFE3-D285-4FC4-F016-03EBB29EFE72}"/>
              </a:ext>
            </a:extLst>
          </p:cNvPr>
          <p:cNvSpPr/>
          <p:nvPr/>
        </p:nvSpPr>
        <p:spPr>
          <a:xfrm>
            <a:off x="4919863" y="3794892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6" dirty="0">
                <a:solidFill>
                  <a:srgbClr val="14181F"/>
                </a:solidFill>
                <a:latin typeface="Pretendard"/>
              </a:rPr>
              <a:t>길안내 화면으로 돌아가기</a:t>
            </a:r>
          </a:p>
        </p:txBody>
      </p:sp>
      <p:sp>
        <p:nvSpPr>
          <p:cNvPr id="20" name="Rectangle 9027">
            <a:extLst>
              <a:ext uri="{FF2B5EF4-FFF2-40B4-BE49-F238E27FC236}">
                <a16:creationId xmlns:a16="http://schemas.microsoft.com/office/drawing/2014/main" id="{7DD4E36E-A574-FE5E-ADEA-E8A95B14CD67}"/>
              </a:ext>
            </a:extLst>
          </p:cNvPr>
          <p:cNvSpPr/>
          <p:nvPr/>
        </p:nvSpPr>
        <p:spPr>
          <a:xfrm>
            <a:off x="4873601" y="1576038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4">
            <a:extLst>
              <a:ext uri="{FF2B5EF4-FFF2-40B4-BE49-F238E27FC236}">
                <a16:creationId xmlns:a16="http://schemas.microsoft.com/office/drawing/2014/main" id="{B2B87AB5-A5E6-9222-EEF5-92995EE7A9E6}"/>
              </a:ext>
            </a:extLst>
          </p:cNvPr>
          <p:cNvSpPr/>
          <p:nvPr/>
        </p:nvSpPr>
        <p:spPr>
          <a:xfrm>
            <a:off x="4919863" y="2512344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FF7E6"/>
          </a:solidFill>
          <a:ln w="7143">
            <a:solidFill>
              <a:srgbClr val="D9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현재 </a:t>
            </a:r>
            <a:r>
              <a:rPr sz="750">
                <a:solidFill>
                  <a:srgbClr val="14181F"/>
                </a:solidFill>
                <a:latin typeface="Pretendard"/>
              </a:rPr>
              <a:t>위치 정보를 가져올 수 없습니다. </a:t>
            </a:r>
            <a:r>
              <a:rPr sz="750" b="0">
                <a:solidFill>
                  <a:srgbClr val="14181F"/>
                </a:solidFill>
                <a:latin typeface="Pretendard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14181F"/>
                </a:solidFill>
                <a:latin typeface="Pretendard"/>
              </a:rPr>
              <a:t>잠시 후 다시 이용해 주세요. 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마지막 확인 위치 — 군자역 6번 출구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확인 시각 — 2분 전</a:t>
            </a:r>
          </a:p>
        </p:txBody>
      </p:sp>
      <p:sp>
        <p:nvSpPr>
          <p:cNvPr id="22" name="탑바 구분선">
            <a:extLst>
              <a:ext uri="{FF2B5EF4-FFF2-40B4-BE49-F238E27FC236}">
                <a16:creationId xmlns:a16="http://schemas.microsoft.com/office/drawing/2014/main" id="{6F7C637C-19F1-D08A-52F6-82BE1B694D2E}"/>
              </a:ext>
            </a:extLst>
          </p:cNvPr>
          <p:cNvSpPr/>
          <p:nvPr/>
        </p:nvSpPr>
        <p:spPr>
          <a:xfrm>
            <a:off x="135211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타이틀">
            <a:extLst>
              <a:ext uri="{FF2B5EF4-FFF2-40B4-BE49-F238E27FC236}">
                <a16:creationId xmlns:a16="http://schemas.microsoft.com/office/drawing/2014/main" id="{97036D90-483B-210F-A791-169359BAB1C1}"/>
              </a:ext>
            </a:extLst>
          </p:cNvPr>
          <p:cNvSpPr txBox="1"/>
          <p:nvPr/>
        </p:nvSpPr>
        <p:spPr>
          <a:xfrm>
            <a:off x="176168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4" name="뒤로가기">
            <a:extLst>
              <a:ext uri="{FF2B5EF4-FFF2-40B4-BE49-F238E27FC236}">
                <a16:creationId xmlns:a16="http://schemas.microsoft.com/office/drawing/2014/main" id="{F5AD3AA4-1862-8D39-453B-7FE0D2DB6B92}"/>
              </a:ext>
            </a:extLst>
          </p:cNvPr>
          <p:cNvCxnSpPr/>
          <p:nvPr/>
        </p:nvCxnSpPr>
        <p:spPr>
          <a:xfrm flipH="1">
            <a:off x="149498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뒤로가기">
            <a:extLst>
              <a:ext uri="{FF2B5EF4-FFF2-40B4-BE49-F238E27FC236}">
                <a16:creationId xmlns:a16="http://schemas.microsoft.com/office/drawing/2014/main" id="{E778BAE2-92BC-0EA5-A715-FA89020B02EC}"/>
              </a:ext>
            </a:extLst>
          </p:cNvPr>
          <p:cNvCxnSpPr/>
          <p:nvPr/>
        </p:nvCxnSpPr>
        <p:spPr>
          <a:xfrm flipH="1" flipV="1">
            <a:off x="149498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음성 안내 문구">
            <a:extLst>
              <a:ext uri="{FF2B5EF4-FFF2-40B4-BE49-F238E27FC236}">
                <a16:creationId xmlns:a16="http://schemas.microsoft.com/office/drawing/2014/main" id="{8D4FC098-42B7-E85E-B8B1-DE214350F3FC}"/>
              </a:ext>
            </a:extLst>
          </p:cNvPr>
          <p:cNvSpPr txBox="1"/>
          <p:nvPr/>
        </p:nvSpPr>
        <p:spPr>
          <a:xfrm>
            <a:off x="143783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27" name="탑바 구분선">
            <a:extLst>
              <a:ext uri="{FF2B5EF4-FFF2-40B4-BE49-F238E27FC236}">
                <a16:creationId xmlns:a16="http://schemas.microsoft.com/office/drawing/2014/main" id="{D8894393-F653-2A75-B195-60F3FD77473D}"/>
              </a:ext>
            </a:extLst>
          </p:cNvPr>
          <p:cNvSpPr/>
          <p:nvPr/>
        </p:nvSpPr>
        <p:spPr>
          <a:xfrm>
            <a:off x="4801801" y="1662796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탑바 타이틀">
            <a:extLst>
              <a:ext uri="{FF2B5EF4-FFF2-40B4-BE49-F238E27FC236}">
                <a16:creationId xmlns:a16="http://schemas.microsoft.com/office/drawing/2014/main" id="{158FD7D6-E0C4-7BEA-782C-7453AE04435B}"/>
              </a:ext>
            </a:extLst>
          </p:cNvPr>
          <p:cNvSpPr txBox="1"/>
          <p:nvPr/>
        </p:nvSpPr>
        <p:spPr>
          <a:xfrm>
            <a:off x="5211376" y="1319896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29" name="뒤로가기">
            <a:extLst>
              <a:ext uri="{FF2B5EF4-FFF2-40B4-BE49-F238E27FC236}">
                <a16:creationId xmlns:a16="http://schemas.microsoft.com/office/drawing/2014/main" id="{078A3E7F-35FD-A691-B0BB-398CBD499757}"/>
              </a:ext>
            </a:extLst>
          </p:cNvPr>
          <p:cNvCxnSpPr/>
          <p:nvPr/>
        </p:nvCxnSpPr>
        <p:spPr>
          <a:xfrm flipH="1">
            <a:off x="4944676" y="138695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18F270A9-B932-2CCD-9D62-E077F41BD2C1}"/>
              </a:ext>
            </a:extLst>
          </p:cNvPr>
          <p:cNvCxnSpPr/>
          <p:nvPr/>
        </p:nvCxnSpPr>
        <p:spPr>
          <a:xfrm flipH="1" flipV="1">
            <a:off x="4944676" y="143419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음성 안내 문구">
            <a:extLst>
              <a:ext uri="{FF2B5EF4-FFF2-40B4-BE49-F238E27FC236}">
                <a16:creationId xmlns:a16="http://schemas.microsoft.com/office/drawing/2014/main" id="{83C4E71E-3108-99FE-49AC-1F18263FC62F}"/>
              </a:ext>
            </a:extLst>
          </p:cNvPr>
          <p:cNvSpPr txBox="1"/>
          <p:nvPr/>
        </p:nvSpPr>
        <p:spPr>
          <a:xfrm>
            <a:off x="4887526" y="6020674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2" name="숫자배지 1">
            <a:extLst>
              <a:ext uri="{FF2B5EF4-FFF2-40B4-BE49-F238E27FC236}">
                <a16:creationId xmlns:a16="http://schemas.microsoft.com/office/drawing/2014/main" id="{5E2A0133-01F2-318E-61B1-018E16F0016A}"/>
              </a:ext>
            </a:extLst>
          </p:cNvPr>
          <p:cNvSpPr/>
          <p:nvPr/>
        </p:nvSpPr>
        <p:spPr>
          <a:xfrm>
            <a:off x="3733545" y="112810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1-1">
            <a:extLst>
              <a:ext uri="{FF2B5EF4-FFF2-40B4-BE49-F238E27FC236}">
                <a16:creationId xmlns:a16="http://schemas.microsoft.com/office/drawing/2014/main" id="{764B130A-4D52-C35B-8A90-05281283273A}"/>
              </a:ext>
            </a:extLst>
          </p:cNvPr>
          <p:cNvSpPr/>
          <p:nvPr/>
        </p:nvSpPr>
        <p:spPr>
          <a:xfrm>
            <a:off x="1121416" y="178700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34" name="숫자배지 1-2">
            <a:extLst>
              <a:ext uri="{FF2B5EF4-FFF2-40B4-BE49-F238E27FC236}">
                <a16:creationId xmlns:a16="http://schemas.microsoft.com/office/drawing/2014/main" id="{E95D7D86-B38E-5960-EB01-A1098181C78E}"/>
              </a:ext>
            </a:extLst>
          </p:cNvPr>
          <p:cNvSpPr/>
          <p:nvPr/>
        </p:nvSpPr>
        <p:spPr>
          <a:xfrm>
            <a:off x="1208815" y="262432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35" name="숫자배지 1-3">
            <a:extLst>
              <a:ext uri="{FF2B5EF4-FFF2-40B4-BE49-F238E27FC236}">
                <a16:creationId xmlns:a16="http://schemas.microsoft.com/office/drawing/2014/main" id="{6F56C05A-F881-5BFC-353A-2CD8F6BFFB49}"/>
              </a:ext>
            </a:extLst>
          </p:cNvPr>
          <p:cNvSpPr/>
          <p:nvPr/>
        </p:nvSpPr>
        <p:spPr>
          <a:xfrm>
            <a:off x="1231144" y="3059225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36" name="숫자배지 1-4">
            <a:extLst>
              <a:ext uri="{FF2B5EF4-FFF2-40B4-BE49-F238E27FC236}">
                <a16:creationId xmlns:a16="http://schemas.microsoft.com/office/drawing/2014/main" id="{454CC1F5-3B32-11D6-09CB-C2C640CCE59A}"/>
              </a:ext>
            </a:extLst>
          </p:cNvPr>
          <p:cNvSpPr/>
          <p:nvPr/>
        </p:nvSpPr>
        <p:spPr>
          <a:xfrm>
            <a:off x="1144276" y="41939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37" name="숫자배지 2-1">
            <a:extLst>
              <a:ext uri="{FF2B5EF4-FFF2-40B4-BE49-F238E27FC236}">
                <a16:creationId xmlns:a16="http://schemas.microsoft.com/office/drawing/2014/main" id="{2D993304-83CA-CC3F-413A-675C8F346A50}"/>
              </a:ext>
            </a:extLst>
          </p:cNvPr>
          <p:cNvSpPr/>
          <p:nvPr/>
        </p:nvSpPr>
        <p:spPr>
          <a:xfrm>
            <a:off x="7195005" y="2663982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38" name="숫자배지 2">
            <a:extLst>
              <a:ext uri="{FF2B5EF4-FFF2-40B4-BE49-F238E27FC236}">
                <a16:creationId xmlns:a16="http://schemas.microsoft.com/office/drawing/2014/main" id="{DECBFEAB-6B23-04D6-D3D3-C66D2ADDB222}"/>
              </a:ext>
            </a:extLst>
          </p:cNvPr>
          <p:cNvSpPr/>
          <p:nvPr/>
        </p:nvSpPr>
        <p:spPr>
          <a:xfrm>
            <a:off x="6931070" y="111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9" name="숫자배지 2-2">
            <a:extLst>
              <a:ext uri="{FF2B5EF4-FFF2-40B4-BE49-F238E27FC236}">
                <a16:creationId xmlns:a16="http://schemas.microsoft.com/office/drawing/2014/main" id="{E3F5AC76-228C-5E2C-5576-94BEBE941BA0}"/>
              </a:ext>
            </a:extLst>
          </p:cNvPr>
          <p:cNvSpPr/>
          <p:nvPr/>
        </p:nvSpPr>
        <p:spPr>
          <a:xfrm>
            <a:off x="7231581" y="3429936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0" name="Description 패널">
            <a:extLst>
              <a:ext uri="{FF2B5EF4-FFF2-40B4-BE49-F238E27FC236}">
                <a16:creationId xmlns:a16="http://schemas.microsoft.com/office/drawing/2014/main" id="{10F6C391-3CAE-45C2-00D3-65531BCEE59C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Description 제목">
            <a:extLst>
              <a:ext uri="{FF2B5EF4-FFF2-40B4-BE49-F238E27FC236}">
                <a16:creationId xmlns:a16="http://schemas.microsoft.com/office/drawing/2014/main" id="{962E79B5-C630-54E2-5B9D-EDC5D0F5AFEE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2" name="Description 밑줄">
            <a:extLst>
              <a:ext uri="{FF2B5EF4-FFF2-40B4-BE49-F238E27FC236}">
                <a16:creationId xmlns:a16="http://schemas.microsoft.com/office/drawing/2014/main" id="{4E38FD83-311E-8433-9E3F-75D106B5E80D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3" name="Description 표">
            <a:extLst>
              <a:ext uri="{FF2B5EF4-FFF2-40B4-BE49-F238E27FC236}">
                <a16:creationId xmlns:a16="http://schemas.microsoft.com/office/drawing/2014/main" id="{A43483B1-0770-6259-983B-CD627E36D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089040"/>
              </p:ext>
            </p:extLst>
          </p:nvPr>
        </p:nvGraphicFramePr>
        <p:xfrm>
          <a:off x="8629192" y="1447800"/>
          <a:ext cx="2972409" cy="182372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앞에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무엇이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있나요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측위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실패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·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통신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두절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위치 조회 실패를 명확하게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추측하여 위치 제공하지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마지막 확인 위치 및 확인 시각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다시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시도하기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측위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실패한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경우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’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듣기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대신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제공하는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버튼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4" name="숫자배지 1-5">
            <a:extLst>
              <a:ext uri="{FF2B5EF4-FFF2-40B4-BE49-F238E27FC236}">
                <a16:creationId xmlns:a16="http://schemas.microsoft.com/office/drawing/2014/main" id="{5E2A0133-01F2-318E-61B1-018E16F0016A}"/>
              </a:ext>
            </a:extLst>
          </p:cNvPr>
          <p:cNvSpPr/>
          <p:nvPr/>
        </p:nvSpPr>
        <p:spPr>
          <a:xfrm>
            <a:off x="1104595" y="4629607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5" name="숫자배지 1-5">
            <a:extLst>
              <a:ext uri="{FF2B5EF4-FFF2-40B4-BE49-F238E27FC236}">
                <a16:creationId xmlns:a16="http://schemas.microsoft.com/office/drawing/2014/main" id="{5E2A0133-01F2-318E-61B1-018E16F0016A}"/>
              </a:ext>
            </a:extLst>
          </p:cNvPr>
          <p:cNvSpPr/>
          <p:nvPr/>
        </p:nvSpPr>
        <p:spPr>
          <a:xfrm>
            <a:off x="4553712" y="3877056"/>
            <a:ext cx="314554" cy="190195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사용자 질의 버블"/>
          <p:cNvSpPr/>
          <p:nvPr/>
        </p:nvSpPr>
        <p:spPr>
          <a:xfrm>
            <a:off x="2734056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8" name="사용자 질의 버블"/>
          <p:cNvSpPr/>
          <p:nvPr/>
        </p:nvSpPr>
        <p:spPr>
          <a:xfrm>
            <a:off x="6181344" y="2103120"/>
            <a:ext cx="1207008" cy="274320"/>
          </a:xfrm>
          <a:prstGeom prst="roundRect">
            <a:avLst>
              <a:gd name="adj" fmla="val 20833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>
                <a:solidFill>
                  <a:srgbClr val="FFFFFF"/>
                </a:solidFill>
                <a:latin typeface="Pretendard"/>
              </a:rPr>
              <a:t>내 앞에 무엇이 있나요?</a:t>
            </a:r>
          </a:p>
        </p:txBody>
      </p:sp>
      <p:sp>
        <p:nvSpPr>
          <p:cNvPr id="49" name="숫자배지 1-3-1"/>
          <p:cNvSpPr/>
          <p:nvPr/>
        </p:nvSpPr>
        <p:spPr>
          <a:xfrm>
            <a:off x="1143000" y="340156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1-3-1</a:t>
            </a:r>
          </a:p>
        </p:txBody>
      </p:sp>
      <p:sp>
        <p:nvSpPr>
          <p:cNvPr id="50" name="숫자배지 1-3-2"/>
          <p:cNvSpPr/>
          <p:nvPr/>
        </p:nvSpPr>
        <p:spPr>
          <a:xfrm>
            <a:off x="1069848" y="370332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1-3-2</a:t>
            </a:r>
          </a:p>
        </p:txBody>
      </p:sp>
    </p:spTree>
    <p:extLst>
      <p:ext uri="{BB962C8B-B14F-4D97-AF65-F5344CB8AC3E}">
        <p14:creationId xmlns:p14="http://schemas.microsoft.com/office/powerpoint/2010/main" val="3048410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시작 전/후 공통 – 긴급 안내 (1/2)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EF9FF90-8955-80D8-4120-7FEAE0418555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B7E474-9CB6-4C9A-C264-DF37CEC394CD}"/>
              </a:ext>
            </a:extLst>
          </p:cNvPr>
          <p:cNvSpPr/>
          <p:nvPr/>
        </p:nvSpPr>
        <p:spPr>
          <a:xfrm>
            <a:off x="404013" y="1193522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F3FC702-941A-15E2-FE14-78B28E7C33E1}"/>
              </a:ext>
            </a:extLst>
          </p:cNvPr>
          <p:cNvSpPr/>
          <p:nvPr/>
        </p:nvSpPr>
        <p:spPr>
          <a:xfrm>
            <a:off x="3218968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E969BC8C-EFB8-026E-E00C-AFA3F85A97EA}"/>
              </a:ext>
            </a:extLst>
          </p:cNvPr>
          <p:cNvSpPr/>
          <p:nvPr/>
        </p:nvSpPr>
        <p:spPr>
          <a:xfrm>
            <a:off x="6022366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Rectangle 9052">
            <a:extLst>
              <a:ext uri="{FF2B5EF4-FFF2-40B4-BE49-F238E27FC236}">
                <a16:creationId xmlns:a16="http://schemas.microsoft.com/office/drawing/2014/main" id="{C7D315E5-1FC0-AC21-22FE-7DA9E05A6E27}"/>
              </a:ext>
            </a:extLst>
          </p:cNvPr>
          <p:cNvSpPr/>
          <p:nvPr/>
        </p:nvSpPr>
        <p:spPr>
          <a:xfrm>
            <a:off x="6095518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Rounded Rectangle 9053">
            <a:extLst>
              <a:ext uri="{FF2B5EF4-FFF2-40B4-BE49-F238E27FC236}">
                <a16:creationId xmlns:a16="http://schemas.microsoft.com/office/drawing/2014/main" id="{6F0E9233-5389-3C63-BA0A-48FDBC5A74EB}"/>
              </a:ext>
            </a:extLst>
          </p:cNvPr>
          <p:cNvSpPr/>
          <p:nvPr/>
        </p:nvSpPr>
        <p:spPr>
          <a:xfrm>
            <a:off x="6137018" y="328228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끝났어요.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아까 하던 시청역 길 안내를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이어갈까요?</a:t>
            </a:r>
          </a:p>
        </p:txBody>
      </p:sp>
      <p:sp>
        <p:nvSpPr>
          <p:cNvPr id="14" name="Rounded Rectangle 9056">
            <a:extLst>
              <a:ext uri="{FF2B5EF4-FFF2-40B4-BE49-F238E27FC236}">
                <a16:creationId xmlns:a16="http://schemas.microsoft.com/office/drawing/2014/main" id="{1BE39573-C23F-07D2-2550-3D320BE7DB23}"/>
              </a:ext>
            </a:extLst>
          </p:cNvPr>
          <p:cNvSpPr/>
          <p:nvPr/>
        </p:nvSpPr>
        <p:spPr>
          <a:xfrm>
            <a:off x="6155306" y="4187537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이어서 안내</a:t>
            </a:r>
          </a:p>
        </p:txBody>
      </p:sp>
      <p:sp>
        <p:nvSpPr>
          <p:cNvPr id="15" name="Rounded Rectangle 9058">
            <a:extLst>
              <a:ext uri="{FF2B5EF4-FFF2-40B4-BE49-F238E27FC236}">
                <a16:creationId xmlns:a16="http://schemas.microsoft.com/office/drawing/2014/main" id="{99ACA2A7-0A4C-5E22-17F5-AF55290EC9CE}"/>
              </a:ext>
            </a:extLst>
          </p:cNvPr>
          <p:cNvSpPr/>
          <p:nvPr/>
        </p:nvSpPr>
        <p:spPr>
          <a:xfrm>
            <a:off x="6155306" y="4592350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38">
            <a:extLst>
              <a:ext uri="{FF2B5EF4-FFF2-40B4-BE49-F238E27FC236}">
                <a16:creationId xmlns:a16="http://schemas.microsoft.com/office/drawing/2014/main" id="{272ABD9D-B834-752F-2013-938C586B3581}"/>
              </a:ext>
            </a:extLst>
          </p:cNvPr>
          <p:cNvSpPr/>
          <p:nvPr/>
        </p:nvSpPr>
        <p:spPr>
          <a:xfrm>
            <a:off x="498359" y="1549733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39">
            <a:extLst>
              <a:ext uri="{FF2B5EF4-FFF2-40B4-BE49-F238E27FC236}">
                <a16:creationId xmlns:a16="http://schemas.microsoft.com/office/drawing/2014/main" id="{6BD1AB67-5283-09BA-8FA9-19EB4EDA6DAB}"/>
              </a:ext>
            </a:extLst>
          </p:cNvPr>
          <p:cNvSpPr/>
          <p:nvPr/>
        </p:nvSpPr>
        <p:spPr>
          <a:xfrm>
            <a:off x="553223" y="16960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8" name="Rounded Rectangle 9042">
            <a:extLst>
              <a:ext uri="{FF2B5EF4-FFF2-40B4-BE49-F238E27FC236}">
                <a16:creationId xmlns:a16="http://schemas.microsoft.com/office/drawing/2014/main" id="{189F725B-B2EE-D9C4-6E03-D94CF9CF0FBF}"/>
              </a:ext>
            </a:extLst>
          </p:cNvPr>
          <p:cNvSpPr/>
          <p:nvPr/>
        </p:nvSpPr>
        <p:spPr>
          <a:xfrm>
            <a:off x="553223" y="202522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9" name="Rounded Rectangle 9033">
            <a:extLst>
              <a:ext uri="{FF2B5EF4-FFF2-40B4-BE49-F238E27FC236}">
                <a16:creationId xmlns:a16="http://schemas.microsoft.com/office/drawing/2014/main" id="{C6425F9E-B7DC-7151-7566-4716B031B0F0}"/>
              </a:ext>
            </a:extLst>
          </p:cNvPr>
          <p:cNvSpPr/>
          <p:nvPr/>
        </p:nvSpPr>
        <p:spPr>
          <a:xfrm>
            <a:off x="6296148" y="1646898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0" name="Rectangle 9038">
            <a:extLst>
              <a:ext uri="{FF2B5EF4-FFF2-40B4-BE49-F238E27FC236}">
                <a16:creationId xmlns:a16="http://schemas.microsoft.com/office/drawing/2014/main" id="{1F6A6710-FA15-1047-84AD-19DC272B35E3}"/>
              </a:ext>
            </a:extLst>
          </p:cNvPr>
          <p:cNvSpPr/>
          <p:nvPr/>
        </p:nvSpPr>
        <p:spPr>
          <a:xfrm>
            <a:off x="6058404" y="1880785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9">
            <a:extLst>
              <a:ext uri="{FF2B5EF4-FFF2-40B4-BE49-F238E27FC236}">
                <a16:creationId xmlns:a16="http://schemas.microsoft.com/office/drawing/2014/main" id="{0938D998-52D0-24F3-CD6B-6D0B30DA2878}"/>
              </a:ext>
            </a:extLst>
          </p:cNvPr>
          <p:cNvSpPr/>
          <p:nvPr/>
        </p:nvSpPr>
        <p:spPr>
          <a:xfrm>
            <a:off x="6113268" y="2027089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2" name="Rounded Rectangle 9042">
            <a:extLst>
              <a:ext uri="{FF2B5EF4-FFF2-40B4-BE49-F238E27FC236}">
                <a16:creationId xmlns:a16="http://schemas.microsoft.com/office/drawing/2014/main" id="{D8E84789-1076-48A2-E217-643FA2318EDD}"/>
              </a:ext>
            </a:extLst>
          </p:cNvPr>
          <p:cNvSpPr/>
          <p:nvPr/>
        </p:nvSpPr>
        <p:spPr>
          <a:xfrm>
            <a:off x="6113268" y="2356273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23" name="Rectangle 9027">
            <a:extLst>
              <a:ext uri="{FF2B5EF4-FFF2-40B4-BE49-F238E27FC236}">
                <a16:creationId xmlns:a16="http://schemas.microsoft.com/office/drawing/2014/main" id="{E80F898F-E264-692D-27B9-6DD1A27EC8D3}"/>
              </a:ext>
            </a:extLst>
          </p:cNvPr>
          <p:cNvSpPr/>
          <p:nvPr/>
        </p:nvSpPr>
        <p:spPr>
          <a:xfrm>
            <a:off x="3292120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4" name="Rounded Rectangle 9028">
            <a:extLst>
              <a:ext uri="{FF2B5EF4-FFF2-40B4-BE49-F238E27FC236}">
                <a16:creationId xmlns:a16="http://schemas.microsoft.com/office/drawing/2014/main" id="{EBACFDC8-3A45-6AD5-4389-B25F8DA05E0F}"/>
              </a:ext>
            </a:extLst>
          </p:cNvPr>
          <p:cNvSpPr/>
          <p:nvPr/>
        </p:nvSpPr>
        <p:spPr>
          <a:xfrm>
            <a:off x="4288816" y="1739550"/>
            <a:ext cx="1508760" cy="288036"/>
          </a:xfrm>
          <a:prstGeom prst="roundRect">
            <a:avLst>
              <a:gd name="adj" fmla="val 36375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안내해줘</a:t>
            </a:r>
          </a:p>
        </p:txBody>
      </p:sp>
      <p:sp>
        <p:nvSpPr>
          <p:cNvPr id="25" name="Rounded Rectangle 9030">
            <a:extLst>
              <a:ext uri="{FF2B5EF4-FFF2-40B4-BE49-F238E27FC236}">
                <a16:creationId xmlns:a16="http://schemas.microsoft.com/office/drawing/2014/main" id="{404F4F4A-EFC1-F1DD-604D-6873FACCED1E}"/>
              </a:ext>
            </a:extLst>
          </p:cNvPr>
          <p:cNvSpPr/>
          <p:nvPr/>
        </p:nvSpPr>
        <p:spPr>
          <a:xfrm>
            <a:off x="3346984" y="2201322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도착했어요.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안내를 잠시 멈추고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안내부터 전해드릴게요.</a:t>
            </a:r>
          </a:p>
        </p:txBody>
      </p:sp>
      <p:sp>
        <p:nvSpPr>
          <p:cNvPr id="26" name="Rounded Rectangle 9033">
            <a:extLst>
              <a:ext uri="{FF2B5EF4-FFF2-40B4-BE49-F238E27FC236}">
                <a16:creationId xmlns:a16="http://schemas.microsoft.com/office/drawing/2014/main" id="{4C350D9F-9586-3DDB-0323-594A74EF82F0}"/>
              </a:ext>
            </a:extLst>
          </p:cNvPr>
          <p:cNvSpPr/>
          <p:nvPr/>
        </p:nvSpPr>
        <p:spPr>
          <a:xfrm>
            <a:off x="3548152" y="3161442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7" name="Rectangle 9038">
            <a:extLst>
              <a:ext uri="{FF2B5EF4-FFF2-40B4-BE49-F238E27FC236}">
                <a16:creationId xmlns:a16="http://schemas.microsoft.com/office/drawing/2014/main" id="{33E0EFD3-4C54-AD67-DAAE-A45D8F7F13C8}"/>
              </a:ext>
            </a:extLst>
          </p:cNvPr>
          <p:cNvSpPr/>
          <p:nvPr/>
        </p:nvSpPr>
        <p:spPr>
          <a:xfrm>
            <a:off x="3310408" y="3395329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8" name="Rounded Rectangle 9039">
            <a:extLst>
              <a:ext uri="{FF2B5EF4-FFF2-40B4-BE49-F238E27FC236}">
                <a16:creationId xmlns:a16="http://schemas.microsoft.com/office/drawing/2014/main" id="{58A0112E-E1FA-1506-E7E7-8E37A65D114E}"/>
              </a:ext>
            </a:extLst>
          </p:cNvPr>
          <p:cNvSpPr/>
          <p:nvPr/>
        </p:nvSpPr>
        <p:spPr>
          <a:xfrm>
            <a:off x="3365272" y="3541633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9" name="Rounded Rectangle 9042">
            <a:extLst>
              <a:ext uri="{FF2B5EF4-FFF2-40B4-BE49-F238E27FC236}">
                <a16:creationId xmlns:a16="http://schemas.microsoft.com/office/drawing/2014/main" id="{CFF8AA1A-CBA5-2346-35D7-EDFBF04B92CD}"/>
              </a:ext>
            </a:extLst>
          </p:cNvPr>
          <p:cNvSpPr/>
          <p:nvPr/>
        </p:nvSpPr>
        <p:spPr>
          <a:xfrm>
            <a:off x="3365272" y="3870817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30" name="Rounded Rectangle 9058">
            <a:extLst>
              <a:ext uri="{FF2B5EF4-FFF2-40B4-BE49-F238E27FC236}">
                <a16:creationId xmlns:a16="http://schemas.microsoft.com/office/drawing/2014/main" id="{8912AF5D-C0E9-0CCD-A82C-7D78FC9C8CAA}"/>
              </a:ext>
            </a:extLst>
          </p:cNvPr>
          <p:cNvSpPr/>
          <p:nvPr/>
        </p:nvSpPr>
        <p:spPr>
          <a:xfrm>
            <a:off x="561523" y="2844258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14E77A0F-A373-1968-AFF8-C4EB0A2E31F4}"/>
              </a:ext>
            </a:extLst>
          </p:cNvPr>
          <p:cNvSpPr/>
          <p:nvPr/>
        </p:nvSpPr>
        <p:spPr>
          <a:xfrm>
            <a:off x="413538" y="1650722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탑바 타이틀">
            <a:extLst>
              <a:ext uri="{FF2B5EF4-FFF2-40B4-BE49-F238E27FC236}">
                <a16:creationId xmlns:a16="http://schemas.microsoft.com/office/drawing/2014/main" id="{DA73CFE9-745E-3048-5E96-B546397165D1}"/>
              </a:ext>
            </a:extLst>
          </p:cNvPr>
          <p:cNvSpPr txBox="1"/>
          <p:nvPr/>
        </p:nvSpPr>
        <p:spPr>
          <a:xfrm>
            <a:off x="823113" y="1307822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20AB3A00-75D9-61ED-CC85-5659812FB45E}"/>
              </a:ext>
            </a:extLst>
          </p:cNvPr>
          <p:cNvCxnSpPr/>
          <p:nvPr/>
        </p:nvCxnSpPr>
        <p:spPr>
          <a:xfrm flipH="1">
            <a:off x="556413" y="137487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062E79F7-2236-8460-BC6B-F3DF1A9CEFA9}"/>
              </a:ext>
            </a:extLst>
          </p:cNvPr>
          <p:cNvCxnSpPr/>
          <p:nvPr/>
        </p:nvCxnSpPr>
        <p:spPr>
          <a:xfrm flipH="1" flipV="1">
            <a:off x="556413" y="142212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E0514896-967F-D539-8EE2-C25A2A3E8FE6}"/>
              </a:ext>
            </a:extLst>
          </p:cNvPr>
          <p:cNvSpPr txBox="1"/>
          <p:nvPr/>
        </p:nvSpPr>
        <p:spPr>
          <a:xfrm>
            <a:off x="499263" y="6008600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6" name="탑바 구분선">
            <a:extLst>
              <a:ext uri="{FF2B5EF4-FFF2-40B4-BE49-F238E27FC236}">
                <a16:creationId xmlns:a16="http://schemas.microsoft.com/office/drawing/2014/main" id="{FE0FAD34-6AAF-3B14-0826-4D418B82FD61}"/>
              </a:ext>
            </a:extLst>
          </p:cNvPr>
          <p:cNvSpPr/>
          <p:nvPr/>
        </p:nvSpPr>
        <p:spPr>
          <a:xfrm>
            <a:off x="3228492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탑바 타이틀">
            <a:extLst>
              <a:ext uri="{FF2B5EF4-FFF2-40B4-BE49-F238E27FC236}">
                <a16:creationId xmlns:a16="http://schemas.microsoft.com/office/drawing/2014/main" id="{7DAD1626-FCEF-86FC-3D71-F427197DCFDF}"/>
              </a:ext>
            </a:extLst>
          </p:cNvPr>
          <p:cNvSpPr txBox="1"/>
          <p:nvPr/>
        </p:nvSpPr>
        <p:spPr>
          <a:xfrm>
            <a:off x="3638068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8" name="뒤로가기">
            <a:extLst>
              <a:ext uri="{FF2B5EF4-FFF2-40B4-BE49-F238E27FC236}">
                <a16:creationId xmlns:a16="http://schemas.microsoft.com/office/drawing/2014/main" id="{8115DE22-99AF-5BA1-C08F-5E43022DBA6E}"/>
              </a:ext>
            </a:extLst>
          </p:cNvPr>
          <p:cNvCxnSpPr/>
          <p:nvPr/>
        </p:nvCxnSpPr>
        <p:spPr>
          <a:xfrm flipH="1">
            <a:off x="3371368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뒤로가기">
            <a:extLst>
              <a:ext uri="{FF2B5EF4-FFF2-40B4-BE49-F238E27FC236}">
                <a16:creationId xmlns:a16="http://schemas.microsoft.com/office/drawing/2014/main" id="{CE858F3A-A53B-E0F7-14F9-5726F549F231}"/>
              </a:ext>
            </a:extLst>
          </p:cNvPr>
          <p:cNvCxnSpPr/>
          <p:nvPr/>
        </p:nvCxnSpPr>
        <p:spPr>
          <a:xfrm flipH="1" flipV="1">
            <a:off x="3371368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음성 안내 문구">
            <a:extLst>
              <a:ext uri="{FF2B5EF4-FFF2-40B4-BE49-F238E27FC236}">
                <a16:creationId xmlns:a16="http://schemas.microsoft.com/office/drawing/2014/main" id="{74A48ADB-5604-E5E3-3A1C-BD5F17F96BE1}"/>
              </a:ext>
            </a:extLst>
          </p:cNvPr>
          <p:cNvSpPr txBox="1"/>
          <p:nvPr/>
        </p:nvSpPr>
        <p:spPr>
          <a:xfrm>
            <a:off x="3314218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5932AF88-5E18-4DD9-AF8A-86D6FEEF3547}"/>
              </a:ext>
            </a:extLst>
          </p:cNvPr>
          <p:cNvSpPr/>
          <p:nvPr/>
        </p:nvSpPr>
        <p:spPr>
          <a:xfrm>
            <a:off x="6031890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6240A98E-F5FE-AF71-B5A7-0AD9E026F2B0}"/>
              </a:ext>
            </a:extLst>
          </p:cNvPr>
          <p:cNvSpPr txBox="1"/>
          <p:nvPr/>
        </p:nvSpPr>
        <p:spPr>
          <a:xfrm>
            <a:off x="6441466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12127EAA-7A58-260E-D1BE-1CAE5B1B6A30}"/>
              </a:ext>
            </a:extLst>
          </p:cNvPr>
          <p:cNvCxnSpPr/>
          <p:nvPr/>
        </p:nvCxnSpPr>
        <p:spPr>
          <a:xfrm flipH="1">
            <a:off x="6174766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BD702AC2-C393-E712-4B30-B60284212409}"/>
              </a:ext>
            </a:extLst>
          </p:cNvPr>
          <p:cNvCxnSpPr/>
          <p:nvPr/>
        </p:nvCxnSpPr>
        <p:spPr>
          <a:xfrm flipH="1" flipV="1">
            <a:off x="6174766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7A2917A0-2370-1E37-4A82-89DDD4E3CD6D}"/>
              </a:ext>
            </a:extLst>
          </p:cNvPr>
          <p:cNvSpPr txBox="1"/>
          <p:nvPr/>
        </p:nvSpPr>
        <p:spPr>
          <a:xfrm>
            <a:off x="6117616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6" name="Description 패널">
            <a:extLst>
              <a:ext uri="{FF2B5EF4-FFF2-40B4-BE49-F238E27FC236}">
                <a16:creationId xmlns:a16="http://schemas.microsoft.com/office/drawing/2014/main" id="{B4187E84-D50D-117C-D462-13FF16D3CC67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Description 제목">
            <a:extLst>
              <a:ext uri="{FF2B5EF4-FFF2-40B4-BE49-F238E27FC236}">
                <a16:creationId xmlns:a16="http://schemas.microsoft.com/office/drawing/2014/main" id="{4E411654-A1D7-14FD-05FE-6EA544A427D0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8" name="Description 밑줄">
            <a:extLst>
              <a:ext uri="{FF2B5EF4-FFF2-40B4-BE49-F238E27FC236}">
                <a16:creationId xmlns:a16="http://schemas.microsoft.com/office/drawing/2014/main" id="{9F255F5F-CAC1-08DE-5CA4-CD056FB8D492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14228"/>
              </p:ext>
            </p:extLst>
          </p:nvPr>
        </p:nvGraphicFramePr>
        <p:xfrm>
          <a:off x="9277502" y="1447801"/>
          <a:ext cx="2553309" cy="34539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긴급안내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우회 · 지연 · 사고 · 플랫폼 변경을 먼저 송출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★ 3단 흐름은 음성 전용 모드 안에서만 적용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★ 그 밖의 화면은 공통 긴급 안내 팝업으로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3채널 동시 · 전용 진동 패턴 · 임의 종료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 전용 모드 대기 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발화 전에 긴급 안내가 온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자동으로 채팅을 시작하여 긴급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음성인식 채팅 중 발생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기존 응답을 중단하고 긴급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포커스를 긴급 영역으로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1" name="숫자배지 3">
            <a:extLst>
              <a:ext uri="{FF2B5EF4-FFF2-40B4-BE49-F238E27FC236}">
                <a16:creationId xmlns:a16="http://schemas.microsoft.com/office/drawing/2014/main" id="{EBD2A224-5652-7E8C-DA38-7C2F19C41305}"/>
              </a:ext>
            </a:extLst>
          </p:cNvPr>
          <p:cNvSpPr/>
          <p:nvPr/>
        </p:nvSpPr>
        <p:spPr>
          <a:xfrm>
            <a:off x="8198510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2" name="숫자배지 1">
            <a:extLst>
              <a:ext uri="{FF2B5EF4-FFF2-40B4-BE49-F238E27FC236}">
                <a16:creationId xmlns:a16="http://schemas.microsoft.com/office/drawing/2014/main" id="{F057F494-6A9D-5E34-2C1B-86BD26D5CA86}"/>
              </a:ext>
            </a:extLst>
          </p:cNvPr>
          <p:cNvSpPr/>
          <p:nvPr/>
        </p:nvSpPr>
        <p:spPr>
          <a:xfrm>
            <a:off x="2667915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4E17AA50-BE28-7F45-15D0-FBBCAC7839E9}"/>
              </a:ext>
            </a:extLst>
          </p:cNvPr>
          <p:cNvSpPr/>
          <p:nvPr/>
        </p:nvSpPr>
        <p:spPr>
          <a:xfrm>
            <a:off x="5391430" y="111466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시작 전/후 공통 – 긴급 안내 (2/2)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EF9FF90-8955-80D8-4120-7FEAE0418555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B7E474-9CB6-4C9A-C264-DF37CEC394CD}"/>
              </a:ext>
            </a:extLst>
          </p:cNvPr>
          <p:cNvSpPr/>
          <p:nvPr/>
        </p:nvSpPr>
        <p:spPr>
          <a:xfrm>
            <a:off x="404013" y="1193522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F3FC702-941A-15E2-FE14-78B28E7C33E1}"/>
              </a:ext>
            </a:extLst>
          </p:cNvPr>
          <p:cNvSpPr/>
          <p:nvPr/>
        </p:nvSpPr>
        <p:spPr>
          <a:xfrm>
            <a:off x="3218968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E969BC8C-EFB8-026E-E00C-AFA3F85A97EA}"/>
              </a:ext>
            </a:extLst>
          </p:cNvPr>
          <p:cNvSpPr/>
          <p:nvPr/>
        </p:nvSpPr>
        <p:spPr>
          <a:xfrm>
            <a:off x="6022366" y="1190910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Rectangle 9052">
            <a:extLst>
              <a:ext uri="{FF2B5EF4-FFF2-40B4-BE49-F238E27FC236}">
                <a16:creationId xmlns:a16="http://schemas.microsoft.com/office/drawing/2014/main" id="{C7D315E5-1FC0-AC21-22FE-7DA9E05A6E27}"/>
              </a:ext>
            </a:extLst>
          </p:cNvPr>
          <p:cNvSpPr/>
          <p:nvPr/>
        </p:nvSpPr>
        <p:spPr>
          <a:xfrm>
            <a:off x="6095518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Rounded Rectangle 9053">
            <a:extLst>
              <a:ext uri="{FF2B5EF4-FFF2-40B4-BE49-F238E27FC236}">
                <a16:creationId xmlns:a16="http://schemas.microsoft.com/office/drawing/2014/main" id="{6F0E9233-5389-3C63-BA0A-48FDBC5A74EB}"/>
              </a:ext>
            </a:extLst>
          </p:cNvPr>
          <p:cNvSpPr/>
          <p:nvPr/>
        </p:nvSpPr>
        <p:spPr>
          <a:xfrm>
            <a:off x="6137018" y="328228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끝났어요.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아까 하던 시청역 길 안내를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이어갈까요?</a:t>
            </a:r>
          </a:p>
        </p:txBody>
      </p:sp>
      <p:sp>
        <p:nvSpPr>
          <p:cNvPr id="14" name="Rounded Rectangle 9056">
            <a:extLst>
              <a:ext uri="{FF2B5EF4-FFF2-40B4-BE49-F238E27FC236}">
                <a16:creationId xmlns:a16="http://schemas.microsoft.com/office/drawing/2014/main" id="{1BE39573-C23F-07D2-2550-3D320BE7DB23}"/>
              </a:ext>
            </a:extLst>
          </p:cNvPr>
          <p:cNvSpPr/>
          <p:nvPr/>
        </p:nvSpPr>
        <p:spPr>
          <a:xfrm>
            <a:off x="6155306" y="4187537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이어서 안내</a:t>
            </a:r>
          </a:p>
        </p:txBody>
      </p:sp>
      <p:sp>
        <p:nvSpPr>
          <p:cNvPr id="15" name="Rounded Rectangle 9058">
            <a:extLst>
              <a:ext uri="{FF2B5EF4-FFF2-40B4-BE49-F238E27FC236}">
                <a16:creationId xmlns:a16="http://schemas.microsoft.com/office/drawing/2014/main" id="{99ACA2A7-0A4C-5E22-17F5-AF55290EC9CE}"/>
              </a:ext>
            </a:extLst>
          </p:cNvPr>
          <p:cNvSpPr/>
          <p:nvPr/>
        </p:nvSpPr>
        <p:spPr>
          <a:xfrm>
            <a:off x="6155306" y="4592350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6" name="Rectangle 9038">
            <a:extLst>
              <a:ext uri="{FF2B5EF4-FFF2-40B4-BE49-F238E27FC236}">
                <a16:creationId xmlns:a16="http://schemas.microsoft.com/office/drawing/2014/main" id="{272ABD9D-B834-752F-2013-938C586B3581}"/>
              </a:ext>
            </a:extLst>
          </p:cNvPr>
          <p:cNvSpPr/>
          <p:nvPr/>
        </p:nvSpPr>
        <p:spPr>
          <a:xfrm>
            <a:off x="498359" y="1549733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Rounded Rectangle 9039">
            <a:extLst>
              <a:ext uri="{FF2B5EF4-FFF2-40B4-BE49-F238E27FC236}">
                <a16:creationId xmlns:a16="http://schemas.microsoft.com/office/drawing/2014/main" id="{6BD1AB67-5283-09BA-8FA9-19EB4EDA6DAB}"/>
              </a:ext>
            </a:extLst>
          </p:cNvPr>
          <p:cNvSpPr/>
          <p:nvPr/>
        </p:nvSpPr>
        <p:spPr>
          <a:xfrm>
            <a:off x="553223" y="1696037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18" name="Rounded Rectangle 9042">
            <a:extLst>
              <a:ext uri="{FF2B5EF4-FFF2-40B4-BE49-F238E27FC236}">
                <a16:creationId xmlns:a16="http://schemas.microsoft.com/office/drawing/2014/main" id="{189F725B-B2EE-D9C4-6E03-D94CF9CF0FBF}"/>
              </a:ext>
            </a:extLst>
          </p:cNvPr>
          <p:cNvSpPr/>
          <p:nvPr/>
        </p:nvSpPr>
        <p:spPr>
          <a:xfrm>
            <a:off x="553223" y="2025221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19" name="Rounded Rectangle 9033">
            <a:extLst>
              <a:ext uri="{FF2B5EF4-FFF2-40B4-BE49-F238E27FC236}">
                <a16:creationId xmlns:a16="http://schemas.microsoft.com/office/drawing/2014/main" id="{C6425F9E-B7DC-7151-7566-4716B031B0F0}"/>
              </a:ext>
            </a:extLst>
          </p:cNvPr>
          <p:cNvSpPr/>
          <p:nvPr/>
        </p:nvSpPr>
        <p:spPr>
          <a:xfrm>
            <a:off x="6296148" y="1646898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0" name="Rectangle 9038">
            <a:extLst>
              <a:ext uri="{FF2B5EF4-FFF2-40B4-BE49-F238E27FC236}">
                <a16:creationId xmlns:a16="http://schemas.microsoft.com/office/drawing/2014/main" id="{1F6A6710-FA15-1047-84AD-19DC272B35E3}"/>
              </a:ext>
            </a:extLst>
          </p:cNvPr>
          <p:cNvSpPr/>
          <p:nvPr/>
        </p:nvSpPr>
        <p:spPr>
          <a:xfrm>
            <a:off x="6058404" y="1880785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Rounded Rectangle 9039">
            <a:extLst>
              <a:ext uri="{FF2B5EF4-FFF2-40B4-BE49-F238E27FC236}">
                <a16:creationId xmlns:a16="http://schemas.microsoft.com/office/drawing/2014/main" id="{0938D998-52D0-24F3-CD6B-6D0B30DA2878}"/>
              </a:ext>
            </a:extLst>
          </p:cNvPr>
          <p:cNvSpPr/>
          <p:nvPr/>
        </p:nvSpPr>
        <p:spPr>
          <a:xfrm>
            <a:off x="6113268" y="2027089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2" name="Rounded Rectangle 9042">
            <a:extLst>
              <a:ext uri="{FF2B5EF4-FFF2-40B4-BE49-F238E27FC236}">
                <a16:creationId xmlns:a16="http://schemas.microsoft.com/office/drawing/2014/main" id="{D8E84789-1076-48A2-E217-643FA2318EDD}"/>
              </a:ext>
            </a:extLst>
          </p:cNvPr>
          <p:cNvSpPr/>
          <p:nvPr/>
        </p:nvSpPr>
        <p:spPr>
          <a:xfrm>
            <a:off x="6113268" y="2356273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23" name="Rectangle 9027">
            <a:extLst>
              <a:ext uri="{FF2B5EF4-FFF2-40B4-BE49-F238E27FC236}">
                <a16:creationId xmlns:a16="http://schemas.microsoft.com/office/drawing/2014/main" id="{E80F898F-E264-692D-27B9-6DD1A27EC8D3}"/>
              </a:ext>
            </a:extLst>
          </p:cNvPr>
          <p:cNvSpPr/>
          <p:nvPr/>
        </p:nvSpPr>
        <p:spPr>
          <a:xfrm>
            <a:off x="3292120" y="1556670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4" name="Rounded Rectangle 9028">
            <a:extLst>
              <a:ext uri="{FF2B5EF4-FFF2-40B4-BE49-F238E27FC236}">
                <a16:creationId xmlns:a16="http://schemas.microsoft.com/office/drawing/2014/main" id="{EBACFDC8-3A45-6AD5-4389-B25F8DA05E0F}"/>
              </a:ext>
            </a:extLst>
          </p:cNvPr>
          <p:cNvSpPr/>
          <p:nvPr/>
        </p:nvSpPr>
        <p:spPr>
          <a:xfrm>
            <a:off x="4288816" y="1739550"/>
            <a:ext cx="1508760" cy="288036"/>
          </a:xfrm>
          <a:prstGeom prst="roundRect">
            <a:avLst>
              <a:gd name="adj" fmla="val 36375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안내해줘</a:t>
            </a:r>
          </a:p>
        </p:txBody>
      </p:sp>
      <p:sp>
        <p:nvSpPr>
          <p:cNvPr id="25" name="Rounded Rectangle 9030">
            <a:extLst>
              <a:ext uri="{FF2B5EF4-FFF2-40B4-BE49-F238E27FC236}">
                <a16:creationId xmlns:a16="http://schemas.microsoft.com/office/drawing/2014/main" id="{404F4F4A-EFC1-F1DD-604D-6873FACCED1E}"/>
              </a:ext>
            </a:extLst>
          </p:cNvPr>
          <p:cNvSpPr/>
          <p:nvPr/>
        </p:nvSpPr>
        <p:spPr>
          <a:xfrm>
            <a:off x="3346984" y="2201322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안내가 도착했어요.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안내를 잠시 멈추고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긴급 안내부터 전해드릴게요.</a:t>
            </a:r>
          </a:p>
        </p:txBody>
      </p:sp>
      <p:sp>
        <p:nvSpPr>
          <p:cNvPr id="26" name="Rounded Rectangle 9033">
            <a:extLst>
              <a:ext uri="{FF2B5EF4-FFF2-40B4-BE49-F238E27FC236}">
                <a16:creationId xmlns:a16="http://schemas.microsoft.com/office/drawing/2014/main" id="{4C350D9F-9586-3DDB-0323-594A74EF82F0}"/>
              </a:ext>
            </a:extLst>
          </p:cNvPr>
          <p:cNvSpPr/>
          <p:nvPr/>
        </p:nvSpPr>
        <p:spPr>
          <a:xfrm>
            <a:off x="3548152" y="3161442"/>
            <a:ext cx="2066544" cy="256032"/>
          </a:xfrm>
          <a:prstGeom prst="roundRect">
            <a:avLst>
              <a:gd name="adj" fmla="val 2976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767676"/>
                </a:solidFill>
                <a:latin typeface="Pretendard"/>
              </a:rPr>
              <a:t>진행 중 TTS 중단</a:t>
            </a:r>
          </a:p>
        </p:txBody>
      </p:sp>
      <p:sp>
        <p:nvSpPr>
          <p:cNvPr id="27" name="Rectangle 9038">
            <a:extLst>
              <a:ext uri="{FF2B5EF4-FFF2-40B4-BE49-F238E27FC236}">
                <a16:creationId xmlns:a16="http://schemas.microsoft.com/office/drawing/2014/main" id="{33E0EFD3-4C54-AD67-DAAE-A45D8F7F13C8}"/>
              </a:ext>
            </a:extLst>
          </p:cNvPr>
          <p:cNvSpPr/>
          <p:nvPr/>
        </p:nvSpPr>
        <p:spPr>
          <a:xfrm>
            <a:off x="3310408" y="3395329"/>
            <a:ext cx="2578608" cy="548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8" name="Rounded Rectangle 9039">
            <a:extLst>
              <a:ext uri="{FF2B5EF4-FFF2-40B4-BE49-F238E27FC236}">
                <a16:creationId xmlns:a16="http://schemas.microsoft.com/office/drawing/2014/main" id="{58A0112E-E1FA-1506-E7E7-8E37A65D114E}"/>
              </a:ext>
            </a:extLst>
          </p:cNvPr>
          <p:cNvSpPr/>
          <p:nvPr/>
        </p:nvSpPr>
        <p:spPr>
          <a:xfrm>
            <a:off x="3365272" y="3541633"/>
            <a:ext cx="2468880" cy="256032"/>
          </a:xfrm>
          <a:prstGeom prst="roundRect">
            <a:avLst>
              <a:gd name="adj" fmla="val 29761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800" b="1">
                <a:solidFill>
                  <a:srgbClr val="FFFFFF"/>
                </a:solidFill>
                <a:latin typeface="Pretendard"/>
              </a:rPr>
              <a:t>⚠  긴급 안내</a:t>
            </a:r>
          </a:p>
        </p:txBody>
      </p:sp>
      <p:sp>
        <p:nvSpPr>
          <p:cNvPr id="29" name="Rounded Rectangle 9042">
            <a:extLst>
              <a:ext uri="{FF2B5EF4-FFF2-40B4-BE49-F238E27FC236}">
                <a16:creationId xmlns:a16="http://schemas.microsoft.com/office/drawing/2014/main" id="{CFF8AA1A-CBA5-2346-35D7-EDFBF04B92CD}"/>
              </a:ext>
            </a:extLst>
          </p:cNvPr>
          <p:cNvSpPr/>
          <p:nvPr/>
        </p:nvSpPr>
        <p:spPr>
          <a:xfrm>
            <a:off x="3365272" y="3870817"/>
            <a:ext cx="2468880" cy="722376"/>
          </a:xfrm>
          <a:prstGeom prst="roundRect">
            <a:avLst>
              <a:gd name="adj" fmla="val 18459"/>
            </a:avLst>
          </a:prstGeom>
          <a:solidFill>
            <a:srgbClr val="FDF2F2"/>
          </a:solidFill>
          <a:ln w="7143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740번 버스가 집회로 우회 운행 중이에요.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두 정거장 뒤 '시청앞' 대신</a:t>
            </a:r>
          </a:p>
          <a:p>
            <a:pPr algn="ctr">
              <a:lnSpc>
                <a:spcPct val="110000"/>
              </a:lnSpc>
            </a:pPr>
            <a:r>
              <a:rPr sz="750" b="0">
                <a:solidFill>
                  <a:srgbClr val="14181F"/>
                </a:solidFill>
                <a:latin typeface="Pretendard"/>
              </a:rPr>
              <a:t>'덕수궁' 정류장에 정차합니다.</a:t>
            </a:r>
          </a:p>
        </p:txBody>
      </p:sp>
      <p:sp>
        <p:nvSpPr>
          <p:cNvPr id="30" name="Rounded Rectangle 9058">
            <a:extLst>
              <a:ext uri="{FF2B5EF4-FFF2-40B4-BE49-F238E27FC236}">
                <a16:creationId xmlns:a16="http://schemas.microsoft.com/office/drawing/2014/main" id="{8912AF5D-C0E9-0CCD-A82C-7D78FC9C8CAA}"/>
              </a:ext>
            </a:extLst>
          </p:cNvPr>
          <p:cNvSpPr/>
          <p:nvPr/>
        </p:nvSpPr>
        <p:spPr>
          <a:xfrm>
            <a:off x="561523" y="2844258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31" name="탑바 구분선">
            <a:extLst>
              <a:ext uri="{FF2B5EF4-FFF2-40B4-BE49-F238E27FC236}">
                <a16:creationId xmlns:a16="http://schemas.microsoft.com/office/drawing/2014/main" id="{14E77A0F-A373-1968-AFF8-C4EB0A2E31F4}"/>
              </a:ext>
            </a:extLst>
          </p:cNvPr>
          <p:cNvSpPr/>
          <p:nvPr/>
        </p:nvSpPr>
        <p:spPr>
          <a:xfrm>
            <a:off x="413538" y="1650722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탑바 타이틀">
            <a:extLst>
              <a:ext uri="{FF2B5EF4-FFF2-40B4-BE49-F238E27FC236}">
                <a16:creationId xmlns:a16="http://schemas.microsoft.com/office/drawing/2014/main" id="{DA73CFE9-745E-3048-5E96-B546397165D1}"/>
              </a:ext>
            </a:extLst>
          </p:cNvPr>
          <p:cNvSpPr txBox="1"/>
          <p:nvPr/>
        </p:nvSpPr>
        <p:spPr>
          <a:xfrm>
            <a:off x="823113" y="1307822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3" name="뒤로가기">
            <a:extLst>
              <a:ext uri="{FF2B5EF4-FFF2-40B4-BE49-F238E27FC236}">
                <a16:creationId xmlns:a16="http://schemas.microsoft.com/office/drawing/2014/main" id="{20AB3A00-75D9-61ED-CC85-5659812FB45E}"/>
              </a:ext>
            </a:extLst>
          </p:cNvPr>
          <p:cNvCxnSpPr/>
          <p:nvPr/>
        </p:nvCxnSpPr>
        <p:spPr>
          <a:xfrm flipH="1">
            <a:off x="556413" y="1374878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>
            <a:extLst>
              <a:ext uri="{FF2B5EF4-FFF2-40B4-BE49-F238E27FC236}">
                <a16:creationId xmlns:a16="http://schemas.microsoft.com/office/drawing/2014/main" id="{062E79F7-2236-8460-BC6B-F3DF1A9CEFA9}"/>
              </a:ext>
            </a:extLst>
          </p:cNvPr>
          <p:cNvCxnSpPr/>
          <p:nvPr/>
        </p:nvCxnSpPr>
        <p:spPr>
          <a:xfrm flipH="1" flipV="1">
            <a:off x="556413" y="142212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음성 안내 문구">
            <a:extLst>
              <a:ext uri="{FF2B5EF4-FFF2-40B4-BE49-F238E27FC236}">
                <a16:creationId xmlns:a16="http://schemas.microsoft.com/office/drawing/2014/main" id="{E0514896-967F-D539-8EE2-C25A2A3E8FE6}"/>
              </a:ext>
            </a:extLst>
          </p:cNvPr>
          <p:cNvSpPr txBox="1"/>
          <p:nvPr/>
        </p:nvSpPr>
        <p:spPr>
          <a:xfrm>
            <a:off x="499263" y="6008600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6" name="탑바 구분선">
            <a:extLst>
              <a:ext uri="{FF2B5EF4-FFF2-40B4-BE49-F238E27FC236}">
                <a16:creationId xmlns:a16="http://schemas.microsoft.com/office/drawing/2014/main" id="{FE0FAD34-6AAF-3B14-0826-4D418B82FD61}"/>
              </a:ext>
            </a:extLst>
          </p:cNvPr>
          <p:cNvSpPr/>
          <p:nvPr/>
        </p:nvSpPr>
        <p:spPr>
          <a:xfrm>
            <a:off x="3228492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탑바 타이틀">
            <a:extLst>
              <a:ext uri="{FF2B5EF4-FFF2-40B4-BE49-F238E27FC236}">
                <a16:creationId xmlns:a16="http://schemas.microsoft.com/office/drawing/2014/main" id="{7DAD1626-FCEF-86FC-3D71-F427197DCFDF}"/>
              </a:ext>
            </a:extLst>
          </p:cNvPr>
          <p:cNvSpPr txBox="1"/>
          <p:nvPr/>
        </p:nvSpPr>
        <p:spPr>
          <a:xfrm>
            <a:off x="3638068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8" name="뒤로가기">
            <a:extLst>
              <a:ext uri="{FF2B5EF4-FFF2-40B4-BE49-F238E27FC236}">
                <a16:creationId xmlns:a16="http://schemas.microsoft.com/office/drawing/2014/main" id="{8115DE22-99AF-5BA1-C08F-5E43022DBA6E}"/>
              </a:ext>
            </a:extLst>
          </p:cNvPr>
          <p:cNvCxnSpPr/>
          <p:nvPr/>
        </p:nvCxnSpPr>
        <p:spPr>
          <a:xfrm flipH="1">
            <a:off x="3371368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뒤로가기">
            <a:extLst>
              <a:ext uri="{FF2B5EF4-FFF2-40B4-BE49-F238E27FC236}">
                <a16:creationId xmlns:a16="http://schemas.microsoft.com/office/drawing/2014/main" id="{CE858F3A-A53B-E0F7-14F9-5726F549F231}"/>
              </a:ext>
            </a:extLst>
          </p:cNvPr>
          <p:cNvCxnSpPr/>
          <p:nvPr/>
        </p:nvCxnSpPr>
        <p:spPr>
          <a:xfrm flipH="1" flipV="1">
            <a:off x="3371368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음성 안내 문구">
            <a:extLst>
              <a:ext uri="{FF2B5EF4-FFF2-40B4-BE49-F238E27FC236}">
                <a16:creationId xmlns:a16="http://schemas.microsoft.com/office/drawing/2014/main" id="{74A48ADB-5604-E5E3-3A1C-BD5F17F96BE1}"/>
              </a:ext>
            </a:extLst>
          </p:cNvPr>
          <p:cNvSpPr txBox="1"/>
          <p:nvPr/>
        </p:nvSpPr>
        <p:spPr>
          <a:xfrm>
            <a:off x="3314218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1" name="탑바 구분선">
            <a:extLst>
              <a:ext uri="{FF2B5EF4-FFF2-40B4-BE49-F238E27FC236}">
                <a16:creationId xmlns:a16="http://schemas.microsoft.com/office/drawing/2014/main" id="{5932AF88-5E18-4DD9-AF8A-86D6FEEF3547}"/>
              </a:ext>
            </a:extLst>
          </p:cNvPr>
          <p:cNvSpPr/>
          <p:nvPr/>
        </p:nvSpPr>
        <p:spPr>
          <a:xfrm>
            <a:off x="6031890" y="1648110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탑바 타이틀">
            <a:extLst>
              <a:ext uri="{FF2B5EF4-FFF2-40B4-BE49-F238E27FC236}">
                <a16:creationId xmlns:a16="http://schemas.microsoft.com/office/drawing/2014/main" id="{6240A98E-F5FE-AF71-B5A7-0AD9E026F2B0}"/>
              </a:ext>
            </a:extLst>
          </p:cNvPr>
          <p:cNvSpPr txBox="1"/>
          <p:nvPr/>
        </p:nvSpPr>
        <p:spPr>
          <a:xfrm>
            <a:off x="6441466" y="1305210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3" name="뒤로가기">
            <a:extLst>
              <a:ext uri="{FF2B5EF4-FFF2-40B4-BE49-F238E27FC236}">
                <a16:creationId xmlns:a16="http://schemas.microsoft.com/office/drawing/2014/main" id="{12127EAA-7A58-260E-D1BE-1CAE5B1B6A30}"/>
              </a:ext>
            </a:extLst>
          </p:cNvPr>
          <p:cNvCxnSpPr/>
          <p:nvPr/>
        </p:nvCxnSpPr>
        <p:spPr>
          <a:xfrm flipH="1">
            <a:off x="6174766" y="137226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뒤로가기">
            <a:extLst>
              <a:ext uri="{FF2B5EF4-FFF2-40B4-BE49-F238E27FC236}">
                <a16:creationId xmlns:a16="http://schemas.microsoft.com/office/drawing/2014/main" id="{BD702AC2-C393-E712-4B30-B60284212409}"/>
              </a:ext>
            </a:extLst>
          </p:cNvPr>
          <p:cNvCxnSpPr/>
          <p:nvPr/>
        </p:nvCxnSpPr>
        <p:spPr>
          <a:xfrm flipH="1" flipV="1">
            <a:off x="6174766" y="141951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음성 안내 문구">
            <a:extLst>
              <a:ext uri="{FF2B5EF4-FFF2-40B4-BE49-F238E27FC236}">
                <a16:creationId xmlns:a16="http://schemas.microsoft.com/office/drawing/2014/main" id="{7A2917A0-2370-1E37-4A82-89DDD4E3CD6D}"/>
              </a:ext>
            </a:extLst>
          </p:cNvPr>
          <p:cNvSpPr txBox="1"/>
          <p:nvPr/>
        </p:nvSpPr>
        <p:spPr>
          <a:xfrm>
            <a:off x="6117616" y="6005988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6" name="Description 패널">
            <a:extLst>
              <a:ext uri="{FF2B5EF4-FFF2-40B4-BE49-F238E27FC236}">
                <a16:creationId xmlns:a16="http://schemas.microsoft.com/office/drawing/2014/main" id="{B4187E84-D50D-117C-D462-13FF16D3CC67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Description 제목">
            <a:extLst>
              <a:ext uri="{FF2B5EF4-FFF2-40B4-BE49-F238E27FC236}">
                <a16:creationId xmlns:a16="http://schemas.microsoft.com/office/drawing/2014/main" id="{4E411654-A1D7-14FD-05FE-6EA544A427D0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8" name="Description 밑줄">
            <a:extLst>
              <a:ext uri="{FF2B5EF4-FFF2-40B4-BE49-F238E27FC236}">
                <a16:creationId xmlns:a16="http://schemas.microsoft.com/office/drawing/2014/main" id="{9F255F5F-CAC1-08DE-5CA4-CD056FB8D492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614228"/>
              </p:ext>
            </p:extLst>
          </p:nvPr>
        </p:nvGraphicFramePr>
        <p:xfrm>
          <a:off x="9277502" y="1447801"/>
          <a:ext cx="2553309" cy="383915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긴급 안내 종료 후 재개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중단됐던 안내를 이름으로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임의로 재개 · 종료하지 않고 반드시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무응답 시 길 안내 중이면 일정 시간 뒤 자동으로 이어감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그 외에는 대기 — 자동으로 종료하지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12328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공통 원칙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긴급안내 중에는 탑바 뒤로가기가 동작하지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[대화 종료]는 안내가 끝난 뒤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여러 건은 표출 중인 건을 끊지 않고 온 순서대로 · 같은 건의 갱신은 대체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진동 미지원 · 무음 단말에 대체 채널을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 외 유형도 같은 긴급 알림을 받음 — 포그라운드 팝업 / 백그라운드 푸시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1" name="숫자배지 3">
            <a:extLst>
              <a:ext uri="{FF2B5EF4-FFF2-40B4-BE49-F238E27FC236}">
                <a16:creationId xmlns:a16="http://schemas.microsoft.com/office/drawing/2014/main" id="{EBD2A224-5652-7E8C-DA38-7C2F19C41305}"/>
              </a:ext>
            </a:extLst>
          </p:cNvPr>
          <p:cNvSpPr/>
          <p:nvPr/>
        </p:nvSpPr>
        <p:spPr>
          <a:xfrm>
            <a:off x="8198510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2" name="숫자배지 1">
            <a:extLst>
              <a:ext uri="{FF2B5EF4-FFF2-40B4-BE49-F238E27FC236}">
                <a16:creationId xmlns:a16="http://schemas.microsoft.com/office/drawing/2014/main" id="{F057F494-6A9D-5E34-2C1B-86BD26D5CA86}"/>
              </a:ext>
            </a:extLst>
          </p:cNvPr>
          <p:cNvSpPr/>
          <p:nvPr/>
        </p:nvSpPr>
        <p:spPr>
          <a:xfrm>
            <a:off x="2667915" y="110314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3" name="숫자배지 2">
            <a:extLst>
              <a:ext uri="{FF2B5EF4-FFF2-40B4-BE49-F238E27FC236}">
                <a16:creationId xmlns:a16="http://schemas.microsoft.com/office/drawing/2014/main" id="{4E17AA50-BE28-7F45-15D0-FBBCAC7839E9}"/>
              </a:ext>
            </a:extLst>
          </p:cNvPr>
          <p:cNvSpPr/>
          <p:nvPr/>
        </p:nvSpPr>
        <p:spPr>
          <a:xfrm>
            <a:off x="5391430" y="111466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진행 중 (1/2)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FFA3FC06-7BEC-FEC2-994F-8FE384507C1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04C699-41B6-C394-679F-77C8B62EC68F}"/>
              </a:ext>
            </a:extLst>
          </p:cNvPr>
          <p:cNvSpPr/>
          <p:nvPr/>
        </p:nvSpPr>
        <p:spPr>
          <a:xfrm>
            <a:off x="329946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98F4AFA-3589-3B3B-9A44-5E35D4EE5003}"/>
              </a:ext>
            </a:extLst>
          </p:cNvPr>
          <p:cNvSpPr/>
          <p:nvPr/>
        </p:nvSpPr>
        <p:spPr>
          <a:xfrm>
            <a:off x="3219450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7765095B-D3A7-F23D-7254-2004709E7FE7}"/>
              </a:ext>
            </a:extLst>
          </p:cNvPr>
          <p:cNvSpPr/>
          <p:nvPr/>
        </p:nvSpPr>
        <p:spPr>
          <a:xfrm>
            <a:off x="6127242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ivider 20062">
            <a:extLst>
              <a:ext uri="{FF2B5EF4-FFF2-40B4-BE49-F238E27FC236}">
                <a16:creationId xmlns:a16="http://schemas.microsoft.com/office/drawing/2014/main" id="{B116A261-B602-1DDC-AF1E-CAAC538A9635}"/>
              </a:ext>
            </a:extLst>
          </p:cNvPr>
          <p:cNvSpPr/>
          <p:nvPr/>
        </p:nvSpPr>
        <p:spPr>
          <a:xfrm>
            <a:off x="403098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UserBubble 20063">
            <a:extLst>
              <a:ext uri="{FF2B5EF4-FFF2-40B4-BE49-F238E27FC236}">
                <a16:creationId xmlns:a16="http://schemas.microsoft.com/office/drawing/2014/main" id="{F6BC2110-C357-503B-43BA-A1FAD2D33556}"/>
              </a:ext>
            </a:extLst>
          </p:cNvPr>
          <p:cNvSpPr/>
          <p:nvPr/>
        </p:nvSpPr>
        <p:spPr>
          <a:xfrm>
            <a:off x="1582674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시청역 </a:t>
            </a:r>
            <a:r>
              <a:rPr sz="700" b="0">
                <a:solidFill>
                  <a:srgbClr val="14181F"/>
                </a:solidFill>
                <a:latin typeface="Pretendard"/>
              </a:rPr>
              <a:t>하차 알림 해줘</a:t>
            </a:r>
          </a:p>
        </p:txBody>
      </p:sp>
      <p:sp>
        <p:nvSpPr>
          <p:cNvPr id="14" name="BotBubble 20066">
            <a:extLst>
              <a:ext uri="{FF2B5EF4-FFF2-40B4-BE49-F238E27FC236}">
                <a16:creationId xmlns:a16="http://schemas.microsoft.com/office/drawing/2014/main" id="{DEC42510-F7C4-6B7D-BDAA-A9F2D91CDB00}"/>
              </a:ext>
            </a:extLst>
          </p:cNvPr>
          <p:cNvSpPr/>
          <p:nvPr/>
        </p:nvSpPr>
        <p:spPr>
          <a:xfrm>
            <a:off x="476250" y="2131915"/>
            <a:ext cx="1957354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91440" bIns="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‘시청역’ 하차 알림이 켜져 있어요. 1정거장 전에 알려드릴게요.</a:t>
            </a:r>
          </a:p>
          <a:p>
            <a:pPr algn="l">
              <a:lnSpc>
                <a:spcPct val="110000"/>
              </a:lnSpc>
            </a:pPr>
            <a:endParaRPr sz="700" b="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‘시청역’ 하차 알림 켜짐</a:t>
            </a:r>
          </a:p>
        </p:txBody>
      </p:sp>
      <p:sp>
        <p:nvSpPr>
          <p:cNvPr id="15" name="Btn 20071">
            <a:extLst>
              <a:ext uri="{FF2B5EF4-FFF2-40B4-BE49-F238E27FC236}">
                <a16:creationId xmlns:a16="http://schemas.microsoft.com/office/drawing/2014/main" id="{0D8C9181-511E-E2AC-0B3D-42CC515E0C93}"/>
              </a:ext>
            </a:extLst>
          </p:cNvPr>
          <p:cNvSpPr/>
          <p:nvPr/>
        </p:nvSpPr>
        <p:spPr>
          <a:xfrm>
            <a:off x="457962" y="34419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6" name="Divider 20077">
            <a:extLst>
              <a:ext uri="{FF2B5EF4-FFF2-40B4-BE49-F238E27FC236}">
                <a16:creationId xmlns:a16="http://schemas.microsoft.com/office/drawing/2014/main" id="{9D240515-655B-55A0-361A-D0E0917E0C23}"/>
              </a:ext>
            </a:extLst>
          </p:cNvPr>
          <p:cNvSpPr/>
          <p:nvPr/>
        </p:nvSpPr>
        <p:spPr>
          <a:xfrm>
            <a:off x="3292602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UserBubble 20078">
            <a:extLst>
              <a:ext uri="{FF2B5EF4-FFF2-40B4-BE49-F238E27FC236}">
                <a16:creationId xmlns:a16="http://schemas.microsoft.com/office/drawing/2014/main" id="{58DBCFBC-4352-C81C-879D-46747C7DB46C}"/>
              </a:ext>
            </a:extLst>
          </p:cNvPr>
          <p:cNvSpPr/>
          <p:nvPr/>
        </p:nvSpPr>
        <p:spPr>
          <a:xfrm>
            <a:off x="4472178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몇 정거장 남았어?</a:t>
            </a:r>
          </a:p>
        </p:txBody>
      </p:sp>
      <p:sp>
        <p:nvSpPr>
          <p:cNvPr id="18" name="BotBubble 20081">
            <a:extLst>
              <a:ext uri="{FF2B5EF4-FFF2-40B4-BE49-F238E27FC236}">
                <a16:creationId xmlns:a16="http://schemas.microsoft.com/office/drawing/2014/main" id="{56554BAD-B969-C8EF-5E68-05E1BC56B46E}"/>
              </a:ext>
            </a:extLst>
          </p:cNvPr>
          <p:cNvSpPr/>
          <p:nvPr/>
        </p:nvSpPr>
        <p:spPr>
          <a:xfrm>
            <a:off x="3365754" y="2131915"/>
            <a:ext cx="1783080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3정거장, 약 7분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남았어요. 1정거장 전에 다시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알려드릴게요.</a:t>
            </a:r>
          </a:p>
        </p:txBody>
      </p:sp>
      <p:sp>
        <p:nvSpPr>
          <p:cNvPr id="19" name="Btn 20084">
            <a:extLst>
              <a:ext uri="{FF2B5EF4-FFF2-40B4-BE49-F238E27FC236}">
                <a16:creationId xmlns:a16="http://schemas.microsoft.com/office/drawing/2014/main" id="{2B0A841F-C0B1-514F-24D2-D41D89EB52C8}"/>
              </a:ext>
            </a:extLst>
          </p:cNvPr>
          <p:cNvSpPr/>
          <p:nvPr/>
        </p:nvSpPr>
        <p:spPr>
          <a:xfrm>
            <a:off x="3347466" y="2767423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0" name="Divider 20123">
            <a:extLst>
              <a:ext uri="{FF2B5EF4-FFF2-40B4-BE49-F238E27FC236}">
                <a16:creationId xmlns:a16="http://schemas.microsoft.com/office/drawing/2014/main" id="{8A98C1E0-DDBD-43AE-9DC6-82D52DFB8261}"/>
              </a:ext>
            </a:extLst>
          </p:cNvPr>
          <p:cNvSpPr/>
          <p:nvPr/>
        </p:nvSpPr>
        <p:spPr>
          <a:xfrm>
            <a:off x="6200394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UserBubble 20124">
            <a:extLst>
              <a:ext uri="{FF2B5EF4-FFF2-40B4-BE49-F238E27FC236}">
                <a16:creationId xmlns:a16="http://schemas.microsoft.com/office/drawing/2014/main" id="{F8DBBE50-9C59-EB0A-CD1A-B0A10CCCB7CD}"/>
              </a:ext>
            </a:extLst>
          </p:cNvPr>
          <p:cNvSpPr/>
          <p:nvPr/>
        </p:nvSpPr>
        <p:spPr>
          <a:xfrm>
            <a:off x="7288530" y="1747867"/>
            <a:ext cx="141732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승차 위치가 어디야?</a:t>
            </a:r>
          </a:p>
        </p:txBody>
      </p:sp>
      <p:sp>
        <p:nvSpPr>
          <p:cNvPr id="22" name="BotBubble 20127">
            <a:extLst>
              <a:ext uri="{FF2B5EF4-FFF2-40B4-BE49-F238E27FC236}">
                <a16:creationId xmlns:a16="http://schemas.microsoft.com/office/drawing/2014/main" id="{6A68614D-CF09-B384-CBD8-D5F41AA435B2}"/>
              </a:ext>
            </a:extLst>
          </p:cNvPr>
          <p:cNvSpPr/>
          <p:nvPr/>
        </p:nvSpPr>
        <p:spPr>
          <a:xfrm>
            <a:off x="6273546" y="2131915"/>
            <a:ext cx="1783080" cy="402336"/>
          </a:xfrm>
          <a:prstGeom prst="roundRect">
            <a:avLst>
              <a:gd name="adj" fmla="val 2604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2번 승차 위치예요. 12시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방향으로 8m 직진하세요.</a:t>
            </a:r>
          </a:p>
        </p:txBody>
      </p:sp>
      <p:sp>
        <p:nvSpPr>
          <p:cNvPr id="23" name="Btn 20130">
            <a:extLst>
              <a:ext uri="{FF2B5EF4-FFF2-40B4-BE49-F238E27FC236}">
                <a16:creationId xmlns:a16="http://schemas.microsoft.com/office/drawing/2014/main" id="{E961C9BC-633E-2A7C-E808-B52A38762F7F}"/>
              </a:ext>
            </a:extLst>
          </p:cNvPr>
          <p:cNvSpPr/>
          <p:nvPr/>
        </p:nvSpPr>
        <p:spPr>
          <a:xfrm>
            <a:off x="6255258" y="262569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DFB0155-0452-BA6F-4D4F-C117E72EF447}"/>
              </a:ext>
            </a:extLst>
          </p:cNvPr>
          <p:cNvSpPr/>
          <p:nvPr/>
        </p:nvSpPr>
        <p:spPr>
          <a:xfrm>
            <a:off x="457961" y="384679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5343AD71-F8CC-1DDF-AEB3-1648A954925F}"/>
              </a:ext>
            </a:extLst>
          </p:cNvPr>
          <p:cNvSpPr/>
          <p:nvPr/>
        </p:nvSpPr>
        <p:spPr>
          <a:xfrm>
            <a:off x="3346424" y="317223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43B48DB0-88CE-8B53-46B5-14BD2620A3F4}"/>
              </a:ext>
            </a:extLst>
          </p:cNvPr>
          <p:cNvSpPr/>
          <p:nvPr/>
        </p:nvSpPr>
        <p:spPr>
          <a:xfrm>
            <a:off x="6255258" y="303050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Btn 20071">
            <a:extLst>
              <a:ext uri="{FF2B5EF4-FFF2-40B4-BE49-F238E27FC236}">
                <a16:creationId xmlns:a16="http://schemas.microsoft.com/office/drawing/2014/main" id="{EE38D5BC-F324-6F10-8E19-B5BF32D8CDEF}"/>
              </a:ext>
            </a:extLst>
          </p:cNvPr>
          <p:cNvSpPr/>
          <p:nvPr/>
        </p:nvSpPr>
        <p:spPr>
          <a:xfrm>
            <a:off x="439674" y="303717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알림 끄기</a:t>
            </a:r>
          </a:p>
        </p:txBody>
      </p:sp>
      <p:sp>
        <p:nvSpPr>
          <p:cNvPr id="28" name="탑바 구분선">
            <a:extLst>
              <a:ext uri="{FF2B5EF4-FFF2-40B4-BE49-F238E27FC236}">
                <a16:creationId xmlns:a16="http://schemas.microsoft.com/office/drawing/2014/main" id="{9ACDF6B4-EFA8-4B7F-AEA5-71B7F8F08190}"/>
              </a:ext>
            </a:extLst>
          </p:cNvPr>
          <p:cNvSpPr/>
          <p:nvPr/>
        </p:nvSpPr>
        <p:spPr>
          <a:xfrm>
            <a:off x="339471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탑바 타이틀">
            <a:extLst>
              <a:ext uri="{FF2B5EF4-FFF2-40B4-BE49-F238E27FC236}">
                <a16:creationId xmlns:a16="http://schemas.microsoft.com/office/drawing/2014/main" id="{C8AF9B46-F807-2D24-45BA-D31710C52FCF}"/>
              </a:ext>
            </a:extLst>
          </p:cNvPr>
          <p:cNvSpPr txBox="1"/>
          <p:nvPr/>
        </p:nvSpPr>
        <p:spPr>
          <a:xfrm>
            <a:off x="749046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ABDF10E3-A822-FAD3-9CDC-FB9FFA2B38AD}"/>
              </a:ext>
            </a:extLst>
          </p:cNvPr>
          <p:cNvCxnSpPr/>
          <p:nvPr/>
        </p:nvCxnSpPr>
        <p:spPr>
          <a:xfrm flipH="1">
            <a:off x="482346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398C64D-8DB9-5E31-5887-A1F16B6879E0}"/>
              </a:ext>
            </a:extLst>
          </p:cNvPr>
          <p:cNvCxnSpPr/>
          <p:nvPr/>
        </p:nvCxnSpPr>
        <p:spPr>
          <a:xfrm flipH="1" flipV="1">
            <a:off x="482346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음성 안내 문구">
            <a:extLst>
              <a:ext uri="{FF2B5EF4-FFF2-40B4-BE49-F238E27FC236}">
                <a16:creationId xmlns:a16="http://schemas.microsoft.com/office/drawing/2014/main" id="{275A2842-3449-A94E-C1D4-331216C5462B}"/>
              </a:ext>
            </a:extLst>
          </p:cNvPr>
          <p:cNvSpPr txBox="1"/>
          <p:nvPr/>
        </p:nvSpPr>
        <p:spPr>
          <a:xfrm>
            <a:off x="425196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BF753A93-55EF-C074-9B33-EEF4708FC7BA}"/>
              </a:ext>
            </a:extLst>
          </p:cNvPr>
          <p:cNvSpPr/>
          <p:nvPr/>
        </p:nvSpPr>
        <p:spPr>
          <a:xfrm>
            <a:off x="3228975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D239A0F6-6088-D77E-F6B4-51E4D028420C}"/>
              </a:ext>
            </a:extLst>
          </p:cNvPr>
          <p:cNvSpPr txBox="1"/>
          <p:nvPr/>
        </p:nvSpPr>
        <p:spPr>
          <a:xfrm>
            <a:off x="3638550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9F5BB12C-EE74-127D-9A62-B7CEFF852F48}"/>
              </a:ext>
            </a:extLst>
          </p:cNvPr>
          <p:cNvCxnSpPr/>
          <p:nvPr/>
        </p:nvCxnSpPr>
        <p:spPr>
          <a:xfrm flipH="1">
            <a:off x="3371850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A4B5DAD7-5688-38D1-D06F-4B3CB370AA83}"/>
              </a:ext>
            </a:extLst>
          </p:cNvPr>
          <p:cNvCxnSpPr/>
          <p:nvPr/>
        </p:nvCxnSpPr>
        <p:spPr>
          <a:xfrm flipH="1" flipV="1">
            <a:off x="3371850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음성 안내 문구">
            <a:extLst>
              <a:ext uri="{FF2B5EF4-FFF2-40B4-BE49-F238E27FC236}">
                <a16:creationId xmlns:a16="http://schemas.microsoft.com/office/drawing/2014/main" id="{F37B9E02-F98B-9AB6-9439-55AAC4F69BFB}"/>
              </a:ext>
            </a:extLst>
          </p:cNvPr>
          <p:cNvSpPr txBox="1"/>
          <p:nvPr/>
        </p:nvSpPr>
        <p:spPr>
          <a:xfrm>
            <a:off x="3314700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8" name="탑바 구분선">
            <a:extLst>
              <a:ext uri="{FF2B5EF4-FFF2-40B4-BE49-F238E27FC236}">
                <a16:creationId xmlns:a16="http://schemas.microsoft.com/office/drawing/2014/main" id="{B5681811-A719-C952-D623-FA9E4B95D8C4}"/>
              </a:ext>
            </a:extLst>
          </p:cNvPr>
          <p:cNvSpPr/>
          <p:nvPr/>
        </p:nvSpPr>
        <p:spPr>
          <a:xfrm>
            <a:off x="6136767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>
            <a:extLst>
              <a:ext uri="{FF2B5EF4-FFF2-40B4-BE49-F238E27FC236}">
                <a16:creationId xmlns:a16="http://schemas.microsoft.com/office/drawing/2014/main" id="{A1DC04BD-2F60-64DB-0986-0AE8DF9BAC02}"/>
              </a:ext>
            </a:extLst>
          </p:cNvPr>
          <p:cNvSpPr txBox="1"/>
          <p:nvPr/>
        </p:nvSpPr>
        <p:spPr>
          <a:xfrm>
            <a:off x="6546342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08F15038-4C42-7488-0715-2C4C9D4304A8}"/>
              </a:ext>
            </a:extLst>
          </p:cNvPr>
          <p:cNvCxnSpPr/>
          <p:nvPr/>
        </p:nvCxnSpPr>
        <p:spPr>
          <a:xfrm flipH="1">
            <a:off x="6279642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0E47A13C-A21A-AC71-AF1D-8A210021E638}"/>
              </a:ext>
            </a:extLst>
          </p:cNvPr>
          <p:cNvCxnSpPr/>
          <p:nvPr/>
        </p:nvCxnSpPr>
        <p:spPr>
          <a:xfrm flipH="1" flipV="1">
            <a:off x="6279642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음성 안내 문구">
            <a:extLst>
              <a:ext uri="{FF2B5EF4-FFF2-40B4-BE49-F238E27FC236}">
                <a16:creationId xmlns:a16="http://schemas.microsoft.com/office/drawing/2014/main" id="{1E7991D5-6733-4532-D16E-527A4D4A1564}"/>
              </a:ext>
            </a:extLst>
          </p:cNvPr>
          <p:cNvSpPr txBox="1"/>
          <p:nvPr/>
        </p:nvSpPr>
        <p:spPr>
          <a:xfrm>
            <a:off x="6222492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3" name="Description 패널">
            <a:extLst>
              <a:ext uri="{FF2B5EF4-FFF2-40B4-BE49-F238E27FC236}">
                <a16:creationId xmlns:a16="http://schemas.microsoft.com/office/drawing/2014/main" id="{BD404A53-9760-9C0A-3DD0-19AC3A88D879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>
            <a:extLst>
              <a:ext uri="{FF2B5EF4-FFF2-40B4-BE49-F238E27FC236}">
                <a16:creationId xmlns:a16="http://schemas.microsoft.com/office/drawing/2014/main" id="{6105AD48-133D-A23E-7599-6DDA177C9151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>
            <a:extLst>
              <a:ext uri="{FF2B5EF4-FFF2-40B4-BE49-F238E27FC236}">
                <a16:creationId xmlns:a16="http://schemas.microsoft.com/office/drawing/2014/main" id="{F4D00E16-3D18-4096-36BA-0198F6A12E7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8506"/>
              </p:ext>
            </p:extLst>
          </p:nvPr>
        </p:nvGraphicFramePr>
        <p:xfrm>
          <a:off x="9277502" y="1447800"/>
          <a:ext cx="2553309" cy="421477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하차 알림 —「하차 알림 해줘」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대중교통 안내 중이면 하차 알림은 이미 켜져 있음 — 기본 ON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「설정했어요」로 답하지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응답은 켜져 있다는 사실 ＋ 대상 역 확인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「‘시청역’ 하차 알림이 켜져 있어요. 1정거장 전에 알려드릴게요.」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설정 결과 카드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대상 역 · 알림 방식을 채팅으로 남김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대화 방식으로 알림 on/off 가능 · 즉시 해제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알림 끄기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대화로도 가능하지만 버튼으로도 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다시 듣기 · 대화 종료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놓친 안내는 같은 문구로 다시 재생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대화 종료를 눌러야 대화가 종료되며 임의로 종료하지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숫자배지 1">
            <a:extLst>
              <a:ext uri="{FF2B5EF4-FFF2-40B4-BE49-F238E27FC236}">
                <a16:creationId xmlns:a16="http://schemas.microsoft.com/office/drawing/2014/main" id="{320A1877-5537-D5FD-A61D-DEC198C28B8D}"/>
              </a:ext>
            </a:extLst>
          </p:cNvPr>
          <p:cNvSpPr/>
          <p:nvPr/>
        </p:nvSpPr>
        <p:spPr>
          <a:xfrm>
            <a:off x="2614415" y="10993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9" name="숫자배지 2">
            <a:extLst>
              <a:ext uri="{FF2B5EF4-FFF2-40B4-BE49-F238E27FC236}">
                <a16:creationId xmlns:a16="http://schemas.microsoft.com/office/drawing/2014/main" id="{B52FDAA0-8037-AEBE-8188-D1D67E7D9C6B}"/>
              </a:ext>
            </a:extLst>
          </p:cNvPr>
          <p:cNvSpPr/>
          <p:nvPr/>
        </p:nvSpPr>
        <p:spPr>
          <a:xfrm>
            <a:off x="5387069" y="1091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3">
            <a:extLst>
              <a:ext uri="{FF2B5EF4-FFF2-40B4-BE49-F238E27FC236}">
                <a16:creationId xmlns:a16="http://schemas.microsoft.com/office/drawing/2014/main" id="{CFB0E9ED-A892-CAB9-946C-752F230B772F}"/>
              </a:ext>
            </a:extLst>
          </p:cNvPr>
          <p:cNvSpPr/>
          <p:nvPr/>
        </p:nvSpPr>
        <p:spPr>
          <a:xfrm>
            <a:off x="8354299" y="10710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1" name="숫자배지 1-1">
            <a:extLst>
              <a:ext uri="{FF2B5EF4-FFF2-40B4-BE49-F238E27FC236}">
                <a16:creationId xmlns:a16="http://schemas.microsoft.com/office/drawing/2014/main" id="{24F2D36E-623E-F719-63FB-A566491E7BC6}"/>
              </a:ext>
            </a:extLst>
          </p:cNvPr>
          <p:cNvSpPr/>
          <p:nvPr/>
        </p:nvSpPr>
        <p:spPr>
          <a:xfrm>
            <a:off x="428584" y="175622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2" name="숫자배지 1-2">
            <a:extLst>
              <a:ext uri="{FF2B5EF4-FFF2-40B4-BE49-F238E27FC236}">
                <a16:creationId xmlns:a16="http://schemas.microsoft.com/office/drawing/2014/main" id="{6846C7F4-2604-AEDD-1A89-BFB841E4E6FB}"/>
              </a:ext>
            </a:extLst>
          </p:cNvPr>
          <p:cNvSpPr/>
          <p:nvPr/>
        </p:nvSpPr>
        <p:spPr>
          <a:xfrm>
            <a:off x="2395364" y="29087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3" name="숫자배지 1-3">
            <a:extLst>
              <a:ext uri="{FF2B5EF4-FFF2-40B4-BE49-F238E27FC236}">
                <a16:creationId xmlns:a16="http://schemas.microsoft.com/office/drawing/2014/main" id="{1B91AB4D-1BE7-65A0-A3E4-E7E936991023}"/>
              </a:ext>
            </a:extLst>
          </p:cNvPr>
          <p:cNvSpPr/>
          <p:nvPr/>
        </p:nvSpPr>
        <p:spPr>
          <a:xfrm>
            <a:off x="2426503" y="338083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내비게이션 진행 중 (2/2)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FFA3FC06-7BEC-FEC2-994F-8FE384507C1E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3504C699-41B6-C394-679F-77C8B62EC68F}"/>
              </a:ext>
            </a:extLst>
          </p:cNvPr>
          <p:cNvSpPr/>
          <p:nvPr/>
        </p:nvSpPr>
        <p:spPr>
          <a:xfrm>
            <a:off x="329946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 2">
            <a:extLst>
              <a:ext uri="{FF2B5EF4-FFF2-40B4-BE49-F238E27FC236}">
                <a16:creationId xmlns:a16="http://schemas.microsoft.com/office/drawing/2014/main" id="{B98F4AFA-3589-3B3B-9A44-5E35D4EE5003}"/>
              </a:ext>
            </a:extLst>
          </p:cNvPr>
          <p:cNvSpPr/>
          <p:nvPr/>
        </p:nvSpPr>
        <p:spPr>
          <a:xfrm>
            <a:off x="3219450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7765095B-D3A7-F23D-7254-2004709E7FE7}"/>
              </a:ext>
            </a:extLst>
          </p:cNvPr>
          <p:cNvSpPr/>
          <p:nvPr/>
        </p:nvSpPr>
        <p:spPr>
          <a:xfrm>
            <a:off x="6127242" y="1199227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ivider 20062">
            <a:extLst>
              <a:ext uri="{FF2B5EF4-FFF2-40B4-BE49-F238E27FC236}">
                <a16:creationId xmlns:a16="http://schemas.microsoft.com/office/drawing/2014/main" id="{B116A261-B602-1DDC-AF1E-CAAC538A9635}"/>
              </a:ext>
            </a:extLst>
          </p:cNvPr>
          <p:cNvSpPr/>
          <p:nvPr/>
        </p:nvSpPr>
        <p:spPr>
          <a:xfrm>
            <a:off x="403098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3" name="UserBubble 20063">
            <a:extLst>
              <a:ext uri="{FF2B5EF4-FFF2-40B4-BE49-F238E27FC236}">
                <a16:creationId xmlns:a16="http://schemas.microsoft.com/office/drawing/2014/main" id="{F6BC2110-C357-503B-43BA-A1FAD2D33556}"/>
              </a:ext>
            </a:extLst>
          </p:cNvPr>
          <p:cNvSpPr/>
          <p:nvPr/>
        </p:nvSpPr>
        <p:spPr>
          <a:xfrm>
            <a:off x="1582674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시청역 </a:t>
            </a:r>
            <a:r>
              <a:rPr sz="700" b="0">
                <a:solidFill>
                  <a:srgbClr val="14181F"/>
                </a:solidFill>
                <a:latin typeface="Pretendard"/>
              </a:rPr>
              <a:t>하차 알림 해줘</a:t>
            </a:r>
          </a:p>
        </p:txBody>
      </p:sp>
      <p:sp>
        <p:nvSpPr>
          <p:cNvPr id="14" name="BotBubble 20066">
            <a:extLst>
              <a:ext uri="{FF2B5EF4-FFF2-40B4-BE49-F238E27FC236}">
                <a16:creationId xmlns:a16="http://schemas.microsoft.com/office/drawing/2014/main" id="{DEC42510-F7C4-6B7D-BDAA-A9F2D91CDB00}"/>
              </a:ext>
            </a:extLst>
          </p:cNvPr>
          <p:cNvSpPr/>
          <p:nvPr/>
        </p:nvSpPr>
        <p:spPr>
          <a:xfrm>
            <a:off x="476250" y="2131915"/>
            <a:ext cx="1957354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265714" bIns="0" rtlCol="0" anchor="ctr">
            <a:no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하차 알림을 설정했어요.</a:t>
            </a:r>
          </a:p>
          <a:p>
            <a:pPr algn="l">
              <a:lnSpc>
                <a:spcPct val="110000"/>
              </a:lnSpc>
            </a:pPr>
            <a:endParaRPr sz="700" b="0">
              <a:solidFill>
                <a:srgbClr val="14181F"/>
              </a:solidFill>
              <a:latin typeface="Pretendard"/>
            </a:endParaRPr>
          </a:p>
          <a:p>
            <a:pPr>
              <a:lnSpc>
                <a:spcPct val="110000"/>
              </a:lnSpc>
            </a:pPr>
            <a:r>
              <a:rPr sz="700">
                <a:solidFill>
                  <a:srgbClr val="14181F"/>
                </a:solidFill>
                <a:latin typeface="Pretendard"/>
              </a:rPr>
              <a:t>‘시청역’ 하차 알림 켜짐</a:t>
            </a:r>
          </a:p>
        </p:txBody>
      </p:sp>
      <p:sp>
        <p:nvSpPr>
          <p:cNvPr id="15" name="Btn 20071">
            <a:extLst>
              <a:ext uri="{FF2B5EF4-FFF2-40B4-BE49-F238E27FC236}">
                <a16:creationId xmlns:a16="http://schemas.microsoft.com/office/drawing/2014/main" id="{0D8C9181-511E-E2AC-0B3D-42CC515E0C93}"/>
              </a:ext>
            </a:extLst>
          </p:cNvPr>
          <p:cNvSpPr/>
          <p:nvPr/>
        </p:nvSpPr>
        <p:spPr>
          <a:xfrm>
            <a:off x="457962" y="344198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16" name="Divider 20077">
            <a:extLst>
              <a:ext uri="{FF2B5EF4-FFF2-40B4-BE49-F238E27FC236}">
                <a16:creationId xmlns:a16="http://schemas.microsoft.com/office/drawing/2014/main" id="{9D240515-655B-55A0-361A-D0E0917E0C23}"/>
              </a:ext>
            </a:extLst>
          </p:cNvPr>
          <p:cNvSpPr/>
          <p:nvPr/>
        </p:nvSpPr>
        <p:spPr>
          <a:xfrm>
            <a:off x="3292602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7" name="UserBubble 20078">
            <a:extLst>
              <a:ext uri="{FF2B5EF4-FFF2-40B4-BE49-F238E27FC236}">
                <a16:creationId xmlns:a16="http://schemas.microsoft.com/office/drawing/2014/main" id="{58DBCFBC-4352-C81C-879D-46747C7DB46C}"/>
              </a:ext>
            </a:extLst>
          </p:cNvPr>
          <p:cNvSpPr/>
          <p:nvPr/>
        </p:nvSpPr>
        <p:spPr>
          <a:xfrm>
            <a:off x="4472178" y="1747867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몇 정거장 남았어?</a:t>
            </a:r>
          </a:p>
        </p:txBody>
      </p:sp>
      <p:sp>
        <p:nvSpPr>
          <p:cNvPr id="18" name="BotBubble 20081">
            <a:extLst>
              <a:ext uri="{FF2B5EF4-FFF2-40B4-BE49-F238E27FC236}">
                <a16:creationId xmlns:a16="http://schemas.microsoft.com/office/drawing/2014/main" id="{56554BAD-B969-C8EF-5E68-05E1BC56B46E}"/>
              </a:ext>
            </a:extLst>
          </p:cNvPr>
          <p:cNvSpPr/>
          <p:nvPr/>
        </p:nvSpPr>
        <p:spPr>
          <a:xfrm>
            <a:off x="3365754" y="2131915"/>
            <a:ext cx="1783080" cy="544068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시청역까지 3정거장, 약 7분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남았어요. 1정거장 전에 다시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알려드릴게요.</a:t>
            </a:r>
          </a:p>
        </p:txBody>
      </p:sp>
      <p:sp>
        <p:nvSpPr>
          <p:cNvPr id="19" name="Btn 20084">
            <a:extLst>
              <a:ext uri="{FF2B5EF4-FFF2-40B4-BE49-F238E27FC236}">
                <a16:creationId xmlns:a16="http://schemas.microsoft.com/office/drawing/2014/main" id="{2B0A841F-C0B1-514F-24D2-D41D89EB52C8}"/>
              </a:ext>
            </a:extLst>
          </p:cNvPr>
          <p:cNvSpPr/>
          <p:nvPr/>
        </p:nvSpPr>
        <p:spPr>
          <a:xfrm>
            <a:off x="3347466" y="2767423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0" name="Divider 20123">
            <a:extLst>
              <a:ext uri="{FF2B5EF4-FFF2-40B4-BE49-F238E27FC236}">
                <a16:creationId xmlns:a16="http://schemas.microsoft.com/office/drawing/2014/main" id="{8A98C1E0-DDBD-43AE-9DC6-82D52DFB8261}"/>
              </a:ext>
            </a:extLst>
          </p:cNvPr>
          <p:cNvSpPr/>
          <p:nvPr/>
        </p:nvSpPr>
        <p:spPr>
          <a:xfrm>
            <a:off x="6200394" y="1564987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21" name="UserBubble 20124">
            <a:extLst>
              <a:ext uri="{FF2B5EF4-FFF2-40B4-BE49-F238E27FC236}">
                <a16:creationId xmlns:a16="http://schemas.microsoft.com/office/drawing/2014/main" id="{F8DBBE50-9C59-EB0A-CD1A-B0A10CCCB7CD}"/>
              </a:ext>
            </a:extLst>
          </p:cNvPr>
          <p:cNvSpPr/>
          <p:nvPr/>
        </p:nvSpPr>
        <p:spPr>
          <a:xfrm>
            <a:off x="7288530" y="1747867"/>
            <a:ext cx="141732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승차 위치가 어디야?</a:t>
            </a:r>
          </a:p>
        </p:txBody>
      </p:sp>
      <p:sp>
        <p:nvSpPr>
          <p:cNvPr id="22" name="BotBubble 20127">
            <a:extLst>
              <a:ext uri="{FF2B5EF4-FFF2-40B4-BE49-F238E27FC236}">
                <a16:creationId xmlns:a16="http://schemas.microsoft.com/office/drawing/2014/main" id="{6A68614D-CF09-B384-CBD8-D5F41AA435B2}"/>
              </a:ext>
            </a:extLst>
          </p:cNvPr>
          <p:cNvSpPr/>
          <p:nvPr/>
        </p:nvSpPr>
        <p:spPr>
          <a:xfrm>
            <a:off x="6273546" y="2131915"/>
            <a:ext cx="1783080" cy="402336"/>
          </a:xfrm>
          <a:prstGeom prst="roundRect">
            <a:avLst>
              <a:gd name="adj" fmla="val 26041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2번 승차 위치예요. 12시</a:t>
            </a:r>
          </a:p>
          <a:p>
            <a:pPr algn="ctr">
              <a:lnSpc>
                <a:spcPct val="110000"/>
              </a:lnSpc>
            </a:pPr>
            <a:r>
              <a:rPr sz="700" b="0">
                <a:solidFill>
                  <a:srgbClr val="14181F"/>
                </a:solidFill>
                <a:latin typeface="Pretendard"/>
              </a:rPr>
              <a:t>방향으로 8m 직진하세요.</a:t>
            </a:r>
          </a:p>
        </p:txBody>
      </p:sp>
      <p:sp>
        <p:nvSpPr>
          <p:cNvPr id="23" name="Btn 20130">
            <a:extLst>
              <a:ext uri="{FF2B5EF4-FFF2-40B4-BE49-F238E27FC236}">
                <a16:creationId xmlns:a16="http://schemas.microsoft.com/office/drawing/2014/main" id="{E961C9BC-633E-2A7C-E808-B52A38762F7F}"/>
              </a:ext>
            </a:extLst>
          </p:cNvPr>
          <p:cNvSpPr/>
          <p:nvPr/>
        </p:nvSpPr>
        <p:spPr>
          <a:xfrm>
            <a:off x="6255258" y="262569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다시 듣기</a:t>
            </a:r>
          </a:p>
        </p:txBody>
      </p:sp>
      <p:sp>
        <p:nvSpPr>
          <p:cNvPr id="24" name="Rounded Rectangle 38">
            <a:extLst>
              <a:ext uri="{FF2B5EF4-FFF2-40B4-BE49-F238E27FC236}">
                <a16:creationId xmlns:a16="http://schemas.microsoft.com/office/drawing/2014/main" id="{1DFB0155-0452-BA6F-4D4F-C117E72EF447}"/>
              </a:ext>
            </a:extLst>
          </p:cNvPr>
          <p:cNvSpPr/>
          <p:nvPr/>
        </p:nvSpPr>
        <p:spPr>
          <a:xfrm>
            <a:off x="457961" y="384679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5" name="Rounded Rectangle 38">
            <a:extLst>
              <a:ext uri="{FF2B5EF4-FFF2-40B4-BE49-F238E27FC236}">
                <a16:creationId xmlns:a16="http://schemas.microsoft.com/office/drawing/2014/main" id="{5343AD71-F8CC-1DDF-AEB3-1648A954925F}"/>
              </a:ext>
            </a:extLst>
          </p:cNvPr>
          <p:cNvSpPr/>
          <p:nvPr/>
        </p:nvSpPr>
        <p:spPr>
          <a:xfrm>
            <a:off x="3346424" y="3172236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6" name="Rounded Rectangle 38">
            <a:extLst>
              <a:ext uri="{FF2B5EF4-FFF2-40B4-BE49-F238E27FC236}">
                <a16:creationId xmlns:a16="http://schemas.microsoft.com/office/drawing/2014/main" id="{43B48DB0-88CE-8B53-46B5-14BD2620A3F4}"/>
              </a:ext>
            </a:extLst>
          </p:cNvPr>
          <p:cNvSpPr/>
          <p:nvPr/>
        </p:nvSpPr>
        <p:spPr>
          <a:xfrm>
            <a:off x="6255258" y="3030504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27" name="Btn 20071">
            <a:extLst>
              <a:ext uri="{FF2B5EF4-FFF2-40B4-BE49-F238E27FC236}">
                <a16:creationId xmlns:a16="http://schemas.microsoft.com/office/drawing/2014/main" id="{EE38D5BC-F324-6F10-8E19-B5BF32D8CDEF}"/>
              </a:ext>
            </a:extLst>
          </p:cNvPr>
          <p:cNvSpPr/>
          <p:nvPr/>
        </p:nvSpPr>
        <p:spPr>
          <a:xfrm>
            <a:off x="439674" y="3037171"/>
            <a:ext cx="2468880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알림 끄기</a:t>
            </a:r>
          </a:p>
        </p:txBody>
      </p:sp>
      <p:sp>
        <p:nvSpPr>
          <p:cNvPr id="28" name="탑바 구분선">
            <a:extLst>
              <a:ext uri="{FF2B5EF4-FFF2-40B4-BE49-F238E27FC236}">
                <a16:creationId xmlns:a16="http://schemas.microsoft.com/office/drawing/2014/main" id="{9ACDF6B4-EFA8-4B7F-AEA5-71B7F8F08190}"/>
              </a:ext>
            </a:extLst>
          </p:cNvPr>
          <p:cNvSpPr/>
          <p:nvPr/>
        </p:nvSpPr>
        <p:spPr>
          <a:xfrm>
            <a:off x="339471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탑바 타이틀">
            <a:extLst>
              <a:ext uri="{FF2B5EF4-FFF2-40B4-BE49-F238E27FC236}">
                <a16:creationId xmlns:a16="http://schemas.microsoft.com/office/drawing/2014/main" id="{C8AF9B46-F807-2D24-45BA-D31710C52FCF}"/>
              </a:ext>
            </a:extLst>
          </p:cNvPr>
          <p:cNvSpPr txBox="1"/>
          <p:nvPr/>
        </p:nvSpPr>
        <p:spPr>
          <a:xfrm>
            <a:off x="749046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0" name="뒤로가기">
            <a:extLst>
              <a:ext uri="{FF2B5EF4-FFF2-40B4-BE49-F238E27FC236}">
                <a16:creationId xmlns:a16="http://schemas.microsoft.com/office/drawing/2014/main" id="{ABDF10E3-A822-FAD3-9CDC-FB9FFA2B38AD}"/>
              </a:ext>
            </a:extLst>
          </p:cNvPr>
          <p:cNvCxnSpPr/>
          <p:nvPr/>
        </p:nvCxnSpPr>
        <p:spPr>
          <a:xfrm flipH="1">
            <a:off x="482346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뒤로가기">
            <a:extLst>
              <a:ext uri="{FF2B5EF4-FFF2-40B4-BE49-F238E27FC236}">
                <a16:creationId xmlns:a16="http://schemas.microsoft.com/office/drawing/2014/main" id="{D398C64D-8DB9-5E31-5887-A1F16B6879E0}"/>
              </a:ext>
            </a:extLst>
          </p:cNvPr>
          <p:cNvCxnSpPr/>
          <p:nvPr/>
        </p:nvCxnSpPr>
        <p:spPr>
          <a:xfrm flipH="1" flipV="1">
            <a:off x="482346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음성 안내 문구">
            <a:extLst>
              <a:ext uri="{FF2B5EF4-FFF2-40B4-BE49-F238E27FC236}">
                <a16:creationId xmlns:a16="http://schemas.microsoft.com/office/drawing/2014/main" id="{275A2842-3449-A94E-C1D4-331216C5462B}"/>
              </a:ext>
            </a:extLst>
          </p:cNvPr>
          <p:cNvSpPr txBox="1"/>
          <p:nvPr/>
        </p:nvSpPr>
        <p:spPr>
          <a:xfrm>
            <a:off x="425196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BF753A93-55EF-C074-9B33-EEF4708FC7BA}"/>
              </a:ext>
            </a:extLst>
          </p:cNvPr>
          <p:cNvSpPr/>
          <p:nvPr/>
        </p:nvSpPr>
        <p:spPr>
          <a:xfrm>
            <a:off x="3228975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D239A0F6-6088-D77E-F6B4-51E4D028420C}"/>
              </a:ext>
            </a:extLst>
          </p:cNvPr>
          <p:cNvSpPr txBox="1"/>
          <p:nvPr/>
        </p:nvSpPr>
        <p:spPr>
          <a:xfrm>
            <a:off x="3638550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35" name="뒤로가기">
            <a:extLst>
              <a:ext uri="{FF2B5EF4-FFF2-40B4-BE49-F238E27FC236}">
                <a16:creationId xmlns:a16="http://schemas.microsoft.com/office/drawing/2014/main" id="{9F5BB12C-EE74-127D-9A62-B7CEFF852F48}"/>
              </a:ext>
            </a:extLst>
          </p:cNvPr>
          <p:cNvCxnSpPr/>
          <p:nvPr/>
        </p:nvCxnSpPr>
        <p:spPr>
          <a:xfrm flipH="1">
            <a:off x="3371850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뒤로가기">
            <a:extLst>
              <a:ext uri="{FF2B5EF4-FFF2-40B4-BE49-F238E27FC236}">
                <a16:creationId xmlns:a16="http://schemas.microsoft.com/office/drawing/2014/main" id="{A4B5DAD7-5688-38D1-D06F-4B3CB370AA83}"/>
              </a:ext>
            </a:extLst>
          </p:cNvPr>
          <p:cNvCxnSpPr/>
          <p:nvPr/>
        </p:nvCxnSpPr>
        <p:spPr>
          <a:xfrm flipH="1" flipV="1">
            <a:off x="3371850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음성 안내 문구">
            <a:extLst>
              <a:ext uri="{FF2B5EF4-FFF2-40B4-BE49-F238E27FC236}">
                <a16:creationId xmlns:a16="http://schemas.microsoft.com/office/drawing/2014/main" id="{F37B9E02-F98B-9AB6-9439-55AAC4F69BFB}"/>
              </a:ext>
            </a:extLst>
          </p:cNvPr>
          <p:cNvSpPr txBox="1"/>
          <p:nvPr/>
        </p:nvSpPr>
        <p:spPr>
          <a:xfrm>
            <a:off x="3314700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38" name="탑바 구분선">
            <a:extLst>
              <a:ext uri="{FF2B5EF4-FFF2-40B4-BE49-F238E27FC236}">
                <a16:creationId xmlns:a16="http://schemas.microsoft.com/office/drawing/2014/main" id="{B5681811-A719-C952-D623-FA9E4B95D8C4}"/>
              </a:ext>
            </a:extLst>
          </p:cNvPr>
          <p:cNvSpPr/>
          <p:nvPr/>
        </p:nvSpPr>
        <p:spPr>
          <a:xfrm>
            <a:off x="6136767" y="1656427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>
            <a:extLst>
              <a:ext uri="{FF2B5EF4-FFF2-40B4-BE49-F238E27FC236}">
                <a16:creationId xmlns:a16="http://schemas.microsoft.com/office/drawing/2014/main" id="{A1DC04BD-2F60-64DB-0986-0AE8DF9BAC02}"/>
              </a:ext>
            </a:extLst>
          </p:cNvPr>
          <p:cNvSpPr txBox="1"/>
          <p:nvPr/>
        </p:nvSpPr>
        <p:spPr>
          <a:xfrm>
            <a:off x="6546342" y="1313527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40" name="뒤로가기">
            <a:extLst>
              <a:ext uri="{FF2B5EF4-FFF2-40B4-BE49-F238E27FC236}">
                <a16:creationId xmlns:a16="http://schemas.microsoft.com/office/drawing/2014/main" id="{08F15038-4C42-7488-0715-2C4C9D4304A8}"/>
              </a:ext>
            </a:extLst>
          </p:cNvPr>
          <p:cNvCxnSpPr/>
          <p:nvPr/>
        </p:nvCxnSpPr>
        <p:spPr>
          <a:xfrm flipH="1">
            <a:off x="6279642" y="138058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>
            <a:extLst>
              <a:ext uri="{FF2B5EF4-FFF2-40B4-BE49-F238E27FC236}">
                <a16:creationId xmlns:a16="http://schemas.microsoft.com/office/drawing/2014/main" id="{0E47A13C-A21A-AC71-AF1D-8A210021E638}"/>
              </a:ext>
            </a:extLst>
          </p:cNvPr>
          <p:cNvCxnSpPr/>
          <p:nvPr/>
        </p:nvCxnSpPr>
        <p:spPr>
          <a:xfrm flipH="1" flipV="1">
            <a:off x="6279642" y="142782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음성 안내 문구">
            <a:extLst>
              <a:ext uri="{FF2B5EF4-FFF2-40B4-BE49-F238E27FC236}">
                <a16:creationId xmlns:a16="http://schemas.microsoft.com/office/drawing/2014/main" id="{1E7991D5-6733-4532-D16E-527A4D4A1564}"/>
              </a:ext>
            </a:extLst>
          </p:cNvPr>
          <p:cNvSpPr txBox="1"/>
          <p:nvPr/>
        </p:nvSpPr>
        <p:spPr>
          <a:xfrm>
            <a:off x="6222492" y="6014305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43" name="Description 패널">
            <a:extLst>
              <a:ext uri="{FF2B5EF4-FFF2-40B4-BE49-F238E27FC236}">
                <a16:creationId xmlns:a16="http://schemas.microsoft.com/office/drawing/2014/main" id="{BD404A53-9760-9C0A-3DD0-19AC3A88D879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>
            <a:extLst>
              <a:ext uri="{FF2B5EF4-FFF2-40B4-BE49-F238E27FC236}">
                <a16:creationId xmlns:a16="http://schemas.microsoft.com/office/drawing/2014/main" id="{6105AD48-133D-A23E-7599-6DDA177C9151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>
            <a:extLst>
              <a:ext uri="{FF2B5EF4-FFF2-40B4-BE49-F238E27FC236}">
                <a16:creationId xmlns:a16="http://schemas.microsoft.com/office/drawing/2014/main" id="{F4D00E16-3D18-4096-36BA-0198F6A12E78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68506"/>
              </p:ext>
            </p:extLst>
          </p:nvPr>
        </p:nvGraphicFramePr>
        <p:xfrm>
          <a:off x="9277502" y="1447800"/>
          <a:ext cx="2553309" cy="185140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19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잔여 정류장 —‘몇 정거장 남았어?’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남은 정거장 수 · 예상 소요 시간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하차 1정거장 전 재알림 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89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플랫폼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—‘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승차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위치가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어디야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?’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승차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위치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시계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방향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남은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거리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숫자배지 1">
            <a:extLst>
              <a:ext uri="{FF2B5EF4-FFF2-40B4-BE49-F238E27FC236}">
                <a16:creationId xmlns:a16="http://schemas.microsoft.com/office/drawing/2014/main" id="{320A1877-5537-D5FD-A61D-DEC198C28B8D}"/>
              </a:ext>
            </a:extLst>
          </p:cNvPr>
          <p:cNvSpPr/>
          <p:nvPr/>
        </p:nvSpPr>
        <p:spPr>
          <a:xfrm>
            <a:off x="2614415" y="10993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9" name="숫자배지 2">
            <a:extLst>
              <a:ext uri="{FF2B5EF4-FFF2-40B4-BE49-F238E27FC236}">
                <a16:creationId xmlns:a16="http://schemas.microsoft.com/office/drawing/2014/main" id="{B52FDAA0-8037-AEBE-8188-D1D67E7D9C6B}"/>
              </a:ext>
            </a:extLst>
          </p:cNvPr>
          <p:cNvSpPr/>
          <p:nvPr/>
        </p:nvSpPr>
        <p:spPr>
          <a:xfrm>
            <a:off x="5387069" y="1091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0" name="숫자배지 3">
            <a:extLst>
              <a:ext uri="{FF2B5EF4-FFF2-40B4-BE49-F238E27FC236}">
                <a16:creationId xmlns:a16="http://schemas.microsoft.com/office/drawing/2014/main" id="{CFB0E9ED-A892-CAB9-946C-752F230B772F}"/>
              </a:ext>
            </a:extLst>
          </p:cNvPr>
          <p:cNvSpPr/>
          <p:nvPr/>
        </p:nvSpPr>
        <p:spPr>
          <a:xfrm>
            <a:off x="8354299" y="107104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1" name="숫자배지 1-1">
            <a:extLst>
              <a:ext uri="{FF2B5EF4-FFF2-40B4-BE49-F238E27FC236}">
                <a16:creationId xmlns:a16="http://schemas.microsoft.com/office/drawing/2014/main" id="{24F2D36E-623E-F719-63FB-A566491E7BC6}"/>
              </a:ext>
            </a:extLst>
          </p:cNvPr>
          <p:cNvSpPr/>
          <p:nvPr/>
        </p:nvSpPr>
        <p:spPr>
          <a:xfrm>
            <a:off x="428584" y="1756229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2" name="숫자배지 1-2">
            <a:extLst>
              <a:ext uri="{FF2B5EF4-FFF2-40B4-BE49-F238E27FC236}">
                <a16:creationId xmlns:a16="http://schemas.microsoft.com/office/drawing/2014/main" id="{6846C7F4-2604-AEDD-1A89-BFB841E4E6FB}"/>
              </a:ext>
            </a:extLst>
          </p:cNvPr>
          <p:cNvSpPr/>
          <p:nvPr/>
        </p:nvSpPr>
        <p:spPr>
          <a:xfrm>
            <a:off x="2395364" y="290877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3" name="숫자배지 1-3">
            <a:extLst>
              <a:ext uri="{FF2B5EF4-FFF2-40B4-BE49-F238E27FC236}">
                <a16:creationId xmlns:a16="http://schemas.microsoft.com/office/drawing/2014/main" id="{1B91AB4D-1BE7-65A0-A3E4-E7E936991023}"/>
              </a:ext>
            </a:extLst>
          </p:cNvPr>
          <p:cNvSpPr/>
          <p:nvPr/>
        </p:nvSpPr>
        <p:spPr>
          <a:xfrm>
            <a:off x="2426503" y="338083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0B7D77"/>
                </a:solidFill>
                <a:latin typeface="Pretendard"/>
              </a:rPr>
              <a:t>2-7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길안내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59477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dirty="0" err="1">
                <a:solidFill>
                  <a:srgbClr val="8A94A3"/>
                </a:solidFill>
                <a:latin typeface="Pretendard"/>
              </a:rPr>
              <a:t>전맹 AI 음성인식 – 제공 불가 기능 예시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B3B0FB70-823D-271C-9835-27998A8C75B2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D316D4B0-89DE-0754-356C-C3781C96B1B5}"/>
              </a:ext>
            </a:extLst>
          </p:cNvPr>
          <p:cNvSpPr/>
          <p:nvPr/>
        </p:nvSpPr>
        <p:spPr>
          <a:xfrm>
            <a:off x="3209544" y="1203141"/>
            <a:ext cx="2724912" cy="5138928"/>
          </a:xfrm>
          <a:prstGeom prst="roundRect">
            <a:avLst>
              <a:gd name="adj" fmla="val 629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ivider 20004">
            <a:extLst>
              <a:ext uri="{FF2B5EF4-FFF2-40B4-BE49-F238E27FC236}">
                <a16:creationId xmlns:a16="http://schemas.microsoft.com/office/drawing/2014/main" id="{6AF1FD78-87D2-0354-C44E-35F54FE1C5AC}"/>
              </a:ext>
            </a:extLst>
          </p:cNvPr>
          <p:cNvSpPr/>
          <p:nvPr/>
        </p:nvSpPr>
        <p:spPr>
          <a:xfrm>
            <a:off x="3282696" y="1568901"/>
            <a:ext cx="2578608" cy="914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25000"/>
              </a:lnSpc>
            </a:pPr>
            <a:endParaRPr/>
          </a:p>
        </p:txBody>
      </p:sp>
      <p:sp>
        <p:nvSpPr>
          <p:cNvPr id="11" name="UserBubble 20005">
            <a:extLst>
              <a:ext uri="{FF2B5EF4-FFF2-40B4-BE49-F238E27FC236}">
                <a16:creationId xmlns:a16="http://schemas.microsoft.com/office/drawing/2014/main" id="{47FBC442-9DBE-B1D0-0338-81B239CB18A4}"/>
              </a:ext>
            </a:extLst>
          </p:cNvPr>
          <p:cNvSpPr/>
          <p:nvPr/>
        </p:nvSpPr>
        <p:spPr>
          <a:xfrm>
            <a:off x="4462272" y="1751781"/>
            <a:ext cx="1325880" cy="292608"/>
          </a:xfrm>
          <a:prstGeom prst="roundRect">
            <a:avLst>
              <a:gd name="adj" fmla="val 35807"/>
            </a:avLst>
          </a:prstGeom>
          <a:solidFill>
            <a:srgbClr val="E8EBF2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버스에 자리 있어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?</a:t>
            </a:r>
          </a:p>
        </p:txBody>
      </p:sp>
      <p:sp>
        <p:nvSpPr>
          <p:cNvPr id="12" name="BotBubble 20008">
            <a:extLst>
              <a:ext uri="{FF2B5EF4-FFF2-40B4-BE49-F238E27FC236}">
                <a16:creationId xmlns:a16="http://schemas.microsoft.com/office/drawing/2014/main" id="{D0581417-2064-FCDF-0F78-21AF02571329}"/>
              </a:ext>
            </a:extLst>
          </p:cNvPr>
          <p:cNvSpPr/>
          <p:nvPr/>
        </p:nvSpPr>
        <p:spPr>
          <a:xfrm>
            <a:off x="3355848" y="2135828"/>
            <a:ext cx="1783080" cy="473011"/>
          </a:xfrm>
          <a:prstGeom prst="roundRect">
            <a:avLst>
              <a:gd name="adj" fmla="val 19257"/>
            </a:avLst>
          </a:prstGeom>
          <a:solidFill>
            <a:srgbClr val="F5F6F8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제공하지 않는 기능이에요</a:t>
            </a:r>
            <a:r>
              <a:rPr lang="en-US" altLang="ko-KR" sz="700" dirty="0">
                <a:solidFill>
                  <a:srgbClr val="14181F"/>
                </a:solidFill>
                <a:latin typeface="Pretendard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길을 안내하거나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, </a:t>
            </a: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주변에 무엇이 </a:t>
            </a:r>
            <a:endParaRPr lang="en-US" altLang="ko-KR" sz="700" b="0" dirty="0">
              <a:solidFill>
                <a:srgbClr val="14181F"/>
              </a:solidFill>
              <a:latin typeface="Pretendard"/>
            </a:endParaRPr>
          </a:p>
          <a:p>
            <a:pPr algn="ctr">
              <a:lnSpc>
                <a:spcPct val="110000"/>
              </a:lnSpc>
            </a:pPr>
            <a:r>
              <a:rPr lang="ko-KR" altLang="en-US" sz="700" b="0" dirty="0">
                <a:solidFill>
                  <a:srgbClr val="14181F"/>
                </a:solidFill>
                <a:latin typeface="Pretendard"/>
              </a:rPr>
              <a:t>있는지 알려드릴 수 있어요</a:t>
            </a:r>
            <a:r>
              <a:rPr lang="en-US" altLang="ko-KR" sz="700" b="0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13" name="Rounded Rectangle 9058">
            <a:extLst>
              <a:ext uri="{FF2B5EF4-FFF2-40B4-BE49-F238E27FC236}">
                <a16:creationId xmlns:a16="http://schemas.microsoft.com/office/drawing/2014/main" id="{AC7FB0EC-32F9-E3B8-E004-937F417AC2E7}"/>
              </a:ext>
            </a:extLst>
          </p:cNvPr>
          <p:cNvSpPr/>
          <p:nvPr/>
        </p:nvSpPr>
        <p:spPr>
          <a:xfrm>
            <a:off x="3337560" y="2700661"/>
            <a:ext cx="2432304" cy="328612"/>
          </a:xfrm>
          <a:prstGeom prst="roundRect">
            <a:avLst>
              <a:gd name="adj" fmla="val 3188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대화 종료</a:t>
            </a:r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233A5C1A-74B1-863B-EE4F-B9EC743E33DA}"/>
              </a:ext>
            </a:extLst>
          </p:cNvPr>
          <p:cNvSpPr/>
          <p:nvPr/>
        </p:nvSpPr>
        <p:spPr>
          <a:xfrm>
            <a:off x="3219069" y="1660341"/>
            <a:ext cx="2705862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36B4A04F-7F23-6C7B-CFBE-AF17813412E6}"/>
              </a:ext>
            </a:extLst>
          </p:cNvPr>
          <p:cNvSpPr txBox="1"/>
          <p:nvPr/>
        </p:nvSpPr>
        <p:spPr>
          <a:xfrm>
            <a:off x="3628644" y="1317441"/>
            <a:ext cx="1886712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음성인식 · 챗봇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FBF7CAF3-1A12-8CA1-0E07-B421748FE6E7}"/>
              </a:ext>
            </a:extLst>
          </p:cNvPr>
          <p:cNvCxnSpPr/>
          <p:nvPr/>
        </p:nvCxnSpPr>
        <p:spPr>
          <a:xfrm flipH="1">
            <a:off x="3361944" y="138449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7594F0CD-1F05-9BB9-11E0-CA08593480BB}"/>
              </a:ext>
            </a:extLst>
          </p:cNvPr>
          <p:cNvCxnSpPr/>
          <p:nvPr/>
        </p:nvCxnSpPr>
        <p:spPr>
          <a:xfrm flipH="1" flipV="1">
            <a:off x="3361944" y="14317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음성 안내 문구">
            <a:extLst>
              <a:ext uri="{FF2B5EF4-FFF2-40B4-BE49-F238E27FC236}">
                <a16:creationId xmlns:a16="http://schemas.microsoft.com/office/drawing/2014/main" id="{4E136D20-BEC3-D0CA-2451-8F9A2681A84B}"/>
              </a:ext>
            </a:extLst>
          </p:cNvPr>
          <p:cNvSpPr txBox="1"/>
          <p:nvPr/>
        </p:nvSpPr>
        <p:spPr>
          <a:xfrm>
            <a:off x="3304794" y="6018219"/>
            <a:ext cx="2534412" cy="1714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87" b="0" spc="-16">
                <a:solidFill>
                  <a:srgbClr val="5B6573"/>
                </a:solidFill>
                <a:latin typeface="Pretendard"/>
              </a:rPr>
              <a:t>화면 어디든 길게 눌러 음성인식을 시작해보세요.</a:t>
            </a:r>
          </a:p>
        </p:txBody>
      </p:sp>
      <p:sp>
        <p:nvSpPr>
          <p:cNvPr id="19" name="Description 패널">
            <a:extLst>
              <a:ext uri="{FF2B5EF4-FFF2-40B4-BE49-F238E27FC236}">
                <a16:creationId xmlns:a16="http://schemas.microsoft.com/office/drawing/2014/main" id="{4663C006-9422-6528-8498-687D36C3C479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Description 제목">
            <a:extLst>
              <a:ext uri="{FF2B5EF4-FFF2-40B4-BE49-F238E27FC236}">
                <a16:creationId xmlns:a16="http://schemas.microsoft.com/office/drawing/2014/main" id="{12A31619-34AF-CF5A-4BAE-2252534687B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1" name="Description 밑줄">
            <a:extLst>
              <a:ext uri="{FF2B5EF4-FFF2-40B4-BE49-F238E27FC236}">
                <a16:creationId xmlns:a16="http://schemas.microsoft.com/office/drawing/2014/main" id="{F1869EFA-E792-90E8-277A-33F148EEE2B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87364"/>
              </p:ext>
            </p:extLst>
          </p:nvPr>
        </p:nvGraphicFramePr>
        <p:xfrm>
          <a:off x="8629192" y="1447800"/>
          <a:ext cx="2972409" cy="364815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제공하지 않는 기능에 대한 요청인 경우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침묵하거나, 모른다고 단일 답변하지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제공하지 않는 기능임을 명확히 안내하고 대신 알려줄 수 있는 정보를 함께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26963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제공 불가 4건 — 대안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① 버스 도착 순서 「몇 번째로 들어와?」 — 저상버스가 도착하면 바로 알림 · [도착 알림 켜기]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② 예약 취소 「예약 취소해줘」 — 「예약 신청 완료」는 취소 가능 · 확인을 먼저 물음 · 「예약 확정됨」은 취소 불가 · 도착 시 알림 · [예약 내역 보기]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③ 예약 사전 발신 「미리 예약해둘래」 — 그때까지 「예약 신청 완료」로 표시 · 상태는 신청함 / 확정됨 2단 · 발송 시점을 거리 · 정거장 수로 말하지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④ 만차 · 혼잡도 「자리 있어?」 — 이번 릴리즈 범위 밖 · 저상버스 도착 여부까지만 안내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4" name="숫자배지 1">
            <a:extLst>
              <a:ext uri="{FF2B5EF4-FFF2-40B4-BE49-F238E27FC236}">
                <a16:creationId xmlns:a16="http://schemas.microsoft.com/office/drawing/2014/main" id="{57E686B0-F0DF-E89E-F604-7345FBD373F6}"/>
              </a:ext>
            </a:extLst>
          </p:cNvPr>
          <p:cNvSpPr/>
          <p:nvPr/>
        </p:nvSpPr>
        <p:spPr>
          <a:xfrm>
            <a:off x="5427726" y="11144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40294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0990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685800" y="3167335"/>
            <a:ext cx="1452591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790575" y="3167335"/>
            <a:ext cx="1243041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2 인근 편의시설"/>
          <p:cNvSpPr/>
          <p:nvPr/>
        </p:nvSpPr>
        <p:spPr>
          <a:xfrm>
            <a:off x="2522901" y="3167335"/>
            <a:ext cx="1281697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27676" y="3167335"/>
            <a:ext cx="1072147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 인근 편의시설</a:t>
            </a:r>
          </a:p>
        </p:txBody>
      </p:sp>
      <p:sp>
        <p:nvSpPr>
          <p:cNvPr id="13" name="흐름 1-2-1~7 시설 목록"/>
          <p:cNvSpPr/>
          <p:nvPr/>
        </p:nvSpPr>
        <p:spPr>
          <a:xfrm>
            <a:off x="4204549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309324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1-2-1~7 시설 목록</a:t>
            </a:r>
          </a:p>
        </p:txBody>
      </p:sp>
      <p:sp>
        <p:nvSpPr>
          <p:cNvPr id="15" name="흐름 2-2 장소 상세"/>
          <p:cNvSpPr/>
          <p:nvPr/>
        </p:nvSpPr>
        <p:spPr>
          <a:xfrm>
            <a:off x="621563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632040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</a:t>
            </a:r>
          </a:p>
        </p:txBody>
      </p:sp>
      <p:sp>
        <p:nvSpPr>
          <p:cNvPr id="17" name="흐름 2-3 상세경로"/>
          <p:cNvSpPr/>
          <p:nvPr/>
        </p:nvSpPr>
        <p:spPr>
          <a:xfrm>
            <a:off x="8309074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413849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2-3 상세경로</a:t>
            </a:r>
          </a:p>
        </p:txBody>
      </p:sp>
      <p:sp>
        <p:nvSpPr>
          <p:cNvPr id="19" name="흐름 2-4 내비게이션"/>
          <p:cNvSpPr/>
          <p:nvPr/>
        </p:nvSpPr>
        <p:spPr>
          <a:xfrm>
            <a:off x="10181778" y="3167335"/>
            <a:ext cx="1324422" cy="529769"/>
          </a:xfrm>
          <a:prstGeom prst="roundRect">
            <a:avLst>
              <a:gd name="adj" fmla="val 21575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10286553" y="3167335"/>
            <a:ext cx="1114872" cy="5297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0B7D77"/>
                </a:solidFill>
                <a:latin typeface="Pretendard"/>
              </a:rPr>
              <a:t>2-4 </a:t>
            </a:r>
            <a:r>
              <a:rPr lang="ko-KR" altLang="en-US" sz="862" b="1" spc="-17" dirty="0" err="1">
                <a:solidFill>
                  <a:srgbClr val="0B7D77"/>
                </a:solidFill>
                <a:latin typeface="Pretendard"/>
              </a:rPr>
              <a:t>내비게이션</a:t>
            </a:r>
            <a:endParaRPr sz="862" b="1" spc="-17" dirty="0">
              <a:solidFill>
                <a:srgbClr val="0B7D77"/>
              </a:solidFill>
              <a:latin typeface="Pretendard"/>
            </a:endParaRPr>
          </a:p>
        </p:txBody>
      </p:sp>
      <p:cxnSp>
        <p:nvCxnSpPr>
          <p:cNvPr id="21" name="연결선"/>
          <p:cNvCxnSpPr>
            <a:stCxn id="9" idx="3"/>
            <a:endCxn id="11" idx="1"/>
          </p:cNvCxnSpPr>
          <p:nvPr/>
        </p:nvCxnSpPr>
        <p:spPr>
          <a:xfrm>
            <a:off x="2138391" y="3432219"/>
            <a:ext cx="38451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1" idx="3"/>
            <a:endCxn id="13" idx="1"/>
          </p:cNvCxnSpPr>
          <p:nvPr/>
        </p:nvCxnSpPr>
        <p:spPr>
          <a:xfrm>
            <a:off x="3804598" y="3432219"/>
            <a:ext cx="399951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3" idx="3"/>
            <a:endCxn id="15" idx="1"/>
          </p:cNvCxnSpPr>
          <p:nvPr/>
        </p:nvCxnSpPr>
        <p:spPr>
          <a:xfrm>
            <a:off x="5528971" y="3432219"/>
            <a:ext cx="686663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5" idx="3"/>
            <a:endCxn id="17" idx="1"/>
          </p:cNvCxnSpPr>
          <p:nvPr/>
        </p:nvCxnSpPr>
        <p:spPr>
          <a:xfrm>
            <a:off x="7540056" y="3432219"/>
            <a:ext cx="769018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7" idx="3"/>
            <a:endCxn id="19" idx="1"/>
          </p:cNvCxnSpPr>
          <p:nvPr/>
        </p:nvCxnSpPr>
        <p:spPr>
          <a:xfrm>
            <a:off x="9633496" y="3432219"/>
            <a:ext cx="548282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66786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 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59956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751960" y="18545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885310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751960" y="23784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885310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751960" y="29023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885310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751960" y="342621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885310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751960" y="39500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885310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751960" y="44739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885310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751960" y="49978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885310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609084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018660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75196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75196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숫자배지 1"/>
          <p:cNvSpPr/>
          <p:nvPr/>
        </p:nvSpPr>
        <p:spPr>
          <a:xfrm>
            <a:off x="370960" y="2021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28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부제"/>
          <p:cNvSpPr txBox="1"/>
          <p:nvPr/>
        </p:nvSpPr>
        <p:spPr>
          <a:xfrm>
            <a:off x="2744115" y="228600"/>
            <a:ext cx="818296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유형별 표출 순서</a:t>
            </a:r>
          </a:p>
        </p:txBody>
      </p:sp>
      <p:sp>
        <p:nvSpPr>
          <p:cNvPr id="32" name="Description 제목"/>
          <p:cNvSpPr txBox="1"/>
          <p:nvPr/>
        </p:nvSpPr>
        <p:spPr>
          <a:xfrm>
            <a:off x="3749040" y="1114425"/>
            <a:ext cx="237744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교통약자 유형별 표출 순위</a:t>
            </a:r>
          </a:p>
        </p:txBody>
      </p:sp>
      <p:sp>
        <p:nvSpPr>
          <p:cNvPr id="33" name="Description 밑줄"/>
          <p:cNvSpPr/>
          <p:nvPr/>
        </p:nvSpPr>
        <p:spPr>
          <a:xfrm>
            <a:off x="3749040" y="1352550"/>
            <a:ext cx="49377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4" name="유형별 표출 순위 표"/>
          <p:cNvGraphicFramePr>
            <a:graphicFrameLocks noGrp="1"/>
          </p:cNvGraphicFramePr>
          <p:nvPr/>
        </p:nvGraphicFramePr>
        <p:xfrm>
          <a:off x="3749040" y="1444752"/>
          <a:ext cx="4937760" cy="2871216"/>
        </p:xfrm>
        <a:graphic>
          <a:graphicData uri="http://schemas.openxmlformats.org/drawingml/2006/table">
            <a:tbl>
              <a:tblPr/>
              <a:tblGrid>
                <a:gridCol w="329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순위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휠체어·유모차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노약자·임산부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저시력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전맹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엘리베이터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장애인 화장실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에스컬레이터 위치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지하철 내 수유실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접근성 정보 조회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휠체어 충전소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900" b="1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청계천 이동약자 시설물</a:t>
                      </a:r>
                    </a:p>
                  </a:txBody>
                  <a:tcPr marL="38100" marR="38100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3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015656"/>
              </p:ext>
            </p:extLst>
          </p:nvPr>
        </p:nvGraphicFramePr>
        <p:xfrm>
          <a:off x="9277502" y="1447800"/>
          <a:ext cx="2553309" cy="228264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6593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유형별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표출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순서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항목의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번호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이름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개수는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그대로이고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표시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순서만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유형별로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다름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예시는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‘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휠체어·유모차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’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기준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나머지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유형은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좌측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순위표를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따름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음성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안내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순서도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화면과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같음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적용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화면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1-2 인근 편의시설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2-0 길안내 시트 7칩 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66786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 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29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6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 휠체어 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350m · 영등포구 당산동4가 80-5</a:t>
            </a:r>
          </a:p>
        </p:txBody>
      </p:sp>
      <p:sp>
        <p:nvSpPr>
          <p:cNvPr id="39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420m · 영등포구 당산동3가 82-3</a:t>
            </a:r>
          </a:p>
        </p:txBody>
      </p:sp>
      <p:sp>
        <p:nvSpPr>
          <p:cNvPr id="41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680m · 영등포구 영등포동 1-9</a:t>
            </a:r>
          </a:p>
        </p:txBody>
      </p:sp>
      <p:sp>
        <p:nvSpPr>
          <p:cNvPr id="43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10912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10912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5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259004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259004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7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9200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9200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9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277292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277292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1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9200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9200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3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277292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277292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graphicFrame>
        <p:nvGraphicFramePr>
          <p:cNvPr id="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277502" y="1447800"/>
          <a:ext cx="2553309" cy="465078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인근 편의시설 — 카테고리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탑바 — 뒤로가기 ＋ 제목 「인근 편의시설」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카테고리 7종 · 1열 세로 리스트 — 2열 그리드가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항목명만 표기 — 부가 설명 · 아이콘 배지를 붙이지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「인근」 기준은 현위치 반경 300m · 택 1 하면 지도 ＋ 바텀시트로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표시 순서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표시 순서는 교통약자 유형별로 갈림 — 번호(1-2-1~7) 순서가 아님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컨트롤 · 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리스트에 오른 장소를 전량 핀으로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항목은 핀이 더 크게 — 다른 핀을 지우지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3종 — 내 위치 · 정북 복원 · 확대 ·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단계와 무관하게 상시 노출 · 뒤로가기는 지도 좌상단 원형 플로팅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8" name="즐겨찾기 토글"/>
          <p:cNvSpPr/>
          <p:nvPr/>
        </p:nvSpPr>
        <p:spPr>
          <a:xfrm>
            <a:off x="7296912" y="3622163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59" name="주소 펼침"/>
          <p:cNvSpPr/>
          <p:nvPr/>
        </p:nvSpPr>
        <p:spPr>
          <a:xfrm>
            <a:off x="6265306" y="3859907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0" name="즐겨찾기 토글"/>
          <p:cNvSpPr/>
          <p:nvPr/>
        </p:nvSpPr>
        <p:spPr>
          <a:xfrm>
            <a:off x="7296912" y="4530338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1" name="주소 펼침"/>
          <p:cNvSpPr/>
          <p:nvPr/>
        </p:nvSpPr>
        <p:spPr>
          <a:xfrm>
            <a:off x="6265306" y="4768082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2" name="즐겨찾기 토글"/>
          <p:cNvSpPr/>
          <p:nvPr/>
        </p:nvSpPr>
        <p:spPr>
          <a:xfrm>
            <a:off x="7296912" y="5478356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3" name="주소 펼침"/>
          <p:cNvSpPr/>
          <p:nvPr/>
        </p:nvSpPr>
        <p:spPr>
          <a:xfrm>
            <a:off x="6179454" y="5716100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4" name="부제"/>
          <p:cNvSpPr txBox="1"/>
          <p:nvPr/>
        </p:nvSpPr>
        <p:spPr>
          <a:xfrm>
            <a:off x="2744115" y="228600"/>
            <a:ext cx="818296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카테고리 선택 · 시설 목록 (1/3)</a:t>
            </a:r>
          </a:p>
        </p:txBody>
      </p:sp>
      <p:sp>
        <p:nvSpPr>
          <p:cNvPr id="65" name="숫자배지 1"/>
          <p:cNvSpPr/>
          <p:nvPr/>
        </p:nvSpPr>
        <p:spPr>
          <a:xfrm>
            <a:off x="1078992" y="20208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숫자배지 1-1"/>
          <p:cNvSpPr/>
          <p:nvPr/>
        </p:nvSpPr>
        <p:spPr>
          <a:xfrm>
            <a:off x="996696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7296912" y="20299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4526280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4526280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5"/>
          <p:cNvSpPr/>
          <p:nvPr/>
        </p:nvSpPr>
        <p:spPr>
          <a:xfrm>
            <a:off x="7626096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1" name="숫자배지 6"/>
          <p:cNvSpPr/>
          <p:nvPr/>
        </p:nvSpPr>
        <p:spPr>
          <a:xfrm>
            <a:off x="6510528" y="38221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2" name="숫자배지 7"/>
          <p:cNvSpPr/>
          <p:nvPr/>
        </p:nvSpPr>
        <p:spPr>
          <a:xfrm>
            <a:off x="7626096" y="4114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66786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 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29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6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 휠체어 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350m · 영등포구 당산동4가 80-5</a:t>
            </a:r>
          </a:p>
        </p:txBody>
      </p:sp>
      <p:sp>
        <p:nvSpPr>
          <p:cNvPr id="39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420m · 영등포구 당산동3가 82-3</a:t>
            </a:r>
          </a:p>
        </p:txBody>
      </p:sp>
      <p:sp>
        <p:nvSpPr>
          <p:cNvPr id="41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680m · 영등포구 영등포동 1-9</a:t>
            </a:r>
          </a:p>
        </p:txBody>
      </p:sp>
      <p:sp>
        <p:nvSpPr>
          <p:cNvPr id="43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10912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10912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5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259004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259004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7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9200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9200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9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277292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277292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1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9200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9200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3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277292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277292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graphicFrame>
        <p:nvGraphicFramePr>
          <p:cNvPr id="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277502" y="1447800"/>
          <a:ext cx="2553309" cy="421797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/ 최소 2단계 · 진입 기본값 최대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높이는 리스트 콘텐츠 양을 따름 — 고정 높이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전환은 손잡이 누르기 토글 하나 · 드래그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탭 = 최소화 · 지도 이동 · 확대로는 단계 불변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목록 항목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 — 이름(강조) / 거리 · 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2번째 줄은 거리 → 주소 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거리는 현위치 기준 직선거리 · m 단위 정수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주소는 지번에서 광역 1개만 생략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자체가 장소 상세 진입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토글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한켠 · 아이콘 토글 하나 · 텍스트 버튼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 / ★ 형태로 on / off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8" name="즐겨찾기 토글"/>
          <p:cNvSpPr/>
          <p:nvPr/>
        </p:nvSpPr>
        <p:spPr>
          <a:xfrm>
            <a:off x="7296912" y="3622163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59" name="주소 펼침"/>
          <p:cNvSpPr/>
          <p:nvPr/>
        </p:nvSpPr>
        <p:spPr>
          <a:xfrm>
            <a:off x="6265306" y="3859907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0" name="즐겨찾기 토글"/>
          <p:cNvSpPr/>
          <p:nvPr/>
        </p:nvSpPr>
        <p:spPr>
          <a:xfrm>
            <a:off x="7296912" y="4530338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1" name="주소 펼침"/>
          <p:cNvSpPr/>
          <p:nvPr/>
        </p:nvSpPr>
        <p:spPr>
          <a:xfrm>
            <a:off x="6265306" y="4768082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2" name="즐겨찾기 토글"/>
          <p:cNvSpPr/>
          <p:nvPr/>
        </p:nvSpPr>
        <p:spPr>
          <a:xfrm>
            <a:off x="7296912" y="5478356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3" name="주소 펼침"/>
          <p:cNvSpPr/>
          <p:nvPr/>
        </p:nvSpPr>
        <p:spPr>
          <a:xfrm>
            <a:off x="6179454" y="5716100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4" name="부제"/>
          <p:cNvSpPr txBox="1"/>
          <p:nvPr/>
        </p:nvSpPr>
        <p:spPr>
          <a:xfrm>
            <a:off x="2744115" y="228600"/>
            <a:ext cx="818296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카테고리 선택 · 시설 목록 (2/3)</a:t>
            </a:r>
          </a:p>
        </p:txBody>
      </p:sp>
      <p:sp>
        <p:nvSpPr>
          <p:cNvPr id="65" name="숫자배지 1"/>
          <p:cNvSpPr/>
          <p:nvPr/>
        </p:nvSpPr>
        <p:spPr>
          <a:xfrm>
            <a:off x="1078992" y="20208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숫자배지 1-1"/>
          <p:cNvSpPr/>
          <p:nvPr/>
        </p:nvSpPr>
        <p:spPr>
          <a:xfrm>
            <a:off x="996696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7296912" y="20299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4526280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4526280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5"/>
          <p:cNvSpPr/>
          <p:nvPr/>
        </p:nvSpPr>
        <p:spPr>
          <a:xfrm>
            <a:off x="7626096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1" name="숫자배지 6"/>
          <p:cNvSpPr/>
          <p:nvPr/>
        </p:nvSpPr>
        <p:spPr>
          <a:xfrm>
            <a:off x="6510528" y="38221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2" name="숫자배지 7"/>
          <p:cNvSpPr/>
          <p:nvPr/>
        </p:nvSpPr>
        <p:spPr>
          <a:xfrm>
            <a:off x="7626096" y="4114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66786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인근 편의시설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1303648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리스트 행"/>
          <p:cNvSpPr/>
          <p:nvPr/>
        </p:nvSpPr>
        <p:spPr>
          <a:xfrm>
            <a:off x="1456048" y="18545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1589398" y="18545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엘리베이터 위치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1456048" y="23784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589398" y="23784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장애인 화장실</a:t>
            </a:r>
          </a:p>
        </p:txBody>
      </p:sp>
      <p:sp>
        <p:nvSpPr>
          <p:cNvPr id="13" name="리스트 행"/>
          <p:cNvSpPr/>
          <p:nvPr/>
        </p:nvSpPr>
        <p:spPr>
          <a:xfrm>
            <a:off x="1456048" y="29023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행 제목"/>
          <p:cNvSpPr txBox="1"/>
          <p:nvPr/>
        </p:nvSpPr>
        <p:spPr>
          <a:xfrm>
            <a:off x="1589398" y="29023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휠체어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충전소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5" name="리스트 행"/>
          <p:cNvSpPr/>
          <p:nvPr/>
        </p:nvSpPr>
        <p:spPr>
          <a:xfrm>
            <a:off x="1456048" y="342621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589398" y="342621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지하철 내 수유실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6048" y="395008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9398" y="395008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에스컬레이터 위치</a:t>
            </a:r>
          </a:p>
        </p:txBody>
      </p:sp>
      <p:sp>
        <p:nvSpPr>
          <p:cNvPr id="19" name="리스트 행"/>
          <p:cNvSpPr/>
          <p:nvPr/>
        </p:nvSpPr>
        <p:spPr>
          <a:xfrm>
            <a:off x="1456048" y="447396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589398" y="4473960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접근성 정보 조회</a:t>
            </a:r>
          </a:p>
        </p:txBody>
      </p:sp>
      <p:sp>
        <p:nvSpPr>
          <p:cNvPr id="21" name="리스트 행"/>
          <p:cNvSpPr/>
          <p:nvPr/>
        </p:nvSpPr>
        <p:spPr>
          <a:xfrm>
            <a:off x="1456048" y="499783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행 제목"/>
          <p:cNvSpPr txBox="1"/>
          <p:nvPr/>
        </p:nvSpPr>
        <p:spPr>
          <a:xfrm>
            <a:off x="1589398" y="4997835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청계천 이동약자 시설물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1313172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722748" y="13973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인근 편의시설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56048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56048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목업 프레임"/>
          <p:cNvSpPr/>
          <p:nvPr/>
        </p:nvSpPr>
        <p:spPr>
          <a:xfrm>
            <a:off x="4874590" y="128308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지도 안내"/>
          <p:cNvSpPr txBox="1"/>
          <p:nvPr/>
        </p:nvSpPr>
        <p:spPr>
          <a:xfrm>
            <a:off x="5026990" y="1854585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지도에 핀 형태로 바텀시트에 리스트업 된 장소 표출</a:t>
            </a:r>
          </a:p>
        </p:txBody>
      </p:sp>
      <p:sp>
        <p:nvSpPr>
          <p:cNvPr id="29" name="바텀시트"/>
          <p:cNvSpPr/>
          <p:nvPr/>
        </p:nvSpPr>
        <p:spPr>
          <a:xfrm>
            <a:off x="4884116" y="3273701"/>
            <a:ext cx="2714625" cy="3143359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시트 손잡이"/>
          <p:cNvSpPr/>
          <p:nvPr/>
        </p:nvSpPr>
        <p:spPr>
          <a:xfrm>
            <a:off x="6069978" y="3402831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탑바 구분선"/>
          <p:cNvSpPr/>
          <p:nvPr/>
        </p:nvSpPr>
        <p:spPr>
          <a:xfrm>
            <a:off x="4884116" y="17402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32" name="뒤로가기"/>
          <p:cNvCxnSpPr/>
          <p:nvPr/>
        </p:nvCxnSpPr>
        <p:spPr>
          <a:xfrm flipH="1">
            <a:off x="5026990" y="146444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뒤로가기"/>
          <p:cNvCxnSpPr/>
          <p:nvPr/>
        </p:nvCxnSpPr>
        <p:spPr>
          <a:xfrm flipH="1" flipV="1">
            <a:off x="5026990" y="151168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6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TextBox 63">
            <a:extLst>
              <a:ext uri="{FF2B5EF4-FFF2-40B4-BE49-F238E27FC236}">
                <a16:creationId xmlns:a16="http://schemas.microsoft.com/office/drawing/2014/main" id="{D2354D3F-C827-FC42-D592-612E2956FE2D}"/>
              </a:ext>
            </a:extLst>
          </p:cNvPr>
          <p:cNvSpPr/>
          <p:nvPr/>
        </p:nvSpPr>
        <p:spPr>
          <a:xfrm>
            <a:off x="5021723" y="3622163"/>
            <a:ext cx="1507262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 err="1">
                <a:solidFill>
                  <a:srgbClr val="14181F"/>
                </a:solidFill>
                <a:latin typeface="Pretendard"/>
              </a:rPr>
              <a:t>홍대입구역 휠체어 충전소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TextBox 65">
            <a:extLst>
              <a:ext uri="{FF2B5EF4-FFF2-40B4-BE49-F238E27FC236}">
                <a16:creationId xmlns:a16="http://schemas.microsoft.com/office/drawing/2014/main" id="{E619337C-EBEF-2F98-4B8A-25499383656D}"/>
              </a:ext>
            </a:extLst>
          </p:cNvPr>
          <p:cNvSpPr/>
          <p:nvPr/>
        </p:nvSpPr>
        <p:spPr>
          <a:xfrm>
            <a:off x="5021723" y="3869842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 dirty="0" err="1">
                <a:solidFill>
                  <a:srgbClr val="14181F"/>
                </a:solidFill>
                <a:latin typeface="Pretendard"/>
              </a:rPr>
              <a:t>350m · 영등포구 당산동4가 80-5</a:t>
            </a:r>
          </a:p>
        </p:txBody>
      </p:sp>
      <p:sp>
        <p:nvSpPr>
          <p:cNvPr id="39" name="TextBox 76">
            <a:extLst>
              <a:ext uri="{FF2B5EF4-FFF2-40B4-BE49-F238E27FC236}">
                <a16:creationId xmlns:a16="http://schemas.microsoft.com/office/drawing/2014/main" id="{9123A52C-32CA-654C-83D8-EC11AFEEC8CE}"/>
              </a:ext>
            </a:extLst>
          </p:cNvPr>
          <p:cNvSpPr/>
          <p:nvPr/>
        </p:nvSpPr>
        <p:spPr>
          <a:xfrm>
            <a:off x="5021723" y="4530338"/>
            <a:ext cx="110308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당산3동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TextBox 77">
            <a:extLst>
              <a:ext uri="{FF2B5EF4-FFF2-40B4-BE49-F238E27FC236}">
                <a16:creationId xmlns:a16="http://schemas.microsoft.com/office/drawing/2014/main" id="{37DE0F02-1A48-DF3D-A5A9-A4F5B34081CF}"/>
              </a:ext>
            </a:extLst>
          </p:cNvPr>
          <p:cNvSpPr/>
          <p:nvPr/>
        </p:nvSpPr>
        <p:spPr>
          <a:xfrm>
            <a:off x="5021723" y="4778016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420m · 영등포구 당산동3가 82-3</a:t>
            </a:r>
          </a:p>
        </p:txBody>
      </p:sp>
      <p:sp>
        <p:nvSpPr>
          <p:cNvPr id="41" name="TextBox 50">
            <a:extLst>
              <a:ext uri="{FF2B5EF4-FFF2-40B4-BE49-F238E27FC236}">
                <a16:creationId xmlns:a16="http://schemas.microsoft.com/office/drawing/2014/main" id="{BA98806A-C5AC-FA95-7806-D03D0ECC1A91}"/>
              </a:ext>
            </a:extLst>
          </p:cNvPr>
          <p:cNvSpPr/>
          <p:nvPr/>
        </p:nvSpPr>
        <p:spPr>
          <a:xfrm>
            <a:off x="5021723" y="5478356"/>
            <a:ext cx="1288023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영등포1동 주민센터</a:t>
            </a:r>
            <a:endParaRPr sz="976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TextBox 51">
            <a:extLst>
              <a:ext uri="{FF2B5EF4-FFF2-40B4-BE49-F238E27FC236}">
                <a16:creationId xmlns:a16="http://schemas.microsoft.com/office/drawing/2014/main" id="{8D85EBE6-206C-583C-933E-CC0470C1AAD7}"/>
              </a:ext>
            </a:extLst>
          </p:cNvPr>
          <p:cNvSpPr/>
          <p:nvPr/>
        </p:nvSpPr>
        <p:spPr>
          <a:xfrm>
            <a:off x="5021723" y="5726034"/>
            <a:ext cx="1621989" cy="178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680m · 영등포구 영등포동 1-9</a:t>
            </a:r>
          </a:p>
        </p:txBody>
      </p:sp>
      <p:sp>
        <p:nvSpPr>
          <p:cNvPr id="43" name="역할 출발">
            <a:extLst>
              <a:ext uri="{FF2B5EF4-FFF2-40B4-BE49-F238E27FC236}">
                <a16:creationId xmlns:a16="http://schemas.microsoft.com/office/drawing/2014/main" id="{F9B2EB44-C9F2-9777-A8C7-721B35657BE3}"/>
              </a:ext>
            </a:extLst>
          </p:cNvPr>
          <p:cNvSpPr/>
          <p:nvPr/>
        </p:nvSpPr>
        <p:spPr>
          <a:xfrm>
            <a:off x="5010912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역할 라벨">
            <a:extLst>
              <a:ext uri="{FF2B5EF4-FFF2-40B4-BE49-F238E27FC236}">
                <a16:creationId xmlns:a16="http://schemas.microsoft.com/office/drawing/2014/main" id="{D753D6DD-FC63-4245-0098-C79684152230}"/>
              </a:ext>
            </a:extLst>
          </p:cNvPr>
          <p:cNvSpPr txBox="1"/>
          <p:nvPr/>
        </p:nvSpPr>
        <p:spPr>
          <a:xfrm>
            <a:off x="5010912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5" name="역할 도착">
            <a:extLst>
              <a:ext uri="{FF2B5EF4-FFF2-40B4-BE49-F238E27FC236}">
                <a16:creationId xmlns:a16="http://schemas.microsoft.com/office/drawing/2014/main" id="{4DF78F39-2259-9734-D161-3DB95B76980D}"/>
              </a:ext>
            </a:extLst>
          </p:cNvPr>
          <p:cNvSpPr/>
          <p:nvPr/>
        </p:nvSpPr>
        <p:spPr>
          <a:xfrm>
            <a:off x="6259004" y="5973233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역할 라벨">
            <a:extLst>
              <a:ext uri="{FF2B5EF4-FFF2-40B4-BE49-F238E27FC236}">
                <a16:creationId xmlns:a16="http://schemas.microsoft.com/office/drawing/2014/main" id="{583AC9AA-8B7B-C2A2-9B75-B32E87B74022}"/>
              </a:ext>
            </a:extLst>
          </p:cNvPr>
          <p:cNvSpPr txBox="1"/>
          <p:nvPr/>
        </p:nvSpPr>
        <p:spPr>
          <a:xfrm>
            <a:off x="6259004" y="5973233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47" name="역할 출발">
            <a:extLst>
              <a:ext uri="{FF2B5EF4-FFF2-40B4-BE49-F238E27FC236}">
                <a16:creationId xmlns:a16="http://schemas.microsoft.com/office/drawing/2014/main" id="{ED908CCE-585E-4E70-3F4C-735F04592407}"/>
              </a:ext>
            </a:extLst>
          </p:cNvPr>
          <p:cNvSpPr/>
          <p:nvPr/>
        </p:nvSpPr>
        <p:spPr>
          <a:xfrm>
            <a:off x="5029200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역할 라벨">
            <a:extLst>
              <a:ext uri="{FF2B5EF4-FFF2-40B4-BE49-F238E27FC236}">
                <a16:creationId xmlns:a16="http://schemas.microsoft.com/office/drawing/2014/main" id="{ABDF3827-9BF6-7315-0CC8-F28DA739B239}"/>
              </a:ext>
            </a:extLst>
          </p:cNvPr>
          <p:cNvSpPr txBox="1"/>
          <p:nvPr/>
        </p:nvSpPr>
        <p:spPr>
          <a:xfrm>
            <a:off x="5029200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9" name="역할 도착">
            <a:extLst>
              <a:ext uri="{FF2B5EF4-FFF2-40B4-BE49-F238E27FC236}">
                <a16:creationId xmlns:a16="http://schemas.microsoft.com/office/drawing/2014/main" id="{4D012BD3-507D-18B3-59A1-B36C0619FDB3}"/>
              </a:ext>
            </a:extLst>
          </p:cNvPr>
          <p:cNvSpPr/>
          <p:nvPr/>
        </p:nvSpPr>
        <p:spPr>
          <a:xfrm>
            <a:off x="6277292" y="50008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역할 라벨">
            <a:extLst>
              <a:ext uri="{FF2B5EF4-FFF2-40B4-BE49-F238E27FC236}">
                <a16:creationId xmlns:a16="http://schemas.microsoft.com/office/drawing/2014/main" id="{C61CD9C1-8CB3-F8F1-8B45-9F2F320AC426}"/>
              </a:ext>
            </a:extLst>
          </p:cNvPr>
          <p:cNvSpPr txBox="1"/>
          <p:nvPr/>
        </p:nvSpPr>
        <p:spPr>
          <a:xfrm>
            <a:off x="6277292" y="50008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sp>
        <p:nvSpPr>
          <p:cNvPr id="51" name="역할 출발">
            <a:extLst>
              <a:ext uri="{FF2B5EF4-FFF2-40B4-BE49-F238E27FC236}">
                <a16:creationId xmlns:a16="http://schemas.microsoft.com/office/drawing/2014/main" id="{77BE8700-1758-48AE-D3BC-5334A6CDC58E}"/>
              </a:ext>
            </a:extLst>
          </p:cNvPr>
          <p:cNvSpPr/>
          <p:nvPr/>
        </p:nvSpPr>
        <p:spPr>
          <a:xfrm>
            <a:off x="5029200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역할 라벨">
            <a:extLst>
              <a:ext uri="{FF2B5EF4-FFF2-40B4-BE49-F238E27FC236}">
                <a16:creationId xmlns:a16="http://schemas.microsoft.com/office/drawing/2014/main" id="{DCC150A2-D1E7-F3F3-2C9B-4B5F50D3A974}"/>
              </a:ext>
            </a:extLst>
          </p:cNvPr>
          <p:cNvSpPr txBox="1"/>
          <p:nvPr/>
        </p:nvSpPr>
        <p:spPr>
          <a:xfrm>
            <a:off x="5029200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53" name="역할 도착">
            <a:extLst>
              <a:ext uri="{FF2B5EF4-FFF2-40B4-BE49-F238E27FC236}">
                <a16:creationId xmlns:a16="http://schemas.microsoft.com/office/drawing/2014/main" id="{A9969DED-FF09-DBDF-C455-C2A4AEDCCB50}"/>
              </a:ext>
            </a:extLst>
          </p:cNvPr>
          <p:cNvSpPr/>
          <p:nvPr/>
        </p:nvSpPr>
        <p:spPr>
          <a:xfrm>
            <a:off x="6277292" y="4093215"/>
            <a:ext cx="1174940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역할 라벨">
            <a:extLst>
              <a:ext uri="{FF2B5EF4-FFF2-40B4-BE49-F238E27FC236}">
                <a16:creationId xmlns:a16="http://schemas.microsoft.com/office/drawing/2014/main" id="{D7B96F44-2B03-91D6-D561-C5359D24F43F}"/>
              </a:ext>
            </a:extLst>
          </p:cNvPr>
          <p:cNvSpPr txBox="1"/>
          <p:nvPr/>
        </p:nvSpPr>
        <p:spPr>
          <a:xfrm>
            <a:off x="6277292" y="4093215"/>
            <a:ext cx="1174940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graphicFrame>
        <p:nvGraphicFramePr>
          <p:cNvPr id="5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458107"/>
              </p:ext>
            </p:extLst>
          </p:nvPr>
        </p:nvGraphicFramePr>
        <p:xfrm>
          <a:off x="9277502" y="1447800"/>
          <a:ext cx="2553309" cy="364494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[∨] 주소 종류 드롭다운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 줄 오른쪽 아이콘 하나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도로명 주소가 있을 때만 표출 — 없으면 미표출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메뉴는 2행 고정 — 「지번」 / 「도로명」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각 행은 종류 라벨 ＋ 주소 · 광역 1개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가로 2열 「출발」 · 「도착」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지정 시 2-3 상세경로로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20건씩 스크롤로 이어 받음 · 핀도 함께 증가 · 지도 뷰 재조정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요약 헤더(「인근 시설 N곳 · 반경 300m」) 미제공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탑바 타이틀">
            <a:extLst>
              <a:ext uri="{FF2B5EF4-FFF2-40B4-BE49-F238E27FC236}">
                <a16:creationId xmlns:a16="http://schemas.microsoft.com/office/drawing/2014/main" id="{8A4A0876-7924-9A3F-9CC7-E9596E65AD9E}"/>
              </a:ext>
            </a:extLst>
          </p:cNvPr>
          <p:cNvSpPr txBox="1"/>
          <p:nvPr/>
        </p:nvSpPr>
        <p:spPr>
          <a:xfrm>
            <a:off x="5322928" y="1413837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휠체어 충전소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58" name="즐겨찾기 토글"/>
          <p:cNvSpPr/>
          <p:nvPr/>
        </p:nvSpPr>
        <p:spPr>
          <a:xfrm>
            <a:off x="7296912" y="3622163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59" name="주소 펼침"/>
          <p:cNvSpPr/>
          <p:nvPr/>
        </p:nvSpPr>
        <p:spPr>
          <a:xfrm>
            <a:off x="6265306" y="3859907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0" name="즐겨찾기 토글"/>
          <p:cNvSpPr/>
          <p:nvPr/>
        </p:nvSpPr>
        <p:spPr>
          <a:xfrm>
            <a:off x="7296912" y="4530338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1" name="주소 펼침"/>
          <p:cNvSpPr/>
          <p:nvPr/>
        </p:nvSpPr>
        <p:spPr>
          <a:xfrm>
            <a:off x="6265306" y="4768082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2" name="즐겨찾기 토글"/>
          <p:cNvSpPr/>
          <p:nvPr/>
        </p:nvSpPr>
        <p:spPr>
          <a:xfrm>
            <a:off x="7296912" y="5478356"/>
            <a:ext cx="237744" cy="19202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50" dirty="0" err="1">
                <a:solidFill>
                  <a:srgbClr val="14181F"/>
                </a:solidFill>
                <a:latin typeface="Pretendard"/>
              </a:rPr>
              <a:t>☆</a:t>
            </a:r>
          </a:p>
        </p:txBody>
      </p:sp>
      <p:sp>
        <p:nvSpPr>
          <p:cNvPr id="63" name="주소 펼침"/>
          <p:cNvSpPr/>
          <p:nvPr/>
        </p:nvSpPr>
        <p:spPr>
          <a:xfrm>
            <a:off x="6179454" y="5716100"/>
            <a:ext cx="182880" cy="1737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800" dirty="0" err="1">
                <a:solidFill>
                  <a:srgbClr val="14181F"/>
                </a:solidFill>
                <a:latin typeface="Pretendard"/>
              </a:rPr>
              <a:t>∨</a:t>
            </a:r>
          </a:p>
        </p:txBody>
      </p:sp>
      <p:sp>
        <p:nvSpPr>
          <p:cNvPr id="64" name="부제"/>
          <p:cNvSpPr txBox="1"/>
          <p:nvPr/>
        </p:nvSpPr>
        <p:spPr>
          <a:xfrm>
            <a:off x="2744115" y="228600"/>
            <a:ext cx="818296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카테고리 선택 · 시설 목록 (3/3)</a:t>
            </a:r>
          </a:p>
        </p:txBody>
      </p:sp>
      <p:sp>
        <p:nvSpPr>
          <p:cNvPr id="65" name="숫자배지 1"/>
          <p:cNvSpPr/>
          <p:nvPr/>
        </p:nvSpPr>
        <p:spPr>
          <a:xfrm>
            <a:off x="1078992" y="20208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6" name="숫자배지 1-1"/>
          <p:cNvSpPr/>
          <p:nvPr/>
        </p:nvSpPr>
        <p:spPr>
          <a:xfrm>
            <a:off x="996696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67" name="숫자배지 2"/>
          <p:cNvSpPr/>
          <p:nvPr/>
        </p:nvSpPr>
        <p:spPr>
          <a:xfrm>
            <a:off x="7296912" y="20299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8" name="숫자배지 3"/>
          <p:cNvSpPr/>
          <p:nvPr/>
        </p:nvSpPr>
        <p:spPr>
          <a:xfrm>
            <a:off x="4526280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9" name="숫자배지 4"/>
          <p:cNvSpPr/>
          <p:nvPr/>
        </p:nvSpPr>
        <p:spPr>
          <a:xfrm>
            <a:off x="4526280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5"/>
          <p:cNvSpPr/>
          <p:nvPr/>
        </p:nvSpPr>
        <p:spPr>
          <a:xfrm>
            <a:off x="7626096" y="3602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1" name="숫자배지 6"/>
          <p:cNvSpPr/>
          <p:nvPr/>
        </p:nvSpPr>
        <p:spPr>
          <a:xfrm>
            <a:off x="6510528" y="38221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2" name="숫자배지 7"/>
          <p:cNvSpPr/>
          <p:nvPr/>
        </p:nvSpPr>
        <p:spPr>
          <a:xfrm>
            <a:off x="7626096" y="4114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BC368B58-94F6-F1DE-7017-42FF0A411F73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6CDDA09E-36E1-9336-D67C-79E3CC09B110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3CAE4B87-380F-CF5C-4C46-704108FEDEFD}"/>
              </a:ext>
            </a:extLst>
          </p:cNvPr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7FCC0D88-E81A-EB7E-E8A0-F7ACE1CAD038}"/>
              </a:ext>
            </a:extLst>
          </p:cNvPr>
          <p:cNvSpPr txBox="1"/>
          <p:nvPr/>
        </p:nvSpPr>
        <p:spPr>
          <a:xfrm>
            <a:off x="911657" y="228600"/>
            <a:ext cx="114208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장소 상세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895AF61B-0319-B5E3-53BC-9BBA574380B0}"/>
              </a:ext>
            </a:extLst>
          </p:cNvPr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41AE1CC7-9963-4D72-BCA0-944E4CB302DD}"/>
              </a:ext>
            </a:extLst>
          </p:cNvPr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53A4F623-7FBF-87AB-1377-87B0BE1A195D}"/>
              </a:ext>
            </a:extLst>
          </p:cNvPr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C214EBAC-8E7F-05F4-85F8-503377DD60E4}"/>
              </a:ext>
            </a:extLst>
          </p:cNvPr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B5EFC1D0-1103-6C79-EF75-A00F9342AA6B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목업 프레임">
            <a:extLst>
              <a:ext uri="{FF2B5EF4-FFF2-40B4-BE49-F238E27FC236}">
                <a16:creationId xmlns:a16="http://schemas.microsoft.com/office/drawing/2014/main" id="{C067EB2C-7CD4-5BEF-5F45-1BB0A5ED839F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지도 안내">
            <a:extLst>
              <a:ext uri="{FF2B5EF4-FFF2-40B4-BE49-F238E27FC236}">
                <a16:creationId xmlns:a16="http://schemas.microsoft.com/office/drawing/2014/main" id="{DC7C98FB-B167-B1C4-E607-6F7C01F4D2D8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4" name="바텀시트">
            <a:extLst>
              <a:ext uri="{FF2B5EF4-FFF2-40B4-BE49-F238E27FC236}">
                <a16:creationId xmlns:a16="http://schemas.microsoft.com/office/drawing/2014/main" id="{E177BB14-F0D2-5358-A0B3-1E20F60928F3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시트 손잡이">
            <a:extLst>
              <a:ext uri="{FF2B5EF4-FFF2-40B4-BE49-F238E27FC236}">
                <a16:creationId xmlns:a16="http://schemas.microsoft.com/office/drawing/2014/main" id="{8D7B6790-1D64-9B55-D38B-A97AFA864DDB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>
            <a:extLst>
              <a:ext uri="{FF2B5EF4-FFF2-40B4-BE49-F238E27FC236}">
                <a16:creationId xmlns:a16="http://schemas.microsoft.com/office/drawing/2014/main" id="{C5CB66F3-86E9-EF47-7D30-08EE4EBAA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988511"/>
              </p:ext>
            </p:extLst>
          </p:nvPr>
        </p:nvGraphicFramePr>
        <p:xfrm>
          <a:off x="9277502" y="1447800"/>
          <a:ext cx="2553309" cy="445658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 상세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목록 행을 누르면 진입 — [&gt;]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지도에 선택 장소 1건만 핀 · 다른 장소 선택 시 무반응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장소명 · 업종 · 거리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 1줄 · 업종명은 다음 줄 보조 표기 · 공급 분류명 그대로 사용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거리는 현위치 직선거리 · m 정수 · 방위 없음 · 바뀌면 재계산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지번 풀주소 — 광역 포함 ＋ 도로명 하위주소 괄호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도로명이 없으면 괄호째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장소 이미지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가로 캐러셀 — 한 번에 한 장 · 「1 / N」은 사진 우측 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[‹] [›] 좌우 버튼을 함께 둠 — 스와이프만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1장이면 캐러셀 없음 · 원본 비율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8" name="지도"/>
          <p:cNvSpPr/>
          <p:nvPr/>
        </p:nvSpPr>
        <p:spPr>
          <a:xfrm>
            <a:off x="1311250" y="1300277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지도 안내"/>
          <p:cNvSpPr txBox="1"/>
          <p:nvPr/>
        </p:nvSpPr>
        <p:spPr>
          <a:xfrm>
            <a:off x="1942186" y="2104949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지도에 핀 형태로 선택 장소 표출</a:t>
            </a:r>
          </a:p>
        </p:txBody>
      </p:sp>
      <p:sp>
        <p:nvSpPr>
          <p:cNvPr id="20" name="뒤로가기 플로팅"/>
          <p:cNvSpPr/>
          <p:nvPr/>
        </p:nvSpPr>
        <p:spPr>
          <a:xfrm>
            <a:off x="1439265" y="1419149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바텀시트"/>
          <p:cNvSpPr/>
          <p:nvPr/>
        </p:nvSpPr>
        <p:spPr>
          <a:xfrm>
            <a:off x="1311250" y="3238805"/>
            <a:ext cx="2715768" cy="319125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시트 손잡이"/>
          <p:cNvSpPr/>
          <p:nvPr/>
        </p:nvSpPr>
        <p:spPr>
          <a:xfrm>
            <a:off x="2490826" y="3330245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장소명"/>
          <p:cNvSpPr txBox="1"/>
          <p:nvPr/>
        </p:nvSpPr>
        <p:spPr>
          <a:xfrm>
            <a:off x="1484986" y="3421685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홍대입구역 휠체어 충전소</a:t>
            </a:r>
          </a:p>
        </p:txBody>
      </p:sp>
      <p:sp>
        <p:nvSpPr>
          <p:cNvPr id="24" name="업종 · 거리"/>
          <p:cNvSpPr txBox="1"/>
          <p:nvPr/>
        </p:nvSpPr>
        <p:spPr>
          <a:xfrm>
            <a:off x="1484986" y="3677717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휠체어 급속충전기 · 350m</a:t>
            </a:r>
          </a:p>
        </p:txBody>
      </p:sp>
      <p:sp>
        <p:nvSpPr>
          <p:cNvPr id="25" name="지번 주소"/>
          <p:cNvSpPr txBox="1"/>
          <p:nvPr/>
        </p:nvSpPr>
        <p:spPr>
          <a:xfrm>
            <a:off x="1484986" y="3860597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영등포구 당산동4가 80-5</a:t>
            </a:r>
          </a:p>
        </p:txBody>
      </p:sp>
      <p:sp>
        <p:nvSpPr>
          <p:cNvPr id="26" name="도로명 주소"/>
          <p:cNvSpPr txBox="1"/>
          <p:nvPr/>
        </p:nvSpPr>
        <p:spPr>
          <a:xfrm>
            <a:off x="1484986" y="4025189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(영등포구 양평로 21)</a:t>
            </a:r>
          </a:p>
        </p:txBody>
      </p:sp>
      <p:sp>
        <p:nvSpPr>
          <p:cNvPr id="27" name="장소 이미지"/>
          <p:cNvSpPr/>
          <p:nvPr/>
        </p:nvSpPr>
        <p:spPr>
          <a:xfrm>
            <a:off x="1484986" y="4244645"/>
            <a:ext cx="1554480" cy="786384"/>
          </a:xfrm>
          <a:prstGeom prst="roundRect">
            <a:avLst>
              <a:gd name="adj" fmla="val 21802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장수 표시"/>
          <p:cNvSpPr txBox="1"/>
          <p:nvPr/>
        </p:nvSpPr>
        <p:spPr>
          <a:xfrm>
            <a:off x="2618842" y="4848149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29" name="사진 이동"/>
          <p:cNvSpPr txBox="1"/>
          <p:nvPr/>
        </p:nvSpPr>
        <p:spPr>
          <a:xfrm>
            <a:off x="1521562" y="4560113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30" name="사진 이동"/>
          <p:cNvSpPr txBox="1"/>
          <p:nvPr/>
        </p:nvSpPr>
        <p:spPr>
          <a:xfrm>
            <a:off x="2783433" y="4560113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31" name="접근성 항목"/>
          <p:cNvSpPr txBox="1"/>
          <p:nvPr/>
        </p:nvSpPr>
        <p:spPr>
          <a:xfrm>
            <a:off x="1484986" y="515904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32" name="접근성 값"/>
          <p:cNvSpPr txBox="1"/>
          <p:nvPr/>
        </p:nvSpPr>
        <p:spPr>
          <a:xfrm>
            <a:off x="2948026" y="5159045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3" name="접근성 항목"/>
          <p:cNvSpPr txBox="1"/>
          <p:nvPr/>
        </p:nvSpPr>
        <p:spPr>
          <a:xfrm>
            <a:off x="1484986" y="5378501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점자 안내계단</a:t>
            </a:r>
          </a:p>
        </p:txBody>
      </p:sp>
      <p:sp>
        <p:nvSpPr>
          <p:cNvPr id="34" name="접근성 값"/>
          <p:cNvSpPr txBox="1"/>
          <p:nvPr/>
        </p:nvSpPr>
        <p:spPr>
          <a:xfrm>
            <a:off x="2948026" y="5378501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35" name="접근성 항목"/>
          <p:cNvSpPr txBox="1"/>
          <p:nvPr/>
        </p:nvSpPr>
        <p:spPr>
          <a:xfrm>
            <a:off x="1484986" y="5597957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36" name="접근성 값"/>
          <p:cNvSpPr txBox="1"/>
          <p:nvPr/>
        </p:nvSpPr>
        <p:spPr>
          <a:xfrm>
            <a:off x="2948026" y="5597957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7" name="즐겨찾기 토글"/>
          <p:cNvSpPr txBox="1"/>
          <p:nvPr/>
        </p:nvSpPr>
        <p:spPr>
          <a:xfrm>
            <a:off x="1484986" y="5982005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8" name="역할 버튼"/>
          <p:cNvSpPr/>
          <p:nvPr/>
        </p:nvSpPr>
        <p:spPr>
          <a:xfrm>
            <a:off x="2326234" y="594542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역할 버튼 라벨"/>
          <p:cNvSpPr txBox="1"/>
          <p:nvPr/>
        </p:nvSpPr>
        <p:spPr>
          <a:xfrm>
            <a:off x="2326234" y="594542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0" name="역할 버튼"/>
          <p:cNvSpPr/>
          <p:nvPr/>
        </p:nvSpPr>
        <p:spPr>
          <a:xfrm>
            <a:off x="3112618" y="594542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역할 버튼 라벨"/>
          <p:cNvSpPr txBox="1"/>
          <p:nvPr/>
        </p:nvSpPr>
        <p:spPr>
          <a:xfrm>
            <a:off x="3112618" y="594542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42" name="뒤로가기"/>
          <p:cNvCxnSpPr/>
          <p:nvPr/>
        </p:nvCxnSpPr>
        <p:spPr>
          <a:xfrm flipH="1">
            <a:off x="1547469" y="15189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/>
          <p:cNvCxnSpPr/>
          <p:nvPr/>
        </p:nvCxnSpPr>
        <p:spPr>
          <a:xfrm flipH="1" flipV="1">
            <a:off x="1547469" y="15646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부제"/>
          <p:cNvSpPr txBox="1"/>
          <p:nvPr/>
        </p:nvSpPr>
        <p:spPr>
          <a:xfrm>
            <a:off x="2218335" y="228600"/>
            <a:ext cx="87087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인근 편의시설에서 진입 (1/2)</a:t>
            </a:r>
          </a:p>
        </p:txBody>
      </p:sp>
      <p:sp>
        <p:nvSpPr>
          <p:cNvPr id="45" name="뒤로가기 플로팅"/>
          <p:cNvSpPr/>
          <p:nvPr/>
        </p:nvSpPr>
        <p:spPr>
          <a:xfrm>
            <a:off x="5032857" y="1419149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/>
          <p:cNvCxnSpPr/>
          <p:nvPr/>
        </p:nvCxnSpPr>
        <p:spPr>
          <a:xfrm flipH="1">
            <a:off x="5141061" y="15189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/>
          <p:cNvCxnSpPr/>
          <p:nvPr/>
        </p:nvCxnSpPr>
        <p:spPr>
          <a:xfrm flipH="1" flipV="1">
            <a:off x="5141061" y="15646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숫자배지 2">
            <a:extLst>
              <a:ext uri="{FF2B5EF4-FFF2-40B4-BE49-F238E27FC236}">
                <a16:creationId xmlns:a16="http://schemas.microsoft.com/office/drawing/2014/main" id="{2522B0A5-EC9B-17D2-DDA9-C663723CA0D2}"/>
              </a:ext>
            </a:extLst>
          </p:cNvPr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9" name="숫자배지 2-1">
            <a:extLst>
              <a:ext uri="{FF2B5EF4-FFF2-40B4-BE49-F238E27FC236}">
                <a16:creationId xmlns:a16="http://schemas.microsoft.com/office/drawing/2014/main" id="{CFB44E1E-FB08-9DC5-BFAE-50C59C67BDEC}"/>
              </a:ext>
            </a:extLst>
          </p:cNvPr>
          <p:cNvSpPr/>
          <p:nvPr/>
        </p:nvSpPr>
        <p:spPr>
          <a:xfrm>
            <a:off x="4552950" y="6038850"/>
            <a:ext cx="314554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0" name="숫자배지 1"/>
          <p:cNvSpPr/>
          <p:nvPr/>
        </p:nvSpPr>
        <p:spPr>
          <a:xfrm>
            <a:off x="106984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1" name="숫자배지 1-1"/>
          <p:cNvSpPr/>
          <p:nvPr/>
        </p:nvSpPr>
        <p:spPr>
          <a:xfrm>
            <a:off x="996696" y="3429000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2" name="숫자배지 1-2"/>
          <p:cNvSpPr/>
          <p:nvPr/>
        </p:nvSpPr>
        <p:spPr>
          <a:xfrm>
            <a:off x="996696" y="3877056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3" name="숫자배지 1-3"/>
          <p:cNvSpPr/>
          <p:nvPr/>
        </p:nvSpPr>
        <p:spPr>
          <a:xfrm>
            <a:off x="996696" y="4279392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54" name="숫자배지 1-4"/>
          <p:cNvSpPr/>
          <p:nvPr/>
        </p:nvSpPr>
        <p:spPr>
          <a:xfrm>
            <a:off x="996696" y="5212080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55" name="숫자배지 1-5"/>
          <p:cNvSpPr/>
          <p:nvPr/>
        </p:nvSpPr>
        <p:spPr>
          <a:xfrm>
            <a:off x="996696" y="5998464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56" name="숫자배지 1-6"/>
          <p:cNvSpPr/>
          <p:nvPr/>
        </p:nvSpPr>
        <p:spPr>
          <a:xfrm>
            <a:off x="4078224" y="5998464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2-2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14208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 dirty="0" err="1">
                <a:solidFill>
                  <a:srgbClr val="14181F"/>
                </a:solidFill>
                <a:latin typeface="Pretendard"/>
              </a:rPr>
              <a:t>장소 상세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>
            <a:extLst>
              <a:ext uri="{FF2B5EF4-FFF2-40B4-BE49-F238E27FC236}">
                <a16:creationId xmlns:a16="http://schemas.microsoft.com/office/drawing/2014/main" id="{D98AD7EF-3454-7AF5-65C4-AEBBCEAEDB19}"/>
              </a:ext>
            </a:extLst>
          </p:cNvPr>
          <p:cNvSpPr/>
          <p:nvPr/>
        </p:nvSpPr>
        <p:spPr>
          <a:xfrm>
            <a:off x="1301671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목업 프레임">
            <a:extLst>
              <a:ext uri="{FF2B5EF4-FFF2-40B4-BE49-F238E27FC236}">
                <a16:creationId xmlns:a16="http://schemas.microsoft.com/office/drawing/2014/main" id="{571B15CE-AB34-B020-D34F-9B54429E40E2}"/>
              </a:ext>
            </a:extLst>
          </p:cNvPr>
          <p:cNvSpPr/>
          <p:nvPr/>
        </p:nvSpPr>
        <p:spPr>
          <a:xfrm>
            <a:off x="4895850" y="1284253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지도 안내">
            <a:extLst>
              <a:ext uri="{FF2B5EF4-FFF2-40B4-BE49-F238E27FC236}">
                <a16:creationId xmlns:a16="http://schemas.microsoft.com/office/drawing/2014/main" id="{F72C760F-27BE-5873-7E84-77AB7698A145}"/>
              </a:ext>
            </a:extLst>
          </p:cNvPr>
          <p:cNvSpPr txBox="1"/>
          <p:nvPr/>
        </p:nvSpPr>
        <p:spPr>
          <a:xfrm>
            <a:off x="5019675" y="2485938"/>
            <a:ext cx="2428875" cy="87469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지도에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핀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형태로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장소</a:t>
            </a:r>
            <a:r>
              <a:rPr sz="787" b="0" spc="-16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87" b="0" spc="-16" dirty="0" err="1">
                <a:solidFill>
                  <a:srgbClr val="8A94A3"/>
                </a:solidFill>
                <a:latin typeface="Pretendard"/>
              </a:rPr>
              <a:t>표출</a:t>
            </a:r>
            <a:endParaRPr sz="787" b="0" spc="-16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4" name="바텀시트">
            <a:extLst>
              <a:ext uri="{FF2B5EF4-FFF2-40B4-BE49-F238E27FC236}">
                <a16:creationId xmlns:a16="http://schemas.microsoft.com/office/drawing/2014/main" id="{0E43EBDF-FE17-2F00-643B-014587199E78}"/>
              </a:ext>
            </a:extLst>
          </p:cNvPr>
          <p:cNvSpPr/>
          <p:nvPr/>
        </p:nvSpPr>
        <p:spPr>
          <a:xfrm>
            <a:off x="4905376" y="5981692"/>
            <a:ext cx="2714625" cy="436535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시트 손잡이">
            <a:extLst>
              <a:ext uri="{FF2B5EF4-FFF2-40B4-BE49-F238E27FC236}">
                <a16:creationId xmlns:a16="http://schemas.microsoft.com/office/drawing/2014/main" id="{F1C70ECD-A2C3-3055-85C6-90B90D4CF16D}"/>
              </a:ext>
            </a:extLst>
          </p:cNvPr>
          <p:cNvSpPr/>
          <p:nvPr/>
        </p:nvSpPr>
        <p:spPr>
          <a:xfrm>
            <a:off x="6091238" y="6155833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379439"/>
              </p:ext>
            </p:extLst>
          </p:nvPr>
        </p:nvGraphicFramePr>
        <p:xfrm>
          <a:off x="9277502" y="1447800"/>
          <a:ext cx="2553309" cy="464438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접근성 정보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3행 — 여닫이문 · 점자 안내계단 · 경사도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조사되지 않은 항목은 「미조사」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토글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아이콘 토글 하나 · 텍스트 버튼 미제공 · 누르면 그 자리에서 등록 · 해제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1-6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역할 지정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가로 2열 「출발」 · 「도착」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지정 시 2-3 상세경로로 이동 · 시트 최소화에서도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선택해서 들어온 장소 1건만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지도 좌상단 원형 플로팅 — 탑바를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2단계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최소화하면 지도를 크게 확인 · 다시 올리면 상세까지 표출 · 드래그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전환은 손잡이 누르기 토글 하나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8" name="지도"/>
          <p:cNvSpPr/>
          <p:nvPr/>
        </p:nvSpPr>
        <p:spPr>
          <a:xfrm>
            <a:off x="1311250" y="1300277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지도 안내"/>
          <p:cNvSpPr txBox="1"/>
          <p:nvPr/>
        </p:nvSpPr>
        <p:spPr>
          <a:xfrm>
            <a:off x="1942186" y="2104949"/>
            <a:ext cx="16459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지도에 핀 형태로 선택 장소 표출</a:t>
            </a:r>
          </a:p>
        </p:txBody>
      </p:sp>
      <p:sp>
        <p:nvSpPr>
          <p:cNvPr id="20" name="뒤로가기 플로팅"/>
          <p:cNvSpPr/>
          <p:nvPr/>
        </p:nvSpPr>
        <p:spPr>
          <a:xfrm>
            <a:off x="1439265" y="1419149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바텀시트"/>
          <p:cNvSpPr/>
          <p:nvPr/>
        </p:nvSpPr>
        <p:spPr>
          <a:xfrm>
            <a:off x="1311250" y="3238805"/>
            <a:ext cx="2715768" cy="3191256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시트 손잡이"/>
          <p:cNvSpPr/>
          <p:nvPr/>
        </p:nvSpPr>
        <p:spPr>
          <a:xfrm>
            <a:off x="2490826" y="3330245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장소명"/>
          <p:cNvSpPr txBox="1"/>
          <p:nvPr/>
        </p:nvSpPr>
        <p:spPr>
          <a:xfrm>
            <a:off x="1484986" y="3421685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홍대입구역 휠체어 충전소</a:t>
            </a:r>
          </a:p>
        </p:txBody>
      </p:sp>
      <p:sp>
        <p:nvSpPr>
          <p:cNvPr id="24" name="업종 · 거리"/>
          <p:cNvSpPr txBox="1"/>
          <p:nvPr/>
        </p:nvSpPr>
        <p:spPr>
          <a:xfrm>
            <a:off x="1484986" y="3677717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휠체어 급속충전기 · 350m</a:t>
            </a:r>
          </a:p>
        </p:txBody>
      </p:sp>
      <p:sp>
        <p:nvSpPr>
          <p:cNvPr id="25" name="지번 주소"/>
          <p:cNvSpPr txBox="1"/>
          <p:nvPr/>
        </p:nvSpPr>
        <p:spPr>
          <a:xfrm>
            <a:off x="1484986" y="3860597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서울특별시 영등포구 당산동4가 80-5</a:t>
            </a:r>
          </a:p>
        </p:txBody>
      </p:sp>
      <p:sp>
        <p:nvSpPr>
          <p:cNvPr id="26" name="도로명 주소"/>
          <p:cNvSpPr txBox="1"/>
          <p:nvPr/>
        </p:nvSpPr>
        <p:spPr>
          <a:xfrm>
            <a:off x="1484986" y="4025189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(영등포구 양평로 21)</a:t>
            </a:r>
          </a:p>
        </p:txBody>
      </p:sp>
      <p:sp>
        <p:nvSpPr>
          <p:cNvPr id="27" name="장소 이미지"/>
          <p:cNvSpPr/>
          <p:nvPr/>
        </p:nvSpPr>
        <p:spPr>
          <a:xfrm>
            <a:off x="1484986" y="4244645"/>
            <a:ext cx="1554480" cy="786384"/>
          </a:xfrm>
          <a:prstGeom prst="roundRect">
            <a:avLst>
              <a:gd name="adj" fmla="val 21802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장수 표시"/>
          <p:cNvSpPr txBox="1"/>
          <p:nvPr/>
        </p:nvSpPr>
        <p:spPr>
          <a:xfrm>
            <a:off x="2618842" y="4848149"/>
            <a:ext cx="384048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1 / 4</a:t>
            </a:r>
          </a:p>
        </p:txBody>
      </p:sp>
      <p:sp>
        <p:nvSpPr>
          <p:cNvPr id="29" name="사진 이동"/>
          <p:cNvSpPr txBox="1"/>
          <p:nvPr/>
        </p:nvSpPr>
        <p:spPr>
          <a:xfrm>
            <a:off x="1521562" y="4560113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‹</a:t>
            </a:r>
          </a:p>
        </p:txBody>
      </p:sp>
      <p:sp>
        <p:nvSpPr>
          <p:cNvPr id="30" name="사진 이동"/>
          <p:cNvSpPr txBox="1"/>
          <p:nvPr/>
        </p:nvSpPr>
        <p:spPr>
          <a:xfrm>
            <a:off x="2783433" y="4560113"/>
            <a:ext cx="2194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00" b="0" spc="-15">
                <a:solidFill>
                  <a:srgbClr val="5B6573"/>
                </a:solidFill>
                <a:latin typeface="Pretendard"/>
              </a:rPr>
              <a:t>›</a:t>
            </a:r>
          </a:p>
        </p:txBody>
      </p:sp>
      <p:sp>
        <p:nvSpPr>
          <p:cNvPr id="31" name="접근성 항목"/>
          <p:cNvSpPr txBox="1"/>
          <p:nvPr/>
        </p:nvSpPr>
        <p:spPr>
          <a:xfrm>
            <a:off x="1484986" y="5159045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여닫이문</a:t>
            </a:r>
          </a:p>
        </p:txBody>
      </p:sp>
      <p:sp>
        <p:nvSpPr>
          <p:cNvPr id="32" name="접근성 값"/>
          <p:cNvSpPr txBox="1"/>
          <p:nvPr/>
        </p:nvSpPr>
        <p:spPr>
          <a:xfrm>
            <a:off x="2948026" y="5159045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3" name="접근성 항목"/>
          <p:cNvSpPr txBox="1"/>
          <p:nvPr/>
        </p:nvSpPr>
        <p:spPr>
          <a:xfrm>
            <a:off x="1484986" y="5378501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점자 안내계단</a:t>
            </a:r>
          </a:p>
        </p:txBody>
      </p:sp>
      <p:sp>
        <p:nvSpPr>
          <p:cNvPr id="34" name="접근성 값"/>
          <p:cNvSpPr txBox="1"/>
          <p:nvPr/>
        </p:nvSpPr>
        <p:spPr>
          <a:xfrm>
            <a:off x="2948026" y="5378501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있음</a:t>
            </a:r>
          </a:p>
        </p:txBody>
      </p:sp>
      <p:sp>
        <p:nvSpPr>
          <p:cNvPr id="35" name="접근성 항목"/>
          <p:cNvSpPr txBox="1"/>
          <p:nvPr/>
        </p:nvSpPr>
        <p:spPr>
          <a:xfrm>
            <a:off x="1484986" y="5597957"/>
            <a:ext cx="12801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경사도</a:t>
            </a:r>
          </a:p>
        </p:txBody>
      </p:sp>
      <p:sp>
        <p:nvSpPr>
          <p:cNvPr id="36" name="접근성 값"/>
          <p:cNvSpPr txBox="1"/>
          <p:nvPr/>
        </p:nvSpPr>
        <p:spPr>
          <a:xfrm>
            <a:off x="2948026" y="5597957"/>
            <a:ext cx="82296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미조사</a:t>
            </a:r>
          </a:p>
        </p:txBody>
      </p:sp>
      <p:sp>
        <p:nvSpPr>
          <p:cNvPr id="37" name="즐겨찾기 토글"/>
          <p:cNvSpPr txBox="1"/>
          <p:nvPr/>
        </p:nvSpPr>
        <p:spPr>
          <a:xfrm>
            <a:off x="1484986" y="5982005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38" name="역할 버튼"/>
          <p:cNvSpPr/>
          <p:nvPr/>
        </p:nvSpPr>
        <p:spPr>
          <a:xfrm>
            <a:off x="2326234" y="594542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역할 버튼 라벨"/>
          <p:cNvSpPr txBox="1"/>
          <p:nvPr/>
        </p:nvSpPr>
        <p:spPr>
          <a:xfrm>
            <a:off x="2326234" y="594542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출발</a:t>
            </a:r>
          </a:p>
        </p:txBody>
      </p:sp>
      <p:sp>
        <p:nvSpPr>
          <p:cNvPr id="40" name="역할 버튼"/>
          <p:cNvSpPr/>
          <p:nvPr/>
        </p:nvSpPr>
        <p:spPr>
          <a:xfrm>
            <a:off x="3112618" y="5945429"/>
            <a:ext cx="713232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역할 버튼 라벨"/>
          <p:cNvSpPr txBox="1"/>
          <p:nvPr/>
        </p:nvSpPr>
        <p:spPr>
          <a:xfrm>
            <a:off x="3112618" y="5945429"/>
            <a:ext cx="71323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도착</a:t>
            </a:r>
          </a:p>
        </p:txBody>
      </p:sp>
      <p:cxnSp>
        <p:nvCxnSpPr>
          <p:cNvPr id="42" name="뒤로가기"/>
          <p:cNvCxnSpPr/>
          <p:nvPr/>
        </p:nvCxnSpPr>
        <p:spPr>
          <a:xfrm flipH="1">
            <a:off x="1547469" y="15189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뒤로가기"/>
          <p:cNvCxnSpPr/>
          <p:nvPr/>
        </p:nvCxnSpPr>
        <p:spPr>
          <a:xfrm flipH="1" flipV="1">
            <a:off x="1547469" y="15646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부제"/>
          <p:cNvSpPr txBox="1"/>
          <p:nvPr/>
        </p:nvSpPr>
        <p:spPr>
          <a:xfrm>
            <a:off x="2218335" y="228600"/>
            <a:ext cx="870874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인근 편의시설에서 진입 (2/2)</a:t>
            </a:r>
          </a:p>
        </p:txBody>
      </p:sp>
      <p:sp>
        <p:nvSpPr>
          <p:cNvPr id="45" name="뒤로가기 플로팅"/>
          <p:cNvSpPr/>
          <p:nvPr/>
        </p:nvSpPr>
        <p:spPr>
          <a:xfrm>
            <a:off x="5032857" y="1419149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46" name="뒤로가기"/>
          <p:cNvCxnSpPr/>
          <p:nvPr/>
        </p:nvCxnSpPr>
        <p:spPr>
          <a:xfrm flipH="1">
            <a:off x="5141061" y="15189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뒤로가기"/>
          <p:cNvCxnSpPr/>
          <p:nvPr/>
        </p:nvCxnSpPr>
        <p:spPr>
          <a:xfrm flipH="1" flipV="1">
            <a:off x="5141061" y="15646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숫자배지 2"/>
          <p:cNvSpPr/>
          <p:nvPr/>
        </p:nvSpPr>
        <p:spPr>
          <a:xfrm>
            <a:off x="4667250" y="25241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9" name="숫자배지 2-1"/>
          <p:cNvSpPr/>
          <p:nvPr/>
        </p:nvSpPr>
        <p:spPr>
          <a:xfrm>
            <a:off x="4552950" y="6038850"/>
            <a:ext cx="314554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50" name="숫자배지 1"/>
          <p:cNvSpPr/>
          <p:nvPr/>
        </p:nvSpPr>
        <p:spPr>
          <a:xfrm>
            <a:off x="1069848" y="210312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1" name="숫자배지 1-1"/>
          <p:cNvSpPr/>
          <p:nvPr/>
        </p:nvSpPr>
        <p:spPr>
          <a:xfrm>
            <a:off x="996696" y="3429000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52" name="숫자배지 1-2"/>
          <p:cNvSpPr/>
          <p:nvPr/>
        </p:nvSpPr>
        <p:spPr>
          <a:xfrm>
            <a:off x="996696" y="3877056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53" name="숫자배지 1-3"/>
          <p:cNvSpPr/>
          <p:nvPr/>
        </p:nvSpPr>
        <p:spPr>
          <a:xfrm>
            <a:off x="996696" y="4279392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1-3</a:t>
            </a:r>
          </a:p>
        </p:txBody>
      </p:sp>
      <p:sp>
        <p:nvSpPr>
          <p:cNvPr id="54" name="숫자배지 1-4"/>
          <p:cNvSpPr/>
          <p:nvPr/>
        </p:nvSpPr>
        <p:spPr>
          <a:xfrm>
            <a:off x="996696" y="5212080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1-4</a:t>
            </a:r>
          </a:p>
        </p:txBody>
      </p:sp>
      <p:sp>
        <p:nvSpPr>
          <p:cNvPr id="55" name="숫자배지 1-5"/>
          <p:cNvSpPr/>
          <p:nvPr/>
        </p:nvSpPr>
        <p:spPr>
          <a:xfrm>
            <a:off x="996696" y="5998464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1-5</a:t>
            </a:r>
          </a:p>
        </p:txBody>
      </p:sp>
      <p:sp>
        <p:nvSpPr>
          <p:cNvPr id="56" name="숫자배지 1-6"/>
          <p:cNvSpPr/>
          <p:nvPr/>
        </p:nvSpPr>
        <p:spPr>
          <a:xfrm>
            <a:off x="4078224" y="5998464"/>
            <a:ext cx="31455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06196" y="2080260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10971" y="2080260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4 버스정류장"/>
          <p:cNvSpPr/>
          <p:nvPr/>
        </p:nvSpPr>
        <p:spPr>
          <a:xfrm>
            <a:off x="2497836" y="208026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602611" y="208026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1-3 버스정류장</a:t>
            </a:r>
          </a:p>
        </p:txBody>
      </p:sp>
      <p:sp>
        <p:nvSpPr>
          <p:cNvPr id="13" name="흐름 2-5 버스정류장 정보"/>
          <p:cNvSpPr/>
          <p:nvPr/>
        </p:nvSpPr>
        <p:spPr>
          <a:xfrm>
            <a:off x="446379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56857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 버스정류장 정보</a:t>
            </a:r>
          </a:p>
        </p:txBody>
      </p:sp>
      <p:sp>
        <p:nvSpPr>
          <p:cNvPr id="15" name="흐름 2-5-1 노선 상세"/>
          <p:cNvSpPr/>
          <p:nvPr/>
        </p:nvSpPr>
        <p:spPr>
          <a:xfrm>
            <a:off x="6978396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7083171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2-5-1 노선 상세</a:t>
            </a:r>
          </a:p>
        </p:txBody>
      </p:sp>
      <p:sp>
        <p:nvSpPr>
          <p:cNvPr id="17" name="흐름 2-6 저상버스 승하차 예약"/>
          <p:cNvSpPr/>
          <p:nvPr/>
        </p:nvSpPr>
        <p:spPr>
          <a:xfrm>
            <a:off x="6978396" y="349758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7083171" y="349758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lang="ko-KR" altLang="en-US">
                <a:solidFill>
                  <a:srgbClr val="0B7D77"/>
                </a:solidFill>
                <a:latin typeface="Pretendard"/>
              </a:rPr>
              <a:t>예약 신청 팝업</a:t>
            </a:r>
          </a:p>
        </p:txBody>
      </p:sp>
      <p:sp>
        <p:nvSpPr>
          <p:cNvPr id="19" name="흐름 예약 완료 알림"/>
          <p:cNvSpPr/>
          <p:nvPr/>
        </p:nvSpPr>
        <p:spPr>
          <a:xfrm>
            <a:off x="6978396" y="4503420"/>
            <a:ext cx="1828800" cy="50292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7083171" y="4503420"/>
            <a:ext cx="161925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탑승 확인 팝업</a:t>
            </a:r>
          </a:p>
        </p:txBody>
      </p:sp>
      <p:cxnSp>
        <p:nvCxnSpPr>
          <p:cNvPr id="21" name="연결선"/>
          <p:cNvCxnSpPr>
            <a:stCxn id="9" idx="3"/>
            <a:endCxn id="11" idx="1"/>
          </p:cNvCxnSpPr>
          <p:nvPr/>
        </p:nvCxnSpPr>
        <p:spPr>
          <a:xfrm>
            <a:off x="2086356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"/>
          <p:cNvCxnSpPr>
            <a:stCxn id="13" idx="3"/>
            <a:endCxn id="15" idx="1"/>
          </p:cNvCxnSpPr>
          <p:nvPr/>
        </p:nvCxnSpPr>
        <p:spPr>
          <a:xfrm>
            <a:off x="4052621" y="2363724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"/>
          <p:cNvCxnSpPr>
            <a:stCxn id="15" idx="3"/>
            <a:endCxn id="17" idx="1"/>
          </p:cNvCxnSpPr>
          <p:nvPr/>
        </p:nvCxnSpPr>
        <p:spPr>
          <a:xfrm>
            <a:off x="6292901" y="2363724"/>
            <a:ext cx="68580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9" idx="2"/>
            <a:endCxn id="21" idx="0"/>
          </p:cNvCxnSpPr>
          <p:nvPr/>
        </p:nvCxnSpPr>
        <p:spPr>
          <a:xfrm>
            <a:off x="7892796" y="4000500"/>
            <a:ext cx="0" cy="50292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26" name="연결선"/>
          <p:cNvCxnSpPr>
            <a:stCxn id="17" idx="2"/>
            <a:endCxn id="19" idx="0"/>
          </p:cNvCxnSpPr>
          <p:nvPr/>
        </p:nvCxnSpPr>
        <p:spPr>
          <a:xfrm>
            <a:off x="7892796" y="2647188"/>
            <a:ext cx="0" cy="85039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흐름 2-5-1 노선 상세"/>
          <p:cNvSpPr/>
          <p:nvPr/>
        </p:nvSpPr>
        <p:spPr>
          <a:xfrm>
            <a:off x="9676181" y="208026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28" name="연결선"/>
          <p:cNvCxnSpPr>
            <a:stCxn id="15" idx="3"/>
            <a:endCxn id="17" idx="1"/>
          </p:cNvCxnSpPr>
          <p:nvPr/>
        </p:nvCxnSpPr>
        <p:spPr>
          <a:xfrm>
            <a:off x="8807501" y="2363724"/>
            <a:ext cx="8686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흐름 제목"/>
          <p:cNvSpPr txBox="1"/>
          <p:nvPr/>
        </p:nvSpPr>
        <p:spPr>
          <a:xfrm>
            <a:off x="9780422" y="208026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3-4 저상버스 예약 내역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3상태 (1/2)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83982"/>
              </p:ext>
            </p:extLst>
          </p:nvPr>
        </p:nvGraphicFramePr>
        <p:xfrm>
          <a:off x="9277502" y="1447800"/>
          <a:ext cx="2553309" cy="443438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placeholder 「버스정류장 검색」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실행 버튼을 두지 않음 — 입력하는 대로 결과가 바뀜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② 포커스 · 한 글자라도 입력하면 ③ · 비우면 ① 기본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좌측 버스 픽토그램 ＋ 3줄 — 정류장명 ＋ 번호 / 방면 / 거리 · 배지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방면은 「다음 정류장명 ＋ 방면」 — 노선별 방면을 나열하지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배지는 유형 텍스트 병기 — 노선번호를 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[&gt;]를 두지 않음 · ☆를 행에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탭 → 2-5 버스정류장 정보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최근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골라서 확정된 정류장만 쌓임 — 검색어 문자열을 남기지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2-1 장소 검색의 최근 검색과 섞지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4520AD1-291F-DD49-E798-0AAD152314FE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구분선">
            <a:extLst>
              <a:ext uri="{FF2B5EF4-FFF2-40B4-BE49-F238E27FC236}">
                <a16:creationId xmlns:a16="http://schemas.microsoft.com/office/drawing/2014/main" id="{A4DE8966-7B8F-19D7-FB38-50956EC88D8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검색창">
            <a:extLst>
              <a:ext uri="{FF2B5EF4-FFF2-40B4-BE49-F238E27FC236}">
                <a16:creationId xmlns:a16="http://schemas.microsoft.com/office/drawing/2014/main" id="{1F1EEF9B-5BA1-7FC1-B651-86A17E1C2C67}"/>
              </a:ext>
            </a:extLst>
          </p:cNvPr>
          <p:cNvSpPr/>
          <p:nvPr/>
        </p:nvSpPr>
        <p:spPr>
          <a:xfrm>
            <a:off x="661988" y="1282827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>
            <a:extLst>
              <a:ext uri="{FF2B5EF4-FFF2-40B4-BE49-F238E27FC236}">
                <a16:creationId xmlns:a16="http://schemas.microsoft.com/office/drawing/2014/main" id="{B09BF338-9CFD-9BDA-DC64-5F04E77FB968}"/>
              </a:ext>
            </a:extLst>
          </p:cNvPr>
          <p:cNvSpPr txBox="1"/>
          <p:nvPr/>
        </p:nvSpPr>
        <p:spPr>
          <a:xfrm>
            <a:off x="808292" y="1360551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8" name="목업 프레임">
            <a:extLst>
              <a:ext uri="{FF2B5EF4-FFF2-40B4-BE49-F238E27FC236}">
                <a16:creationId xmlns:a16="http://schemas.microsoft.com/office/drawing/2014/main" id="{818DBC78-6549-B1CB-CBE6-56728AD9BE39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탑바 구분선">
            <a:extLst>
              <a:ext uri="{FF2B5EF4-FFF2-40B4-BE49-F238E27FC236}">
                <a16:creationId xmlns:a16="http://schemas.microsoft.com/office/drawing/2014/main" id="{F354FBC7-D470-5464-8128-B77E6ECDAC98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">
            <a:extLst>
              <a:ext uri="{FF2B5EF4-FFF2-40B4-BE49-F238E27FC236}">
                <a16:creationId xmlns:a16="http://schemas.microsoft.com/office/drawing/2014/main" id="{01F60E5F-C600-D6D0-2BD3-628EA31E2FD1}"/>
              </a:ext>
            </a:extLst>
          </p:cNvPr>
          <p:cNvSpPr/>
          <p:nvPr/>
        </p:nvSpPr>
        <p:spPr>
          <a:xfrm>
            <a:off x="3586162" y="1282827"/>
            <a:ext cx="2238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검색창 문구">
            <a:extLst>
              <a:ext uri="{FF2B5EF4-FFF2-40B4-BE49-F238E27FC236}">
                <a16:creationId xmlns:a16="http://schemas.microsoft.com/office/drawing/2014/main" id="{3691CF08-DCE0-664E-1FD4-064EC980F6F6}"/>
              </a:ext>
            </a:extLst>
          </p:cNvPr>
          <p:cNvSpPr txBox="1"/>
          <p:nvPr/>
        </p:nvSpPr>
        <p:spPr>
          <a:xfrm>
            <a:off x="3732465" y="1360551"/>
            <a:ext cx="1982344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버스정류장 검색</a:t>
            </a:r>
          </a:p>
        </p:txBody>
      </p:sp>
      <p:sp>
        <p:nvSpPr>
          <p:cNvPr id="22" name="섹션 제목">
            <a:extLst>
              <a:ext uri="{FF2B5EF4-FFF2-40B4-BE49-F238E27FC236}">
                <a16:creationId xmlns:a16="http://schemas.microsoft.com/office/drawing/2014/main" id="{8EEEB703-043E-3AA0-E488-BC35927A9387}"/>
              </a:ext>
            </a:extLst>
          </p:cNvPr>
          <p:cNvSpPr txBox="1"/>
          <p:nvPr/>
        </p:nvSpPr>
        <p:spPr>
          <a:xfrm>
            <a:off x="702259" y="21022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3" name="본문">
            <a:extLst>
              <a:ext uri="{FF2B5EF4-FFF2-40B4-BE49-F238E27FC236}">
                <a16:creationId xmlns:a16="http://schemas.microsoft.com/office/drawing/2014/main" id="{2FE3A6AC-5559-D06F-88A3-43D8BD0FC8A6}"/>
              </a:ext>
            </a:extLst>
          </p:cNvPr>
          <p:cNvSpPr txBox="1"/>
          <p:nvPr/>
        </p:nvSpPr>
        <p:spPr>
          <a:xfrm>
            <a:off x="2059229" y="21204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4" name="섹션 제목">
            <a:extLst>
              <a:ext uri="{FF2B5EF4-FFF2-40B4-BE49-F238E27FC236}">
                <a16:creationId xmlns:a16="http://schemas.microsoft.com/office/drawing/2014/main" id="{7AE38E21-D611-6C60-8DF2-D468F7C6B6E2}"/>
              </a:ext>
            </a:extLst>
          </p:cNvPr>
          <p:cNvSpPr txBox="1"/>
          <p:nvPr/>
        </p:nvSpPr>
        <p:spPr>
          <a:xfrm>
            <a:off x="702259" y="27496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5" name="본문">
            <a:extLst>
              <a:ext uri="{FF2B5EF4-FFF2-40B4-BE49-F238E27FC236}">
                <a16:creationId xmlns:a16="http://schemas.microsoft.com/office/drawing/2014/main" id="{8AEA6F9B-EC29-FF8D-A516-4631314658DA}"/>
              </a:ext>
            </a:extLst>
          </p:cNvPr>
          <p:cNvSpPr txBox="1"/>
          <p:nvPr/>
        </p:nvSpPr>
        <p:spPr>
          <a:xfrm>
            <a:off x="2059229" y="27678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6A0EC2A0-9034-6D53-A48D-4E8066A6DEF9}"/>
              </a:ext>
            </a:extLst>
          </p:cNvPr>
          <p:cNvSpPr txBox="1"/>
          <p:nvPr/>
        </p:nvSpPr>
        <p:spPr>
          <a:xfrm>
            <a:off x="702259" y="339699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sp>
        <p:nvSpPr>
          <p:cNvPr id="27" name="본문">
            <a:extLst>
              <a:ext uri="{FF2B5EF4-FFF2-40B4-BE49-F238E27FC236}">
                <a16:creationId xmlns:a16="http://schemas.microsoft.com/office/drawing/2014/main" id="{886F5D8C-559F-E1DC-9F03-E010122B52E2}"/>
              </a:ext>
            </a:extLst>
          </p:cNvPr>
          <p:cNvSpPr txBox="1"/>
          <p:nvPr/>
        </p:nvSpPr>
        <p:spPr>
          <a:xfrm>
            <a:off x="2059229" y="3415284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28" name="섹션 제목">
            <a:extLst>
              <a:ext uri="{FF2B5EF4-FFF2-40B4-BE49-F238E27FC236}">
                <a16:creationId xmlns:a16="http://schemas.microsoft.com/office/drawing/2014/main" id="{CADDFB07-CFDA-2FF0-F1DB-85B5EFFFD68D}"/>
              </a:ext>
            </a:extLst>
          </p:cNvPr>
          <p:cNvSpPr txBox="1"/>
          <p:nvPr/>
        </p:nvSpPr>
        <p:spPr>
          <a:xfrm>
            <a:off x="702259" y="40453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sp>
        <p:nvSpPr>
          <p:cNvPr id="29" name="본문">
            <a:extLst>
              <a:ext uri="{FF2B5EF4-FFF2-40B4-BE49-F238E27FC236}">
                <a16:creationId xmlns:a16="http://schemas.microsoft.com/office/drawing/2014/main" id="{1B3269A3-FC06-019E-62A4-D819967E6DAA}"/>
              </a:ext>
            </a:extLst>
          </p:cNvPr>
          <p:cNvSpPr txBox="1"/>
          <p:nvPr/>
        </p:nvSpPr>
        <p:spPr>
          <a:xfrm>
            <a:off x="2059229" y="40635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30" name="섹션 제목">
            <a:extLst>
              <a:ext uri="{FF2B5EF4-FFF2-40B4-BE49-F238E27FC236}">
                <a16:creationId xmlns:a16="http://schemas.microsoft.com/office/drawing/2014/main" id="{324A3D57-D3A6-07F8-6F40-30AEE054B112}"/>
              </a:ext>
            </a:extLst>
          </p:cNvPr>
          <p:cNvSpPr txBox="1"/>
          <p:nvPr/>
        </p:nvSpPr>
        <p:spPr>
          <a:xfrm>
            <a:off x="702259" y="46927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1" name="본문">
            <a:extLst>
              <a:ext uri="{FF2B5EF4-FFF2-40B4-BE49-F238E27FC236}">
                <a16:creationId xmlns:a16="http://schemas.microsoft.com/office/drawing/2014/main" id="{72610CDE-EC14-0BC7-A39C-317AACFD2CF2}"/>
              </a:ext>
            </a:extLst>
          </p:cNvPr>
          <p:cNvSpPr txBox="1"/>
          <p:nvPr/>
        </p:nvSpPr>
        <p:spPr>
          <a:xfrm>
            <a:off x="2059229" y="47109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32" name="정류장 방면"/>
          <p:cNvSpPr txBox="1"/>
          <p:nvPr/>
        </p:nvSpPr>
        <p:spPr>
          <a:xfrm>
            <a:off x="702259" y="2321662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능동우편취급국 방면</a:t>
            </a:r>
          </a:p>
        </p:txBody>
      </p:sp>
      <p:sp>
        <p:nvSpPr>
          <p:cNvPr id="33" name="정류장 거리 · 노선"/>
          <p:cNvSpPr txBox="1"/>
          <p:nvPr/>
        </p:nvSpPr>
        <p:spPr>
          <a:xfrm>
            <a:off x="702259" y="2486253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120m · [간선] [지선]</a:t>
            </a:r>
          </a:p>
        </p:txBody>
      </p:sp>
      <p:sp>
        <p:nvSpPr>
          <p:cNvPr id="34" name="정류장 방면"/>
          <p:cNvSpPr txBox="1"/>
          <p:nvPr/>
        </p:nvSpPr>
        <p:spPr>
          <a:xfrm>
            <a:off x="702259" y="29690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군자교 방면</a:t>
            </a:r>
          </a:p>
        </p:txBody>
      </p:sp>
      <p:sp>
        <p:nvSpPr>
          <p:cNvPr id="35" name="정류장 거리 · 노선"/>
          <p:cNvSpPr txBox="1"/>
          <p:nvPr/>
        </p:nvSpPr>
        <p:spPr>
          <a:xfrm>
            <a:off x="702259" y="3133649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240m · [간선] [광역]</a:t>
            </a:r>
          </a:p>
        </p:txBody>
      </p:sp>
      <p:sp>
        <p:nvSpPr>
          <p:cNvPr id="36" name="정류장 방면"/>
          <p:cNvSpPr txBox="1"/>
          <p:nvPr/>
        </p:nvSpPr>
        <p:spPr>
          <a:xfrm>
            <a:off x="702259" y="361645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세종초교앞 방면</a:t>
            </a:r>
          </a:p>
        </p:txBody>
      </p:sp>
      <p:sp>
        <p:nvSpPr>
          <p:cNvPr id="37" name="정류장 거리 · 노선"/>
          <p:cNvSpPr txBox="1"/>
          <p:nvPr/>
        </p:nvSpPr>
        <p:spPr>
          <a:xfrm>
            <a:off x="702259" y="378104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280m · [지선]</a:t>
            </a:r>
          </a:p>
        </p:txBody>
      </p:sp>
      <p:sp>
        <p:nvSpPr>
          <p:cNvPr id="38" name="정류장 방면"/>
          <p:cNvSpPr txBox="1"/>
          <p:nvPr/>
        </p:nvSpPr>
        <p:spPr>
          <a:xfrm>
            <a:off x="702259" y="426476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어린이대공원 방면</a:t>
            </a:r>
          </a:p>
        </p:txBody>
      </p:sp>
      <p:sp>
        <p:nvSpPr>
          <p:cNvPr id="39" name="정류장 거리 · 노선"/>
          <p:cNvSpPr txBox="1"/>
          <p:nvPr/>
        </p:nvSpPr>
        <p:spPr>
          <a:xfrm>
            <a:off x="702259" y="442935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290m · [간선]</a:t>
            </a:r>
          </a:p>
        </p:txBody>
      </p:sp>
      <p:sp>
        <p:nvSpPr>
          <p:cNvPr id="40" name="정류장 방면"/>
          <p:cNvSpPr txBox="1"/>
          <p:nvPr/>
        </p:nvSpPr>
        <p:spPr>
          <a:xfrm>
            <a:off x="702259" y="49121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중곡동 방면</a:t>
            </a:r>
          </a:p>
        </p:txBody>
      </p:sp>
      <p:sp>
        <p:nvSpPr>
          <p:cNvPr id="41" name="정류장 거리 · 노선"/>
          <p:cNvSpPr txBox="1"/>
          <p:nvPr/>
        </p:nvSpPr>
        <p:spPr>
          <a:xfrm>
            <a:off x="702259" y="5076748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300m · [지선]</a:t>
            </a:r>
          </a:p>
        </p:txBody>
      </p:sp>
      <p:sp>
        <p:nvSpPr>
          <p:cNvPr id="42" name="pic"/>
          <p:cNvSpPr/>
          <p:nvPr/>
        </p:nvSpPr>
        <p:spPr>
          <a:xfrm>
            <a:off x="452628" y="20976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3" name="t"/>
          <p:cNvSpPr txBox="1"/>
          <p:nvPr/>
        </p:nvSpPr>
        <p:spPr>
          <a:xfrm>
            <a:off x="452628" y="21524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4" name="pic"/>
          <p:cNvSpPr/>
          <p:nvPr/>
        </p:nvSpPr>
        <p:spPr>
          <a:xfrm>
            <a:off x="452628" y="274502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452628" y="279989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6" name="pic"/>
          <p:cNvSpPr/>
          <p:nvPr/>
        </p:nvSpPr>
        <p:spPr>
          <a:xfrm>
            <a:off x="452628" y="339242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452628" y="344728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8" name="pic"/>
          <p:cNvSpPr/>
          <p:nvPr/>
        </p:nvSpPr>
        <p:spPr>
          <a:xfrm>
            <a:off x="452628" y="40407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452628" y="40955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50" name="pic"/>
          <p:cNvSpPr/>
          <p:nvPr/>
        </p:nvSpPr>
        <p:spPr>
          <a:xfrm>
            <a:off x="452628" y="4688129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452628" y="4742993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52" name="목업 프레임"/>
          <p:cNvSpPr/>
          <p:nvPr/>
        </p:nvSpPr>
        <p:spPr>
          <a:xfrm>
            <a:off x="6101791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탑바 구분선"/>
          <p:cNvSpPr/>
          <p:nvPr/>
        </p:nvSpPr>
        <p:spPr>
          <a:xfrm>
            <a:off x="6111850" y="1686154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검색창"/>
          <p:cNvSpPr/>
          <p:nvPr/>
        </p:nvSpPr>
        <p:spPr>
          <a:xfrm>
            <a:off x="6463894" y="1282903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검색창 문구"/>
          <p:cNvSpPr txBox="1"/>
          <p:nvPr/>
        </p:nvSpPr>
        <p:spPr>
          <a:xfrm>
            <a:off x="6610198" y="1360627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14181F"/>
                </a:solidFill>
                <a:latin typeface="Pretendard"/>
              </a:rPr>
              <a:t>군자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섹션 제목"/>
          <p:cNvSpPr txBox="1"/>
          <p:nvPr/>
        </p:nvSpPr>
        <p:spPr>
          <a:xfrm>
            <a:off x="6504127" y="21022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57" name="본문"/>
          <p:cNvSpPr txBox="1"/>
          <p:nvPr/>
        </p:nvSpPr>
        <p:spPr>
          <a:xfrm>
            <a:off x="7861097" y="21204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58" name="섹션 제목"/>
          <p:cNvSpPr txBox="1"/>
          <p:nvPr/>
        </p:nvSpPr>
        <p:spPr>
          <a:xfrm>
            <a:off x="6504127" y="27496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59" name="본문"/>
          <p:cNvSpPr txBox="1"/>
          <p:nvPr/>
        </p:nvSpPr>
        <p:spPr>
          <a:xfrm>
            <a:off x="7861097" y="27678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60" name="섹션 제목"/>
          <p:cNvSpPr txBox="1"/>
          <p:nvPr/>
        </p:nvSpPr>
        <p:spPr>
          <a:xfrm>
            <a:off x="6504127" y="339699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군자역사거리</a:t>
            </a:r>
          </a:p>
        </p:txBody>
      </p:sp>
      <p:sp>
        <p:nvSpPr>
          <p:cNvPr id="61" name="본문"/>
          <p:cNvSpPr txBox="1"/>
          <p:nvPr/>
        </p:nvSpPr>
        <p:spPr>
          <a:xfrm>
            <a:off x="7861097" y="3415284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05888</a:t>
            </a:r>
          </a:p>
        </p:txBody>
      </p:sp>
      <p:sp>
        <p:nvSpPr>
          <p:cNvPr id="62" name="정류장 방면"/>
          <p:cNvSpPr txBox="1"/>
          <p:nvPr/>
        </p:nvSpPr>
        <p:spPr>
          <a:xfrm>
            <a:off x="6504127" y="2321662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능동우편취급국 방면</a:t>
            </a:r>
          </a:p>
        </p:txBody>
      </p:sp>
      <p:sp>
        <p:nvSpPr>
          <p:cNvPr id="63" name="정류장 거리 · 노선"/>
          <p:cNvSpPr txBox="1"/>
          <p:nvPr/>
        </p:nvSpPr>
        <p:spPr>
          <a:xfrm>
            <a:off x="6504127" y="2486253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120m · [간선] [지선]</a:t>
            </a:r>
          </a:p>
        </p:txBody>
      </p:sp>
      <p:sp>
        <p:nvSpPr>
          <p:cNvPr id="64" name="정류장 방면"/>
          <p:cNvSpPr txBox="1"/>
          <p:nvPr/>
        </p:nvSpPr>
        <p:spPr>
          <a:xfrm>
            <a:off x="6504127" y="29690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군자교 방면</a:t>
            </a:r>
          </a:p>
        </p:txBody>
      </p:sp>
      <p:sp>
        <p:nvSpPr>
          <p:cNvPr id="65" name="정류장 거리 · 노선"/>
          <p:cNvSpPr txBox="1"/>
          <p:nvPr/>
        </p:nvSpPr>
        <p:spPr>
          <a:xfrm>
            <a:off x="6504127" y="3133649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240m · [간선] [광역]</a:t>
            </a:r>
          </a:p>
        </p:txBody>
      </p:sp>
      <p:sp>
        <p:nvSpPr>
          <p:cNvPr id="66" name="정류장 방면"/>
          <p:cNvSpPr txBox="1"/>
          <p:nvPr/>
        </p:nvSpPr>
        <p:spPr>
          <a:xfrm>
            <a:off x="6504127" y="361645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중곡동 방면</a:t>
            </a:r>
          </a:p>
        </p:txBody>
      </p:sp>
      <p:sp>
        <p:nvSpPr>
          <p:cNvPr id="67" name="정류장 거리 · 노선"/>
          <p:cNvSpPr txBox="1"/>
          <p:nvPr/>
        </p:nvSpPr>
        <p:spPr>
          <a:xfrm>
            <a:off x="6504127" y="378104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1,240m · [지선] [마을]</a:t>
            </a:r>
          </a:p>
        </p:txBody>
      </p:sp>
      <p:sp>
        <p:nvSpPr>
          <p:cNvPr id="68" name="pic"/>
          <p:cNvSpPr/>
          <p:nvPr/>
        </p:nvSpPr>
        <p:spPr>
          <a:xfrm>
            <a:off x="6254496" y="20976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6254496" y="21524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0" name="pic"/>
          <p:cNvSpPr/>
          <p:nvPr/>
        </p:nvSpPr>
        <p:spPr>
          <a:xfrm>
            <a:off x="6254496" y="274502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6254496" y="279989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2" name="pic"/>
          <p:cNvSpPr/>
          <p:nvPr/>
        </p:nvSpPr>
        <p:spPr>
          <a:xfrm>
            <a:off x="6254496" y="339242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6254496" y="344728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4" name="t"/>
          <p:cNvSpPr txBox="1"/>
          <p:nvPr/>
        </p:nvSpPr>
        <p:spPr>
          <a:xfrm>
            <a:off x="3376879" y="185623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최근 검색</a:t>
            </a:r>
          </a:p>
        </p:txBody>
      </p:sp>
      <p:sp>
        <p:nvSpPr>
          <p:cNvPr id="75" name="pic"/>
          <p:cNvSpPr/>
          <p:nvPr/>
        </p:nvSpPr>
        <p:spPr>
          <a:xfrm>
            <a:off x="3376879" y="21899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3376879" y="22448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7" name="섹션 제목"/>
          <p:cNvSpPr txBox="1"/>
          <p:nvPr/>
        </p:nvSpPr>
        <p:spPr>
          <a:xfrm>
            <a:off x="3626510" y="21945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78" name="정류장 거리 · 노선"/>
          <p:cNvSpPr txBox="1"/>
          <p:nvPr/>
        </p:nvSpPr>
        <p:spPr>
          <a:xfrm>
            <a:off x="4992624" y="22128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09.16</a:t>
            </a:r>
          </a:p>
        </p:txBody>
      </p:sp>
      <p:sp>
        <p:nvSpPr>
          <p:cNvPr id="79" name="t"/>
          <p:cNvSpPr txBox="1"/>
          <p:nvPr/>
        </p:nvSpPr>
        <p:spPr>
          <a:xfrm>
            <a:off x="5596128" y="22128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80" name="pic"/>
          <p:cNvSpPr/>
          <p:nvPr/>
        </p:nvSpPr>
        <p:spPr>
          <a:xfrm>
            <a:off x="3376879" y="26471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81" name="t"/>
          <p:cNvSpPr txBox="1"/>
          <p:nvPr/>
        </p:nvSpPr>
        <p:spPr>
          <a:xfrm>
            <a:off x="3376879" y="27020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82" name="섹션 제목"/>
          <p:cNvSpPr txBox="1"/>
          <p:nvPr/>
        </p:nvSpPr>
        <p:spPr>
          <a:xfrm>
            <a:off x="3626510" y="26517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</a:t>
            </a:r>
          </a:p>
        </p:txBody>
      </p:sp>
      <p:sp>
        <p:nvSpPr>
          <p:cNvPr id="83" name="정류장 거리 · 노선"/>
          <p:cNvSpPr txBox="1"/>
          <p:nvPr/>
        </p:nvSpPr>
        <p:spPr>
          <a:xfrm>
            <a:off x="4992624" y="26700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84" name="t"/>
          <p:cNvSpPr txBox="1"/>
          <p:nvPr/>
        </p:nvSpPr>
        <p:spPr>
          <a:xfrm>
            <a:off x="5596128" y="26700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85" name="pic"/>
          <p:cNvSpPr/>
          <p:nvPr/>
        </p:nvSpPr>
        <p:spPr>
          <a:xfrm>
            <a:off x="3376879" y="31043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86" name="t"/>
          <p:cNvSpPr txBox="1"/>
          <p:nvPr/>
        </p:nvSpPr>
        <p:spPr>
          <a:xfrm>
            <a:off x="3376879" y="31592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87" name="섹션 제목"/>
          <p:cNvSpPr txBox="1"/>
          <p:nvPr/>
        </p:nvSpPr>
        <p:spPr>
          <a:xfrm>
            <a:off x="3626510" y="31089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여의도환승센터</a:t>
            </a:r>
          </a:p>
        </p:txBody>
      </p:sp>
      <p:sp>
        <p:nvSpPr>
          <p:cNvPr id="88" name="정류장 거리 · 노선"/>
          <p:cNvSpPr txBox="1"/>
          <p:nvPr/>
        </p:nvSpPr>
        <p:spPr>
          <a:xfrm>
            <a:off x="4992624" y="31272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89" name="t"/>
          <p:cNvSpPr txBox="1"/>
          <p:nvPr/>
        </p:nvSpPr>
        <p:spPr>
          <a:xfrm>
            <a:off x="5596128" y="31272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90" name="keypad"/>
          <p:cNvSpPr/>
          <p:nvPr/>
        </p:nvSpPr>
        <p:spPr>
          <a:xfrm>
            <a:off x="3251606" y="4160520"/>
            <a:ext cx="2678278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1" name="t"/>
          <p:cNvSpPr txBox="1"/>
          <p:nvPr/>
        </p:nvSpPr>
        <p:spPr>
          <a:xfrm>
            <a:off x="3233318" y="5175504"/>
            <a:ext cx="271485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한글 키패드</a:t>
            </a:r>
          </a:p>
        </p:txBody>
      </p:sp>
      <p:sp>
        <p:nvSpPr>
          <p:cNvPr id="92" name="t"/>
          <p:cNvSpPr txBox="1"/>
          <p:nvPr/>
        </p:nvSpPr>
        <p:spPr>
          <a:xfrm>
            <a:off x="299923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① 기본 — 인근 300m · 거리순</a:t>
            </a:r>
          </a:p>
        </p:txBody>
      </p:sp>
      <p:sp>
        <p:nvSpPr>
          <p:cNvPr id="93" name="t"/>
          <p:cNvSpPr txBox="1"/>
          <p:nvPr/>
        </p:nvSpPr>
        <p:spPr>
          <a:xfrm>
            <a:off x="3224174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② 검색창 포커스 — 최근 검색</a:t>
            </a:r>
          </a:p>
        </p:txBody>
      </p:sp>
      <p:sp>
        <p:nvSpPr>
          <p:cNvPr id="94" name="t"/>
          <p:cNvSpPr txBox="1"/>
          <p:nvPr/>
        </p:nvSpPr>
        <p:spPr>
          <a:xfrm>
            <a:off x="6101791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③ 입력 중 — 관련 정류장</a:t>
            </a:r>
          </a:p>
        </p:txBody>
      </p:sp>
      <p:cxnSp>
        <p:nvCxnSpPr>
          <p:cNvPr id="95" name="뒤로가기"/>
          <p:cNvCxnSpPr/>
          <p:nvPr/>
        </p:nvCxnSpPr>
        <p:spPr>
          <a:xfrm flipH="1">
            <a:off x="45243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뒤로가기"/>
          <p:cNvCxnSpPr/>
          <p:nvPr/>
        </p:nvCxnSpPr>
        <p:spPr>
          <a:xfrm flipH="1" flipV="1">
            <a:off x="45243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뒤로가기"/>
          <p:cNvCxnSpPr/>
          <p:nvPr/>
        </p:nvCxnSpPr>
        <p:spPr>
          <a:xfrm flipH="1">
            <a:off x="337672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뒤로가기"/>
          <p:cNvCxnSpPr/>
          <p:nvPr/>
        </p:nvCxnSpPr>
        <p:spPr>
          <a:xfrm flipH="1" flipV="1">
            <a:off x="337672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뒤로가기"/>
          <p:cNvCxnSpPr/>
          <p:nvPr/>
        </p:nvCxnSpPr>
        <p:spPr>
          <a:xfrm flipH="1">
            <a:off x="6254267" y="13918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뒤로가기"/>
          <p:cNvCxnSpPr/>
          <p:nvPr/>
        </p:nvCxnSpPr>
        <p:spPr>
          <a:xfrm flipH="1" flipV="1">
            <a:off x="6254267" y="14375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결과 건수"/>
          <p:cNvSpPr txBox="1"/>
          <p:nvPr/>
        </p:nvSpPr>
        <p:spPr>
          <a:xfrm>
            <a:off x="446342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인근 300m · 5곳</a:t>
            </a:r>
          </a:p>
        </p:txBody>
      </p:sp>
      <p:sp>
        <p:nvSpPr>
          <p:cNvPr id="102" name="결과 건수"/>
          <p:cNvSpPr txBox="1"/>
          <p:nvPr/>
        </p:nvSpPr>
        <p:spPr>
          <a:xfrm>
            <a:off x="6248095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검색 결과 3곳</a:t>
            </a:r>
          </a:p>
        </p:txBody>
      </p:sp>
      <p:sp>
        <p:nvSpPr>
          <p:cNvPr id="103" name="숫자배지 1"/>
          <p:cNvSpPr/>
          <p:nvPr/>
        </p:nvSpPr>
        <p:spPr>
          <a:xfrm>
            <a:off x="2249424" y="1143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4" name="숫자배지 2"/>
          <p:cNvSpPr/>
          <p:nvPr/>
        </p:nvSpPr>
        <p:spPr>
          <a:xfrm>
            <a:off x="2651760" y="18608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5" name="숫자배지 3"/>
          <p:cNvSpPr/>
          <p:nvPr/>
        </p:nvSpPr>
        <p:spPr>
          <a:xfrm>
            <a:off x="5440680" y="1828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6" name="숫자배지 4"/>
          <p:cNvSpPr/>
          <p:nvPr/>
        </p:nvSpPr>
        <p:spPr>
          <a:xfrm>
            <a:off x="5440680" y="42245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7" name="숫자배지 5"/>
          <p:cNvSpPr/>
          <p:nvPr/>
        </p:nvSpPr>
        <p:spPr>
          <a:xfrm>
            <a:off x="8458200" y="18608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08" name="숫자배지 6"/>
          <p:cNvSpPr/>
          <p:nvPr/>
        </p:nvSpPr>
        <p:spPr>
          <a:xfrm>
            <a:off x="153447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3상태 (2/2)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83982"/>
              </p:ext>
            </p:extLst>
          </p:nvPr>
        </p:nvGraphicFramePr>
        <p:xfrm>
          <a:off x="9277502" y="1447800"/>
          <a:ext cx="2553309" cy="333913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한글 키패드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검색창을 눌렀을 때 올림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관련 정류장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글자라도 입력하면 최근 검색을 대신함 — 정류장명 · 번호 둘 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구성은 2와 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 키워드 행 · 즐겨찾기 섹션을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전체 대상 — 반경 300m에 갇히지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190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 아래 한 줄 — ① 「인근 300m · N곳」 / ③ 「검색 결과 N곳」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N은 전체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② 최근 검색 · 0건에는 미표출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목업 프레임">
            <a:extLst>
              <a:ext uri="{FF2B5EF4-FFF2-40B4-BE49-F238E27FC236}">
                <a16:creationId xmlns:a16="http://schemas.microsoft.com/office/drawing/2014/main" id="{44520AD1-291F-DD49-E798-0AAD152314FE}"/>
              </a:ext>
            </a:extLst>
          </p:cNvPr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구분선">
            <a:extLst>
              <a:ext uri="{FF2B5EF4-FFF2-40B4-BE49-F238E27FC236}">
                <a16:creationId xmlns:a16="http://schemas.microsoft.com/office/drawing/2014/main" id="{A4DE8966-7B8F-19D7-FB38-50956EC88D87}"/>
              </a:ext>
            </a:extLst>
          </p:cNvPr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검색창">
            <a:extLst>
              <a:ext uri="{FF2B5EF4-FFF2-40B4-BE49-F238E27FC236}">
                <a16:creationId xmlns:a16="http://schemas.microsoft.com/office/drawing/2014/main" id="{1F1EEF9B-5BA1-7FC1-B651-86A17E1C2C67}"/>
              </a:ext>
            </a:extLst>
          </p:cNvPr>
          <p:cNvSpPr/>
          <p:nvPr/>
        </p:nvSpPr>
        <p:spPr>
          <a:xfrm>
            <a:off x="661988" y="1282827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검색창 문구">
            <a:extLst>
              <a:ext uri="{FF2B5EF4-FFF2-40B4-BE49-F238E27FC236}">
                <a16:creationId xmlns:a16="http://schemas.microsoft.com/office/drawing/2014/main" id="{B09BF338-9CFD-9BDA-DC64-5F04E77FB968}"/>
              </a:ext>
            </a:extLst>
          </p:cNvPr>
          <p:cNvSpPr txBox="1"/>
          <p:nvPr/>
        </p:nvSpPr>
        <p:spPr>
          <a:xfrm>
            <a:off x="808292" y="1360551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버스정류장</a:t>
            </a:r>
            <a:r>
              <a:rPr sz="862" b="0" spc="-17" dirty="0">
                <a:solidFill>
                  <a:srgbClr val="8A94A3"/>
                </a:solidFill>
                <a:latin typeface="Pretendard"/>
              </a:rPr>
              <a:t> </a:t>
            </a:r>
            <a:r>
              <a:rPr sz="862" b="0" spc="-17" dirty="0" err="1">
                <a:solidFill>
                  <a:srgbClr val="8A94A3"/>
                </a:solidFill>
                <a:latin typeface="Pretendard"/>
              </a:rPr>
              <a:t>검색</a:t>
            </a:r>
            <a:endParaRPr sz="862" b="0" spc="-17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18" name="목업 프레임">
            <a:extLst>
              <a:ext uri="{FF2B5EF4-FFF2-40B4-BE49-F238E27FC236}">
                <a16:creationId xmlns:a16="http://schemas.microsoft.com/office/drawing/2014/main" id="{818DBC78-6549-B1CB-CBE6-56728AD9BE39}"/>
              </a:ext>
            </a:extLst>
          </p:cNvPr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탑바 구분선">
            <a:extLst>
              <a:ext uri="{FF2B5EF4-FFF2-40B4-BE49-F238E27FC236}">
                <a16:creationId xmlns:a16="http://schemas.microsoft.com/office/drawing/2014/main" id="{F354FBC7-D470-5464-8128-B77E6ECDAC98}"/>
              </a:ext>
            </a:extLst>
          </p:cNvPr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검색창">
            <a:extLst>
              <a:ext uri="{FF2B5EF4-FFF2-40B4-BE49-F238E27FC236}">
                <a16:creationId xmlns:a16="http://schemas.microsoft.com/office/drawing/2014/main" id="{01F60E5F-C600-D6D0-2BD3-628EA31E2FD1}"/>
              </a:ext>
            </a:extLst>
          </p:cNvPr>
          <p:cNvSpPr/>
          <p:nvPr/>
        </p:nvSpPr>
        <p:spPr>
          <a:xfrm>
            <a:off x="3586162" y="1282827"/>
            <a:ext cx="2238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검색창 문구">
            <a:extLst>
              <a:ext uri="{FF2B5EF4-FFF2-40B4-BE49-F238E27FC236}">
                <a16:creationId xmlns:a16="http://schemas.microsoft.com/office/drawing/2014/main" id="{3691CF08-DCE0-664E-1FD4-064EC980F6F6}"/>
              </a:ext>
            </a:extLst>
          </p:cNvPr>
          <p:cNvSpPr txBox="1"/>
          <p:nvPr/>
        </p:nvSpPr>
        <p:spPr>
          <a:xfrm>
            <a:off x="3732465" y="1360551"/>
            <a:ext cx="1982344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버스정류장 검색</a:t>
            </a:r>
          </a:p>
        </p:txBody>
      </p:sp>
      <p:sp>
        <p:nvSpPr>
          <p:cNvPr id="22" name="섹션 제목">
            <a:extLst>
              <a:ext uri="{FF2B5EF4-FFF2-40B4-BE49-F238E27FC236}">
                <a16:creationId xmlns:a16="http://schemas.microsoft.com/office/drawing/2014/main" id="{8EEEB703-043E-3AA0-E488-BC35927A9387}"/>
              </a:ext>
            </a:extLst>
          </p:cNvPr>
          <p:cNvSpPr txBox="1"/>
          <p:nvPr/>
        </p:nvSpPr>
        <p:spPr>
          <a:xfrm>
            <a:off x="702259" y="21022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3" name="본문">
            <a:extLst>
              <a:ext uri="{FF2B5EF4-FFF2-40B4-BE49-F238E27FC236}">
                <a16:creationId xmlns:a16="http://schemas.microsoft.com/office/drawing/2014/main" id="{2FE3A6AC-5559-D06F-88A3-43D8BD0FC8A6}"/>
              </a:ext>
            </a:extLst>
          </p:cNvPr>
          <p:cNvSpPr txBox="1"/>
          <p:nvPr/>
        </p:nvSpPr>
        <p:spPr>
          <a:xfrm>
            <a:off x="2059229" y="21204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24" name="섹션 제목">
            <a:extLst>
              <a:ext uri="{FF2B5EF4-FFF2-40B4-BE49-F238E27FC236}">
                <a16:creationId xmlns:a16="http://schemas.microsoft.com/office/drawing/2014/main" id="{7AE38E21-D611-6C60-8DF2-D468F7C6B6E2}"/>
              </a:ext>
            </a:extLst>
          </p:cNvPr>
          <p:cNvSpPr txBox="1"/>
          <p:nvPr/>
        </p:nvSpPr>
        <p:spPr>
          <a:xfrm>
            <a:off x="702259" y="27496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25" name="본문">
            <a:extLst>
              <a:ext uri="{FF2B5EF4-FFF2-40B4-BE49-F238E27FC236}">
                <a16:creationId xmlns:a16="http://schemas.microsoft.com/office/drawing/2014/main" id="{8AEA6F9B-EC29-FF8D-A516-4631314658DA}"/>
              </a:ext>
            </a:extLst>
          </p:cNvPr>
          <p:cNvSpPr txBox="1"/>
          <p:nvPr/>
        </p:nvSpPr>
        <p:spPr>
          <a:xfrm>
            <a:off x="2059229" y="27678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6A0EC2A0-9034-6D53-A48D-4E8066A6DEF9}"/>
              </a:ext>
            </a:extLst>
          </p:cNvPr>
          <p:cNvSpPr txBox="1"/>
          <p:nvPr/>
        </p:nvSpPr>
        <p:spPr>
          <a:xfrm>
            <a:off x="702259" y="339699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 용마초등학교</a:t>
            </a:r>
          </a:p>
        </p:txBody>
      </p:sp>
      <p:sp>
        <p:nvSpPr>
          <p:cNvPr id="27" name="본문">
            <a:extLst>
              <a:ext uri="{FF2B5EF4-FFF2-40B4-BE49-F238E27FC236}">
                <a16:creationId xmlns:a16="http://schemas.microsoft.com/office/drawing/2014/main" id="{886F5D8C-559F-E1DC-9F03-E010122B52E2}"/>
              </a:ext>
            </a:extLst>
          </p:cNvPr>
          <p:cNvSpPr txBox="1"/>
          <p:nvPr/>
        </p:nvSpPr>
        <p:spPr>
          <a:xfrm>
            <a:off x="2059229" y="3415284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05003</a:t>
            </a:r>
          </a:p>
        </p:txBody>
      </p:sp>
      <p:sp>
        <p:nvSpPr>
          <p:cNvPr id="28" name="섹션 제목">
            <a:extLst>
              <a:ext uri="{FF2B5EF4-FFF2-40B4-BE49-F238E27FC236}">
                <a16:creationId xmlns:a16="http://schemas.microsoft.com/office/drawing/2014/main" id="{CADDFB07-CFDA-2FF0-F1DB-85B5EFFFD68D}"/>
              </a:ext>
            </a:extLst>
          </p:cNvPr>
          <p:cNvSpPr txBox="1"/>
          <p:nvPr/>
        </p:nvSpPr>
        <p:spPr>
          <a:xfrm>
            <a:off x="702259" y="40453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군자역7번출구</a:t>
            </a:r>
          </a:p>
        </p:txBody>
      </p:sp>
      <p:sp>
        <p:nvSpPr>
          <p:cNvPr id="29" name="본문">
            <a:extLst>
              <a:ext uri="{FF2B5EF4-FFF2-40B4-BE49-F238E27FC236}">
                <a16:creationId xmlns:a16="http://schemas.microsoft.com/office/drawing/2014/main" id="{1B3269A3-FC06-019E-62A4-D819967E6DAA}"/>
              </a:ext>
            </a:extLst>
          </p:cNvPr>
          <p:cNvSpPr txBox="1"/>
          <p:nvPr/>
        </p:nvSpPr>
        <p:spPr>
          <a:xfrm>
            <a:off x="2059229" y="40635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05253</a:t>
            </a:r>
          </a:p>
        </p:txBody>
      </p:sp>
      <p:sp>
        <p:nvSpPr>
          <p:cNvPr id="30" name="섹션 제목">
            <a:extLst>
              <a:ext uri="{FF2B5EF4-FFF2-40B4-BE49-F238E27FC236}">
                <a16:creationId xmlns:a16="http://schemas.microsoft.com/office/drawing/2014/main" id="{324A3D57-D3A6-07F8-6F40-30AEE054B112}"/>
              </a:ext>
            </a:extLst>
          </p:cNvPr>
          <p:cNvSpPr txBox="1"/>
          <p:nvPr/>
        </p:nvSpPr>
        <p:spPr>
          <a:xfrm>
            <a:off x="702259" y="46927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31" name="본문">
            <a:extLst>
              <a:ext uri="{FF2B5EF4-FFF2-40B4-BE49-F238E27FC236}">
                <a16:creationId xmlns:a16="http://schemas.microsoft.com/office/drawing/2014/main" id="{72610CDE-EC14-0BC7-A39C-317AACFD2CF2}"/>
              </a:ext>
            </a:extLst>
          </p:cNvPr>
          <p:cNvSpPr txBox="1"/>
          <p:nvPr/>
        </p:nvSpPr>
        <p:spPr>
          <a:xfrm>
            <a:off x="2059229" y="47109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32" name="정류장 방면"/>
          <p:cNvSpPr txBox="1"/>
          <p:nvPr/>
        </p:nvSpPr>
        <p:spPr>
          <a:xfrm>
            <a:off x="702259" y="2321662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능동우편취급국 방면</a:t>
            </a:r>
          </a:p>
        </p:txBody>
      </p:sp>
      <p:sp>
        <p:nvSpPr>
          <p:cNvPr id="33" name="정류장 거리 · 노선"/>
          <p:cNvSpPr txBox="1"/>
          <p:nvPr/>
        </p:nvSpPr>
        <p:spPr>
          <a:xfrm>
            <a:off x="702259" y="2486253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120m · [간선] [지선]</a:t>
            </a:r>
          </a:p>
        </p:txBody>
      </p:sp>
      <p:sp>
        <p:nvSpPr>
          <p:cNvPr id="34" name="정류장 방면"/>
          <p:cNvSpPr txBox="1"/>
          <p:nvPr/>
        </p:nvSpPr>
        <p:spPr>
          <a:xfrm>
            <a:off x="702259" y="29690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군자교 방면</a:t>
            </a:r>
          </a:p>
        </p:txBody>
      </p:sp>
      <p:sp>
        <p:nvSpPr>
          <p:cNvPr id="35" name="정류장 거리 · 노선"/>
          <p:cNvSpPr txBox="1"/>
          <p:nvPr/>
        </p:nvSpPr>
        <p:spPr>
          <a:xfrm>
            <a:off x="702259" y="3133649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240m · [간선] [광역]</a:t>
            </a:r>
          </a:p>
        </p:txBody>
      </p:sp>
      <p:sp>
        <p:nvSpPr>
          <p:cNvPr id="36" name="정류장 방면"/>
          <p:cNvSpPr txBox="1"/>
          <p:nvPr/>
        </p:nvSpPr>
        <p:spPr>
          <a:xfrm>
            <a:off x="702259" y="361645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세종초교앞 방면</a:t>
            </a:r>
          </a:p>
        </p:txBody>
      </p:sp>
      <p:sp>
        <p:nvSpPr>
          <p:cNvPr id="37" name="정류장 거리 · 노선"/>
          <p:cNvSpPr txBox="1"/>
          <p:nvPr/>
        </p:nvSpPr>
        <p:spPr>
          <a:xfrm>
            <a:off x="702259" y="378104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280m · [지선]</a:t>
            </a:r>
          </a:p>
        </p:txBody>
      </p:sp>
      <p:sp>
        <p:nvSpPr>
          <p:cNvPr id="38" name="정류장 방면"/>
          <p:cNvSpPr txBox="1"/>
          <p:nvPr/>
        </p:nvSpPr>
        <p:spPr>
          <a:xfrm>
            <a:off x="702259" y="426476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어린이대공원 방면</a:t>
            </a:r>
          </a:p>
        </p:txBody>
      </p:sp>
      <p:sp>
        <p:nvSpPr>
          <p:cNvPr id="39" name="정류장 거리 · 노선"/>
          <p:cNvSpPr txBox="1"/>
          <p:nvPr/>
        </p:nvSpPr>
        <p:spPr>
          <a:xfrm>
            <a:off x="702259" y="442935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290m · [간선]</a:t>
            </a:r>
          </a:p>
        </p:txBody>
      </p:sp>
      <p:sp>
        <p:nvSpPr>
          <p:cNvPr id="40" name="정류장 방면"/>
          <p:cNvSpPr txBox="1"/>
          <p:nvPr/>
        </p:nvSpPr>
        <p:spPr>
          <a:xfrm>
            <a:off x="702259" y="49121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중곡동 방면</a:t>
            </a:r>
          </a:p>
        </p:txBody>
      </p:sp>
      <p:sp>
        <p:nvSpPr>
          <p:cNvPr id="41" name="정류장 거리 · 노선"/>
          <p:cNvSpPr txBox="1"/>
          <p:nvPr/>
        </p:nvSpPr>
        <p:spPr>
          <a:xfrm>
            <a:off x="702259" y="5076748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300m · [지선]</a:t>
            </a:r>
          </a:p>
        </p:txBody>
      </p:sp>
      <p:sp>
        <p:nvSpPr>
          <p:cNvPr id="42" name="pic"/>
          <p:cNvSpPr/>
          <p:nvPr/>
        </p:nvSpPr>
        <p:spPr>
          <a:xfrm>
            <a:off x="452628" y="20976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3" name="t"/>
          <p:cNvSpPr txBox="1"/>
          <p:nvPr/>
        </p:nvSpPr>
        <p:spPr>
          <a:xfrm>
            <a:off x="452628" y="21524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4" name="pic"/>
          <p:cNvSpPr/>
          <p:nvPr/>
        </p:nvSpPr>
        <p:spPr>
          <a:xfrm>
            <a:off x="452628" y="274502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452628" y="279989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6" name="pic"/>
          <p:cNvSpPr/>
          <p:nvPr/>
        </p:nvSpPr>
        <p:spPr>
          <a:xfrm>
            <a:off x="452628" y="339242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452628" y="344728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48" name="pic"/>
          <p:cNvSpPr/>
          <p:nvPr/>
        </p:nvSpPr>
        <p:spPr>
          <a:xfrm>
            <a:off x="452628" y="40407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452628" y="40955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50" name="pic"/>
          <p:cNvSpPr/>
          <p:nvPr/>
        </p:nvSpPr>
        <p:spPr>
          <a:xfrm>
            <a:off x="452628" y="4688129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452628" y="4742993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52" name="목업 프레임"/>
          <p:cNvSpPr/>
          <p:nvPr/>
        </p:nvSpPr>
        <p:spPr>
          <a:xfrm>
            <a:off x="6101791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탑바 구분선"/>
          <p:cNvSpPr/>
          <p:nvPr/>
        </p:nvSpPr>
        <p:spPr>
          <a:xfrm>
            <a:off x="6111850" y="1686154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검색창"/>
          <p:cNvSpPr/>
          <p:nvPr/>
        </p:nvSpPr>
        <p:spPr>
          <a:xfrm>
            <a:off x="6463894" y="1282903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검색창 문구"/>
          <p:cNvSpPr txBox="1"/>
          <p:nvPr/>
        </p:nvSpPr>
        <p:spPr>
          <a:xfrm>
            <a:off x="6610198" y="1360627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 dirty="0" err="1">
                <a:solidFill>
                  <a:srgbClr val="14181F"/>
                </a:solidFill>
                <a:latin typeface="Pretendard"/>
              </a:rPr>
              <a:t>군자</a:t>
            </a:r>
            <a:endParaRPr sz="862" b="0" spc="-17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56" name="섹션 제목"/>
          <p:cNvSpPr txBox="1"/>
          <p:nvPr/>
        </p:nvSpPr>
        <p:spPr>
          <a:xfrm>
            <a:off x="6504127" y="210220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57" name="본문"/>
          <p:cNvSpPr txBox="1"/>
          <p:nvPr/>
        </p:nvSpPr>
        <p:spPr>
          <a:xfrm>
            <a:off x="7861097" y="2120493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051414</a:t>
            </a:r>
          </a:p>
        </p:txBody>
      </p:sp>
      <p:sp>
        <p:nvSpPr>
          <p:cNvPr id="58" name="섹션 제목"/>
          <p:cNvSpPr txBox="1"/>
          <p:nvPr/>
        </p:nvSpPr>
        <p:spPr>
          <a:xfrm>
            <a:off x="6504127" y="2749601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</a:t>
            </a:r>
          </a:p>
        </p:txBody>
      </p:sp>
      <p:sp>
        <p:nvSpPr>
          <p:cNvPr id="59" name="본문"/>
          <p:cNvSpPr txBox="1"/>
          <p:nvPr/>
        </p:nvSpPr>
        <p:spPr>
          <a:xfrm>
            <a:off x="7861097" y="2767889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05701</a:t>
            </a:r>
          </a:p>
        </p:txBody>
      </p:sp>
      <p:sp>
        <p:nvSpPr>
          <p:cNvPr id="60" name="섹션 제목"/>
          <p:cNvSpPr txBox="1"/>
          <p:nvPr/>
        </p:nvSpPr>
        <p:spPr>
          <a:xfrm>
            <a:off x="6504127" y="3396996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군자역사거리</a:t>
            </a:r>
          </a:p>
        </p:txBody>
      </p:sp>
      <p:sp>
        <p:nvSpPr>
          <p:cNvPr id="61" name="본문"/>
          <p:cNvSpPr txBox="1"/>
          <p:nvPr/>
        </p:nvSpPr>
        <p:spPr>
          <a:xfrm>
            <a:off x="7861097" y="3415284"/>
            <a:ext cx="77724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05888</a:t>
            </a:r>
          </a:p>
        </p:txBody>
      </p:sp>
      <p:sp>
        <p:nvSpPr>
          <p:cNvPr id="62" name="정류장 방면"/>
          <p:cNvSpPr txBox="1"/>
          <p:nvPr/>
        </p:nvSpPr>
        <p:spPr>
          <a:xfrm>
            <a:off x="6504127" y="2321662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능동우편취급국 방면</a:t>
            </a:r>
          </a:p>
        </p:txBody>
      </p:sp>
      <p:sp>
        <p:nvSpPr>
          <p:cNvPr id="63" name="정류장 거리 · 노선"/>
          <p:cNvSpPr txBox="1"/>
          <p:nvPr/>
        </p:nvSpPr>
        <p:spPr>
          <a:xfrm>
            <a:off x="6504127" y="2486253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120m · [간선] [지선]</a:t>
            </a:r>
          </a:p>
        </p:txBody>
      </p:sp>
      <p:sp>
        <p:nvSpPr>
          <p:cNvPr id="64" name="정류장 방면"/>
          <p:cNvSpPr txBox="1"/>
          <p:nvPr/>
        </p:nvSpPr>
        <p:spPr>
          <a:xfrm>
            <a:off x="6504127" y="2969057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군자교 방면</a:t>
            </a:r>
          </a:p>
        </p:txBody>
      </p:sp>
      <p:sp>
        <p:nvSpPr>
          <p:cNvPr id="65" name="정류장 거리 · 노선"/>
          <p:cNvSpPr txBox="1"/>
          <p:nvPr/>
        </p:nvSpPr>
        <p:spPr>
          <a:xfrm>
            <a:off x="6504127" y="3133649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240m · [간선] [광역]</a:t>
            </a:r>
          </a:p>
        </p:txBody>
      </p:sp>
      <p:sp>
        <p:nvSpPr>
          <p:cNvPr id="66" name="정류장 방면"/>
          <p:cNvSpPr txBox="1"/>
          <p:nvPr/>
        </p:nvSpPr>
        <p:spPr>
          <a:xfrm>
            <a:off x="6504127" y="3616451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중곡동 방면</a:t>
            </a:r>
          </a:p>
        </p:txBody>
      </p:sp>
      <p:sp>
        <p:nvSpPr>
          <p:cNvPr id="67" name="정류장 거리 · 노선"/>
          <p:cNvSpPr txBox="1"/>
          <p:nvPr/>
        </p:nvSpPr>
        <p:spPr>
          <a:xfrm>
            <a:off x="6504127" y="3781044"/>
            <a:ext cx="1947672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1,240m · [지선] [마을]</a:t>
            </a:r>
          </a:p>
        </p:txBody>
      </p:sp>
      <p:sp>
        <p:nvSpPr>
          <p:cNvPr id="68" name="pic"/>
          <p:cNvSpPr/>
          <p:nvPr/>
        </p:nvSpPr>
        <p:spPr>
          <a:xfrm>
            <a:off x="6254496" y="209763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6254496" y="215249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0" name="pic"/>
          <p:cNvSpPr/>
          <p:nvPr/>
        </p:nvSpPr>
        <p:spPr>
          <a:xfrm>
            <a:off x="6254496" y="274502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6254496" y="279989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2" name="pic"/>
          <p:cNvSpPr/>
          <p:nvPr/>
        </p:nvSpPr>
        <p:spPr>
          <a:xfrm>
            <a:off x="6254496" y="3392424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6254496" y="3447288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4" name="t"/>
          <p:cNvSpPr txBox="1"/>
          <p:nvPr/>
        </p:nvSpPr>
        <p:spPr>
          <a:xfrm>
            <a:off x="3376879" y="1856232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최근 검색</a:t>
            </a:r>
          </a:p>
        </p:txBody>
      </p:sp>
      <p:sp>
        <p:nvSpPr>
          <p:cNvPr id="75" name="pic"/>
          <p:cNvSpPr/>
          <p:nvPr/>
        </p:nvSpPr>
        <p:spPr>
          <a:xfrm>
            <a:off x="3376879" y="21899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3376879" y="22448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77" name="섹션 제목"/>
          <p:cNvSpPr txBox="1"/>
          <p:nvPr/>
        </p:nvSpPr>
        <p:spPr>
          <a:xfrm>
            <a:off x="3626510" y="21945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78" name="정류장 거리 · 노선"/>
          <p:cNvSpPr txBox="1"/>
          <p:nvPr/>
        </p:nvSpPr>
        <p:spPr>
          <a:xfrm>
            <a:off x="4992624" y="22128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09.16</a:t>
            </a:r>
          </a:p>
        </p:txBody>
      </p:sp>
      <p:sp>
        <p:nvSpPr>
          <p:cNvPr id="79" name="t"/>
          <p:cNvSpPr txBox="1"/>
          <p:nvPr/>
        </p:nvSpPr>
        <p:spPr>
          <a:xfrm>
            <a:off x="5596128" y="22128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80" name="pic"/>
          <p:cNvSpPr/>
          <p:nvPr/>
        </p:nvSpPr>
        <p:spPr>
          <a:xfrm>
            <a:off x="3376879" y="26471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81" name="t"/>
          <p:cNvSpPr txBox="1"/>
          <p:nvPr/>
        </p:nvSpPr>
        <p:spPr>
          <a:xfrm>
            <a:off x="3376879" y="27020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82" name="섹션 제목"/>
          <p:cNvSpPr txBox="1"/>
          <p:nvPr/>
        </p:nvSpPr>
        <p:spPr>
          <a:xfrm>
            <a:off x="3626510" y="26517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시청앞</a:t>
            </a:r>
          </a:p>
        </p:txBody>
      </p:sp>
      <p:sp>
        <p:nvSpPr>
          <p:cNvPr id="83" name="정류장 거리 · 노선"/>
          <p:cNvSpPr txBox="1"/>
          <p:nvPr/>
        </p:nvSpPr>
        <p:spPr>
          <a:xfrm>
            <a:off x="4992624" y="26700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09.14</a:t>
            </a:r>
          </a:p>
        </p:txBody>
      </p:sp>
      <p:sp>
        <p:nvSpPr>
          <p:cNvPr id="84" name="t"/>
          <p:cNvSpPr txBox="1"/>
          <p:nvPr/>
        </p:nvSpPr>
        <p:spPr>
          <a:xfrm>
            <a:off x="5596128" y="26700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85" name="pic"/>
          <p:cNvSpPr/>
          <p:nvPr/>
        </p:nvSpPr>
        <p:spPr>
          <a:xfrm>
            <a:off x="3376879" y="3104388"/>
            <a:ext cx="219456" cy="2194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86" name="t"/>
          <p:cNvSpPr txBox="1"/>
          <p:nvPr/>
        </p:nvSpPr>
        <p:spPr>
          <a:xfrm>
            <a:off x="3376879" y="3159252"/>
            <a:ext cx="21945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00" b="0" dirty="0">
                <a:solidFill>
                  <a:srgbClr val="5B6573"/>
                </a:solidFill>
                <a:latin typeface="Pretendard"/>
                <a:ea typeface="Pretendard"/>
              </a:rPr>
              <a:t>버스</a:t>
            </a:r>
          </a:p>
        </p:txBody>
      </p:sp>
      <p:sp>
        <p:nvSpPr>
          <p:cNvPr id="87" name="섹션 제목"/>
          <p:cNvSpPr txBox="1"/>
          <p:nvPr/>
        </p:nvSpPr>
        <p:spPr>
          <a:xfrm>
            <a:off x="3626510" y="3108960"/>
            <a:ext cx="132588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여의도환승센터</a:t>
            </a:r>
          </a:p>
        </p:txBody>
      </p:sp>
      <p:sp>
        <p:nvSpPr>
          <p:cNvPr id="88" name="정류장 거리 · 노선"/>
          <p:cNvSpPr txBox="1"/>
          <p:nvPr/>
        </p:nvSpPr>
        <p:spPr>
          <a:xfrm>
            <a:off x="4992624" y="312724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09.12</a:t>
            </a:r>
          </a:p>
        </p:txBody>
      </p:sp>
      <p:sp>
        <p:nvSpPr>
          <p:cNvPr id="89" name="t"/>
          <p:cNvSpPr txBox="1"/>
          <p:nvPr/>
        </p:nvSpPr>
        <p:spPr>
          <a:xfrm>
            <a:off x="5596128" y="3127248"/>
            <a:ext cx="182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90" name="keypad"/>
          <p:cNvSpPr/>
          <p:nvPr/>
        </p:nvSpPr>
        <p:spPr>
          <a:xfrm>
            <a:off x="3251606" y="4160520"/>
            <a:ext cx="2678278" cy="2103120"/>
          </a:xfrm>
          <a:prstGeom prst="rect">
            <a:avLst/>
          </a:prstGeom>
          <a:solidFill>
            <a:srgbClr val="F2F4F7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1" name="t"/>
          <p:cNvSpPr txBox="1"/>
          <p:nvPr/>
        </p:nvSpPr>
        <p:spPr>
          <a:xfrm>
            <a:off x="3233318" y="5175504"/>
            <a:ext cx="271485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한글 키패드</a:t>
            </a:r>
          </a:p>
        </p:txBody>
      </p:sp>
      <p:sp>
        <p:nvSpPr>
          <p:cNvPr id="92" name="t"/>
          <p:cNvSpPr txBox="1"/>
          <p:nvPr/>
        </p:nvSpPr>
        <p:spPr>
          <a:xfrm>
            <a:off x="299923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① 기본 — 인근 300m · 거리순</a:t>
            </a:r>
          </a:p>
        </p:txBody>
      </p:sp>
      <p:sp>
        <p:nvSpPr>
          <p:cNvPr id="93" name="t"/>
          <p:cNvSpPr txBox="1"/>
          <p:nvPr/>
        </p:nvSpPr>
        <p:spPr>
          <a:xfrm>
            <a:off x="3224174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② 검색창 포커스 — 최근 검색</a:t>
            </a:r>
          </a:p>
        </p:txBody>
      </p:sp>
      <p:sp>
        <p:nvSpPr>
          <p:cNvPr id="94" name="t"/>
          <p:cNvSpPr txBox="1"/>
          <p:nvPr/>
        </p:nvSpPr>
        <p:spPr>
          <a:xfrm>
            <a:off x="6101791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③ 입력 중 — 관련 정류장</a:t>
            </a:r>
          </a:p>
        </p:txBody>
      </p:sp>
      <p:cxnSp>
        <p:nvCxnSpPr>
          <p:cNvPr id="95" name="뒤로가기"/>
          <p:cNvCxnSpPr/>
          <p:nvPr/>
        </p:nvCxnSpPr>
        <p:spPr>
          <a:xfrm flipH="1">
            <a:off x="45243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뒤로가기"/>
          <p:cNvCxnSpPr/>
          <p:nvPr/>
        </p:nvCxnSpPr>
        <p:spPr>
          <a:xfrm flipH="1" flipV="1">
            <a:off x="45243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뒤로가기"/>
          <p:cNvCxnSpPr/>
          <p:nvPr/>
        </p:nvCxnSpPr>
        <p:spPr>
          <a:xfrm flipH="1">
            <a:off x="337672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뒤로가기"/>
          <p:cNvCxnSpPr/>
          <p:nvPr/>
        </p:nvCxnSpPr>
        <p:spPr>
          <a:xfrm flipH="1" flipV="1">
            <a:off x="337672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뒤로가기"/>
          <p:cNvCxnSpPr/>
          <p:nvPr/>
        </p:nvCxnSpPr>
        <p:spPr>
          <a:xfrm flipH="1">
            <a:off x="6254267" y="13918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뒤로가기"/>
          <p:cNvCxnSpPr/>
          <p:nvPr/>
        </p:nvCxnSpPr>
        <p:spPr>
          <a:xfrm flipH="1" flipV="1">
            <a:off x="6254267" y="14375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결과 건수"/>
          <p:cNvSpPr txBox="1"/>
          <p:nvPr/>
        </p:nvSpPr>
        <p:spPr>
          <a:xfrm>
            <a:off x="446342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인근 300m · 5곳</a:t>
            </a:r>
          </a:p>
        </p:txBody>
      </p:sp>
      <p:sp>
        <p:nvSpPr>
          <p:cNvPr id="102" name="결과 건수"/>
          <p:cNvSpPr txBox="1"/>
          <p:nvPr/>
        </p:nvSpPr>
        <p:spPr>
          <a:xfrm>
            <a:off x="6248095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검색 결과 3곳</a:t>
            </a:r>
          </a:p>
        </p:txBody>
      </p:sp>
      <p:sp>
        <p:nvSpPr>
          <p:cNvPr id="103" name="숫자배지 1"/>
          <p:cNvSpPr/>
          <p:nvPr/>
        </p:nvSpPr>
        <p:spPr>
          <a:xfrm>
            <a:off x="2249424" y="1143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04" name="숫자배지 2"/>
          <p:cNvSpPr/>
          <p:nvPr/>
        </p:nvSpPr>
        <p:spPr>
          <a:xfrm>
            <a:off x="2651760" y="18608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05" name="숫자배지 3"/>
          <p:cNvSpPr/>
          <p:nvPr/>
        </p:nvSpPr>
        <p:spPr>
          <a:xfrm>
            <a:off x="5440680" y="18288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06" name="숫자배지 4"/>
          <p:cNvSpPr/>
          <p:nvPr/>
        </p:nvSpPr>
        <p:spPr>
          <a:xfrm>
            <a:off x="5440680" y="42245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07" name="숫자배지 5"/>
          <p:cNvSpPr/>
          <p:nvPr/>
        </p:nvSpPr>
        <p:spPr>
          <a:xfrm>
            <a:off x="8458200" y="18608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08" name="숫자배지 6"/>
          <p:cNvSpPr/>
          <p:nvPr/>
        </p:nvSpPr>
        <p:spPr>
          <a:xfrm>
            <a:off x="153447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25F21180-762D-9BF7-444E-8510D7DF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8629192" y="1447800"/>
          <a:ext cx="2972713" cy="459678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뒤로가기 — 지도 위 플로팅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좌상단 원형 버튼 1개 · 탑바를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들어온 화면으로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· 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정류장 1개만 핀으로 표시 — 주변은 찍지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초기 뷰는 핀이 시트에 가리지 않는 영역에 맞춤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3종 — 내 위치 · 정북 복원 · 확대 /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핀 없는 지도 영역을 누르면 시트 최소화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— 2단계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/ 최소 · 진입 기본값은 최대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높이는 콘텐츠 양을 따름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정류장 헤더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이름 / 「방면 · 거리」 / 주소 3줄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방면은 다음 정류장명 기준 — 없으면 그 줄을 생략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거리는 현위치 기준 직선거리 · m 단위 정수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주소는 지번 풀주소 — 광역 붙임 · 도로명 안 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1324533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map"/>
          <p:cNvSpPr/>
          <p:nvPr/>
        </p:nvSpPr>
        <p:spPr>
          <a:xfrm>
            <a:off x="1324966" y="1194206"/>
            <a:ext cx="2707538" cy="1920240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13" name="back"/>
          <p:cNvSpPr/>
          <p:nvPr/>
        </p:nvSpPr>
        <p:spPr>
          <a:xfrm>
            <a:off x="1378001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1476933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1476933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1321045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2560127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1502939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1519270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0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1572820" y="3959352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능동 246-2</a:t>
            </a:r>
          </a:p>
        </p:txBody>
      </p:sp>
      <p:sp>
        <p:nvSpPr>
          <p:cNvPr id="21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1519270" y="4764024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1519270" y="5155042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3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1873087" y="5118753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24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1519270" y="5318342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5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2290410" y="51368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26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2290410" y="53001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27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1519270" y="5626798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28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1873087" y="5590509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29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1519270" y="5790098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0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2290410" y="5608653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31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1589655" y="4160520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32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1625944" y="4398264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33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1771100" y="4398264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34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1625944" y="4599432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35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1771100" y="4599432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36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2654503" y="4983480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37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3616250" y="4988052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8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3752333" y="5001768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9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1456836" y="5105457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1456836" y="5512290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refresh-bg"/>
          <p:cNvSpPr/>
          <p:nvPr/>
        </p:nvSpPr>
        <p:spPr>
          <a:xfrm>
            <a:off x="3639312" y="5440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pic>
        <p:nvPicPr>
          <p:cNvPr id="42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5504688"/>
            <a:ext cx="143437" cy="150267"/>
          </a:xfrm>
          <a:prstGeom prst="rect">
            <a:avLst/>
          </a:prstGeom>
        </p:spPr>
      </p:pic>
      <p:sp>
        <p:nvSpPr>
          <p:cNvPr id="43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</a:t>
            </a:r>
          </a:p>
        </p:txBody>
      </p:sp>
      <p:sp>
        <p:nvSpPr>
          <p:cNvPr id="44" name="페이지명"/>
          <p:cNvSpPr txBox="1"/>
          <p:nvPr/>
        </p:nvSpPr>
        <p:spPr>
          <a:xfrm>
            <a:off x="911733" y="228600"/>
            <a:ext cx="1600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 정보</a:t>
            </a:r>
          </a:p>
        </p:txBody>
      </p:sp>
      <p:sp>
        <p:nvSpPr>
          <p:cNvPr id="45" name="부제"/>
          <p:cNvSpPr txBox="1"/>
          <p:nvPr/>
        </p:nvSpPr>
        <p:spPr>
          <a:xfrm>
            <a:off x="237744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(1/3)</a:t>
            </a:r>
          </a:p>
        </p:txBody>
      </p:sp>
      <p:sp>
        <p:nvSpPr>
          <p:cNvPr id="46" name="t"/>
          <p:cNvSpPr txBox="1"/>
          <p:nvPr/>
        </p:nvSpPr>
        <p:spPr>
          <a:xfrm>
            <a:off x="1518818" y="3803904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능동우편취급국 방면 · 350m</a:t>
            </a:r>
          </a:p>
        </p:txBody>
      </p:sp>
      <p:sp>
        <p:nvSpPr>
          <p:cNvPr id="47" name="t"/>
          <p:cNvSpPr txBox="1"/>
          <p:nvPr/>
        </p:nvSpPr>
        <p:spPr>
          <a:xfrm>
            <a:off x="2103120" y="4786884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1376172" y="594360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9" name="t"/>
          <p:cNvSpPr txBox="1"/>
          <p:nvPr/>
        </p:nvSpPr>
        <p:spPr>
          <a:xfrm>
            <a:off x="1426464" y="6035040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50" name="role"/>
          <p:cNvSpPr/>
          <p:nvPr/>
        </p:nvSpPr>
        <p:spPr>
          <a:xfrm>
            <a:off x="1737360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737360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52" name="role"/>
          <p:cNvSpPr/>
          <p:nvPr/>
        </p:nvSpPr>
        <p:spPr>
          <a:xfrm>
            <a:off x="2871216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2871216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54" name="t"/>
          <p:cNvSpPr txBox="1"/>
          <p:nvPr/>
        </p:nvSpPr>
        <p:spPr>
          <a:xfrm>
            <a:off x="1324966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기본 — 시트 최대</a:t>
            </a:r>
          </a:p>
        </p:txBody>
      </p:sp>
      <p:sp>
        <p:nvSpPr>
          <p:cNvPr id="55" name="목업 프레임 3"/>
          <p:cNvSpPr/>
          <p:nvPr/>
        </p:nvSpPr>
        <p:spPr>
          <a:xfrm>
            <a:off x="4754880" y="1194206"/>
            <a:ext cx="2707538" cy="5107838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map2"/>
          <p:cNvSpPr/>
          <p:nvPr/>
        </p:nvSpPr>
        <p:spPr>
          <a:xfrm>
            <a:off x="4754880" y="1194206"/>
            <a:ext cx="2707538" cy="4767682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57" name="back2"/>
          <p:cNvSpPr/>
          <p:nvPr/>
        </p:nvSpPr>
        <p:spPr>
          <a:xfrm>
            <a:off x="4807915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58" name="뒤로가기"/>
          <p:cNvCxnSpPr/>
          <p:nvPr/>
        </p:nvCxnSpPr>
        <p:spPr>
          <a:xfrm flipH="1">
            <a:off x="4906670" y="13761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906670" y="14228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heet-min"/>
          <p:cNvSpPr/>
          <p:nvPr/>
        </p:nvSpPr>
        <p:spPr>
          <a:xfrm>
            <a:off x="4751222" y="5961888"/>
            <a:ext cx="2714854" cy="340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61" name="ln"/>
          <p:cNvCxnSpPr/>
          <p:nvPr/>
        </p:nvCxnSpPr>
        <p:spPr>
          <a:xfrm>
            <a:off x="5943600" y="6053328"/>
            <a:ext cx="349301" cy="0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4754880" y="6144768"/>
            <a:ext cx="270753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군자역6번출구</a:t>
            </a:r>
          </a:p>
        </p:txBody>
      </p:sp>
      <p:sp>
        <p:nvSpPr>
          <p:cNvPr id="63" name="t"/>
          <p:cNvSpPr txBox="1"/>
          <p:nvPr/>
        </p:nvSpPr>
        <p:spPr>
          <a:xfrm>
            <a:off x="4754880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시트 최소 — 손잡이 누르기 토글</a:t>
            </a:r>
          </a:p>
        </p:txBody>
      </p:sp>
      <p:sp>
        <p:nvSpPr>
          <p:cNvPr id="64" name="지도 안내"/>
          <p:cNvSpPr txBox="1"/>
          <p:nvPr/>
        </p:nvSpPr>
        <p:spPr>
          <a:xfrm>
            <a:off x="1947672" y="182879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3218688" y="262432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3218688" y="262432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584448" y="19293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584448" y="19293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9" name="지도 컨트롤"/>
          <p:cNvSpPr/>
          <p:nvPr/>
        </p:nvSpPr>
        <p:spPr>
          <a:xfrm>
            <a:off x="3584448" y="227685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컨트롤 라벨"/>
          <p:cNvSpPr txBox="1"/>
          <p:nvPr/>
        </p:nvSpPr>
        <p:spPr>
          <a:xfrm>
            <a:off x="3584448" y="227685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1" name="지도 안내"/>
          <p:cNvSpPr txBox="1"/>
          <p:nvPr/>
        </p:nvSpPr>
        <p:spPr>
          <a:xfrm>
            <a:off x="5376672" y="330555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72" name="지도 컨트롤"/>
          <p:cNvSpPr/>
          <p:nvPr/>
        </p:nvSpPr>
        <p:spPr>
          <a:xfrm>
            <a:off x="6647688" y="55778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지도 컨트롤 라벨"/>
          <p:cNvSpPr txBox="1"/>
          <p:nvPr/>
        </p:nvSpPr>
        <p:spPr>
          <a:xfrm>
            <a:off x="6647688" y="55778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74" name="지도 컨트롤"/>
          <p:cNvSpPr/>
          <p:nvPr/>
        </p:nvSpPr>
        <p:spPr>
          <a:xfrm>
            <a:off x="7013448" y="48828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지도 컨트롤 라벨"/>
          <p:cNvSpPr txBox="1"/>
          <p:nvPr/>
        </p:nvSpPr>
        <p:spPr>
          <a:xfrm>
            <a:off x="7013448" y="48828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76" name="지도 컨트롤"/>
          <p:cNvSpPr/>
          <p:nvPr/>
        </p:nvSpPr>
        <p:spPr>
          <a:xfrm>
            <a:off x="7013448" y="52303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지도 컨트롤 라벨"/>
          <p:cNvSpPr txBox="1"/>
          <p:nvPr/>
        </p:nvSpPr>
        <p:spPr>
          <a:xfrm>
            <a:off x="7013448" y="52303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70432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3913632" y="1993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2359152" y="30449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70432" y="3355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1170432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3" name="숫자배지 6"/>
          <p:cNvSpPr/>
          <p:nvPr/>
        </p:nvSpPr>
        <p:spPr>
          <a:xfrm>
            <a:off x="1170432" y="4764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4" name="숫자배지 7"/>
          <p:cNvSpPr/>
          <p:nvPr/>
        </p:nvSpPr>
        <p:spPr>
          <a:xfrm>
            <a:off x="3959352" y="4983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5" name="숫자배지 8"/>
          <p:cNvSpPr/>
          <p:nvPr/>
        </p:nvSpPr>
        <p:spPr>
          <a:xfrm>
            <a:off x="1170432" y="51206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6" name="숫자배지 9"/>
          <p:cNvSpPr/>
          <p:nvPr/>
        </p:nvSpPr>
        <p:spPr>
          <a:xfrm>
            <a:off x="3831336" y="52303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7" name="숫자배지 10"/>
          <p:cNvSpPr/>
          <p:nvPr/>
        </p:nvSpPr>
        <p:spPr>
          <a:xfrm>
            <a:off x="1170432" y="60350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72422559"/>
      </p:ext>
    </p:extLst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8629192" y="1447800"/>
          <a:ext cx="2972713" cy="418937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접근성 설비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라벨 + 값 텍스트 병기 — 아이콘 단독 금지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조사되지 않은 정보는 「미조사」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「없음」과 「미조사」를 다른 문자열로 구분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실시간 버스정보 · 갱신 시각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 오른쪽에 「HH:MM 기준」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서버가 내리는 갱신 시각을 그대로 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10초마다 자동 갱신 — 자동 갱신은 따로 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저상버스만 표시 토글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Default 켜짐 · 켜짐 / 꺼짐을 텍스트로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끄면 일반 버스도 함께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노선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 배지 + 노선번호 + 방면 + 도착 최대 2건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자체가 2-5-1 노선 상세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정렬은 도착 임박순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없는 노선 · 연계 실패 노선은 뒤로 보내되 빼지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1324533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map"/>
          <p:cNvSpPr/>
          <p:nvPr/>
        </p:nvSpPr>
        <p:spPr>
          <a:xfrm>
            <a:off x="1324966" y="1194206"/>
            <a:ext cx="2707538" cy="1920240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13" name="back"/>
          <p:cNvSpPr/>
          <p:nvPr/>
        </p:nvSpPr>
        <p:spPr>
          <a:xfrm>
            <a:off x="1378001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1476933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1476933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1321045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2560127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1502939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1519270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0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1572820" y="3959352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능동 246-2</a:t>
            </a:r>
          </a:p>
        </p:txBody>
      </p:sp>
      <p:sp>
        <p:nvSpPr>
          <p:cNvPr id="21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1519270" y="4764024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1519270" y="5155042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3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1873087" y="5118753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24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1519270" y="5318342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5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2290410" y="51368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26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2290410" y="53001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27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1519270" y="5626798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28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1873087" y="5590509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29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1519270" y="5790098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0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2290410" y="5608653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31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1589655" y="4160520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32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1625944" y="4398264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33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1771100" y="4398264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34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1625944" y="4599432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35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1771100" y="4599432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36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2654503" y="4983480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37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3616250" y="4988052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8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3752333" y="5001768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9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1456836" y="5105457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1456836" y="5512290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refresh-bg"/>
          <p:cNvSpPr/>
          <p:nvPr/>
        </p:nvSpPr>
        <p:spPr>
          <a:xfrm>
            <a:off x="3639312" y="5440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pic>
        <p:nvPicPr>
          <p:cNvPr id="42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5504688"/>
            <a:ext cx="143437" cy="150267"/>
          </a:xfrm>
          <a:prstGeom prst="rect">
            <a:avLst/>
          </a:prstGeom>
        </p:spPr>
      </p:pic>
      <p:sp>
        <p:nvSpPr>
          <p:cNvPr id="43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</a:t>
            </a:r>
          </a:p>
        </p:txBody>
      </p:sp>
      <p:sp>
        <p:nvSpPr>
          <p:cNvPr id="44" name="페이지명"/>
          <p:cNvSpPr txBox="1"/>
          <p:nvPr/>
        </p:nvSpPr>
        <p:spPr>
          <a:xfrm>
            <a:off x="911733" y="228600"/>
            <a:ext cx="1600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 정보</a:t>
            </a:r>
          </a:p>
        </p:txBody>
      </p:sp>
      <p:sp>
        <p:nvSpPr>
          <p:cNvPr id="45" name="부제"/>
          <p:cNvSpPr txBox="1"/>
          <p:nvPr/>
        </p:nvSpPr>
        <p:spPr>
          <a:xfrm>
            <a:off x="237744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(2/3)</a:t>
            </a:r>
          </a:p>
        </p:txBody>
      </p:sp>
      <p:sp>
        <p:nvSpPr>
          <p:cNvPr id="46" name="t"/>
          <p:cNvSpPr txBox="1"/>
          <p:nvPr/>
        </p:nvSpPr>
        <p:spPr>
          <a:xfrm>
            <a:off x="1518818" y="3803904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능동우편취급국 방면 · 350m</a:t>
            </a:r>
          </a:p>
        </p:txBody>
      </p:sp>
      <p:sp>
        <p:nvSpPr>
          <p:cNvPr id="47" name="t"/>
          <p:cNvSpPr txBox="1"/>
          <p:nvPr/>
        </p:nvSpPr>
        <p:spPr>
          <a:xfrm>
            <a:off x="2103120" y="4786884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1376172" y="594360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9" name="t"/>
          <p:cNvSpPr txBox="1"/>
          <p:nvPr/>
        </p:nvSpPr>
        <p:spPr>
          <a:xfrm>
            <a:off x="1426464" y="6035040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50" name="role"/>
          <p:cNvSpPr/>
          <p:nvPr/>
        </p:nvSpPr>
        <p:spPr>
          <a:xfrm>
            <a:off x="1737360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737360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52" name="role"/>
          <p:cNvSpPr/>
          <p:nvPr/>
        </p:nvSpPr>
        <p:spPr>
          <a:xfrm>
            <a:off x="2871216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2871216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54" name="t"/>
          <p:cNvSpPr txBox="1"/>
          <p:nvPr/>
        </p:nvSpPr>
        <p:spPr>
          <a:xfrm>
            <a:off x="1324966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기본 — 시트 최대</a:t>
            </a:r>
          </a:p>
        </p:txBody>
      </p:sp>
      <p:sp>
        <p:nvSpPr>
          <p:cNvPr id="55" name="목업 프레임 3"/>
          <p:cNvSpPr/>
          <p:nvPr/>
        </p:nvSpPr>
        <p:spPr>
          <a:xfrm>
            <a:off x="4754880" y="1194206"/>
            <a:ext cx="2707538" cy="5107838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map2"/>
          <p:cNvSpPr/>
          <p:nvPr/>
        </p:nvSpPr>
        <p:spPr>
          <a:xfrm>
            <a:off x="4754880" y="1194206"/>
            <a:ext cx="2707538" cy="4767682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57" name="back2"/>
          <p:cNvSpPr/>
          <p:nvPr/>
        </p:nvSpPr>
        <p:spPr>
          <a:xfrm>
            <a:off x="4807915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58" name="뒤로가기"/>
          <p:cNvCxnSpPr/>
          <p:nvPr/>
        </p:nvCxnSpPr>
        <p:spPr>
          <a:xfrm flipH="1">
            <a:off x="4906670" y="13761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906670" y="14228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heet-min"/>
          <p:cNvSpPr/>
          <p:nvPr/>
        </p:nvSpPr>
        <p:spPr>
          <a:xfrm>
            <a:off x="4751222" y="5961888"/>
            <a:ext cx="2714854" cy="340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61" name="ln"/>
          <p:cNvCxnSpPr/>
          <p:nvPr/>
        </p:nvCxnSpPr>
        <p:spPr>
          <a:xfrm>
            <a:off x="5943600" y="6053328"/>
            <a:ext cx="349301" cy="0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4754880" y="6144768"/>
            <a:ext cx="270753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군자역6번출구</a:t>
            </a:r>
          </a:p>
        </p:txBody>
      </p:sp>
      <p:sp>
        <p:nvSpPr>
          <p:cNvPr id="63" name="t"/>
          <p:cNvSpPr txBox="1"/>
          <p:nvPr/>
        </p:nvSpPr>
        <p:spPr>
          <a:xfrm>
            <a:off x="4754880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시트 최소 — 손잡이 누르기 토글</a:t>
            </a:r>
          </a:p>
        </p:txBody>
      </p:sp>
      <p:sp>
        <p:nvSpPr>
          <p:cNvPr id="64" name="지도 안내"/>
          <p:cNvSpPr txBox="1"/>
          <p:nvPr/>
        </p:nvSpPr>
        <p:spPr>
          <a:xfrm>
            <a:off x="1947672" y="182879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3218688" y="262432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3218688" y="262432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584448" y="19293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584448" y="19293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9" name="지도 컨트롤"/>
          <p:cNvSpPr/>
          <p:nvPr/>
        </p:nvSpPr>
        <p:spPr>
          <a:xfrm>
            <a:off x="3584448" y="227685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컨트롤 라벨"/>
          <p:cNvSpPr txBox="1"/>
          <p:nvPr/>
        </p:nvSpPr>
        <p:spPr>
          <a:xfrm>
            <a:off x="3584448" y="227685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1" name="지도 안내"/>
          <p:cNvSpPr txBox="1"/>
          <p:nvPr/>
        </p:nvSpPr>
        <p:spPr>
          <a:xfrm>
            <a:off x="5376672" y="330555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72" name="지도 컨트롤"/>
          <p:cNvSpPr/>
          <p:nvPr/>
        </p:nvSpPr>
        <p:spPr>
          <a:xfrm>
            <a:off x="6647688" y="55778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지도 컨트롤 라벨"/>
          <p:cNvSpPr txBox="1"/>
          <p:nvPr/>
        </p:nvSpPr>
        <p:spPr>
          <a:xfrm>
            <a:off x="6647688" y="55778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74" name="지도 컨트롤"/>
          <p:cNvSpPr/>
          <p:nvPr/>
        </p:nvSpPr>
        <p:spPr>
          <a:xfrm>
            <a:off x="7013448" y="48828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지도 컨트롤 라벨"/>
          <p:cNvSpPr txBox="1"/>
          <p:nvPr/>
        </p:nvSpPr>
        <p:spPr>
          <a:xfrm>
            <a:off x="7013448" y="48828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76" name="지도 컨트롤"/>
          <p:cNvSpPr/>
          <p:nvPr/>
        </p:nvSpPr>
        <p:spPr>
          <a:xfrm>
            <a:off x="7013448" y="52303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지도 컨트롤 라벨"/>
          <p:cNvSpPr txBox="1"/>
          <p:nvPr/>
        </p:nvSpPr>
        <p:spPr>
          <a:xfrm>
            <a:off x="7013448" y="52303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70432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3913632" y="1993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2359152" y="30449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70432" y="3355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1170432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3" name="숫자배지 6"/>
          <p:cNvSpPr/>
          <p:nvPr/>
        </p:nvSpPr>
        <p:spPr>
          <a:xfrm>
            <a:off x="1170432" y="4764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4" name="숫자배지 7"/>
          <p:cNvSpPr/>
          <p:nvPr/>
        </p:nvSpPr>
        <p:spPr>
          <a:xfrm>
            <a:off x="3959352" y="4983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5" name="숫자배지 8"/>
          <p:cNvSpPr/>
          <p:nvPr/>
        </p:nvSpPr>
        <p:spPr>
          <a:xfrm>
            <a:off x="1170432" y="51206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6" name="숫자배지 9"/>
          <p:cNvSpPr/>
          <p:nvPr/>
        </p:nvSpPr>
        <p:spPr>
          <a:xfrm>
            <a:off x="3831336" y="52303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7" name="숫자배지 10"/>
          <p:cNvSpPr/>
          <p:nvPr/>
        </p:nvSpPr>
        <p:spPr>
          <a:xfrm>
            <a:off x="1170432" y="60350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바탕">
            <a:extLst>
              <a:ext uri="{FF2B5EF4-FFF2-40B4-BE49-F238E27FC236}">
                <a16:creationId xmlns:a16="http://schemas.microsoft.com/office/drawing/2014/main" id="{224F864F-0C00-A6B4-FF2A-27E18E12BB0D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헤더 구분선">
            <a:extLst>
              <a:ext uri="{FF2B5EF4-FFF2-40B4-BE49-F238E27FC236}">
                <a16:creationId xmlns:a16="http://schemas.microsoft.com/office/drawing/2014/main" id="{7E58B02A-BA74-0E50-6E51-103A4705B14D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버전 라벨">
            <a:extLst>
              <a:ext uri="{FF2B5EF4-FFF2-40B4-BE49-F238E27FC236}">
                <a16:creationId xmlns:a16="http://schemas.microsoft.com/office/drawing/2014/main" id="{B360A57F-7C63-8CBC-6056-A337979E5850}"/>
              </a:ext>
            </a:extLst>
          </p:cNvPr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" name="Description 패널">
            <a:extLst>
              <a:ext uri="{FF2B5EF4-FFF2-40B4-BE49-F238E27FC236}">
                <a16:creationId xmlns:a16="http://schemas.microsoft.com/office/drawing/2014/main" id="{ABE28337-29F1-05D8-8F37-36D12FD2D5BA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제목">
            <a:extLst>
              <a:ext uri="{FF2B5EF4-FFF2-40B4-BE49-F238E27FC236}">
                <a16:creationId xmlns:a16="http://schemas.microsoft.com/office/drawing/2014/main" id="{E127E76E-4213-23F5-A9E9-14D06E6F5269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9" name="Description 밑줄">
            <a:extLst>
              <a:ext uri="{FF2B5EF4-FFF2-40B4-BE49-F238E27FC236}">
                <a16:creationId xmlns:a16="http://schemas.microsoft.com/office/drawing/2014/main" id="{B72AC467-ECDB-716B-643F-8A8927968538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0" name="Description 표">
            <a:extLst>
              <a:ext uri="{FF2B5EF4-FFF2-40B4-BE49-F238E27FC236}">
                <a16:creationId xmlns:a16="http://schemas.microsoft.com/office/drawing/2014/main" id="{D19CA44B-B944-D523-4A66-BD50A2C0B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219211"/>
              </p:ext>
            </p:extLst>
          </p:nvPr>
        </p:nvGraphicFramePr>
        <p:xfrm>
          <a:off x="8629192" y="1447800"/>
          <a:ext cx="2972713" cy="231109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[새로고침] — 플로팅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안 목록 위에 떠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시각 기준으로 도착 정보 갱신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갱신 뒤 결과를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· 역할 지정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고정 줄 — 노선 목록과 함께 스크롤되지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「출발」 / 「도착」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☆는 이 줄 왼쪽 한 자리뿐 — 검색 결과 행에는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목업 프레임 3">
            <a:extLst>
              <a:ext uri="{FF2B5EF4-FFF2-40B4-BE49-F238E27FC236}">
                <a16:creationId xmlns:a16="http://schemas.microsoft.com/office/drawing/2014/main" id="{CC8FE495-53E2-6F9F-4607-AC716548EA9C}"/>
              </a:ext>
            </a:extLst>
          </p:cNvPr>
          <p:cNvSpPr/>
          <p:nvPr/>
        </p:nvSpPr>
        <p:spPr>
          <a:xfrm>
            <a:off x="1324533" y="1194363"/>
            <a:ext cx="2707651" cy="5107665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map"/>
          <p:cNvSpPr/>
          <p:nvPr/>
        </p:nvSpPr>
        <p:spPr>
          <a:xfrm>
            <a:off x="1324966" y="1194206"/>
            <a:ext cx="2707538" cy="1920240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13" name="back"/>
          <p:cNvSpPr/>
          <p:nvPr/>
        </p:nvSpPr>
        <p:spPr>
          <a:xfrm>
            <a:off x="1378001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B8A28422-5DF9-D4FF-01B4-30E2D998113D}"/>
              </a:ext>
            </a:extLst>
          </p:cNvPr>
          <p:cNvCxnSpPr/>
          <p:nvPr/>
        </p:nvCxnSpPr>
        <p:spPr>
          <a:xfrm flipH="1">
            <a:off x="1476933" y="137571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BC3C9400-337C-C919-F6CD-4EDD95BB7C4C}"/>
              </a:ext>
            </a:extLst>
          </p:cNvPr>
          <p:cNvCxnSpPr/>
          <p:nvPr/>
        </p:nvCxnSpPr>
        <p:spPr>
          <a:xfrm flipH="1" flipV="1">
            <a:off x="1476933" y="1422963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바텀시트">
            <a:extLst>
              <a:ext uri="{FF2B5EF4-FFF2-40B4-BE49-F238E27FC236}">
                <a16:creationId xmlns:a16="http://schemas.microsoft.com/office/drawing/2014/main" id="{0B0814BC-A471-6D46-49CF-F8BE8FCC06DC}"/>
              </a:ext>
            </a:extLst>
          </p:cNvPr>
          <p:cNvSpPr/>
          <p:nvPr/>
        </p:nvSpPr>
        <p:spPr>
          <a:xfrm>
            <a:off x="1321045" y="3009477"/>
            <a:ext cx="2714625" cy="328881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직선 연결선 58">
            <a:extLst>
              <a:ext uri="{FF2B5EF4-FFF2-40B4-BE49-F238E27FC236}">
                <a16:creationId xmlns:a16="http://schemas.microsoft.com/office/drawing/2014/main" id="{22C8DA97-1A7D-A67E-68F3-7D773D0B654C}"/>
              </a:ext>
            </a:extLst>
          </p:cNvPr>
          <p:cNvCxnSpPr/>
          <p:nvPr/>
        </p:nvCxnSpPr>
        <p:spPr>
          <a:xfrm>
            <a:off x="2560127" y="3199372"/>
            <a:ext cx="349516" cy="0"/>
          </a:xfrm>
          <a:prstGeom prst="line">
            <a:avLst/>
          </a:prstGeom>
          <a:ln w="27102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5">
            <a:extLst>
              <a:ext uri="{FF2B5EF4-FFF2-40B4-BE49-F238E27FC236}">
                <a16:creationId xmlns:a16="http://schemas.microsoft.com/office/drawing/2014/main" id="{10F9A453-7E04-8FA3-0C19-2D1AF42BAC2D}"/>
              </a:ext>
            </a:extLst>
          </p:cNvPr>
          <p:cNvSpPr/>
          <p:nvPr/>
        </p:nvSpPr>
        <p:spPr>
          <a:xfrm>
            <a:off x="1502939" y="3355806"/>
            <a:ext cx="1654746" cy="2279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68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716EE964-6EE6-51E8-7D87-6F246C3C81E9}"/>
              </a:ext>
            </a:extLst>
          </p:cNvPr>
          <p:cNvSpPr/>
          <p:nvPr/>
        </p:nvSpPr>
        <p:spPr>
          <a:xfrm>
            <a:off x="1519270" y="3614405"/>
            <a:ext cx="2273536" cy="17371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44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0" name="TextBox 43">
            <a:extLst>
              <a:ext uri="{FF2B5EF4-FFF2-40B4-BE49-F238E27FC236}">
                <a16:creationId xmlns:a16="http://schemas.microsoft.com/office/drawing/2014/main" id="{0A1038E9-A9A6-048A-3056-DDF43EB98135}"/>
              </a:ext>
            </a:extLst>
          </p:cNvPr>
          <p:cNvSpPr/>
          <p:nvPr/>
        </p:nvSpPr>
        <p:spPr>
          <a:xfrm>
            <a:off x="1572820" y="3959352"/>
            <a:ext cx="2322491" cy="11101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44" b="0">
                <a:solidFill>
                  <a:srgbClr val="767676"/>
                </a:solidFill>
                <a:latin typeface="Pretendard"/>
              </a:rPr>
              <a:t>서울특별시 광진구 능동 246-2</a:t>
            </a:r>
          </a:p>
        </p:txBody>
      </p:sp>
      <p:sp>
        <p:nvSpPr>
          <p:cNvPr id="21" name="섹션 실시간">
            <a:extLst>
              <a:ext uri="{FF2B5EF4-FFF2-40B4-BE49-F238E27FC236}">
                <a16:creationId xmlns:a16="http://schemas.microsoft.com/office/drawing/2014/main" id="{785DC66A-B359-A4F7-533A-CCBBEDB24870}"/>
              </a:ext>
            </a:extLst>
          </p:cNvPr>
          <p:cNvSpPr/>
          <p:nvPr/>
        </p:nvSpPr>
        <p:spPr>
          <a:xfrm>
            <a:off x="1519270" y="4764024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73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73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73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2" name="노선1 유형배지">
            <a:extLst>
              <a:ext uri="{FF2B5EF4-FFF2-40B4-BE49-F238E27FC236}">
                <a16:creationId xmlns:a16="http://schemas.microsoft.com/office/drawing/2014/main" id="{98BC2AAB-E85F-9962-C59C-6370B47BAB02}"/>
              </a:ext>
            </a:extLst>
          </p:cNvPr>
          <p:cNvSpPr/>
          <p:nvPr/>
        </p:nvSpPr>
        <p:spPr>
          <a:xfrm>
            <a:off x="1519270" y="5155042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3" name="노선1 번호">
            <a:extLst>
              <a:ext uri="{FF2B5EF4-FFF2-40B4-BE49-F238E27FC236}">
                <a16:creationId xmlns:a16="http://schemas.microsoft.com/office/drawing/2014/main" id="{7A4F606E-8E28-E39A-7273-C9F84022B63D}"/>
              </a:ext>
            </a:extLst>
          </p:cNvPr>
          <p:cNvSpPr/>
          <p:nvPr/>
        </p:nvSpPr>
        <p:spPr>
          <a:xfrm>
            <a:off x="1873087" y="5118753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24" name="노선1 방면">
            <a:extLst>
              <a:ext uri="{FF2B5EF4-FFF2-40B4-BE49-F238E27FC236}">
                <a16:creationId xmlns:a16="http://schemas.microsoft.com/office/drawing/2014/main" id="{F2678214-85C0-A518-FB32-BBC55C5D4260}"/>
              </a:ext>
            </a:extLst>
          </p:cNvPr>
          <p:cNvSpPr/>
          <p:nvPr/>
        </p:nvSpPr>
        <p:spPr>
          <a:xfrm>
            <a:off x="1519270" y="5318342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25" name="노선1 도착1">
            <a:extLst>
              <a:ext uri="{FF2B5EF4-FFF2-40B4-BE49-F238E27FC236}">
                <a16:creationId xmlns:a16="http://schemas.microsoft.com/office/drawing/2014/main" id="{9570E743-28F0-2E5F-0EA4-D3EF0E9F880E}"/>
              </a:ext>
            </a:extLst>
          </p:cNvPr>
          <p:cNvSpPr/>
          <p:nvPr/>
        </p:nvSpPr>
        <p:spPr>
          <a:xfrm>
            <a:off x="2290410" y="51368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26" name="노선1 도착2">
            <a:extLst>
              <a:ext uri="{FF2B5EF4-FFF2-40B4-BE49-F238E27FC236}">
                <a16:creationId xmlns:a16="http://schemas.microsoft.com/office/drawing/2014/main" id="{6DBEAC19-E962-FD02-89BE-5FF84E923771}"/>
              </a:ext>
            </a:extLst>
          </p:cNvPr>
          <p:cNvSpPr/>
          <p:nvPr/>
        </p:nvSpPr>
        <p:spPr>
          <a:xfrm>
            <a:off x="2290410" y="5300197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27" name="노선2 유형배지">
            <a:extLst>
              <a:ext uri="{FF2B5EF4-FFF2-40B4-BE49-F238E27FC236}">
                <a16:creationId xmlns:a16="http://schemas.microsoft.com/office/drawing/2014/main" id="{DA06E7F0-4CF6-9238-8F1F-AE001B453CF7}"/>
              </a:ext>
            </a:extLst>
          </p:cNvPr>
          <p:cNvSpPr/>
          <p:nvPr/>
        </p:nvSpPr>
        <p:spPr>
          <a:xfrm>
            <a:off x="1519270" y="5626798"/>
            <a:ext cx="308456" cy="145156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28" name="노선2 번호">
            <a:extLst>
              <a:ext uri="{FF2B5EF4-FFF2-40B4-BE49-F238E27FC236}">
                <a16:creationId xmlns:a16="http://schemas.microsoft.com/office/drawing/2014/main" id="{4E32499E-A7DD-6A6E-201B-7D57B813284D}"/>
              </a:ext>
            </a:extLst>
          </p:cNvPr>
          <p:cNvSpPr/>
          <p:nvPr/>
        </p:nvSpPr>
        <p:spPr>
          <a:xfrm>
            <a:off x="1873087" y="5590509"/>
            <a:ext cx="635056" cy="18144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43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29" name="노선2 방면">
            <a:extLst>
              <a:ext uri="{FF2B5EF4-FFF2-40B4-BE49-F238E27FC236}">
                <a16:creationId xmlns:a16="http://schemas.microsoft.com/office/drawing/2014/main" id="{1357BD0E-C66E-3185-82C7-08AC77C4D165}"/>
              </a:ext>
            </a:extLst>
          </p:cNvPr>
          <p:cNvSpPr/>
          <p:nvPr/>
        </p:nvSpPr>
        <p:spPr>
          <a:xfrm>
            <a:off x="1519270" y="5790098"/>
            <a:ext cx="834645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15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0" name="노선2 도착1">
            <a:extLst>
              <a:ext uri="{FF2B5EF4-FFF2-40B4-BE49-F238E27FC236}">
                <a16:creationId xmlns:a16="http://schemas.microsoft.com/office/drawing/2014/main" id="{D1D4411F-E090-F9B1-962C-CDB74160C5B6}"/>
              </a:ext>
            </a:extLst>
          </p:cNvPr>
          <p:cNvSpPr/>
          <p:nvPr/>
        </p:nvSpPr>
        <p:spPr>
          <a:xfrm>
            <a:off x="2290410" y="5608653"/>
            <a:ext cx="1315473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54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31" name="섹션 접근성설비">
            <a:extLst>
              <a:ext uri="{FF2B5EF4-FFF2-40B4-BE49-F238E27FC236}">
                <a16:creationId xmlns:a16="http://schemas.microsoft.com/office/drawing/2014/main" id="{86EF21AC-DA4F-0D53-72AC-BBE048EC84E6}"/>
              </a:ext>
            </a:extLst>
          </p:cNvPr>
          <p:cNvSpPr/>
          <p:nvPr/>
        </p:nvSpPr>
        <p:spPr>
          <a:xfrm>
            <a:off x="1589655" y="4160520"/>
            <a:ext cx="1270112" cy="1542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73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32" name="설비1 라벨">
            <a:extLst>
              <a:ext uri="{FF2B5EF4-FFF2-40B4-BE49-F238E27FC236}">
                <a16:creationId xmlns:a16="http://schemas.microsoft.com/office/drawing/2014/main" id="{B354535E-5298-C3B7-A667-894B92E03250}"/>
              </a:ext>
            </a:extLst>
          </p:cNvPr>
          <p:cNvSpPr/>
          <p:nvPr/>
        </p:nvSpPr>
        <p:spPr>
          <a:xfrm>
            <a:off x="1625944" y="4398264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33" name="설비1 값">
            <a:extLst>
              <a:ext uri="{FF2B5EF4-FFF2-40B4-BE49-F238E27FC236}">
                <a16:creationId xmlns:a16="http://schemas.microsoft.com/office/drawing/2014/main" id="{DC9EC45A-0CDA-B4DF-0815-EEFF1A31F46E}"/>
              </a:ext>
            </a:extLst>
          </p:cNvPr>
          <p:cNvSpPr/>
          <p:nvPr/>
        </p:nvSpPr>
        <p:spPr>
          <a:xfrm>
            <a:off x="1771100" y="4398264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34" name="설비2 라벨">
            <a:extLst>
              <a:ext uri="{FF2B5EF4-FFF2-40B4-BE49-F238E27FC236}">
                <a16:creationId xmlns:a16="http://schemas.microsoft.com/office/drawing/2014/main" id="{BF131732-53E1-31B5-C753-A4C3CDE94BDA}"/>
              </a:ext>
            </a:extLst>
          </p:cNvPr>
          <p:cNvSpPr/>
          <p:nvPr/>
        </p:nvSpPr>
        <p:spPr>
          <a:xfrm>
            <a:off x="1625944" y="4599432"/>
            <a:ext cx="10886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94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35" name="설비2 값">
            <a:extLst>
              <a:ext uri="{FF2B5EF4-FFF2-40B4-BE49-F238E27FC236}">
                <a16:creationId xmlns:a16="http://schemas.microsoft.com/office/drawing/2014/main" id="{6AC93C65-E263-D536-9359-94010AA2DBC9}"/>
              </a:ext>
            </a:extLst>
          </p:cNvPr>
          <p:cNvSpPr/>
          <p:nvPr/>
        </p:nvSpPr>
        <p:spPr>
          <a:xfrm>
            <a:off x="1771100" y="4599432"/>
            <a:ext cx="1905168" cy="12701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94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36" name="토글라벨">
            <a:extLst>
              <a:ext uri="{FF2B5EF4-FFF2-40B4-BE49-F238E27FC236}">
                <a16:creationId xmlns:a16="http://schemas.microsoft.com/office/drawing/2014/main" id="{E5591752-E1A8-B01E-C6DE-A58179F77E74}"/>
              </a:ext>
            </a:extLst>
          </p:cNvPr>
          <p:cNvSpPr/>
          <p:nvPr/>
        </p:nvSpPr>
        <p:spPr>
          <a:xfrm>
            <a:off x="2654503" y="4983480"/>
            <a:ext cx="907223" cy="937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15" b="0" dirty="0" err="1">
                <a:solidFill>
                  <a:srgbClr val="767676"/>
                </a:solidFill>
                <a:latin typeface="Pretendard"/>
              </a:rPr>
              <a:t>저상버스만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표시</a:t>
            </a:r>
            <a:r>
              <a:rPr sz="615" b="0" dirty="0">
                <a:solidFill>
                  <a:srgbClr val="767676"/>
                </a:solidFill>
                <a:latin typeface="Pretendard"/>
              </a:rPr>
              <a:t> </a:t>
            </a:r>
            <a:r>
              <a:rPr sz="615" b="0" dirty="0" err="1">
                <a:solidFill>
                  <a:srgbClr val="767676"/>
                </a:solidFill>
                <a:latin typeface="Pretendard"/>
              </a:rPr>
              <a:t>켜짐</a:t>
            </a:r>
            <a:endParaRPr sz="615" b="0" dirty="0">
              <a:solidFill>
                <a:srgbClr val="767676"/>
              </a:solidFill>
              <a:latin typeface="Pretendard"/>
            </a:endParaRPr>
          </a:p>
        </p:txBody>
      </p:sp>
      <p:sp>
        <p:nvSpPr>
          <p:cNvPr id="37" name="토글 ON">
            <a:extLst>
              <a:ext uri="{FF2B5EF4-FFF2-40B4-BE49-F238E27FC236}">
                <a16:creationId xmlns:a16="http://schemas.microsoft.com/office/drawing/2014/main" id="{2819BFBD-33FC-7835-8EE3-C6B19A1B2CED}"/>
              </a:ext>
            </a:extLst>
          </p:cNvPr>
          <p:cNvSpPr/>
          <p:nvPr/>
        </p:nvSpPr>
        <p:spPr>
          <a:xfrm>
            <a:off x="3616250" y="4988052"/>
            <a:ext cx="272167" cy="145156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8" name="토글 knob ON">
            <a:extLst>
              <a:ext uri="{FF2B5EF4-FFF2-40B4-BE49-F238E27FC236}">
                <a16:creationId xmlns:a16="http://schemas.microsoft.com/office/drawing/2014/main" id="{9F875C67-ABB5-A65E-12A8-88CACF9EA65B}"/>
              </a:ext>
            </a:extLst>
          </p:cNvPr>
          <p:cNvSpPr/>
          <p:nvPr/>
        </p:nvSpPr>
        <p:spPr>
          <a:xfrm>
            <a:off x="3752333" y="5001768"/>
            <a:ext cx="117939" cy="11793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9" name="리스트 구분선">
            <a:extLst>
              <a:ext uri="{FF2B5EF4-FFF2-40B4-BE49-F238E27FC236}">
                <a16:creationId xmlns:a16="http://schemas.microsoft.com/office/drawing/2014/main" id="{0F474461-EDDC-2B48-DD86-F816534C05F1}"/>
              </a:ext>
            </a:extLst>
          </p:cNvPr>
          <p:cNvSpPr/>
          <p:nvPr/>
        </p:nvSpPr>
        <p:spPr>
          <a:xfrm>
            <a:off x="1456836" y="5105457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리스트 구분선">
            <a:extLst>
              <a:ext uri="{FF2B5EF4-FFF2-40B4-BE49-F238E27FC236}">
                <a16:creationId xmlns:a16="http://schemas.microsoft.com/office/drawing/2014/main" id="{5CA5B862-8596-9F4D-94F0-96325315A3D8}"/>
              </a:ext>
            </a:extLst>
          </p:cNvPr>
          <p:cNvSpPr/>
          <p:nvPr/>
        </p:nvSpPr>
        <p:spPr>
          <a:xfrm>
            <a:off x="1456836" y="5512290"/>
            <a:ext cx="244304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refresh-bg"/>
          <p:cNvSpPr/>
          <p:nvPr/>
        </p:nvSpPr>
        <p:spPr>
          <a:xfrm>
            <a:off x="3639312" y="5440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pic>
        <p:nvPicPr>
          <p:cNvPr id="42" name="그림 89">
            <a:extLst>
              <a:ext uri="{FF2B5EF4-FFF2-40B4-BE49-F238E27FC236}">
                <a16:creationId xmlns:a16="http://schemas.microsoft.com/office/drawing/2014/main" id="{724F7B20-03ED-67D9-A6AB-1C28642F1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5504688"/>
            <a:ext cx="143437" cy="150267"/>
          </a:xfrm>
          <a:prstGeom prst="rect">
            <a:avLst/>
          </a:prstGeom>
        </p:spPr>
      </p:pic>
      <p:sp>
        <p:nvSpPr>
          <p:cNvPr id="43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</a:t>
            </a:r>
          </a:p>
        </p:txBody>
      </p:sp>
      <p:sp>
        <p:nvSpPr>
          <p:cNvPr id="44" name="페이지명"/>
          <p:cNvSpPr txBox="1"/>
          <p:nvPr/>
        </p:nvSpPr>
        <p:spPr>
          <a:xfrm>
            <a:off x="911733" y="228600"/>
            <a:ext cx="1600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 정보</a:t>
            </a:r>
          </a:p>
        </p:txBody>
      </p:sp>
      <p:sp>
        <p:nvSpPr>
          <p:cNvPr id="45" name="부제"/>
          <p:cNvSpPr txBox="1"/>
          <p:nvPr/>
        </p:nvSpPr>
        <p:spPr>
          <a:xfrm>
            <a:off x="237744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(3/3)</a:t>
            </a:r>
          </a:p>
        </p:txBody>
      </p:sp>
      <p:sp>
        <p:nvSpPr>
          <p:cNvPr id="46" name="t"/>
          <p:cNvSpPr txBox="1"/>
          <p:nvPr/>
        </p:nvSpPr>
        <p:spPr>
          <a:xfrm>
            <a:off x="1518818" y="3803904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능동우편취급국 방면 · 350m</a:t>
            </a:r>
          </a:p>
        </p:txBody>
      </p:sp>
      <p:sp>
        <p:nvSpPr>
          <p:cNvPr id="47" name="t"/>
          <p:cNvSpPr txBox="1"/>
          <p:nvPr/>
        </p:nvSpPr>
        <p:spPr>
          <a:xfrm>
            <a:off x="2103120" y="4786884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06:42 기준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1376172" y="594360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9" name="t"/>
          <p:cNvSpPr txBox="1"/>
          <p:nvPr/>
        </p:nvSpPr>
        <p:spPr>
          <a:xfrm>
            <a:off x="1426464" y="6035040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50" name="role"/>
          <p:cNvSpPr/>
          <p:nvPr/>
        </p:nvSpPr>
        <p:spPr>
          <a:xfrm>
            <a:off x="1737360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737360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52" name="role"/>
          <p:cNvSpPr/>
          <p:nvPr/>
        </p:nvSpPr>
        <p:spPr>
          <a:xfrm>
            <a:off x="2871216" y="600760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3" name="t"/>
          <p:cNvSpPr txBox="1"/>
          <p:nvPr/>
        </p:nvSpPr>
        <p:spPr>
          <a:xfrm>
            <a:off x="2871216" y="6067044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54" name="t"/>
          <p:cNvSpPr txBox="1"/>
          <p:nvPr/>
        </p:nvSpPr>
        <p:spPr>
          <a:xfrm>
            <a:off x="1324966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기본 — 시트 최대</a:t>
            </a:r>
          </a:p>
        </p:txBody>
      </p:sp>
      <p:sp>
        <p:nvSpPr>
          <p:cNvPr id="55" name="목업 프레임 3"/>
          <p:cNvSpPr/>
          <p:nvPr/>
        </p:nvSpPr>
        <p:spPr>
          <a:xfrm>
            <a:off x="4754880" y="1194206"/>
            <a:ext cx="2707538" cy="5107838"/>
          </a:xfrm>
          <a:prstGeom prst="roundRect">
            <a:avLst>
              <a:gd name="adj" fmla="val 633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map2"/>
          <p:cNvSpPr/>
          <p:nvPr/>
        </p:nvSpPr>
        <p:spPr>
          <a:xfrm>
            <a:off x="4754880" y="1194206"/>
            <a:ext cx="2707538" cy="4767682"/>
          </a:xfrm>
          <a:prstGeom prst="rect">
            <a:avLst/>
          </a:prstGeom>
          <a:solidFill>
            <a:srgbClr val="F2F4F7"/>
          </a:solidFill>
          <a:ln w="9525">
            <a:noFill/>
          </a:ln>
        </p:spPr>
        <p:txBody>
          <a:bodyPr/>
          <a:lstStyle/>
          <a:p/>
        </p:txBody>
      </p:sp>
      <p:sp>
        <p:nvSpPr>
          <p:cNvPr id="57" name="back2"/>
          <p:cNvSpPr/>
          <p:nvPr/>
        </p:nvSpPr>
        <p:spPr>
          <a:xfrm>
            <a:off x="4807915" y="128564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58" name="뒤로가기"/>
          <p:cNvCxnSpPr/>
          <p:nvPr/>
        </p:nvCxnSpPr>
        <p:spPr>
          <a:xfrm flipH="1">
            <a:off x="4906670" y="13761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906670" y="14228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heet-min"/>
          <p:cNvSpPr/>
          <p:nvPr/>
        </p:nvSpPr>
        <p:spPr>
          <a:xfrm>
            <a:off x="4751222" y="5961888"/>
            <a:ext cx="2714854" cy="3401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cxnSp>
        <p:nvCxnSpPr>
          <p:cNvPr id="61" name="ln"/>
          <p:cNvCxnSpPr/>
          <p:nvPr/>
        </p:nvCxnSpPr>
        <p:spPr>
          <a:xfrm>
            <a:off x="5943600" y="6053328"/>
            <a:ext cx="349301" cy="0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4754880" y="6144768"/>
            <a:ext cx="270753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군자역6번출구</a:t>
            </a:r>
          </a:p>
        </p:txBody>
      </p:sp>
      <p:sp>
        <p:nvSpPr>
          <p:cNvPr id="63" name="t"/>
          <p:cNvSpPr txBox="1"/>
          <p:nvPr/>
        </p:nvSpPr>
        <p:spPr>
          <a:xfrm>
            <a:off x="4754880" y="1005840"/>
            <a:ext cx="270753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시트 최소 — 손잡이 누르기 토글</a:t>
            </a:r>
          </a:p>
        </p:txBody>
      </p:sp>
      <p:sp>
        <p:nvSpPr>
          <p:cNvPr id="64" name="지도 안내"/>
          <p:cNvSpPr txBox="1"/>
          <p:nvPr/>
        </p:nvSpPr>
        <p:spPr>
          <a:xfrm>
            <a:off x="1947672" y="1828799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65" name="지도 컨트롤"/>
          <p:cNvSpPr/>
          <p:nvPr/>
        </p:nvSpPr>
        <p:spPr>
          <a:xfrm>
            <a:off x="3218688" y="2624328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지도 컨트롤 라벨"/>
          <p:cNvSpPr txBox="1"/>
          <p:nvPr/>
        </p:nvSpPr>
        <p:spPr>
          <a:xfrm>
            <a:off x="3218688" y="2624328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67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584448" y="19293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584448" y="19293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69" name="지도 컨트롤"/>
          <p:cNvSpPr/>
          <p:nvPr/>
        </p:nvSpPr>
        <p:spPr>
          <a:xfrm>
            <a:off x="3584448" y="227685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0" name="지도 컨트롤 라벨"/>
          <p:cNvSpPr txBox="1"/>
          <p:nvPr/>
        </p:nvSpPr>
        <p:spPr>
          <a:xfrm>
            <a:off x="3584448" y="227685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1" name="지도 안내"/>
          <p:cNvSpPr txBox="1"/>
          <p:nvPr/>
        </p:nvSpPr>
        <p:spPr>
          <a:xfrm>
            <a:off x="5376672" y="3305556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검색 정류장 1개만 핀 표출</a:t>
            </a:r>
          </a:p>
        </p:txBody>
      </p:sp>
      <p:sp>
        <p:nvSpPr>
          <p:cNvPr id="72" name="지도 컨트롤"/>
          <p:cNvSpPr/>
          <p:nvPr/>
        </p:nvSpPr>
        <p:spPr>
          <a:xfrm>
            <a:off x="6647688" y="5577840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지도 컨트롤 라벨"/>
          <p:cNvSpPr txBox="1"/>
          <p:nvPr/>
        </p:nvSpPr>
        <p:spPr>
          <a:xfrm>
            <a:off x="6647688" y="5577840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74" name="지도 컨트롤"/>
          <p:cNvSpPr/>
          <p:nvPr/>
        </p:nvSpPr>
        <p:spPr>
          <a:xfrm>
            <a:off x="7013448" y="4882896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지도 컨트롤 라벨"/>
          <p:cNvSpPr txBox="1"/>
          <p:nvPr/>
        </p:nvSpPr>
        <p:spPr>
          <a:xfrm>
            <a:off x="7013448" y="4882896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76" name="지도 컨트롤"/>
          <p:cNvSpPr/>
          <p:nvPr/>
        </p:nvSpPr>
        <p:spPr>
          <a:xfrm>
            <a:off x="7013448" y="523036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지도 컨트롤 라벨"/>
          <p:cNvSpPr txBox="1"/>
          <p:nvPr/>
        </p:nvSpPr>
        <p:spPr>
          <a:xfrm>
            <a:off x="7013448" y="523036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70432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3913632" y="19933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2359152" y="30449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70432" y="3355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1170432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3" name="숫자배지 6"/>
          <p:cNvSpPr/>
          <p:nvPr/>
        </p:nvSpPr>
        <p:spPr>
          <a:xfrm>
            <a:off x="1170432" y="4764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4" name="숫자배지 7"/>
          <p:cNvSpPr/>
          <p:nvPr/>
        </p:nvSpPr>
        <p:spPr>
          <a:xfrm>
            <a:off x="3959352" y="49834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5" name="숫자배지 8"/>
          <p:cNvSpPr/>
          <p:nvPr/>
        </p:nvSpPr>
        <p:spPr>
          <a:xfrm>
            <a:off x="1170432" y="51206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6" name="숫자배지 9"/>
          <p:cNvSpPr/>
          <p:nvPr/>
        </p:nvSpPr>
        <p:spPr>
          <a:xfrm>
            <a:off x="3831336" y="52303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7" name="숫자배지 10"/>
          <p:cNvSpPr/>
          <p:nvPr/>
        </p:nvSpPr>
        <p:spPr>
          <a:xfrm>
            <a:off x="1170432" y="60350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6002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버스정류장 정보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37744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저상버스만 표시 OFF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바텀시트"/>
          <p:cNvSpPr/>
          <p:nvPr/>
        </p:nvSpPr>
        <p:spPr>
          <a:xfrm>
            <a:off x="2976562" y="1666875"/>
            <a:ext cx="2714625" cy="465772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2" name="시트 손잡이"/>
          <p:cNvSpPr/>
          <p:nvPr/>
        </p:nvSpPr>
        <p:spPr>
          <a:xfrm>
            <a:off x="4162425" y="1784565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2976562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4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2BAA8424-8611-A8BB-5767-7153271E327B}"/>
              </a:ext>
            </a:extLst>
          </p:cNvPr>
          <p:cNvSpPr/>
          <p:nvPr/>
        </p:nvSpPr>
        <p:spPr>
          <a:xfrm>
            <a:off x="3149204" y="1941352"/>
            <a:ext cx="1667837" cy="229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6" b="1" dirty="0">
                <a:solidFill>
                  <a:srgbClr val="14181F"/>
                </a:solidFill>
                <a:latin typeface="Pretendard"/>
              </a:rPr>
              <a:t>군자역6번출구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997557B7-CD72-C616-C188-060D11E0FB10}"/>
              </a:ext>
            </a:extLst>
          </p:cNvPr>
          <p:cNvSpPr/>
          <p:nvPr/>
        </p:nvSpPr>
        <p:spPr>
          <a:xfrm>
            <a:off x="3165664" y="2201996"/>
            <a:ext cx="2291522" cy="1750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339" tIns="37169" rIns="74339" bIns="37169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650">
                <a:solidFill>
                  <a:srgbClr val="14181F"/>
                </a:solidFill>
                <a:latin typeface="Pretendard"/>
              </a:rPr>
              <a:t>051414</a:t>
            </a:r>
          </a:p>
        </p:txBody>
      </p:sp>
      <p:sp>
        <p:nvSpPr>
          <p:cNvPr id="21" name="TextBox 101">
            <a:extLst>
              <a:ext uri="{FF2B5EF4-FFF2-40B4-BE49-F238E27FC236}">
                <a16:creationId xmlns:a16="http://schemas.microsoft.com/office/drawing/2014/main" id="{F26CE528-9BCC-DAD3-DA2F-079BC318C45D}"/>
              </a:ext>
            </a:extLst>
          </p:cNvPr>
          <p:cNvSpPr/>
          <p:nvPr/>
        </p:nvSpPr>
        <p:spPr>
          <a:xfrm>
            <a:off x="3219637" y="2551176"/>
            <a:ext cx="2340864" cy="11189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dirty="0" err="1">
                <a:solidFill>
                  <a:srgbClr val="767676"/>
                </a:solidFill>
                <a:latin typeface="Pretendard"/>
              </a:rPr>
              <a:t>서울특별시 광진구 능동 246-2</a:t>
            </a:r>
          </a:p>
        </p:txBody>
      </p:sp>
      <p:sp>
        <p:nvSpPr>
          <p:cNvPr id="22" name="섹션 실시간">
            <a:extLst>
              <a:ext uri="{FF2B5EF4-FFF2-40B4-BE49-F238E27FC236}">
                <a16:creationId xmlns:a16="http://schemas.microsoft.com/office/drawing/2014/main" id="{76A3D94B-767B-EC6C-EF03-546A48AE7CCD}"/>
              </a:ext>
            </a:extLst>
          </p:cNvPr>
          <p:cNvSpPr/>
          <p:nvPr/>
        </p:nvSpPr>
        <p:spPr>
          <a:xfrm>
            <a:off x="3165664" y="3599587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 dirty="0" err="1">
                <a:solidFill>
                  <a:srgbClr val="14181F"/>
                </a:solidFill>
                <a:latin typeface="Pretendard"/>
              </a:rPr>
              <a:t>실시간</a:t>
            </a:r>
            <a:r>
              <a:rPr sz="780" b="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780" b="1" dirty="0" err="1">
                <a:solidFill>
                  <a:srgbClr val="14181F"/>
                </a:solidFill>
                <a:latin typeface="Pretendard"/>
              </a:rPr>
              <a:t>버스정보</a:t>
            </a:r>
            <a:endParaRPr sz="780" b="1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3" name="섹션 접근성설비">
            <a:extLst>
              <a:ext uri="{FF2B5EF4-FFF2-40B4-BE49-F238E27FC236}">
                <a16:creationId xmlns:a16="http://schemas.microsoft.com/office/drawing/2014/main" id="{050E8C07-DECD-EE3F-F014-CBB907C5F9B9}"/>
              </a:ext>
            </a:extLst>
          </p:cNvPr>
          <p:cNvSpPr/>
          <p:nvPr/>
        </p:nvSpPr>
        <p:spPr>
          <a:xfrm>
            <a:off x="3236606" y="2698641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접근성 설비</a:t>
            </a:r>
          </a:p>
        </p:txBody>
      </p:sp>
      <p:sp>
        <p:nvSpPr>
          <p:cNvPr id="24" name="설비1 라벨">
            <a:extLst>
              <a:ext uri="{FF2B5EF4-FFF2-40B4-BE49-F238E27FC236}">
                <a16:creationId xmlns:a16="http://schemas.microsoft.com/office/drawing/2014/main" id="{DD6B5191-17D7-5076-BBF1-60EF9E126CB8}"/>
              </a:ext>
            </a:extLst>
          </p:cNvPr>
          <p:cNvSpPr/>
          <p:nvPr/>
        </p:nvSpPr>
        <p:spPr>
          <a:xfrm>
            <a:off x="3273182" y="2936385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승차대</a:t>
            </a:r>
          </a:p>
        </p:txBody>
      </p:sp>
      <p:sp>
        <p:nvSpPr>
          <p:cNvPr id="25" name="설비1 값">
            <a:extLst>
              <a:ext uri="{FF2B5EF4-FFF2-40B4-BE49-F238E27FC236}">
                <a16:creationId xmlns:a16="http://schemas.microsoft.com/office/drawing/2014/main" id="{C55E67E5-B617-98AB-419B-BBC77BE4250B}"/>
              </a:ext>
            </a:extLst>
          </p:cNvPr>
          <p:cNvSpPr/>
          <p:nvPr/>
        </p:nvSpPr>
        <p:spPr>
          <a:xfrm>
            <a:off x="3419486" y="2936385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있음</a:t>
            </a:r>
          </a:p>
        </p:txBody>
      </p:sp>
      <p:sp>
        <p:nvSpPr>
          <p:cNvPr id="26" name="설비2 라벨">
            <a:extLst>
              <a:ext uri="{FF2B5EF4-FFF2-40B4-BE49-F238E27FC236}">
                <a16:creationId xmlns:a16="http://schemas.microsoft.com/office/drawing/2014/main" id="{D8D2DC10-4DBB-9394-CBC9-4F8334AD1A1D}"/>
              </a:ext>
            </a:extLst>
          </p:cNvPr>
          <p:cNvSpPr/>
          <p:nvPr/>
        </p:nvSpPr>
        <p:spPr>
          <a:xfrm>
            <a:off x="3273182" y="3137553"/>
            <a:ext cx="109728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>
                <a:solidFill>
                  <a:srgbClr val="767676"/>
                </a:solidFill>
                <a:latin typeface="Pretendard"/>
              </a:rPr>
              <a:t>점자 안내</a:t>
            </a:r>
          </a:p>
        </p:txBody>
      </p:sp>
      <p:sp>
        <p:nvSpPr>
          <p:cNvPr id="27" name="설비2 값">
            <a:extLst>
              <a:ext uri="{FF2B5EF4-FFF2-40B4-BE49-F238E27FC236}">
                <a16:creationId xmlns:a16="http://schemas.microsoft.com/office/drawing/2014/main" id="{A7D10926-F01D-95B5-2F4A-1F0EC3561572}"/>
              </a:ext>
            </a:extLst>
          </p:cNvPr>
          <p:cNvSpPr/>
          <p:nvPr/>
        </p:nvSpPr>
        <p:spPr>
          <a:xfrm>
            <a:off x="3419486" y="3137553"/>
            <a:ext cx="192024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700" b="1">
                <a:solidFill>
                  <a:srgbClr val="C00000"/>
                </a:solidFill>
                <a:latin typeface="Pretendard"/>
              </a:rPr>
              <a:t>미조사</a:t>
            </a:r>
          </a:p>
        </p:txBody>
      </p:sp>
      <p:sp>
        <p:nvSpPr>
          <p:cNvPr id="28" name="토글라벨">
            <a:extLst>
              <a:ext uri="{FF2B5EF4-FFF2-40B4-BE49-F238E27FC236}">
                <a16:creationId xmlns:a16="http://schemas.microsoft.com/office/drawing/2014/main" id="{522C3790-F378-58B7-1FC7-300EC3D23E7B}"/>
              </a:ext>
            </a:extLst>
          </p:cNvPr>
          <p:cNvSpPr/>
          <p:nvPr/>
        </p:nvSpPr>
        <p:spPr>
          <a:xfrm>
            <a:off x="4309969" y="3615633"/>
            <a:ext cx="914400" cy="9444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저상버스만 표시 꺼짐</a:t>
            </a:r>
          </a:p>
        </p:txBody>
      </p:sp>
      <p:sp>
        <p:nvSpPr>
          <p:cNvPr id="29" name="토글 OFF">
            <a:extLst>
              <a:ext uri="{FF2B5EF4-FFF2-40B4-BE49-F238E27FC236}">
                <a16:creationId xmlns:a16="http://schemas.microsoft.com/office/drawing/2014/main" id="{231B2171-76C9-8C98-5531-0090737F7759}"/>
              </a:ext>
            </a:extLst>
          </p:cNvPr>
          <p:cNvSpPr/>
          <p:nvPr/>
        </p:nvSpPr>
        <p:spPr>
          <a:xfrm>
            <a:off x="5274406" y="3597511"/>
            <a:ext cx="274320" cy="146304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0" name="토글 knob OFF">
            <a:extLst>
              <a:ext uri="{FF2B5EF4-FFF2-40B4-BE49-F238E27FC236}">
                <a16:creationId xmlns:a16="http://schemas.microsoft.com/office/drawing/2014/main" id="{D651B47D-933A-2172-C70A-0128772F2B1F}"/>
              </a:ext>
            </a:extLst>
          </p:cNvPr>
          <p:cNvSpPr/>
          <p:nvPr/>
        </p:nvSpPr>
        <p:spPr>
          <a:xfrm>
            <a:off x="5292694" y="3611227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31" name="노선2-1 배지">
            <a:extLst>
              <a:ext uri="{FF2B5EF4-FFF2-40B4-BE49-F238E27FC236}">
                <a16:creationId xmlns:a16="http://schemas.microsoft.com/office/drawing/2014/main" id="{3E1E44AB-500F-8896-538D-2C8007A26295}"/>
              </a:ext>
            </a:extLst>
          </p:cNvPr>
          <p:cNvSpPr/>
          <p:nvPr/>
        </p:nvSpPr>
        <p:spPr>
          <a:xfrm>
            <a:off x="3118678" y="39863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32" name="노선2-1 번호">
            <a:extLst>
              <a:ext uri="{FF2B5EF4-FFF2-40B4-BE49-F238E27FC236}">
                <a16:creationId xmlns:a16="http://schemas.microsoft.com/office/drawing/2014/main" id="{2D34D065-BEB5-B83A-7F0F-7DB0B5417A4F}"/>
              </a:ext>
            </a:extLst>
          </p:cNvPr>
          <p:cNvSpPr/>
          <p:nvPr/>
        </p:nvSpPr>
        <p:spPr>
          <a:xfrm>
            <a:off x="3475294" y="3949772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33" name="노선2-1 방면">
            <a:extLst>
              <a:ext uri="{FF2B5EF4-FFF2-40B4-BE49-F238E27FC236}">
                <a16:creationId xmlns:a16="http://schemas.microsoft.com/office/drawing/2014/main" id="{21C1B80B-8578-A4BA-D9CA-70F5D93A6680}"/>
              </a:ext>
            </a:extLst>
          </p:cNvPr>
          <p:cNvSpPr/>
          <p:nvPr/>
        </p:nvSpPr>
        <p:spPr>
          <a:xfrm>
            <a:off x="3118678" y="4150940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4" name="노선2-1 도착1">
            <a:extLst>
              <a:ext uri="{FF2B5EF4-FFF2-40B4-BE49-F238E27FC236}">
                <a16:creationId xmlns:a16="http://schemas.microsoft.com/office/drawing/2014/main" id="{337DBFE6-0320-8718-BBB2-EF8C7BEA6461}"/>
              </a:ext>
            </a:extLst>
          </p:cNvPr>
          <p:cNvSpPr/>
          <p:nvPr/>
        </p:nvSpPr>
        <p:spPr>
          <a:xfrm>
            <a:off x="3914206" y="3968060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35" name="노선2-1 도착2">
            <a:extLst>
              <a:ext uri="{FF2B5EF4-FFF2-40B4-BE49-F238E27FC236}">
                <a16:creationId xmlns:a16="http://schemas.microsoft.com/office/drawing/2014/main" id="{E22819C7-AC8D-8779-7E7E-0B548D3BC5B3}"/>
              </a:ext>
            </a:extLst>
          </p:cNvPr>
          <p:cNvSpPr/>
          <p:nvPr/>
        </p:nvSpPr>
        <p:spPr>
          <a:xfrm>
            <a:off x="3914206" y="4132652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4분 후 · 2번째 전</a:t>
            </a:r>
          </a:p>
        </p:txBody>
      </p:sp>
      <p:sp>
        <p:nvSpPr>
          <p:cNvPr id="36" name="노선2-2 배지">
            <a:extLst>
              <a:ext uri="{FF2B5EF4-FFF2-40B4-BE49-F238E27FC236}">
                <a16:creationId xmlns:a16="http://schemas.microsoft.com/office/drawing/2014/main" id="{3E018EDF-6233-FD54-955A-F5F289BB85DE}"/>
              </a:ext>
            </a:extLst>
          </p:cNvPr>
          <p:cNvSpPr/>
          <p:nvPr/>
        </p:nvSpPr>
        <p:spPr>
          <a:xfrm>
            <a:off x="3118678" y="453979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37" name="노선2-2 번호">
            <a:extLst>
              <a:ext uri="{FF2B5EF4-FFF2-40B4-BE49-F238E27FC236}">
                <a16:creationId xmlns:a16="http://schemas.microsoft.com/office/drawing/2014/main" id="{67A6163F-7B90-FA30-41BD-2132261B6406}"/>
              </a:ext>
            </a:extLst>
          </p:cNvPr>
          <p:cNvSpPr/>
          <p:nvPr/>
        </p:nvSpPr>
        <p:spPr>
          <a:xfrm>
            <a:off x="3475294" y="4503223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2012</a:t>
            </a:r>
          </a:p>
        </p:txBody>
      </p:sp>
      <p:sp>
        <p:nvSpPr>
          <p:cNvPr id="38" name="노선2-2 방면">
            <a:extLst>
              <a:ext uri="{FF2B5EF4-FFF2-40B4-BE49-F238E27FC236}">
                <a16:creationId xmlns:a16="http://schemas.microsoft.com/office/drawing/2014/main" id="{8C4B0C75-7839-B5C6-403A-96350C221738}"/>
              </a:ext>
            </a:extLst>
          </p:cNvPr>
          <p:cNvSpPr/>
          <p:nvPr/>
        </p:nvSpPr>
        <p:spPr>
          <a:xfrm>
            <a:off x="3118678" y="4704391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39" name="노선2-2 도착1">
            <a:extLst>
              <a:ext uri="{FF2B5EF4-FFF2-40B4-BE49-F238E27FC236}">
                <a16:creationId xmlns:a16="http://schemas.microsoft.com/office/drawing/2014/main" id="{8D925248-44C9-E426-CFEF-04C02C78C31F}"/>
              </a:ext>
            </a:extLst>
          </p:cNvPr>
          <p:cNvSpPr/>
          <p:nvPr/>
        </p:nvSpPr>
        <p:spPr>
          <a:xfrm>
            <a:off x="3914206" y="4521511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14181F"/>
                </a:solidFill>
                <a:latin typeface="Pretendard"/>
              </a:rPr>
              <a:t>일반 7분 후 · 3번째 전</a:t>
            </a:r>
          </a:p>
        </p:txBody>
      </p:sp>
      <p:sp>
        <p:nvSpPr>
          <p:cNvPr id="40" name="노선2-2 도착2">
            <a:extLst>
              <a:ext uri="{FF2B5EF4-FFF2-40B4-BE49-F238E27FC236}">
                <a16:creationId xmlns:a16="http://schemas.microsoft.com/office/drawing/2014/main" id="{E745217E-A2D0-D4A6-47EA-EEE603E5914D}"/>
              </a:ext>
            </a:extLst>
          </p:cNvPr>
          <p:cNvSpPr/>
          <p:nvPr/>
        </p:nvSpPr>
        <p:spPr>
          <a:xfrm>
            <a:off x="3914206" y="4686103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C00000"/>
                </a:solidFill>
                <a:latin typeface="Pretendard"/>
              </a:rPr>
              <a:t>저상 14분 후 · 5번째 전</a:t>
            </a:r>
          </a:p>
        </p:txBody>
      </p:sp>
      <p:sp>
        <p:nvSpPr>
          <p:cNvPr id="41" name="노선2-3 배지">
            <a:extLst>
              <a:ext uri="{FF2B5EF4-FFF2-40B4-BE49-F238E27FC236}">
                <a16:creationId xmlns:a16="http://schemas.microsoft.com/office/drawing/2014/main" id="{13BB8B5A-7F23-25A9-E78F-F81247C92A9F}"/>
              </a:ext>
            </a:extLst>
          </p:cNvPr>
          <p:cNvSpPr/>
          <p:nvPr/>
        </p:nvSpPr>
        <p:spPr>
          <a:xfrm>
            <a:off x="3118678" y="51028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2" name="노선2-3 번호">
            <a:extLst>
              <a:ext uri="{FF2B5EF4-FFF2-40B4-BE49-F238E27FC236}">
                <a16:creationId xmlns:a16="http://schemas.microsoft.com/office/drawing/2014/main" id="{3ECE1EB3-8D4A-ABA8-1995-A886563FF279}"/>
              </a:ext>
            </a:extLst>
          </p:cNvPr>
          <p:cNvSpPr/>
          <p:nvPr/>
        </p:nvSpPr>
        <p:spPr>
          <a:xfrm>
            <a:off x="3475294" y="50662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303</a:t>
            </a:r>
          </a:p>
        </p:txBody>
      </p:sp>
      <p:sp>
        <p:nvSpPr>
          <p:cNvPr id="43" name="노선2-3 방면">
            <a:extLst>
              <a:ext uri="{FF2B5EF4-FFF2-40B4-BE49-F238E27FC236}">
                <a16:creationId xmlns:a16="http://schemas.microsoft.com/office/drawing/2014/main" id="{45F3B90F-F68A-F122-F82C-8D2CD90A7210}"/>
              </a:ext>
            </a:extLst>
          </p:cNvPr>
          <p:cNvSpPr/>
          <p:nvPr/>
        </p:nvSpPr>
        <p:spPr>
          <a:xfrm>
            <a:off x="3118678" y="52674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강변역 방면</a:t>
            </a:r>
          </a:p>
        </p:txBody>
      </p:sp>
      <p:sp>
        <p:nvSpPr>
          <p:cNvPr id="44" name="노선2-3 도착1">
            <a:extLst>
              <a:ext uri="{FF2B5EF4-FFF2-40B4-BE49-F238E27FC236}">
                <a16:creationId xmlns:a16="http://schemas.microsoft.com/office/drawing/2014/main" id="{0935A9C3-7BCC-D41C-7D93-54834A18395B}"/>
              </a:ext>
            </a:extLst>
          </p:cNvPr>
          <p:cNvSpPr/>
          <p:nvPr/>
        </p:nvSpPr>
        <p:spPr>
          <a:xfrm>
            <a:off x="3914206" y="5084586"/>
            <a:ext cx="13716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60" b="1">
                <a:solidFill>
                  <a:srgbClr val="767676"/>
                </a:solidFill>
                <a:latin typeface="Pretendard"/>
              </a:rPr>
              <a:t>저상 운행 없음</a:t>
            </a:r>
          </a:p>
        </p:txBody>
      </p:sp>
      <p:sp>
        <p:nvSpPr>
          <p:cNvPr id="45" name="노선2-4 배지">
            <a:extLst>
              <a:ext uri="{FF2B5EF4-FFF2-40B4-BE49-F238E27FC236}">
                <a16:creationId xmlns:a16="http://schemas.microsoft.com/office/drawing/2014/main" id="{461EFB8B-3667-4DC3-1224-69A92AFCA69C}"/>
              </a:ext>
            </a:extLst>
          </p:cNvPr>
          <p:cNvSpPr/>
          <p:nvPr/>
        </p:nvSpPr>
        <p:spPr>
          <a:xfrm>
            <a:off x="3118678" y="563707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46" name="노선2-4 번호">
            <a:extLst>
              <a:ext uri="{FF2B5EF4-FFF2-40B4-BE49-F238E27FC236}">
                <a16:creationId xmlns:a16="http://schemas.microsoft.com/office/drawing/2014/main" id="{02C044AE-34CF-A431-C95E-3AD92AC49083}"/>
              </a:ext>
            </a:extLst>
          </p:cNvPr>
          <p:cNvSpPr/>
          <p:nvPr/>
        </p:nvSpPr>
        <p:spPr>
          <a:xfrm>
            <a:off x="3475294" y="5600498"/>
            <a:ext cx="64008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14181F"/>
                </a:solidFill>
                <a:latin typeface="Pretendard"/>
              </a:rPr>
              <a:t>N26</a:t>
            </a:r>
          </a:p>
        </p:txBody>
      </p:sp>
      <p:sp>
        <p:nvSpPr>
          <p:cNvPr id="47" name="노선2-4 방면">
            <a:extLst>
              <a:ext uri="{FF2B5EF4-FFF2-40B4-BE49-F238E27FC236}">
                <a16:creationId xmlns:a16="http://schemas.microsoft.com/office/drawing/2014/main" id="{1512EFD8-B0FE-8245-62EB-92496D5DF50E}"/>
              </a:ext>
            </a:extLst>
          </p:cNvPr>
          <p:cNvSpPr/>
          <p:nvPr/>
        </p:nvSpPr>
        <p:spPr>
          <a:xfrm>
            <a:off x="3118678" y="5801666"/>
            <a:ext cx="841248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0">
                <a:solidFill>
                  <a:srgbClr val="767676"/>
                </a:solidFill>
                <a:latin typeface="Pretendard"/>
              </a:rPr>
              <a:t>중랑차고지 방면</a:t>
            </a:r>
          </a:p>
        </p:txBody>
      </p:sp>
      <p:sp>
        <p:nvSpPr>
          <p:cNvPr id="48" name="노선2-4 실패">
            <a:extLst>
              <a:ext uri="{FF2B5EF4-FFF2-40B4-BE49-F238E27FC236}">
                <a16:creationId xmlns:a16="http://schemas.microsoft.com/office/drawing/2014/main" id="{7D1FBFD0-4A90-0284-D952-CDD66A19E30B}"/>
              </a:ext>
            </a:extLst>
          </p:cNvPr>
          <p:cNvSpPr/>
          <p:nvPr/>
        </p:nvSpPr>
        <p:spPr>
          <a:xfrm>
            <a:off x="3639886" y="5618786"/>
            <a:ext cx="16459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도착 정보를 불러오지 못했습니다</a:t>
            </a:r>
          </a:p>
        </p:txBody>
      </p:sp>
      <p:sp>
        <p:nvSpPr>
          <p:cNvPr id="50" name="리스트 구분선">
            <a:extLst>
              <a:ext uri="{FF2B5EF4-FFF2-40B4-BE49-F238E27FC236}">
                <a16:creationId xmlns:a16="http://schemas.microsoft.com/office/drawing/2014/main" id="{CF2B2E0B-BBCC-6BFD-F2D7-715A272AAD01}"/>
              </a:ext>
            </a:extLst>
          </p:cNvPr>
          <p:cNvSpPr/>
          <p:nvPr/>
        </p:nvSpPr>
        <p:spPr>
          <a:xfrm>
            <a:off x="3102736" y="3922337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리스트 구분선">
            <a:extLst>
              <a:ext uri="{FF2B5EF4-FFF2-40B4-BE49-F238E27FC236}">
                <a16:creationId xmlns:a16="http://schemas.microsoft.com/office/drawing/2014/main" id="{987F2E67-EC8A-9E1B-7CDA-9C95DA1788B2}"/>
              </a:ext>
            </a:extLst>
          </p:cNvPr>
          <p:cNvSpPr/>
          <p:nvPr/>
        </p:nvSpPr>
        <p:spPr>
          <a:xfrm>
            <a:off x="3102736" y="4397992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리스트 구분선">
            <a:extLst>
              <a:ext uri="{FF2B5EF4-FFF2-40B4-BE49-F238E27FC236}">
                <a16:creationId xmlns:a16="http://schemas.microsoft.com/office/drawing/2014/main" id="{171B15C1-FE7F-804E-2F2E-B7D215B3C31A}"/>
              </a:ext>
            </a:extLst>
          </p:cNvPr>
          <p:cNvSpPr/>
          <p:nvPr/>
        </p:nvSpPr>
        <p:spPr>
          <a:xfrm>
            <a:off x="3102736" y="4943576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리스트 구분선">
            <a:extLst>
              <a:ext uri="{FF2B5EF4-FFF2-40B4-BE49-F238E27FC236}">
                <a16:creationId xmlns:a16="http://schemas.microsoft.com/office/drawing/2014/main" id="{A3AC74FD-F162-1D41-2EF3-FDF01D9CBE77}"/>
              </a:ext>
            </a:extLst>
          </p:cNvPr>
          <p:cNvSpPr/>
          <p:nvPr/>
        </p:nvSpPr>
        <p:spPr>
          <a:xfrm>
            <a:off x="3102736" y="5490271"/>
            <a:ext cx="246237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숫자배지 2">
            <a:extLst>
              <a:ext uri="{FF2B5EF4-FFF2-40B4-BE49-F238E27FC236}">
                <a16:creationId xmlns:a16="http://schemas.microsoft.com/office/drawing/2014/main" id="{AA0A9F22-ACE4-0E2B-0DEF-814F1BD89B05}"/>
              </a:ext>
            </a:extLst>
          </p:cNvPr>
          <p:cNvSpPr/>
          <p:nvPr/>
        </p:nvSpPr>
        <p:spPr>
          <a:xfrm>
            <a:off x="5362276" y="398052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5" name="숫자배지 3">
            <a:extLst>
              <a:ext uri="{FF2B5EF4-FFF2-40B4-BE49-F238E27FC236}">
                <a16:creationId xmlns:a16="http://schemas.microsoft.com/office/drawing/2014/main" id="{C9EBF159-5543-5773-4E84-AB0C84535FF2}"/>
              </a:ext>
            </a:extLst>
          </p:cNvPr>
          <p:cNvSpPr/>
          <p:nvPr/>
        </p:nvSpPr>
        <p:spPr>
          <a:xfrm>
            <a:off x="5362276" y="5097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56" name="숫자배지 4">
            <a:extLst>
              <a:ext uri="{FF2B5EF4-FFF2-40B4-BE49-F238E27FC236}">
                <a16:creationId xmlns:a16="http://schemas.microsoft.com/office/drawing/2014/main" id="{A3A07863-64C8-8B57-F553-36182944B771}"/>
              </a:ext>
            </a:extLst>
          </p:cNvPr>
          <p:cNvSpPr/>
          <p:nvPr/>
        </p:nvSpPr>
        <p:spPr>
          <a:xfrm>
            <a:off x="5362276" y="56601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57" name="숫자배지 1">
            <a:extLst>
              <a:ext uri="{FF2B5EF4-FFF2-40B4-BE49-F238E27FC236}">
                <a16:creationId xmlns:a16="http://schemas.microsoft.com/office/drawing/2014/main" id="{03FA662D-1454-5930-300D-36D060DEB1CC}"/>
              </a:ext>
            </a:extLst>
          </p:cNvPr>
          <p:cNvSpPr/>
          <p:nvPr/>
        </p:nvSpPr>
        <p:spPr>
          <a:xfrm>
            <a:off x="5631352" y="35795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graphicFrame>
        <p:nvGraphicFramePr>
          <p:cNvPr id="58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366394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저상버스만 표시 — 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토글을 끄면 일반 버스도 함께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기본값은 켜짐 · 켜짐 / 꺼짐을 텍스트로 병기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 / 일반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건마다 저상 · 일반을 앞에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 운행 없는 노선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「저상 운행 없음」을 명시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빈칸 · 숨김으로 처리하지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정보 연계 실패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해당 노선 영역만 실패 문구 — 화면 전체를 실패로 만들지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도착이 없는 노선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「도착 정보 없음」 — 행을 숨기거나 「운행 종료」로 단정하지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0002" name="refresh-bg"/>
          <p:cNvSpPr/>
          <p:nvPr/>
        </p:nvSpPr>
        <p:spPr>
          <a:xfrm>
            <a:off x="5157216" y="53583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pic>
        <p:nvPicPr>
          <p:cNvPr id="59" name="그림 19">
            <a:extLst>
              <a:ext uri="{FF2B5EF4-FFF2-40B4-BE49-F238E27FC236}">
                <a16:creationId xmlns:a16="http://schemas.microsoft.com/office/drawing/2014/main" id="{84FF7B63-80B3-C2A6-20EB-3E94816E4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5422392"/>
            <a:ext cx="143437" cy="150267"/>
          </a:xfrm>
          <a:prstGeom prst="rect">
            <a:avLst/>
          </a:prstGeom>
        </p:spPr>
      </p:pic>
      <p:sp>
        <p:nvSpPr>
          <p:cNvPr id="90001" name="t"/>
          <p:cNvSpPr txBox="1"/>
          <p:nvPr/>
        </p:nvSpPr>
        <p:spPr>
          <a:xfrm>
            <a:off x="3165653" y="2395728"/>
            <a:ext cx="21031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능동우편취급국 방면 · 350m</a:t>
            </a:r>
          </a:p>
        </p:txBody>
      </p:sp>
      <p:cxnSp>
        <p:nvCxnSpPr>
          <p:cNvPr id="90003" name="ln"/>
          <p:cNvCxnSpPr/>
          <p:nvPr/>
        </p:nvCxnSpPr>
        <p:spPr>
          <a:xfrm>
            <a:off x="3035808" y="5998464"/>
            <a:ext cx="25968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90004" name="t"/>
          <p:cNvSpPr txBox="1"/>
          <p:nvPr/>
        </p:nvSpPr>
        <p:spPr>
          <a:xfrm>
            <a:off x="3090672" y="6071616"/>
            <a:ext cx="23774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90005" name="role"/>
          <p:cNvSpPr/>
          <p:nvPr/>
        </p:nvSpPr>
        <p:spPr>
          <a:xfrm>
            <a:off x="3401568" y="6044184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0006" name="t"/>
          <p:cNvSpPr txBox="1"/>
          <p:nvPr/>
        </p:nvSpPr>
        <p:spPr>
          <a:xfrm>
            <a:off x="3401568" y="6103620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90007" name="role"/>
          <p:cNvSpPr/>
          <p:nvPr/>
        </p:nvSpPr>
        <p:spPr>
          <a:xfrm>
            <a:off x="4526280" y="6044184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0008" name="t"/>
          <p:cNvSpPr txBox="1"/>
          <p:nvPr/>
        </p:nvSpPr>
        <p:spPr>
          <a:xfrm>
            <a:off x="4526280" y="6103620"/>
            <a:ext cx="10241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(1/6)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9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3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54787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54787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402696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헤더 · [예약 내역 보기]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 유형 배지 ＋ 노선번호 ＋ 방면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 값은 2-5에서 누른 그 노선 행의 것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[예약 내역 보기] 탑바 우측 텍스트 버튼 · 상시 노출 · 회원 전용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3-4 저상버스 예약 내역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운행 정보 3종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첫차 · 막차 · 배차간격 — 헤더 아래 · 정류장 리스트 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첫차 · 막차는 시각 · 배차간격은 범위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공급되지 않는 항목은 그 줄을 생략 — 「정보 없음」 · 「-」를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셋 다 없으면 영역 자체를 생략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[새로고침]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「실시간 버스정보」 섹션 제목 오른쪽 아이콘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· 차량 위치를 갱신 · 10초마다 자동 갱신도 함께 동작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정류장 순서 리스트는 갱신 대상이 아님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팝업 (탑승 확인)"/>
          <p:cNvSpPr/>
          <p:nvPr/>
        </p:nvSpPr>
        <p:spPr>
          <a:xfrm>
            <a:off x="5047200" y="42890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문구"/>
          <p:cNvSpPr txBox="1"/>
          <p:nvPr/>
        </p:nvSpPr>
        <p:spPr>
          <a:xfrm>
            <a:off x="5238000" y="4440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49" name="팝업 문구"/>
          <p:cNvSpPr txBox="1"/>
          <p:nvPr/>
        </p:nvSpPr>
        <p:spPr>
          <a:xfrm>
            <a:off x="5238000" y="47498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0" name="팝업 버튼 아니요"/>
          <p:cNvSpPr/>
          <p:nvPr/>
        </p:nvSpPr>
        <p:spPr>
          <a:xfrm>
            <a:off x="52596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팝업 버튼 라벨"/>
          <p:cNvSpPr txBox="1"/>
          <p:nvPr/>
        </p:nvSpPr>
        <p:spPr>
          <a:xfrm>
            <a:off x="52596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2" name="팝업 버튼 네"/>
          <p:cNvSpPr/>
          <p:nvPr/>
        </p:nvSpPr>
        <p:spPr>
          <a:xfrm>
            <a:off x="62208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팝업 버튼 라벨"/>
          <p:cNvSpPr txBox="1"/>
          <p:nvPr/>
        </p:nvSpPr>
        <p:spPr>
          <a:xfrm>
            <a:off x="62208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4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5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56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57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8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운행중</a:t>
            </a:r>
          </a:p>
        </p:txBody>
      </p:sp>
      <p:sp>
        <p:nvSpPr>
          <p:cNvPr id="59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0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1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2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4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5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6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팝업 보조 버튼"/>
          <p:cNvSpPr txBox="1"/>
          <p:nvPr/>
        </p:nvSpPr>
        <p:spPr>
          <a:xfrm>
            <a:off x="5239512" y="320040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1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2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3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4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5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6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7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8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9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0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1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2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3" name="숫자배지 10"/>
          <p:cNvSpPr/>
          <p:nvPr/>
        </p:nvSpPr>
        <p:spPr>
          <a:xfrm>
            <a:off x="4846320" y="2176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84" name="숫자배지 10-1"/>
          <p:cNvSpPr/>
          <p:nvPr/>
        </p:nvSpPr>
        <p:spPr>
          <a:xfrm>
            <a:off x="4882896" y="318211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85" name="숫자배지 11"/>
          <p:cNvSpPr/>
          <p:nvPr/>
        </p:nvSpPr>
        <p:spPr>
          <a:xfrm>
            <a:off x="4846320" y="4297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(2/6)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9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3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54787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54787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47670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정류장 순서 리스트 · 승차 정류장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세로 노선도 형태 — 정류장명 ＋ 정류장 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하이라이트는 들어온 그 정류장 — GPS 현위치가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「승차 정류장」 텍스트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 그 행이 보이도록 화면을 맞춤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지나온 정류장을 접거나 숨기지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2건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하이라이트된 승차 정류장 행에만 2건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저상 · 일반을 건마다 앞에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다른 정류장 행에는 도착 정보를 붙이지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팝업 (탑승 확인)"/>
          <p:cNvSpPr/>
          <p:nvPr/>
        </p:nvSpPr>
        <p:spPr>
          <a:xfrm>
            <a:off x="5047200" y="42890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문구"/>
          <p:cNvSpPr txBox="1"/>
          <p:nvPr/>
        </p:nvSpPr>
        <p:spPr>
          <a:xfrm>
            <a:off x="5238000" y="4440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49" name="팝업 문구"/>
          <p:cNvSpPr txBox="1"/>
          <p:nvPr/>
        </p:nvSpPr>
        <p:spPr>
          <a:xfrm>
            <a:off x="5238000" y="47498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0" name="팝업 버튼 아니요"/>
          <p:cNvSpPr/>
          <p:nvPr/>
        </p:nvSpPr>
        <p:spPr>
          <a:xfrm>
            <a:off x="52596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팝업 버튼 라벨"/>
          <p:cNvSpPr txBox="1"/>
          <p:nvPr/>
        </p:nvSpPr>
        <p:spPr>
          <a:xfrm>
            <a:off x="52596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2" name="팝업 버튼 네"/>
          <p:cNvSpPr/>
          <p:nvPr/>
        </p:nvSpPr>
        <p:spPr>
          <a:xfrm>
            <a:off x="62208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팝업 버튼 라벨"/>
          <p:cNvSpPr txBox="1"/>
          <p:nvPr/>
        </p:nvSpPr>
        <p:spPr>
          <a:xfrm>
            <a:off x="62208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4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5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56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57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8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운행중</a:t>
            </a:r>
          </a:p>
        </p:txBody>
      </p:sp>
      <p:sp>
        <p:nvSpPr>
          <p:cNvPr id="59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0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1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2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4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5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6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팝업 보조 버튼"/>
          <p:cNvSpPr txBox="1"/>
          <p:nvPr/>
        </p:nvSpPr>
        <p:spPr>
          <a:xfrm>
            <a:off x="5239512" y="320040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1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2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3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4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5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6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7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8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9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0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1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2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3" name="숫자배지 10"/>
          <p:cNvSpPr/>
          <p:nvPr/>
        </p:nvSpPr>
        <p:spPr>
          <a:xfrm>
            <a:off x="4846320" y="2176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84" name="숫자배지 10-1"/>
          <p:cNvSpPr/>
          <p:nvPr/>
        </p:nvSpPr>
        <p:spPr>
          <a:xfrm>
            <a:off x="4882896" y="318211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85" name="숫자배지 11"/>
          <p:cNvSpPr/>
          <p:nvPr/>
        </p:nvSpPr>
        <p:spPr>
          <a:xfrm>
            <a:off x="4846320" y="4297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(3/6)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9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3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54787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54787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484179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[승차 예약]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2건 중 저상인 건에만 그 건 아래 노출 — 일반 건에는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저상 건마다 1개 — 두 건 모두 저상이면 버튼도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승차 정류장은 하이라이트된 정류장으로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 전용 — 비회원도 버튼은 보이고 누르면 로그인 유도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화면 이동 없이 예약 신청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이미 신청한 편성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 건 줄에 「예약 신청 완료」 상태 텍스트 · 확정 후 「예약 확정됨」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[승차 예약] 버튼은 비활성 · 문구는 「승차 예약」 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상태를 버튼 표시 문구로 대체하지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[더보기]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 2건 · 한 번에 2건씩 이어서 펼침 · 총 6건 상한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3건째부터는 추정 — 「저상 약 11분 후 · 예정」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추정 건에 「N번째 전」을 붙이지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배차간격이 공급되지 않으면 [더보기] 자체를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팝업 (탑승 확인)"/>
          <p:cNvSpPr/>
          <p:nvPr/>
        </p:nvSpPr>
        <p:spPr>
          <a:xfrm>
            <a:off x="5047200" y="42890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문구"/>
          <p:cNvSpPr txBox="1"/>
          <p:nvPr/>
        </p:nvSpPr>
        <p:spPr>
          <a:xfrm>
            <a:off x="5238000" y="4440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49" name="팝업 문구"/>
          <p:cNvSpPr txBox="1"/>
          <p:nvPr/>
        </p:nvSpPr>
        <p:spPr>
          <a:xfrm>
            <a:off x="5238000" y="47498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0" name="팝업 버튼 아니요"/>
          <p:cNvSpPr/>
          <p:nvPr/>
        </p:nvSpPr>
        <p:spPr>
          <a:xfrm>
            <a:off x="52596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팝업 버튼 라벨"/>
          <p:cNvSpPr txBox="1"/>
          <p:nvPr/>
        </p:nvSpPr>
        <p:spPr>
          <a:xfrm>
            <a:off x="52596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2" name="팝업 버튼 네"/>
          <p:cNvSpPr/>
          <p:nvPr/>
        </p:nvSpPr>
        <p:spPr>
          <a:xfrm>
            <a:off x="62208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팝업 버튼 라벨"/>
          <p:cNvSpPr txBox="1"/>
          <p:nvPr/>
        </p:nvSpPr>
        <p:spPr>
          <a:xfrm>
            <a:off x="62208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4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5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56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57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8" name="팝업 보조 버튼"/>
          <p:cNvSpPr txBox="1"/>
          <p:nvPr/>
        </p:nvSpPr>
        <p:spPr>
          <a:xfrm>
            <a:off x="5239512" y="320040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59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운행중</a:t>
            </a:r>
          </a:p>
        </p:txBody>
      </p:sp>
      <p:sp>
        <p:nvSpPr>
          <p:cNvPr id="60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1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2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3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5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6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1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2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3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4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5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6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7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8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9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0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1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2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3" name="숫자배지 10"/>
          <p:cNvSpPr/>
          <p:nvPr/>
        </p:nvSpPr>
        <p:spPr>
          <a:xfrm>
            <a:off x="4846320" y="2176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84" name="숫자배지 10-1"/>
          <p:cNvSpPr/>
          <p:nvPr/>
        </p:nvSpPr>
        <p:spPr>
          <a:xfrm>
            <a:off x="4882896" y="318211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85" name="숫자배지 11"/>
          <p:cNvSpPr/>
          <p:nvPr/>
        </p:nvSpPr>
        <p:spPr>
          <a:xfrm>
            <a:off x="4846320" y="4297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(4/6)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9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216864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23209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263232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281340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3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354787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354787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/>
        </p:nvGraphicFramePr>
        <p:xfrm>
          <a:off x="8629192" y="1447800"/>
          <a:ext cx="2972713" cy="3237533"/>
        </p:xfrm>
        <a:graphic>
          <a:graphicData uri="http://schemas.openxmlformats.org/drawingml/2006/table">
            <a:tbl>
              <a:tblPr/>
              <a:tblGrid>
                <a:gridCol w="495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차량 픽토그램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차량 위치를 정류장 단위로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정차 중은 그 정류장 칸 안 · 이동 중은 두 정류장 사이 라인 위에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정류장에 여러 대면 대수만큼 겹쳐 표시 — 「N대」로 바꾸지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차량번호 · 저상 여부를 텍스트로 병기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예약 신청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신청이 정상 처리됐다는 알림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이후 조건이 맞으면 앱이 자동으로 BMS에 발신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[하차 정류장 지정 (선택)]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 신청 팝업의 보조 버튼 — [확인] 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지정하지 않고도 예약 가능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팝업 (탑승 확인)"/>
          <p:cNvSpPr/>
          <p:nvPr/>
        </p:nvSpPr>
        <p:spPr>
          <a:xfrm>
            <a:off x="5047200" y="4289040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문구"/>
          <p:cNvSpPr txBox="1"/>
          <p:nvPr/>
        </p:nvSpPr>
        <p:spPr>
          <a:xfrm>
            <a:off x="5238000" y="44402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49" name="팝업 문구"/>
          <p:cNvSpPr txBox="1"/>
          <p:nvPr/>
        </p:nvSpPr>
        <p:spPr>
          <a:xfrm>
            <a:off x="5238000" y="4749840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0" name="팝업 버튼 아니요"/>
          <p:cNvSpPr/>
          <p:nvPr/>
        </p:nvSpPr>
        <p:spPr>
          <a:xfrm>
            <a:off x="52596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팝업 버튼 라벨"/>
          <p:cNvSpPr txBox="1"/>
          <p:nvPr/>
        </p:nvSpPr>
        <p:spPr>
          <a:xfrm>
            <a:off x="52596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2" name="팝업 버튼 네"/>
          <p:cNvSpPr/>
          <p:nvPr/>
        </p:nvSpPr>
        <p:spPr>
          <a:xfrm>
            <a:off x="6220800" y="515304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팝업 버튼 라벨"/>
          <p:cNvSpPr txBox="1"/>
          <p:nvPr/>
        </p:nvSpPr>
        <p:spPr>
          <a:xfrm>
            <a:off x="6220800" y="515304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4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5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56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57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8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운행중</a:t>
            </a:r>
          </a:p>
        </p:txBody>
      </p:sp>
      <p:sp>
        <p:nvSpPr>
          <p:cNvPr id="59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0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1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2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4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5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6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팝업 보조 버튼"/>
          <p:cNvSpPr txBox="1"/>
          <p:nvPr/>
        </p:nvSpPr>
        <p:spPr>
          <a:xfrm>
            <a:off x="5239512" y="320040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1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2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3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4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5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6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7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8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9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0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1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2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3" name="숫자배지 10"/>
          <p:cNvSpPr/>
          <p:nvPr/>
        </p:nvSpPr>
        <p:spPr>
          <a:xfrm>
            <a:off x="4846320" y="21762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84" name="숫자배지 10-1"/>
          <p:cNvSpPr/>
          <p:nvPr/>
        </p:nvSpPr>
        <p:spPr>
          <a:xfrm>
            <a:off x="4882896" y="318211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85" name="숫자배지 11"/>
          <p:cNvSpPr/>
          <p:nvPr/>
        </p:nvSpPr>
        <p:spPr>
          <a:xfrm>
            <a:off x="4846320" y="4297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(5/6)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9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118872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13410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16524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183348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3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256795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256795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/>
        </p:nvGraphicFramePr>
        <p:xfrm>
          <a:off x="8629192" y="1447800"/>
          <a:ext cx="2972713" cy="3648150"/>
        </p:xfrm>
        <a:graphic>
          <a:graphicData uri="http://schemas.openxmlformats.org/drawingml/2006/table">
            <a:tbl>
              <a:tblPr/>
              <a:tblGrid>
                <a:gridCol w="495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하차 정류장 지정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헤더(제목 ＋ [✕]) · 노선 ＋ 방면 1줄 · 단일 선택 목록 · 하단 [지정]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맨 위는 「지정하지 않음」 — 비우는 것이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승차 정류장 다음부터 노선 종점까지 표출 — 지나온 구간은 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정류장명 ＋ 정류장 번호 · 검색 · 필터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예약 확정 이후에는 열 수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탑승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트리거 — 예약 차량이 다음 정류장으로 이동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앱이 전면이면 팝업 · 백그라운드면 Push · 예약 1건당 1회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놓치면 「탑승 확인 필요」로 남아 홈 위젯 · 3-4에서 답할 수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[네] → 탑승완료 · [아니요] → 미탑승 (둘 다 종결)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팝업 (탑승 확인)"/>
          <p:cNvSpPr/>
          <p:nvPr/>
        </p:nvSpPr>
        <p:spPr>
          <a:xfrm>
            <a:off x="5047200" y="3337559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문구"/>
          <p:cNvSpPr txBox="1"/>
          <p:nvPr/>
        </p:nvSpPr>
        <p:spPr>
          <a:xfrm>
            <a:off x="5238000" y="3488759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49" name="팝업 문구"/>
          <p:cNvSpPr txBox="1"/>
          <p:nvPr/>
        </p:nvSpPr>
        <p:spPr>
          <a:xfrm>
            <a:off x="5238000" y="3798359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0" name="팝업 버튼 아니요"/>
          <p:cNvSpPr/>
          <p:nvPr/>
        </p:nvSpPr>
        <p:spPr>
          <a:xfrm>
            <a:off x="5259600" y="420156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팝업 버튼 라벨"/>
          <p:cNvSpPr txBox="1"/>
          <p:nvPr/>
        </p:nvSpPr>
        <p:spPr>
          <a:xfrm>
            <a:off x="5259600" y="420156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2" name="팝업 버튼 네"/>
          <p:cNvSpPr/>
          <p:nvPr/>
        </p:nvSpPr>
        <p:spPr>
          <a:xfrm>
            <a:off x="6220800" y="420156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팝업 버튼 라벨"/>
          <p:cNvSpPr txBox="1"/>
          <p:nvPr/>
        </p:nvSpPr>
        <p:spPr>
          <a:xfrm>
            <a:off x="6220800" y="420156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4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5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56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57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8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운행중</a:t>
            </a:r>
          </a:p>
        </p:txBody>
      </p:sp>
      <p:sp>
        <p:nvSpPr>
          <p:cNvPr id="59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0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1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2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4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5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6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팝업 보조 버튼"/>
          <p:cNvSpPr txBox="1"/>
          <p:nvPr/>
        </p:nvSpPr>
        <p:spPr>
          <a:xfrm>
            <a:off x="5239512" y="222048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1" name="alight-sheet"/>
          <p:cNvSpPr/>
          <p:nvPr/>
        </p:nvSpPr>
        <p:spPr>
          <a:xfrm>
            <a:off x="5047488" y="4910328"/>
            <a:ext cx="2322576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5138928" y="49834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하차 정류장 지정</a:t>
            </a:r>
          </a:p>
        </p:txBody>
      </p:sp>
      <p:sp>
        <p:nvSpPr>
          <p:cNvPr id="73" name="t"/>
          <p:cNvSpPr txBox="1"/>
          <p:nvPr/>
        </p:nvSpPr>
        <p:spPr>
          <a:xfrm>
            <a:off x="7132320" y="4983480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74" name="t"/>
          <p:cNvSpPr txBox="1"/>
          <p:nvPr/>
        </p:nvSpPr>
        <p:spPr>
          <a:xfrm>
            <a:off x="5138928" y="5157216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간선 240 · 중랑공영차고지 방면</a:t>
            </a:r>
          </a:p>
        </p:txBody>
      </p:sp>
      <p:sp>
        <p:nvSpPr>
          <p:cNvPr id="75" name="radio"/>
          <p:cNvSpPr/>
          <p:nvPr/>
        </p:nvSpPr>
        <p:spPr>
          <a:xfrm>
            <a:off x="5148072" y="5340096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5294376" y="533095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지정하지 않음</a:t>
            </a:r>
          </a:p>
        </p:txBody>
      </p:sp>
      <p:sp>
        <p:nvSpPr>
          <p:cNvPr id="77" name="radio"/>
          <p:cNvSpPr/>
          <p:nvPr/>
        </p:nvSpPr>
        <p:spPr>
          <a:xfrm>
            <a:off x="5148072" y="5500116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5294376" y="549097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능동우편취급국</a:t>
            </a:r>
          </a:p>
        </p:txBody>
      </p:sp>
      <p:sp>
        <p:nvSpPr>
          <p:cNvPr id="79" name="t"/>
          <p:cNvSpPr txBox="1"/>
          <p:nvPr/>
        </p:nvSpPr>
        <p:spPr>
          <a:xfrm>
            <a:off x="6492240" y="5490972"/>
            <a:ext cx="80467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09-131</a:t>
            </a:r>
          </a:p>
        </p:txBody>
      </p:sp>
      <p:sp>
        <p:nvSpPr>
          <p:cNvPr id="80" name="radio"/>
          <p:cNvSpPr/>
          <p:nvPr/>
        </p:nvSpPr>
        <p:spPr>
          <a:xfrm>
            <a:off x="5148072" y="5660136"/>
            <a:ext cx="82296" cy="82296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81" name="t"/>
          <p:cNvSpPr txBox="1"/>
          <p:nvPr/>
        </p:nvSpPr>
        <p:spPr>
          <a:xfrm>
            <a:off x="5294376" y="5650992"/>
            <a:ext cx="13716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어린이대공원후문</a:t>
            </a:r>
          </a:p>
        </p:txBody>
      </p:sp>
      <p:sp>
        <p:nvSpPr>
          <p:cNvPr id="82" name="t"/>
          <p:cNvSpPr txBox="1"/>
          <p:nvPr/>
        </p:nvSpPr>
        <p:spPr>
          <a:xfrm>
            <a:off x="6492240" y="5650992"/>
            <a:ext cx="804672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09-132</a:t>
            </a:r>
          </a:p>
        </p:txBody>
      </p:sp>
      <p:sp>
        <p:nvSpPr>
          <p:cNvPr id="83" name="designate"/>
          <p:cNvSpPr/>
          <p:nvPr/>
        </p:nvSpPr>
        <p:spPr>
          <a:xfrm>
            <a:off x="5138928" y="5833872"/>
            <a:ext cx="2139696" cy="219456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t"/>
          <p:cNvSpPr txBox="1"/>
          <p:nvPr/>
        </p:nvSpPr>
        <p:spPr>
          <a:xfrm>
            <a:off x="5138928" y="5893308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FFFFFF"/>
                </a:solidFill>
                <a:latin typeface="Pretendard"/>
                <a:ea typeface="Pretendard"/>
              </a:rPr>
              <a:t>지정</a:t>
            </a:r>
          </a:p>
        </p:txBody>
      </p:sp>
      <p:sp>
        <p:nvSpPr>
          <p:cNvPr id="85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86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87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88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0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1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2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3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4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5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6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7" name="숫자배지 10"/>
          <p:cNvSpPr/>
          <p:nvPr/>
        </p:nvSpPr>
        <p:spPr>
          <a:xfrm>
            <a:off x="4846320" y="11963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8" name="숫자배지 10-1"/>
          <p:cNvSpPr/>
          <p:nvPr/>
        </p:nvSpPr>
        <p:spPr>
          <a:xfrm>
            <a:off x="4882896" y="220219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99" name="숫자배지 11"/>
          <p:cNvSpPr/>
          <p:nvPr/>
        </p:nvSpPr>
        <p:spPr>
          <a:xfrm>
            <a:off x="4846320" y="33461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00" name="숫자배지 10-2"/>
          <p:cNvSpPr/>
          <p:nvPr/>
        </p:nvSpPr>
        <p:spPr>
          <a:xfrm>
            <a:off x="4645152" y="4928616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48640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2-5-1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88136" y="228600"/>
            <a:ext cx="10058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4028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정류장 순서 · 저상버스 승차 예약 (6/6)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166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645920" y="1304925"/>
            <a:ext cx="128016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노선 상세</a:t>
            </a:r>
          </a:p>
        </p:txBody>
      </p:sp>
      <p:cxnSp>
        <p:nvCxnSpPr>
          <p:cNvPr id="11" name="뒤로가기"/>
          <p:cNvCxnSpPr/>
          <p:nvPr/>
        </p:nvCxnSpPr>
        <p:spPr>
          <a:xfrm flipH="1">
            <a:off x="14690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690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1510897" y="1805559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7" name="노선 번호">
            <a:extLst>
              <a:ext uri="{FF2B5EF4-FFF2-40B4-BE49-F238E27FC236}">
                <a16:creationId xmlns:a16="http://schemas.microsoft.com/office/drawing/2014/main" id="{60549DFB-4FA6-84B3-12A7-33F624B4DA98}"/>
              </a:ext>
            </a:extLst>
          </p:cNvPr>
          <p:cNvSpPr/>
          <p:nvPr/>
        </p:nvSpPr>
        <p:spPr>
          <a:xfrm>
            <a:off x="1867513" y="1750695"/>
            <a:ext cx="6400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14181F"/>
                </a:solidFill>
                <a:latin typeface="Pretendard"/>
              </a:rPr>
              <a:t>240</a:t>
            </a:r>
          </a:p>
        </p:txBody>
      </p:sp>
      <p:sp>
        <p:nvSpPr>
          <p:cNvPr id="18" name="노선 현위치">
            <a:extLst>
              <a:ext uri="{FF2B5EF4-FFF2-40B4-BE49-F238E27FC236}">
                <a16:creationId xmlns:a16="http://schemas.microsoft.com/office/drawing/2014/main" id="{6E565422-F33C-60D5-B68B-89C3EE95D4BC}"/>
              </a:ext>
            </a:extLst>
          </p:cNvPr>
          <p:cNvSpPr/>
          <p:nvPr/>
        </p:nvSpPr>
        <p:spPr>
          <a:xfrm>
            <a:off x="1510897" y="197510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중랑공영차고지 방면</a:t>
            </a:r>
          </a:p>
        </p:txBody>
      </p:sp>
      <p:sp>
        <p:nvSpPr>
          <p:cNvPr id="19" name="노선 운행대수">
            <a:extLst>
              <a:ext uri="{FF2B5EF4-FFF2-40B4-BE49-F238E27FC236}">
                <a16:creationId xmlns:a16="http://schemas.microsoft.com/office/drawing/2014/main" id="{119DC20E-402E-97DB-8DA9-793D3C40D0B6}"/>
              </a:ext>
            </a:extLst>
          </p:cNvPr>
          <p:cNvSpPr/>
          <p:nvPr/>
        </p:nvSpPr>
        <p:spPr>
          <a:xfrm>
            <a:off x="1510897" y="2130552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첫차 04:00 · 막차 22:30</a:t>
            </a:r>
          </a:p>
        </p:txBody>
      </p:sp>
      <p:cxnSp>
        <p:nvCxnSpPr>
          <p:cNvPr id="20" name="구분선">
            <a:extLst>
              <a:ext uri="{FF2B5EF4-FFF2-40B4-BE49-F238E27FC236}">
                <a16:creationId xmlns:a16="http://schemas.microsoft.com/office/drawing/2014/main" id="{E58C9B33-2064-4762-114E-D991EFF5A215}"/>
              </a:ext>
            </a:extLst>
          </p:cNvPr>
          <p:cNvCxnSpPr/>
          <p:nvPr/>
        </p:nvCxnSpPr>
        <p:spPr>
          <a:xfrm>
            <a:off x="1318874" y="2390775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섹션 실시간1">
            <a:extLst>
              <a:ext uri="{FF2B5EF4-FFF2-40B4-BE49-F238E27FC236}">
                <a16:creationId xmlns:a16="http://schemas.microsoft.com/office/drawing/2014/main" id="{7FE33AD1-73B0-FFDA-4BDA-4D163E2FD251}"/>
              </a:ext>
            </a:extLst>
          </p:cNvPr>
          <p:cNvSpPr/>
          <p:nvPr/>
        </p:nvSpPr>
        <p:spPr>
          <a:xfrm>
            <a:off x="1510897" y="2482215"/>
            <a:ext cx="12801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80" b="1">
                <a:solidFill>
                  <a:srgbClr val="14181F"/>
                </a:solidFill>
                <a:latin typeface="Pretendard"/>
              </a:rPr>
              <a:t>실시간 버스정보</a:t>
            </a:r>
          </a:p>
        </p:txBody>
      </p:sp>
      <p:sp>
        <p:nvSpPr>
          <p:cNvPr id="22" name="정류장1 이름">
            <a:extLst>
              <a:ext uri="{FF2B5EF4-FFF2-40B4-BE49-F238E27FC236}">
                <a16:creationId xmlns:a16="http://schemas.microsoft.com/office/drawing/2014/main" id="{C8CB56A9-E7B2-E7B5-0E3E-29C34AA7E284}"/>
              </a:ext>
            </a:extLst>
          </p:cNvPr>
          <p:cNvSpPr/>
          <p:nvPr/>
        </p:nvSpPr>
        <p:spPr>
          <a:xfrm>
            <a:off x="1693777" y="2738247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세종초교앞</a:t>
            </a:r>
          </a:p>
        </p:txBody>
      </p:sp>
      <p:sp>
        <p:nvSpPr>
          <p:cNvPr id="23" name="정류장1 번호">
            <a:extLst>
              <a:ext uri="{FF2B5EF4-FFF2-40B4-BE49-F238E27FC236}">
                <a16:creationId xmlns:a16="http://schemas.microsoft.com/office/drawing/2014/main" id="{73DF38AA-3011-EB7C-4E9C-4BEC1BEC9D2E}"/>
              </a:ext>
            </a:extLst>
          </p:cNvPr>
          <p:cNvSpPr/>
          <p:nvPr/>
        </p:nvSpPr>
        <p:spPr>
          <a:xfrm>
            <a:off x="1693777" y="2893695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05244</a:t>
            </a:r>
          </a:p>
        </p:txBody>
      </p:sp>
      <p:cxnSp>
        <p:nvCxnSpPr>
          <p:cNvPr id="24" name="구분선">
            <a:extLst>
              <a:ext uri="{FF2B5EF4-FFF2-40B4-BE49-F238E27FC236}">
                <a16:creationId xmlns:a16="http://schemas.microsoft.com/office/drawing/2014/main" id="{96E98DDB-A57C-825B-8827-28898809B63C}"/>
              </a:ext>
            </a:extLst>
          </p:cNvPr>
          <p:cNvCxnSpPr/>
          <p:nvPr/>
        </p:nvCxnSpPr>
        <p:spPr>
          <a:xfrm>
            <a:off x="1355449" y="3081528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현재정류장 강조">
            <a:extLst>
              <a:ext uri="{FF2B5EF4-FFF2-40B4-BE49-F238E27FC236}">
                <a16:creationId xmlns:a16="http://schemas.microsoft.com/office/drawing/2014/main" id="{5547F3B7-CD0E-4494-16F1-C38A7B29A0B5}"/>
              </a:ext>
            </a:extLst>
          </p:cNvPr>
          <p:cNvSpPr/>
          <p:nvPr/>
        </p:nvSpPr>
        <p:spPr>
          <a:xfrm>
            <a:off x="1355449" y="3118104"/>
            <a:ext cx="2651760" cy="13075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>
            <a:no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26" name="정류장2 차량">
            <a:extLst>
              <a:ext uri="{FF2B5EF4-FFF2-40B4-BE49-F238E27FC236}">
                <a16:creationId xmlns:a16="http://schemas.microsoft.com/office/drawing/2014/main" id="{5FB07789-B5E0-08B6-900E-5F4884768D27}"/>
              </a:ext>
            </a:extLst>
          </p:cNvPr>
          <p:cNvSpPr/>
          <p:nvPr/>
        </p:nvSpPr>
        <p:spPr>
          <a:xfrm>
            <a:off x="1691640" y="4864608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20" b="1">
                <a:solidFill>
                  <a:srgbClr val="C00000"/>
                </a:solidFill>
                <a:latin typeface="Pretendard"/>
              </a:rPr>
              <a:t>서울74사4250 · 저상</a:t>
            </a:r>
          </a:p>
        </p:txBody>
      </p:sp>
      <p:sp>
        <p:nvSpPr>
          <p:cNvPr id="27" name="정류장2 이름">
            <a:extLst>
              <a:ext uri="{FF2B5EF4-FFF2-40B4-BE49-F238E27FC236}">
                <a16:creationId xmlns:a16="http://schemas.microsoft.com/office/drawing/2014/main" id="{A155C721-CB40-E196-38D1-3461BA0EE8FF}"/>
              </a:ext>
            </a:extLst>
          </p:cNvPr>
          <p:cNvSpPr/>
          <p:nvPr/>
        </p:nvSpPr>
        <p:spPr>
          <a:xfrm>
            <a:off x="1693777" y="317296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군자동주민센터</a:t>
            </a:r>
          </a:p>
        </p:txBody>
      </p:sp>
      <p:sp>
        <p:nvSpPr>
          <p:cNvPr id="28" name="정류장2 번호">
            <a:extLst>
              <a:ext uri="{FF2B5EF4-FFF2-40B4-BE49-F238E27FC236}">
                <a16:creationId xmlns:a16="http://schemas.microsoft.com/office/drawing/2014/main" id="{5120327A-89C2-080D-CF4E-70779C8B8B99}"/>
              </a:ext>
            </a:extLst>
          </p:cNvPr>
          <p:cNvSpPr/>
          <p:nvPr/>
        </p:nvSpPr>
        <p:spPr>
          <a:xfrm>
            <a:off x="1693777" y="3328416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05242</a:t>
            </a:r>
          </a:p>
        </p:txBody>
      </p:sp>
      <p:cxnSp>
        <p:nvCxnSpPr>
          <p:cNvPr id="29" name="구분선">
            <a:extLst>
              <a:ext uri="{FF2B5EF4-FFF2-40B4-BE49-F238E27FC236}">
                <a16:creationId xmlns:a16="http://schemas.microsoft.com/office/drawing/2014/main" id="{8EB9D33A-FE07-E0A0-270F-B36FE53937BA}"/>
              </a:ext>
            </a:extLst>
          </p:cNvPr>
          <p:cNvCxnSpPr/>
          <p:nvPr/>
        </p:nvCxnSpPr>
        <p:spPr>
          <a:xfrm>
            <a:off x="1355449" y="448056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정류장3 이름">
            <a:extLst>
              <a:ext uri="{FF2B5EF4-FFF2-40B4-BE49-F238E27FC236}">
                <a16:creationId xmlns:a16="http://schemas.microsoft.com/office/drawing/2014/main" id="{C476D240-FA4E-22BE-742F-17B50AF46281}"/>
              </a:ext>
            </a:extLst>
          </p:cNvPr>
          <p:cNvSpPr/>
          <p:nvPr/>
        </p:nvSpPr>
        <p:spPr>
          <a:xfrm>
            <a:off x="1693777" y="4553712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능동우편취급국</a:t>
            </a:r>
          </a:p>
        </p:txBody>
      </p:sp>
      <p:sp>
        <p:nvSpPr>
          <p:cNvPr id="31" name="정류장3 번호">
            <a:extLst>
              <a:ext uri="{FF2B5EF4-FFF2-40B4-BE49-F238E27FC236}">
                <a16:creationId xmlns:a16="http://schemas.microsoft.com/office/drawing/2014/main" id="{BEFF418D-6233-7FC1-05D4-FB9A4BB36F5F}"/>
              </a:ext>
            </a:extLst>
          </p:cNvPr>
          <p:cNvSpPr/>
          <p:nvPr/>
        </p:nvSpPr>
        <p:spPr>
          <a:xfrm>
            <a:off x="1693777" y="4709160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05240</a:t>
            </a:r>
          </a:p>
        </p:txBody>
      </p:sp>
      <p:cxnSp>
        <p:nvCxnSpPr>
          <p:cNvPr id="32" name="구분선">
            <a:extLst>
              <a:ext uri="{FF2B5EF4-FFF2-40B4-BE49-F238E27FC236}">
                <a16:creationId xmlns:a16="http://schemas.microsoft.com/office/drawing/2014/main" id="{3EC7B456-F8E5-62DE-C160-79666AFF6A4E}"/>
              </a:ext>
            </a:extLst>
          </p:cNvPr>
          <p:cNvCxnSpPr/>
          <p:nvPr/>
        </p:nvCxnSpPr>
        <p:spPr>
          <a:xfrm>
            <a:off x="1355449" y="5074920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정류장4 이름">
            <a:extLst>
              <a:ext uri="{FF2B5EF4-FFF2-40B4-BE49-F238E27FC236}">
                <a16:creationId xmlns:a16="http://schemas.microsoft.com/office/drawing/2014/main" id="{60F2BE46-C446-DF0B-DE51-F6078D53C397}"/>
              </a:ext>
            </a:extLst>
          </p:cNvPr>
          <p:cNvSpPr/>
          <p:nvPr/>
        </p:nvSpPr>
        <p:spPr>
          <a:xfrm>
            <a:off x="1693777" y="5129784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중앙농협군자지점</a:t>
            </a:r>
          </a:p>
        </p:txBody>
      </p:sp>
      <p:sp>
        <p:nvSpPr>
          <p:cNvPr id="34" name="정류장4 번호">
            <a:extLst>
              <a:ext uri="{FF2B5EF4-FFF2-40B4-BE49-F238E27FC236}">
                <a16:creationId xmlns:a16="http://schemas.microsoft.com/office/drawing/2014/main" id="{C32A5FE0-B901-1042-FDF9-B65F67AB6458}"/>
              </a:ext>
            </a:extLst>
          </p:cNvPr>
          <p:cNvSpPr/>
          <p:nvPr/>
        </p:nvSpPr>
        <p:spPr>
          <a:xfrm>
            <a:off x="1693777" y="5276088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05239</a:t>
            </a:r>
          </a:p>
        </p:txBody>
      </p:sp>
      <p:cxnSp>
        <p:nvCxnSpPr>
          <p:cNvPr id="35" name="구분선">
            <a:extLst>
              <a:ext uri="{FF2B5EF4-FFF2-40B4-BE49-F238E27FC236}">
                <a16:creationId xmlns:a16="http://schemas.microsoft.com/office/drawing/2014/main" id="{A234DA6C-D287-6816-1F21-04330A439687}"/>
              </a:ext>
            </a:extLst>
          </p:cNvPr>
          <p:cNvCxnSpPr/>
          <p:nvPr/>
        </p:nvCxnSpPr>
        <p:spPr>
          <a:xfrm>
            <a:off x="1355449" y="5513832"/>
            <a:ext cx="2651761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정류장5 이름">
            <a:extLst>
              <a:ext uri="{FF2B5EF4-FFF2-40B4-BE49-F238E27FC236}">
                <a16:creationId xmlns:a16="http://schemas.microsoft.com/office/drawing/2014/main" id="{804E87BB-8DAA-643D-DCA7-219ABA999287}"/>
              </a:ext>
            </a:extLst>
          </p:cNvPr>
          <p:cNvSpPr/>
          <p:nvPr/>
        </p:nvSpPr>
        <p:spPr>
          <a:xfrm>
            <a:off x="1693777" y="5641848"/>
            <a:ext cx="164592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1">
                <a:solidFill>
                  <a:srgbClr val="14181F"/>
                </a:solidFill>
                <a:latin typeface="Pretendard"/>
              </a:rPr>
              <a:t>천주교서울대교구홍병철관</a:t>
            </a:r>
          </a:p>
        </p:txBody>
      </p:sp>
      <p:sp>
        <p:nvSpPr>
          <p:cNvPr id="37" name="정류장5 번호">
            <a:extLst>
              <a:ext uri="{FF2B5EF4-FFF2-40B4-BE49-F238E27FC236}">
                <a16:creationId xmlns:a16="http://schemas.microsoft.com/office/drawing/2014/main" id="{56095285-5E2D-4276-9997-64ED8169E3F4}"/>
              </a:ext>
            </a:extLst>
          </p:cNvPr>
          <p:cNvSpPr/>
          <p:nvPr/>
        </p:nvSpPr>
        <p:spPr>
          <a:xfrm>
            <a:off x="1693777" y="5788152"/>
            <a:ext cx="91440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00" b="0">
                <a:solidFill>
                  <a:srgbClr val="767676"/>
                </a:solidFill>
                <a:latin typeface="Pretendard"/>
              </a:rPr>
              <a:t>05104</a:t>
            </a:r>
          </a:p>
        </p:txBody>
      </p: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70335664-EC04-FACC-0C3F-D35601A368B3}"/>
              </a:ext>
            </a:extLst>
          </p:cNvPr>
          <p:cNvSpPr/>
          <p:nvPr/>
        </p:nvSpPr>
        <p:spPr>
          <a:xfrm>
            <a:off x="3273560" y="3511296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39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5048251" y="1188720"/>
            <a:ext cx="2324100" cy="18745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문구">
            <a:extLst>
              <a:ext uri="{FF2B5EF4-FFF2-40B4-BE49-F238E27FC236}">
                <a16:creationId xmlns:a16="http://schemas.microsoft.com/office/drawing/2014/main" id="{4928763B-AA22-6C1A-9263-BC26A488D87C}"/>
              </a:ext>
            </a:extLst>
          </p:cNvPr>
          <p:cNvSpPr txBox="1"/>
          <p:nvPr/>
        </p:nvSpPr>
        <p:spPr>
          <a:xfrm>
            <a:off x="5238751" y="13410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승차 예약</a:t>
            </a:r>
          </a:p>
        </p:txBody>
      </p:sp>
      <p:sp>
        <p:nvSpPr>
          <p:cNvPr id="41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5238751" y="1652400"/>
            <a:ext cx="1943100" cy="1809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 예약 신청되었습니다.</a:t>
            </a:r>
          </a:p>
        </p:txBody>
      </p:sp>
      <p:sp>
        <p:nvSpPr>
          <p:cNvPr id="42" name="팝업 문구">
            <a:extLst>
              <a:ext uri="{FF2B5EF4-FFF2-40B4-BE49-F238E27FC236}">
                <a16:creationId xmlns:a16="http://schemas.microsoft.com/office/drawing/2014/main" id="{715A68C8-2B27-A4AF-AFC5-321DB1CF4000}"/>
              </a:ext>
            </a:extLst>
          </p:cNvPr>
          <p:cNvSpPr txBox="1"/>
          <p:nvPr/>
        </p:nvSpPr>
        <p:spPr>
          <a:xfrm>
            <a:off x="5238751" y="1833480"/>
            <a:ext cx="1943100" cy="3619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버스가 도착할 때쯤 예약이 확정됩니다.</a:t>
            </a:r>
          </a:p>
        </p:txBody>
      </p:sp>
      <p:sp>
        <p:nvSpPr>
          <p:cNvPr id="43" name="팝업 버튼 확인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257801" y="2567952"/>
            <a:ext cx="1866900" cy="323850"/>
          </a:xfrm>
          <a:prstGeom prst="roundRect">
            <a:avLst>
              <a:gd name="adj" fmla="val 3215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257801" y="2567952"/>
            <a:ext cx="1866900" cy="3238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확인</a:t>
            </a:r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90951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하차 안내 — 탑승 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탑승이 확인되고 하차 정류장이 지정된 건에만 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하차 예고 — 하차 정류장 2정거장 전 · PUSH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하차 임박 — 하차 정류장 1개 전 통과 · PUSH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미지정이면 안내하지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팝업을 띄우지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표기 · 비회원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도착이 한 건도 없으면 「도착 정보 없음」 — 행을 비워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도착이 1건뿐이면 그 1건만 표출 — 2건째 자리를 만들지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[예약 내역 보기] · 3-4는 비회원에게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7" name="팝업 (탑승 확인)"/>
          <p:cNvSpPr/>
          <p:nvPr/>
        </p:nvSpPr>
        <p:spPr>
          <a:xfrm>
            <a:off x="5047200" y="3337559"/>
            <a:ext cx="2325600" cy="129600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팝업 문구"/>
          <p:cNvSpPr txBox="1"/>
          <p:nvPr/>
        </p:nvSpPr>
        <p:spPr>
          <a:xfrm>
            <a:off x="5238000" y="3488759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탑승 확인</a:t>
            </a:r>
          </a:p>
        </p:txBody>
      </p:sp>
      <p:sp>
        <p:nvSpPr>
          <p:cNvPr id="49" name="팝업 문구"/>
          <p:cNvSpPr txBox="1"/>
          <p:nvPr/>
        </p:nvSpPr>
        <p:spPr>
          <a:xfrm>
            <a:off x="5238000" y="3798359"/>
            <a:ext cx="1944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err="1">
                <a:solidFill>
                  <a:srgbClr val="5B6573"/>
                </a:solidFill>
                <a:latin typeface="Pretendard"/>
              </a:rPr>
              <a:t>버스에 탑승하셨습니까?</a:t>
            </a:r>
          </a:p>
        </p:txBody>
      </p:sp>
      <p:sp>
        <p:nvSpPr>
          <p:cNvPr id="50" name="팝업 버튼 아니요"/>
          <p:cNvSpPr/>
          <p:nvPr/>
        </p:nvSpPr>
        <p:spPr>
          <a:xfrm>
            <a:off x="5259600" y="420156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팝업 버튼 라벨"/>
          <p:cNvSpPr txBox="1"/>
          <p:nvPr/>
        </p:nvSpPr>
        <p:spPr>
          <a:xfrm>
            <a:off x="5259600" y="420156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아니요</a:t>
            </a:r>
          </a:p>
        </p:txBody>
      </p:sp>
      <p:sp>
        <p:nvSpPr>
          <p:cNvPr id="52" name="팝업 버튼 네"/>
          <p:cNvSpPr/>
          <p:nvPr/>
        </p:nvSpPr>
        <p:spPr>
          <a:xfrm>
            <a:off x="6220800" y="4201560"/>
            <a:ext cx="907200" cy="324000"/>
          </a:xfrm>
          <a:prstGeom prst="roundRect">
            <a:avLst>
              <a:gd name="adj" fmla="val 3214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팝업 버튼 라벨"/>
          <p:cNvSpPr txBox="1"/>
          <p:nvPr/>
        </p:nvSpPr>
        <p:spPr>
          <a:xfrm>
            <a:off x="6220800" y="4201560"/>
            <a:ext cx="907200" cy="32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네</a:t>
            </a:r>
          </a:p>
        </p:txBody>
      </p:sp>
      <p:sp>
        <p:nvSpPr>
          <p:cNvPr id="54" name="현위치 라벨"/>
          <p:cNvSpPr/>
          <p:nvPr/>
        </p:nvSpPr>
        <p:spPr>
          <a:xfrm>
            <a:off x="2889504" y="3172968"/>
            <a:ext cx="96012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승차 정류장</a:t>
            </a:r>
          </a:p>
        </p:txBody>
      </p:sp>
      <p:sp>
        <p:nvSpPr>
          <p:cNvPr id="55" name="차기 도착"/>
          <p:cNvSpPr/>
          <p:nvPr/>
        </p:nvSpPr>
        <p:spPr>
          <a:xfrm>
            <a:off x="1691640" y="3529584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14181F"/>
                </a:solidFill>
                <a:latin typeface="Pretendard"/>
              </a:rPr>
              <a:t>저상 1분 · 1번째 전</a:t>
            </a:r>
          </a:p>
        </p:txBody>
      </p:sp>
      <p:sp>
        <p:nvSpPr>
          <p:cNvPr id="56" name="차차기 도착"/>
          <p:cNvSpPr/>
          <p:nvPr/>
        </p:nvSpPr>
        <p:spPr>
          <a:xfrm>
            <a:off x="1691640" y="3749040"/>
            <a:ext cx="155448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5B6573"/>
                </a:solidFill>
                <a:latin typeface="Pretendard"/>
              </a:rPr>
              <a:t>저상 9분 후 · 5번째 전</a:t>
            </a:r>
          </a:p>
        </p:txBody>
      </p:sp>
      <p:sp>
        <p:nvSpPr>
          <p:cNvPr id="57" name="정류장4 차량"/>
          <p:cNvSpPr/>
          <p:nvPr/>
        </p:nvSpPr>
        <p:spPr>
          <a:xfrm>
            <a:off x="1691640" y="5449824"/>
            <a:ext cx="1700784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1" lang="ko-KR" altLang="en-US">
                <a:solidFill>
                  <a:srgbClr val="C00000"/>
                </a:solidFill>
                <a:latin typeface="Pretendard"/>
              </a:rPr>
              <a:t>서울74사4102 · 저상</a:t>
            </a:r>
          </a:p>
        </p:txBody>
      </p:sp>
      <p:sp>
        <p:nvSpPr>
          <p:cNvPr id="58" name="노선 운행대수"/>
          <p:cNvSpPr/>
          <p:nvPr/>
        </p:nvSpPr>
        <p:spPr>
          <a:xfrm>
            <a:off x="1510589" y="2249424"/>
            <a:ext cx="1737360" cy="12801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sz="650" b="0">
                <a:solidFill>
                  <a:srgbClr val="767676"/>
                </a:solidFill>
                <a:latin typeface="Pretendard"/>
              </a:rPr>
              <a:t>배차간격 8~15분 · 현재 18대 운행중</a:t>
            </a:r>
          </a:p>
        </p:txBody>
      </p:sp>
      <p:sp>
        <p:nvSpPr>
          <p:cNvPr id="59" name="t"/>
          <p:cNvSpPr txBox="1"/>
          <p:nvPr/>
        </p:nvSpPr>
        <p:spPr>
          <a:xfrm>
            <a:off x="3108960" y="135788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2D4CC8"/>
                </a:solidFill>
                <a:latin typeface="Pretendard"/>
                <a:ea typeface="Pretendard"/>
              </a:rPr>
              <a:t>예약 내역 보기</a:t>
            </a:r>
          </a:p>
        </p:txBody>
      </p:sp>
      <p:sp>
        <p:nvSpPr>
          <p:cNvPr id="60" name="사각형: 둥근 모서리 29"/>
          <p:cNvSpPr/>
          <p:nvPr/>
        </p:nvSpPr>
        <p:spPr>
          <a:xfrm>
            <a:off x="3273552" y="3895344"/>
            <a:ext cx="603644" cy="202386"/>
          </a:xfrm>
          <a:prstGeom prst="roundRect">
            <a:avLst>
              <a:gd name="adj" fmla="val 37650"/>
            </a:avLst>
          </a:prstGeom>
          <a:solidFill>
            <a:srgbClr val="FFFFFF"/>
          </a:solidFill>
          <a:ln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649">
                <a:solidFill>
                  <a:srgbClr val="9AA4B0"/>
                </a:solidFill>
                <a:latin typeface="Pretendard"/>
              </a:rPr>
              <a:t>승차 예약</a:t>
            </a:r>
          </a:p>
        </p:txBody>
      </p:sp>
      <p:sp>
        <p:nvSpPr>
          <p:cNvPr id="61" name="t"/>
          <p:cNvSpPr txBox="1"/>
          <p:nvPr/>
        </p:nvSpPr>
        <p:spPr>
          <a:xfrm>
            <a:off x="1691640" y="392277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예약 신청 완료</a:t>
            </a:r>
          </a:p>
        </p:txBody>
      </p:sp>
      <p:sp>
        <p:nvSpPr>
          <p:cNvPr id="62" name="more"/>
          <p:cNvSpPr/>
          <p:nvPr/>
        </p:nvSpPr>
        <p:spPr>
          <a:xfrm>
            <a:off x="2057400" y="4160520"/>
            <a:ext cx="12344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2057400" y="4219956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더보기</a:t>
            </a:r>
          </a:p>
        </p:txBody>
      </p:sp>
      <p:cxnSp>
        <p:nvCxnSpPr>
          <p:cNvPr id="64" name="ln"/>
          <p:cNvCxnSpPr/>
          <p:nvPr/>
        </p:nvCxnSpPr>
        <p:spPr>
          <a:xfrm>
            <a:off x="1504188" y="2798064"/>
            <a:ext cx="0" cy="2889504"/>
          </a:xfrm>
          <a:prstGeom prst="line">
            <a:avLst/>
          </a:prstGeom>
          <a:ln w="19050">
            <a:solidFill>
              <a:srgbClr val="C7CED8"/>
            </a:solidFill>
          </a:ln>
        </p:spPr>
      </p:cxnSp>
      <p:sp>
        <p:nvSpPr>
          <p:cNvPr id="65" name="dot"/>
          <p:cNvSpPr/>
          <p:nvPr/>
        </p:nvSpPr>
        <p:spPr>
          <a:xfrm>
            <a:off x="1458468" y="275691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6" name="dot"/>
          <p:cNvSpPr/>
          <p:nvPr/>
        </p:nvSpPr>
        <p:spPr>
          <a:xfrm>
            <a:off x="1458468" y="319125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7" name="dot"/>
          <p:cNvSpPr/>
          <p:nvPr/>
        </p:nvSpPr>
        <p:spPr>
          <a:xfrm>
            <a:off x="1458468" y="457200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8" name="dot"/>
          <p:cNvSpPr/>
          <p:nvPr/>
        </p:nvSpPr>
        <p:spPr>
          <a:xfrm>
            <a:off x="1458468" y="5148072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69" name="dot"/>
          <p:cNvSpPr/>
          <p:nvPr/>
        </p:nvSpPr>
        <p:spPr>
          <a:xfrm>
            <a:off x="1458468" y="56601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B6573"/>
            </a:solidFill>
          </a:ln>
        </p:spPr>
        <p:txBody>
          <a:bodyPr/>
          <a:lstStyle/>
          <a:p/>
        </p:txBody>
      </p:sp>
      <p:sp>
        <p:nvSpPr>
          <p:cNvPr id="70" name="팝업 보조 버튼"/>
          <p:cNvSpPr txBox="1"/>
          <p:nvPr/>
        </p:nvSpPr>
        <p:spPr>
          <a:xfrm>
            <a:off x="5239512" y="2220480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787" b="0" spc="-16" dirty="0" lang="ko-KR" altLang="en-US">
                <a:solidFill>
                  <a:srgbClr val="5B6573"/>
                </a:solidFill>
                <a:latin typeface="Pretendard"/>
              </a:rPr>
              <a:t>하차 정류장 지정 (선택)  ›</a:t>
            </a:r>
          </a:p>
        </p:txBody>
      </p:sp>
      <p:sp>
        <p:nvSpPr>
          <p:cNvPr id="71" name="push"/>
          <p:cNvSpPr/>
          <p:nvPr/>
        </p:nvSpPr>
        <p:spPr>
          <a:xfrm>
            <a:off x="5047488" y="4910328"/>
            <a:ext cx="2322576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5138928" y="4974336"/>
            <a:ext cx="21396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하차 안내 PUSH — 2단</a:t>
            </a:r>
          </a:p>
        </p:txBody>
      </p:sp>
      <p:sp>
        <p:nvSpPr>
          <p:cNvPr id="73" name="t"/>
          <p:cNvSpPr txBox="1"/>
          <p:nvPr/>
        </p:nvSpPr>
        <p:spPr>
          <a:xfrm>
            <a:off x="5138928" y="5157216"/>
            <a:ext cx="213969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① 하차 예고  능동우편취급국에서 하차 (2 정거장 남음)</a:t>
            </a:r>
          </a:p>
        </p:txBody>
      </p:sp>
      <p:sp>
        <p:nvSpPr>
          <p:cNvPr id="74" name="t"/>
          <p:cNvSpPr txBox="1"/>
          <p:nvPr/>
        </p:nvSpPr>
        <p:spPr>
          <a:xfrm>
            <a:off x="5138928" y="5321808"/>
            <a:ext cx="213969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② 하차 임박  다음 어린이대공원후문에서 하차</a:t>
            </a:r>
          </a:p>
        </p:txBody>
      </p:sp>
      <p:sp>
        <p:nvSpPr>
          <p:cNvPr id="75" name="t"/>
          <p:cNvSpPr txBox="1"/>
          <p:nvPr/>
        </p:nvSpPr>
        <p:spPr>
          <a:xfrm>
            <a:off x="5138928" y="5513832"/>
            <a:ext cx="213969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지정된 건에만 · 팝업을 띄우지 않음</a:t>
            </a:r>
          </a:p>
        </p:txBody>
      </p:sp>
      <p:sp>
        <p:nvSpPr>
          <p:cNvPr id="76" name="새로고침"/>
          <p:cNvSpPr txBox="1"/>
          <p:nvPr/>
        </p:nvSpPr>
        <p:spPr>
          <a:xfrm>
            <a:off x="3730752" y="2491740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77" name="직사각형 110">
            <a:extLst>
              <a:ext uri="{FF2B5EF4-FFF2-40B4-BE49-F238E27FC236}">
                <a16:creationId xmlns:a16="http://schemas.microsoft.com/office/drawing/2014/main" id="{9264A31E-A1A8-94FF-B16E-49342F53E702}"/>
              </a:ext>
            </a:extLst>
          </p:cNvPr>
          <p:cNvSpPr/>
          <p:nvPr/>
        </p:nvSpPr>
        <p:spPr>
          <a:xfrm>
            <a:off x="1417320" y="4809744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8" name="직사각형 111"/>
          <p:cNvSpPr/>
          <p:nvPr/>
        </p:nvSpPr>
        <p:spPr>
          <a:xfrm>
            <a:off x="1417320" y="5394960"/>
            <a:ext cx="237744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00">
                <a:solidFill>
                  <a:srgbClr val="767676"/>
                </a:solidFill>
                <a:latin typeface="Pretendard"/>
              </a:rPr>
              <a:t>버스</a:t>
            </a:r>
          </a:p>
        </p:txBody>
      </p:sp>
      <p:sp>
        <p:nvSpPr>
          <p:cNvPr id="79" name="숫자배지 1"/>
          <p:cNvSpPr/>
          <p:nvPr/>
        </p:nvSpPr>
        <p:spPr>
          <a:xfrm>
            <a:off x="1097280" y="13258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0" name="숫자배지 2"/>
          <p:cNvSpPr/>
          <p:nvPr/>
        </p:nvSpPr>
        <p:spPr>
          <a:xfrm>
            <a:off x="1097280" y="2148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1" name="숫자배지 3"/>
          <p:cNvSpPr/>
          <p:nvPr/>
        </p:nvSpPr>
        <p:spPr>
          <a:xfrm>
            <a:off x="3072384" y="24505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2" name="숫자배지 4"/>
          <p:cNvSpPr/>
          <p:nvPr/>
        </p:nvSpPr>
        <p:spPr>
          <a:xfrm>
            <a:off x="1078992" y="3154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3" name="숫자배지 5"/>
          <p:cNvSpPr/>
          <p:nvPr/>
        </p:nvSpPr>
        <p:spPr>
          <a:xfrm>
            <a:off x="1078992" y="35295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4" name="숫자배지 6"/>
          <p:cNvSpPr/>
          <p:nvPr/>
        </p:nvSpPr>
        <p:spPr>
          <a:xfrm>
            <a:off x="3017520" y="3520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85" name="숫자배지 7"/>
          <p:cNvSpPr/>
          <p:nvPr/>
        </p:nvSpPr>
        <p:spPr>
          <a:xfrm>
            <a:off x="3017520" y="38953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86" name="숫자배지 8"/>
          <p:cNvSpPr/>
          <p:nvPr/>
        </p:nvSpPr>
        <p:spPr>
          <a:xfrm>
            <a:off x="1783080" y="41605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87" name="숫자배지 9"/>
          <p:cNvSpPr/>
          <p:nvPr/>
        </p:nvSpPr>
        <p:spPr>
          <a:xfrm>
            <a:off x="1078992" y="48097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88" name="숫자배지 10"/>
          <p:cNvSpPr/>
          <p:nvPr/>
        </p:nvSpPr>
        <p:spPr>
          <a:xfrm>
            <a:off x="4846320" y="11963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89" name="숫자배지 10-1"/>
          <p:cNvSpPr/>
          <p:nvPr/>
        </p:nvSpPr>
        <p:spPr>
          <a:xfrm>
            <a:off x="4882896" y="2202192"/>
            <a:ext cx="36576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10-1</a:t>
            </a:r>
          </a:p>
        </p:txBody>
      </p:sp>
      <p:sp>
        <p:nvSpPr>
          <p:cNvPr id="90" name="숫자배지 11"/>
          <p:cNvSpPr/>
          <p:nvPr/>
        </p:nvSpPr>
        <p:spPr>
          <a:xfrm>
            <a:off x="4846320" y="334619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91" name="숫자배지 12"/>
          <p:cNvSpPr/>
          <p:nvPr/>
        </p:nvSpPr>
        <p:spPr>
          <a:xfrm>
            <a:off x="4700016" y="49286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9548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3523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975360" y="3140964"/>
            <a:ext cx="128016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080135" y="3140964"/>
            <a:ext cx="10706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지하철역 검색"/>
          <p:cNvSpPr/>
          <p:nvPr/>
        </p:nvSpPr>
        <p:spPr>
          <a:xfrm>
            <a:off x="2667000" y="3140964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2771775" y="3140964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1-4 지하철역 검색</a:t>
            </a:r>
          </a:p>
        </p:txBody>
      </p:sp>
      <p:sp>
        <p:nvSpPr>
          <p:cNvPr id="13" name="흐름 1-5 지하철역 정보"/>
          <p:cNvSpPr/>
          <p:nvPr/>
        </p:nvSpPr>
        <p:spPr>
          <a:xfrm>
            <a:off x="4632960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4737735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1-4-1 역 정보</a:t>
            </a:r>
          </a:p>
        </p:txBody>
      </p:sp>
      <p:sp>
        <p:nvSpPr>
          <p:cNvPr id="15" name="흐름 전화 연결"/>
          <p:cNvSpPr/>
          <p:nvPr/>
        </p:nvSpPr>
        <p:spPr>
          <a:xfrm>
            <a:off x="7421880" y="213512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7526655" y="213512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전화 연결</a:t>
            </a:r>
          </a:p>
        </p:txBody>
      </p:sp>
      <p:cxnSp>
        <p:nvCxnSpPr>
          <p:cNvPr id="17" name="연결선"/>
          <p:cNvCxnSpPr>
            <a:stCxn id="9" idx="3"/>
            <a:endCxn id="11" idx="1"/>
          </p:cNvCxnSpPr>
          <p:nvPr/>
        </p:nvCxnSpPr>
        <p:spPr>
          <a:xfrm>
            <a:off x="225552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"/>
          <p:cNvCxnSpPr>
            <a:stCxn id="11" idx="3"/>
            <a:endCxn id="13" idx="1"/>
          </p:cNvCxnSpPr>
          <p:nvPr/>
        </p:nvCxnSpPr>
        <p:spPr>
          <a:xfrm>
            <a:off x="4221480" y="3424428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연결선"/>
          <p:cNvCxnSpPr>
            <a:stCxn id="15" idx="3"/>
            <a:endCxn id="17" idx="1"/>
          </p:cNvCxnSpPr>
          <p:nvPr/>
        </p:nvCxnSpPr>
        <p:spPr>
          <a:xfrm>
            <a:off x="6462065" y="3424428"/>
            <a:ext cx="68580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1" name="흐름 전화 연결"/>
          <p:cNvSpPr/>
          <p:nvPr/>
        </p:nvSpPr>
        <p:spPr>
          <a:xfrm>
            <a:off x="7422185" y="314096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7526426" y="314096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1-4-2 시간표</a:t>
            </a:r>
          </a:p>
        </p:txBody>
      </p:sp>
      <p:sp>
        <p:nvSpPr>
          <p:cNvPr id="23" name="흐름 전화 연결"/>
          <p:cNvSpPr/>
          <p:nvPr/>
        </p:nvSpPr>
        <p:spPr>
          <a:xfrm>
            <a:off x="7422185" y="4146804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흐름 제목"/>
          <p:cNvSpPr txBox="1"/>
          <p:nvPr/>
        </p:nvSpPr>
        <p:spPr>
          <a:xfrm>
            <a:off x="7526426" y="4146804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2-3 상세경로</a:t>
            </a:r>
          </a:p>
        </p:txBody>
      </p:sp>
      <p:cxnSp>
        <p:nvCxnSpPr>
          <p:cNvPr id="25" name="연결선"/>
          <p:cNvCxnSpPr>
            <a:stCxn id="15" idx="3"/>
            <a:endCxn id="17" idx="1"/>
          </p:cNvCxnSpPr>
          <p:nvPr/>
        </p:nvCxnSpPr>
        <p:spPr>
          <a:xfrm>
            <a:off x="7147865" y="2418588"/>
            <a:ext cx="0" cy="201168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5" idx="3"/>
            <a:endCxn id="17" idx="1"/>
          </p:cNvCxnSpPr>
          <p:nvPr/>
        </p:nvCxnSpPr>
        <p:spPr>
          <a:xfrm>
            <a:off x="7147865" y="2418588"/>
            <a:ext cx="2743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7" idx="1"/>
          </p:cNvCxnSpPr>
          <p:nvPr/>
        </p:nvCxnSpPr>
        <p:spPr>
          <a:xfrm>
            <a:off x="7147865" y="4430268"/>
            <a:ext cx="2743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8600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3상태 (1/2)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/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검색창"/>
          <p:cNvSpPr/>
          <p:nvPr/>
        </p:nvSpPr>
        <p:spPr>
          <a:xfrm>
            <a:off x="661988" y="1282827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검색창 문구"/>
          <p:cNvSpPr txBox="1"/>
          <p:nvPr/>
        </p:nvSpPr>
        <p:spPr>
          <a:xfrm>
            <a:off x="808292" y="1360551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3" name="목업 프레임"/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/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검색창"/>
          <p:cNvSpPr/>
          <p:nvPr/>
        </p:nvSpPr>
        <p:spPr>
          <a:xfrm>
            <a:off x="3586162" y="1282827"/>
            <a:ext cx="2238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검색창 문구"/>
          <p:cNvSpPr txBox="1"/>
          <p:nvPr/>
        </p:nvSpPr>
        <p:spPr>
          <a:xfrm>
            <a:off x="3732465" y="1360551"/>
            <a:ext cx="1982344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7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9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62445"/>
              </p:ext>
            </p:extLst>
          </p:nvPr>
        </p:nvGraphicFramePr>
        <p:xfrm>
          <a:off x="9277502" y="1447800"/>
          <a:ext cx="2553309" cy="445978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검색창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placeholder 「지하철역 검색」 — 접두어를 붙이지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실행 버튼을 두지 않음 — 입력하는 대로 결과가 바뀜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② 포커스 · 한 글자라도 입력하면 ③ · 비우면 ① 기본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 배지 ＋ 역명 1줄 — 행에 있는 것은 이 둘뿐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거리 · 주소를 행에 넣지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같은 역도 노선마다 별도 행 — 하나로 합치지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[&gt;]·☆를 행에 두지 않음 · 행 탭 → 1-4-1 역 정보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노선 배지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호선별 노선색을 배경으로 하는 태그 — 안에 「N호선」 텍스트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지선도 본선 호선으로만 표기 — 「2호선」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2" name="목업 프레임"/>
          <p:cNvSpPr/>
          <p:nvPr/>
        </p:nvSpPr>
        <p:spPr>
          <a:xfrm>
            <a:off x="6148426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구분선"/>
          <p:cNvSpPr/>
          <p:nvPr/>
        </p:nvSpPr>
        <p:spPr>
          <a:xfrm>
            <a:off x="6158484" y="1686154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검색창"/>
          <p:cNvSpPr/>
          <p:nvPr/>
        </p:nvSpPr>
        <p:spPr>
          <a:xfrm>
            <a:off x="6510528" y="1282903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검색창 문구"/>
          <p:cNvSpPr txBox="1"/>
          <p:nvPr/>
        </p:nvSpPr>
        <p:spPr>
          <a:xfrm>
            <a:off x="6656832" y="1360627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</a:t>
            </a:r>
          </a:p>
        </p:txBody>
      </p:sp>
      <p:sp>
        <p:nvSpPr>
          <p:cNvPr id="26" name="linebadge"/>
          <p:cNvSpPr/>
          <p:nvPr/>
        </p:nvSpPr>
        <p:spPr>
          <a:xfrm>
            <a:off x="455371" y="2084831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"/>
          <p:cNvSpPr txBox="1"/>
          <p:nvPr/>
        </p:nvSpPr>
        <p:spPr>
          <a:xfrm>
            <a:off x="455371" y="21259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28" name="t"/>
          <p:cNvSpPr txBox="1"/>
          <p:nvPr/>
        </p:nvSpPr>
        <p:spPr>
          <a:xfrm>
            <a:off x="921715" y="20802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29" name="linebadge"/>
          <p:cNvSpPr/>
          <p:nvPr/>
        </p:nvSpPr>
        <p:spPr>
          <a:xfrm>
            <a:off x="455371" y="25420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"/>
          <p:cNvSpPr txBox="1"/>
          <p:nvPr/>
        </p:nvSpPr>
        <p:spPr>
          <a:xfrm>
            <a:off x="455371" y="25831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1" name="t"/>
          <p:cNvSpPr txBox="1"/>
          <p:nvPr/>
        </p:nvSpPr>
        <p:spPr>
          <a:xfrm>
            <a:off x="921715" y="25374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cxnSp>
        <p:nvCxnSpPr>
          <p:cNvPr id="32" name="ln"/>
          <p:cNvCxnSpPr/>
          <p:nvPr/>
        </p:nvCxnSpPr>
        <p:spPr>
          <a:xfrm>
            <a:off x="455371" y="24140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3" name="linebadge"/>
          <p:cNvSpPr/>
          <p:nvPr/>
        </p:nvSpPr>
        <p:spPr>
          <a:xfrm>
            <a:off x="455371" y="29992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"/>
          <p:cNvSpPr txBox="1"/>
          <p:nvPr/>
        </p:nvSpPr>
        <p:spPr>
          <a:xfrm>
            <a:off x="455371" y="30403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35" name="t"/>
          <p:cNvSpPr txBox="1"/>
          <p:nvPr/>
        </p:nvSpPr>
        <p:spPr>
          <a:xfrm>
            <a:off x="921715" y="29946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어린이대공원</a:t>
            </a:r>
          </a:p>
        </p:txBody>
      </p:sp>
      <p:cxnSp>
        <p:nvCxnSpPr>
          <p:cNvPr id="36" name="ln"/>
          <p:cNvCxnSpPr/>
          <p:nvPr/>
        </p:nvCxnSpPr>
        <p:spPr>
          <a:xfrm>
            <a:off x="455371" y="28712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7" name="t"/>
          <p:cNvSpPr txBox="1"/>
          <p:nvPr/>
        </p:nvSpPr>
        <p:spPr>
          <a:xfrm>
            <a:off x="3379622" y="187452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최근 검색</a:t>
            </a:r>
          </a:p>
        </p:txBody>
      </p:sp>
      <p:sp>
        <p:nvSpPr>
          <p:cNvPr id="38" name="linebadge"/>
          <p:cNvSpPr/>
          <p:nvPr/>
        </p:nvSpPr>
        <p:spPr>
          <a:xfrm>
            <a:off x="3379622" y="2194560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"/>
          <p:cNvSpPr txBox="1"/>
          <p:nvPr/>
        </p:nvSpPr>
        <p:spPr>
          <a:xfrm>
            <a:off x="3379622" y="22357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40" name="t"/>
          <p:cNvSpPr txBox="1"/>
          <p:nvPr/>
        </p:nvSpPr>
        <p:spPr>
          <a:xfrm>
            <a:off x="3845966" y="21899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41" name="t"/>
          <p:cNvSpPr txBox="1"/>
          <p:nvPr/>
        </p:nvSpPr>
        <p:spPr>
          <a:xfrm>
            <a:off x="5190134" y="2203704"/>
            <a:ext cx="411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09.16</a:t>
            </a:r>
          </a:p>
        </p:txBody>
      </p:sp>
      <p:sp>
        <p:nvSpPr>
          <p:cNvPr id="42" name="t"/>
          <p:cNvSpPr txBox="1"/>
          <p:nvPr/>
        </p:nvSpPr>
        <p:spPr>
          <a:xfrm>
            <a:off x="5674766" y="219913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43" name="linebadge"/>
          <p:cNvSpPr/>
          <p:nvPr/>
        </p:nvSpPr>
        <p:spPr>
          <a:xfrm>
            <a:off x="3379622" y="2651760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00A8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3379622" y="26929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2호선</a:t>
            </a:r>
          </a:p>
        </p:txBody>
      </p:sp>
      <p:sp>
        <p:nvSpPr>
          <p:cNvPr id="45" name="t"/>
          <p:cNvSpPr txBox="1"/>
          <p:nvPr/>
        </p:nvSpPr>
        <p:spPr>
          <a:xfrm>
            <a:off x="3845966" y="26471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왕십리역</a:t>
            </a:r>
          </a:p>
        </p:txBody>
      </p:sp>
      <p:sp>
        <p:nvSpPr>
          <p:cNvPr id="46" name="t"/>
          <p:cNvSpPr txBox="1"/>
          <p:nvPr/>
        </p:nvSpPr>
        <p:spPr>
          <a:xfrm>
            <a:off x="5190134" y="2660904"/>
            <a:ext cx="411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09.14</a:t>
            </a:r>
          </a:p>
        </p:txBody>
      </p:sp>
      <p:sp>
        <p:nvSpPr>
          <p:cNvPr id="47" name="t"/>
          <p:cNvSpPr txBox="1"/>
          <p:nvPr/>
        </p:nvSpPr>
        <p:spPr>
          <a:xfrm>
            <a:off x="5674766" y="265633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3379622" y="2523744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49" name="keypad"/>
          <p:cNvSpPr/>
          <p:nvPr/>
        </p:nvSpPr>
        <p:spPr>
          <a:xfrm>
            <a:off x="3251606" y="4160520"/>
            <a:ext cx="2678278" cy="2057400"/>
          </a:xfrm>
          <a:prstGeom prst="rect">
            <a:avLst/>
          </a:prstGeom>
          <a:solidFill>
            <a:srgbClr val="F2F4F7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0" name="t"/>
          <p:cNvSpPr txBox="1"/>
          <p:nvPr/>
        </p:nvSpPr>
        <p:spPr>
          <a:xfrm>
            <a:off x="3251606" y="5138928"/>
            <a:ext cx="267827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한글 키패드</a:t>
            </a:r>
          </a:p>
        </p:txBody>
      </p:sp>
      <p:sp>
        <p:nvSpPr>
          <p:cNvPr id="51" name="linebadge"/>
          <p:cNvSpPr/>
          <p:nvPr/>
        </p:nvSpPr>
        <p:spPr>
          <a:xfrm>
            <a:off x="6303874" y="2084831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6303874" y="21259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53" name="t"/>
          <p:cNvSpPr txBox="1"/>
          <p:nvPr/>
        </p:nvSpPr>
        <p:spPr>
          <a:xfrm>
            <a:off x="6770218" y="20802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54" name="linebadge"/>
          <p:cNvSpPr/>
          <p:nvPr/>
        </p:nvSpPr>
        <p:spPr>
          <a:xfrm>
            <a:off x="6303874" y="25420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6303874" y="25831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56" name="t"/>
          <p:cNvSpPr txBox="1"/>
          <p:nvPr/>
        </p:nvSpPr>
        <p:spPr>
          <a:xfrm>
            <a:off x="6770218" y="25374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cxnSp>
        <p:nvCxnSpPr>
          <p:cNvPr id="57" name="ln"/>
          <p:cNvCxnSpPr/>
          <p:nvPr/>
        </p:nvCxnSpPr>
        <p:spPr>
          <a:xfrm>
            <a:off x="6303874" y="24140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58" name="linebadge"/>
          <p:cNvSpPr/>
          <p:nvPr/>
        </p:nvSpPr>
        <p:spPr>
          <a:xfrm>
            <a:off x="6303874" y="29992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6303874" y="30403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60" name="t"/>
          <p:cNvSpPr txBox="1"/>
          <p:nvPr/>
        </p:nvSpPr>
        <p:spPr>
          <a:xfrm>
            <a:off x="6770218" y="29946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군자역사거리</a:t>
            </a:r>
          </a:p>
        </p:txBody>
      </p:sp>
      <p:cxnSp>
        <p:nvCxnSpPr>
          <p:cNvPr id="61" name="ln"/>
          <p:cNvCxnSpPr/>
          <p:nvPr/>
        </p:nvCxnSpPr>
        <p:spPr>
          <a:xfrm>
            <a:off x="6303874" y="28712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299923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① 기본 — 인근 5km · 거리순</a:t>
            </a:r>
          </a:p>
        </p:txBody>
      </p:sp>
      <p:sp>
        <p:nvSpPr>
          <p:cNvPr id="63" name="t"/>
          <p:cNvSpPr txBox="1"/>
          <p:nvPr/>
        </p:nvSpPr>
        <p:spPr>
          <a:xfrm>
            <a:off x="3224174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② 검색창 포커스 — 최근 검색</a:t>
            </a:r>
          </a:p>
        </p:txBody>
      </p:sp>
      <p:sp>
        <p:nvSpPr>
          <p:cNvPr id="64" name="t"/>
          <p:cNvSpPr txBox="1"/>
          <p:nvPr/>
        </p:nvSpPr>
        <p:spPr>
          <a:xfrm>
            <a:off x="6148426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③ 입력 중 — 관련 역</a:t>
            </a:r>
          </a:p>
        </p:txBody>
      </p:sp>
      <p:cxnSp>
        <p:nvCxnSpPr>
          <p:cNvPr id="65" name="뒤로가기"/>
          <p:cNvCxnSpPr/>
          <p:nvPr/>
        </p:nvCxnSpPr>
        <p:spPr>
          <a:xfrm flipH="1">
            <a:off x="45243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/>
          <p:cNvCxnSpPr/>
          <p:nvPr/>
        </p:nvCxnSpPr>
        <p:spPr>
          <a:xfrm flipH="1" flipV="1">
            <a:off x="45243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>
            <a:off x="3376611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뒤로가기"/>
          <p:cNvCxnSpPr/>
          <p:nvPr/>
        </p:nvCxnSpPr>
        <p:spPr>
          <a:xfrm flipH="1" flipV="1">
            <a:off x="3376611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/>
          <p:cNvCxnSpPr/>
          <p:nvPr/>
        </p:nvCxnSpPr>
        <p:spPr>
          <a:xfrm flipH="1">
            <a:off x="6300902" y="13918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/>
          <p:cNvCxnSpPr/>
          <p:nvPr/>
        </p:nvCxnSpPr>
        <p:spPr>
          <a:xfrm flipH="1" flipV="1">
            <a:off x="6300902" y="14375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결과 건수"/>
          <p:cNvSpPr txBox="1"/>
          <p:nvPr/>
        </p:nvSpPr>
        <p:spPr>
          <a:xfrm>
            <a:off x="446342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인근 5km · 3곳</a:t>
            </a:r>
          </a:p>
        </p:txBody>
      </p:sp>
      <p:sp>
        <p:nvSpPr>
          <p:cNvPr id="72" name="결과 건수"/>
          <p:cNvSpPr txBox="1"/>
          <p:nvPr/>
        </p:nvSpPr>
        <p:spPr>
          <a:xfrm>
            <a:off x="6294730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검색 결과 3곳</a:t>
            </a:r>
          </a:p>
        </p:txBody>
      </p:sp>
      <p:sp>
        <p:nvSpPr>
          <p:cNvPr id="73" name="숫자배지 1"/>
          <p:cNvSpPr/>
          <p:nvPr/>
        </p:nvSpPr>
        <p:spPr>
          <a:xfrm>
            <a:off x="2350008" y="11155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4" name="숫자배지 2"/>
          <p:cNvSpPr/>
          <p:nvPr/>
        </p:nvSpPr>
        <p:spPr>
          <a:xfrm>
            <a:off x="2651760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5" name="숫자배지 3"/>
          <p:cNvSpPr/>
          <p:nvPr/>
        </p:nvSpPr>
        <p:spPr>
          <a:xfrm>
            <a:off x="384048" y="23591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6" name="숫자배지 4"/>
          <p:cNvSpPr/>
          <p:nvPr/>
        </p:nvSpPr>
        <p:spPr>
          <a:xfrm>
            <a:off x="5440680" y="18470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7" name="숫자배지 5"/>
          <p:cNvSpPr/>
          <p:nvPr/>
        </p:nvSpPr>
        <p:spPr>
          <a:xfrm>
            <a:off x="5440680" y="42245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8" name="숫자배지 6"/>
          <p:cNvSpPr/>
          <p:nvPr/>
        </p:nvSpPr>
        <p:spPr>
          <a:xfrm>
            <a:off x="8503920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9" name="숫자배지 7"/>
          <p:cNvSpPr/>
          <p:nvPr/>
        </p:nvSpPr>
        <p:spPr>
          <a:xfrm>
            <a:off x="153447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503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657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검색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286000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검색 · 3상태 (2/2)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0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/>
          <p:cNvSpPr/>
          <p:nvPr/>
        </p:nvSpPr>
        <p:spPr>
          <a:xfrm>
            <a:off x="309562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검색창"/>
          <p:cNvSpPr/>
          <p:nvPr/>
        </p:nvSpPr>
        <p:spPr>
          <a:xfrm>
            <a:off x="661988" y="1282827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검색창 문구"/>
          <p:cNvSpPr txBox="1"/>
          <p:nvPr/>
        </p:nvSpPr>
        <p:spPr>
          <a:xfrm>
            <a:off x="808292" y="1360551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3" name="목업 프레임"/>
          <p:cNvSpPr/>
          <p:nvPr/>
        </p:nvSpPr>
        <p:spPr>
          <a:xfrm>
            <a:off x="322421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/>
          <p:cNvSpPr/>
          <p:nvPr/>
        </p:nvSpPr>
        <p:spPr>
          <a:xfrm>
            <a:off x="3233738" y="16859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검색창"/>
          <p:cNvSpPr/>
          <p:nvPr/>
        </p:nvSpPr>
        <p:spPr>
          <a:xfrm>
            <a:off x="3586162" y="1282827"/>
            <a:ext cx="223837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검색창 문구"/>
          <p:cNvSpPr txBox="1"/>
          <p:nvPr/>
        </p:nvSpPr>
        <p:spPr>
          <a:xfrm>
            <a:off x="3732465" y="1360551"/>
            <a:ext cx="1982344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8A94A3"/>
                </a:solidFill>
                <a:latin typeface="Pretendard"/>
              </a:rPr>
              <a:t>지하철역 검색</a:t>
            </a:r>
          </a:p>
        </p:txBody>
      </p:sp>
      <p:sp>
        <p:nvSpPr>
          <p:cNvPr id="17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9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62445"/>
              </p:ext>
            </p:extLst>
          </p:nvPr>
        </p:nvGraphicFramePr>
        <p:xfrm>
          <a:off x="9277502" y="1447800"/>
          <a:ext cx="2553309" cy="508040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최근 검색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골라서 확정된 역만 쌓임 — 검색어 문자열을 남기지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노선까지 함께 쌓음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= 노선 배지 ＋ 역명 ＋ 날짜 ＋ [✕] · 선택하면 곧바로 역 정보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2-1 · 1-3의 최근 검색과 같은 리스트를 쓰지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한글 키패드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검색창을 눌렀을 때 올림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관련 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글자라도 입력하면 최근 검색을 대신함 — 대상은 역명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구성은 2와 같음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입력 키워드 행 · 즐겨찾기 섹션을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반경 5km에 갇히지 않음 — 전체 대상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2190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결과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검색창 아래 한 줄 — ① 「인근 5km · N곳」 / ③ 「검색 결과 N곳」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N은 전체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② 최근 검색 · 0건에는 미표출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2" name="목업 프레임"/>
          <p:cNvSpPr/>
          <p:nvPr/>
        </p:nvSpPr>
        <p:spPr>
          <a:xfrm>
            <a:off x="6148426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구분선"/>
          <p:cNvSpPr/>
          <p:nvPr/>
        </p:nvSpPr>
        <p:spPr>
          <a:xfrm>
            <a:off x="6158484" y="1686154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검색창"/>
          <p:cNvSpPr/>
          <p:nvPr/>
        </p:nvSpPr>
        <p:spPr>
          <a:xfrm>
            <a:off x="6510528" y="1282903"/>
            <a:ext cx="223837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검색창 문구"/>
          <p:cNvSpPr txBox="1"/>
          <p:nvPr/>
        </p:nvSpPr>
        <p:spPr>
          <a:xfrm>
            <a:off x="6656832" y="1360627"/>
            <a:ext cx="1982341" cy="15544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군자</a:t>
            </a:r>
          </a:p>
        </p:txBody>
      </p:sp>
      <p:sp>
        <p:nvSpPr>
          <p:cNvPr id="26" name="linebadge"/>
          <p:cNvSpPr/>
          <p:nvPr/>
        </p:nvSpPr>
        <p:spPr>
          <a:xfrm>
            <a:off x="455371" y="2084831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"/>
          <p:cNvSpPr txBox="1"/>
          <p:nvPr/>
        </p:nvSpPr>
        <p:spPr>
          <a:xfrm>
            <a:off x="455371" y="21259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28" name="t"/>
          <p:cNvSpPr txBox="1"/>
          <p:nvPr/>
        </p:nvSpPr>
        <p:spPr>
          <a:xfrm>
            <a:off x="921715" y="20802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29" name="linebadge"/>
          <p:cNvSpPr/>
          <p:nvPr/>
        </p:nvSpPr>
        <p:spPr>
          <a:xfrm>
            <a:off x="455371" y="25420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"/>
          <p:cNvSpPr txBox="1"/>
          <p:nvPr/>
        </p:nvSpPr>
        <p:spPr>
          <a:xfrm>
            <a:off x="455371" y="25831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1" name="t"/>
          <p:cNvSpPr txBox="1"/>
          <p:nvPr/>
        </p:nvSpPr>
        <p:spPr>
          <a:xfrm>
            <a:off x="921715" y="25374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cxnSp>
        <p:nvCxnSpPr>
          <p:cNvPr id="32" name="ln"/>
          <p:cNvCxnSpPr/>
          <p:nvPr/>
        </p:nvCxnSpPr>
        <p:spPr>
          <a:xfrm>
            <a:off x="455371" y="24140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3" name="linebadge"/>
          <p:cNvSpPr/>
          <p:nvPr/>
        </p:nvSpPr>
        <p:spPr>
          <a:xfrm>
            <a:off x="455371" y="29992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"/>
          <p:cNvSpPr txBox="1"/>
          <p:nvPr/>
        </p:nvSpPr>
        <p:spPr>
          <a:xfrm>
            <a:off x="455371" y="30403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35" name="t"/>
          <p:cNvSpPr txBox="1"/>
          <p:nvPr/>
        </p:nvSpPr>
        <p:spPr>
          <a:xfrm>
            <a:off x="921715" y="29946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어린이대공원</a:t>
            </a:r>
          </a:p>
        </p:txBody>
      </p:sp>
      <p:cxnSp>
        <p:nvCxnSpPr>
          <p:cNvPr id="36" name="ln"/>
          <p:cNvCxnSpPr/>
          <p:nvPr/>
        </p:nvCxnSpPr>
        <p:spPr>
          <a:xfrm>
            <a:off x="455371" y="28712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7" name="t"/>
          <p:cNvSpPr txBox="1"/>
          <p:nvPr/>
        </p:nvSpPr>
        <p:spPr>
          <a:xfrm>
            <a:off x="3379622" y="187452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최근 검색</a:t>
            </a:r>
          </a:p>
        </p:txBody>
      </p:sp>
      <p:sp>
        <p:nvSpPr>
          <p:cNvPr id="38" name="linebadge"/>
          <p:cNvSpPr/>
          <p:nvPr/>
        </p:nvSpPr>
        <p:spPr>
          <a:xfrm>
            <a:off x="3379622" y="2194560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"/>
          <p:cNvSpPr txBox="1"/>
          <p:nvPr/>
        </p:nvSpPr>
        <p:spPr>
          <a:xfrm>
            <a:off x="3379622" y="22357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40" name="t"/>
          <p:cNvSpPr txBox="1"/>
          <p:nvPr/>
        </p:nvSpPr>
        <p:spPr>
          <a:xfrm>
            <a:off x="3845966" y="21899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41" name="t"/>
          <p:cNvSpPr txBox="1"/>
          <p:nvPr/>
        </p:nvSpPr>
        <p:spPr>
          <a:xfrm>
            <a:off x="5190134" y="2203704"/>
            <a:ext cx="411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09.16</a:t>
            </a:r>
          </a:p>
        </p:txBody>
      </p:sp>
      <p:sp>
        <p:nvSpPr>
          <p:cNvPr id="42" name="t"/>
          <p:cNvSpPr txBox="1"/>
          <p:nvPr/>
        </p:nvSpPr>
        <p:spPr>
          <a:xfrm>
            <a:off x="5674766" y="219913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sp>
        <p:nvSpPr>
          <p:cNvPr id="43" name="linebadge"/>
          <p:cNvSpPr/>
          <p:nvPr/>
        </p:nvSpPr>
        <p:spPr>
          <a:xfrm>
            <a:off x="3379622" y="2651760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00A84D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3379622" y="2692908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2호선</a:t>
            </a:r>
          </a:p>
        </p:txBody>
      </p:sp>
      <p:sp>
        <p:nvSpPr>
          <p:cNvPr id="45" name="t"/>
          <p:cNvSpPr txBox="1"/>
          <p:nvPr/>
        </p:nvSpPr>
        <p:spPr>
          <a:xfrm>
            <a:off x="3845966" y="26471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왕십리역</a:t>
            </a:r>
          </a:p>
        </p:txBody>
      </p:sp>
      <p:sp>
        <p:nvSpPr>
          <p:cNvPr id="46" name="t"/>
          <p:cNvSpPr txBox="1"/>
          <p:nvPr/>
        </p:nvSpPr>
        <p:spPr>
          <a:xfrm>
            <a:off x="5190134" y="2660904"/>
            <a:ext cx="411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09.14</a:t>
            </a:r>
          </a:p>
        </p:txBody>
      </p:sp>
      <p:sp>
        <p:nvSpPr>
          <p:cNvPr id="47" name="t"/>
          <p:cNvSpPr txBox="1"/>
          <p:nvPr/>
        </p:nvSpPr>
        <p:spPr>
          <a:xfrm>
            <a:off x="5674766" y="265633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✕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3379622" y="2523744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49" name="keypad"/>
          <p:cNvSpPr/>
          <p:nvPr/>
        </p:nvSpPr>
        <p:spPr>
          <a:xfrm>
            <a:off x="3251606" y="4160520"/>
            <a:ext cx="2678278" cy="2057400"/>
          </a:xfrm>
          <a:prstGeom prst="rect">
            <a:avLst/>
          </a:prstGeom>
          <a:solidFill>
            <a:srgbClr val="F2F4F7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0" name="t"/>
          <p:cNvSpPr txBox="1"/>
          <p:nvPr/>
        </p:nvSpPr>
        <p:spPr>
          <a:xfrm>
            <a:off x="3251606" y="5138928"/>
            <a:ext cx="267827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5B6573"/>
                </a:solidFill>
                <a:latin typeface="Pretendard"/>
                <a:ea typeface="Pretendard"/>
              </a:rPr>
              <a:t>한글 키패드</a:t>
            </a:r>
          </a:p>
        </p:txBody>
      </p:sp>
      <p:sp>
        <p:nvSpPr>
          <p:cNvPr id="51" name="linebadge"/>
          <p:cNvSpPr/>
          <p:nvPr/>
        </p:nvSpPr>
        <p:spPr>
          <a:xfrm>
            <a:off x="6303874" y="2084831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6303874" y="21259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53" name="t"/>
          <p:cNvSpPr txBox="1"/>
          <p:nvPr/>
        </p:nvSpPr>
        <p:spPr>
          <a:xfrm>
            <a:off x="6770218" y="20802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54" name="linebadge"/>
          <p:cNvSpPr/>
          <p:nvPr/>
        </p:nvSpPr>
        <p:spPr>
          <a:xfrm>
            <a:off x="6303874" y="25420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6303874" y="25831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56" name="t"/>
          <p:cNvSpPr txBox="1"/>
          <p:nvPr/>
        </p:nvSpPr>
        <p:spPr>
          <a:xfrm>
            <a:off x="6770218" y="25374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cxnSp>
        <p:nvCxnSpPr>
          <p:cNvPr id="57" name="ln"/>
          <p:cNvCxnSpPr/>
          <p:nvPr/>
        </p:nvCxnSpPr>
        <p:spPr>
          <a:xfrm>
            <a:off x="6303874" y="24140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58" name="linebadge"/>
          <p:cNvSpPr/>
          <p:nvPr/>
        </p:nvSpPr>
        <p:spPr>
          <a:xfrm>
            <a:off x="6303874" y="2999232"/>
            <a:ext cx="384048" cy="173736"/>
          </a:xfrm>
          <a:prstGeom prst="roundRect">
            <a:avLst>
              <a:gd name="adj" fmla="val 30000"/>
            </a:avLst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6303874" y="3040379"/>
            <a:ext cx="3840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7호선</a:t>
            </a:r>
          </a:p>
        </p:txBody>
      </p:sp>
      <p:sp>
        <p:nvSpPr>
          <p:cNvPr id="60" name="t"/>
          <p:cNvSpPr txBox="1"/>
          <p:nvPr/>
        </p:nvSpPr>
        <p:spPr>
          <a:xfrm>
            <a:off x="6770218" y="299466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군자역사거리</a:t>
            </a:r>
          </a:p>
        </p:txBody>
      </p:sp>
      <p:cxnSp>
        <p:nvCxnSpPr>
          <p:cNvPr id="61" name="ln"/>
          <p:cNvCxnSpPr/>
          <p:nvPr/>
        </p:nvCxnSpPr>
        <p:spPr>
          <a:xfrm>
            <a:off x="6303874" y="2871215"/>
            <a:ext cx="2423160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62" name="t"/>
          <p:cNvSpPr txBox="1"/>
          <p:nvPr/>
        </p:nvSpPr>
        <p:spPr>
          <a:xfrm>
            <a:off x="299923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① 기본 — 인근 5km · 거리순</a:t>
            </a:r>
          </a:p>
        </p:txBody>
      </p:sp>
      <p:sp>
        <p:nvSpPr>
          <p:cNvPr id="63" name="t"/>
          <p:cNvSpPr txBox="1"/>
          <p:nvPr/>
        </p:nvSpPr>
        <p:spPr>
          <a:xfrm>
            <a:off x="3224174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② 검색창 포커스 — 최근 검색</a:t>
            </a:r>
          </a:p>
        </p:txBody>
      </p:sp>
      <p:sp>
        <p:nvSpPr>
          <p:cNvPr id="64" name="t"/>
          <p:cNvSpPr txBox="1"/>
          <p:nvPr/>
        </p:nvSpPr>
        <p:spPr>
          <a:xfrm>
            <a:off x="6148426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③ 입력 중 — 관련 역</a:t>
            </a:r>
          </a:p>
        </p:txBody>
      </p:sp>
      <p:cxnSp>
        <p:nvCxnSpPr>
          <p:cNvPr id="65" name="뒤로가기"/>
          <p:cNvCxnSpPr/>
          <p:nvPr/>
        </p:nvCxnSpPr>
        <p:spPr>
          <a:xfrm flipH="1">
            <a:off x="452437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/>
          <p:cNvCxnSpPr/>
          <p:nvPr/>
        </p:nvCxnSpPr>
        <p:spPr>
          <a:xfrm flipH="1" flipV="1">
            <a:off x="452437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>
            <a:off x="3376611" y="139179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뒤로가기"/>
          <p:cNvCxnSpPr/>
          <p:nvPr/>
        </p:nvCxnSpPr>
        <p:spPr>
          <a:xfrm flipH="1" flipV="1">
            <a:off x="3376611" y="143751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뒤로가기"/>
          <p:cNvCxnSpPr/>
          <p:nvPr/>
        </p:nvCxnSpPr>
        <p:spPr>
          <a:xfrm flipH="1">
            <a:off x="6300902" y="13918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뒤로가기"/>
          <p:cNvCxnSpPr/>
          <p:nvPr/>
        </p:nvCxnSpPr>
        <p:spPr>
          <a:xfrm flipH="1" flipV="1">
            <a:off x="6300902" y="14375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결과 건수"/>
          <p:cNvSpPr txBox="1"/>
          <p:nvPr/>
        </p:nvSpPr>
        <p:spPr>
          <a:xfrm>
            <a:off x="446342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인근 5km · 3곳</a:t>
            </a:r>
          </a:p>
        </p:txBody>
      </p:sp>
      <p:sp>
        <p:nvSpPr>
          <p:cNvPr id="72" name="결과 건수"/>
          <p:cNvSpPr txBox="1"/>
          <p:nvPr/>
        </p:nvSpPr>
        <p:spPr>
          <a:xfrm>
            <a:off x="6294730" y="1792224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25" b="0" dirty="0">
                <a:solidFill>
                  <a:srgbClr val="5B6573"/>
                </a:solidFill>
                <a:latin typeface="Pretendard"/>
                <a:ea typeface="Pretendard"/>
              </a:rPr>
              <a:t>검색 결과 3곳</a:t>
            </a:r>
          </a:p>
        </p:txBody>
      </p:sp>
      <p:sp>
        <p:nvSpPr>
          <p:cNvPr id="73" name="숫자배지 1"/>
          <p:cNvSpPr/>
          <p:nvPr/>
        </p:nvSpPr>
        <p:spPr>
          <a:xfrm>
            <a:off x="2350008" y="111556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4" name="숫자배지 2"/>
          <p:cNvSpPr/>
          <p:nvPr/>
        </p:nvSpPr>
        <p:spPr>
          <a:xfrm>
            <a:off x="2651760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5" name="숫자배지 3"/>
          <p:cNvSpPr/>
          <p:nvPr/>
        </p:nvSpPr>
        <p:spPr>
          <a:xfrm>
            <a:off x="384048" y="235915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6" name="숫자배지 4"/>
          <p:cNvSpPr/>
          <p:nvPr/>
        </p:nvSpPr>
        <p:spPr>
          <a:xfrm>
            <a:off x="5440680" y="18470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7" name="숫자배지 5"/>
          <p:cNvSpPr/>
          <p:nvPr/>
        </p:nvSpPr>
        <p:spPr>
          <a:xfrm>
            <a:off x="5440680" y="42245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8" name="숫자배지 6"/>
          <p:cNvSpPr/>
          <p:nvPr/>
        </p:nvSpPr>
        <p:spPr>
          <a:xfrm>
            <a:off x="8503920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9" name="숫자배지 7"/>
          <p:cNvSpPr/>
          <p:nvPr/>
        </p:nvSpPr>
        <p:spPr>
          <a:xfrm>
            <a:off x="153447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8E7194A7-828F-CF18-CEFB-E2AAEA6D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정보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(1/4)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4793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뒤로가기 · 지도 · 지도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좌상단 원형 플로팅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선택한 역 1개만 핀으로 표시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3종 — 내 위치 · 정북 복원 · 확대 / 축소 · 우하단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핀 없는 지도 영역을 누르면 시트 최소화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바텀시트 — 2단계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/ 최소 · 진입 기본값은 최대 · 높이는 콘텐츠 양을 따름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역 헤더 3줄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1줄 역명 ＋ 노선 배지 — 들어온 노선 1개만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환승역이라고 노선을 전부 나열하지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 거리(m 단위 정수) ＋ 환승 노선 원 / 3줄 지번 풀주소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back"/>
          <p:cNvSpPr/>
          <p:nvPr/>
        </p:nvSpPr>
        <p:spPr>
          <a:xfrm>
            <a:off x="1378915" y="128198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5" name="map"/>
          <p:cNvSpPr/>
          <p:nvPr/>
        </p:nvSpPr>
        <p:spPr>
          <a:xfrm>
            <a:off x="1324966" y="1190549"/>
            <a:ext cx="2734056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1334452" y="2194560"/>
            <a:ext cx="2714625" cy="410565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147732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147732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2496312" y="226771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20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1536192" y="3090672"/>
            <a:ext cx="2065417" cy="1269235"/>
            <a:chOff x="6412764" y="3631663"/>
            <a:chExt cx="2065417" cy="1269235"/>
          </a:xfrm>
        </p:grpSpPr>
        <p:pic>
          <p:nvPicPr>
            <p:cNvPr id="21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22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23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24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25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26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27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28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29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30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1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2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3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3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5" name="t"/>
          <p:cNvSpPr txBox="1"/>
          <p:nvPr/>
        </p:nvSpPr>
        <p:spPr>
          <a:xfrm>
            <a:off x="1481328" y="23225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0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36" name="linebadge"/>
          <p:cNvSpPr/>
          <p:nvPr/>
        </p:nvSpPr>
        <p:spPr>
          <a:xfrm>
            <a:off x="3419856" y="2363724"/>
            <a:ext cx="47548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3419856" y="2404872"/>
            <a:ext cx="4754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8" name="t"/>
          <p:cNvSpPr txBox="1"/>
          <p:nvPr/>
        </p:nvSpPr>
        <p:spPr>
          <a:xfrm>
            <a:off x="1481328" y="25603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350m</a:t>
            </a:r>
          </a:p>
        </p:txBody>
      </p:sp>
      <p:sp>
        <p:nvSpPr>
          <p:cNvPr id="39" name="t"/>
          <p:cNvSpPr txBox="1"/>
          <p:nvPr/>
        </p:nvSpPr>
        <p:spPr>
          <a:xfrm>
            <a:off x="1645920" y="25603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환승</a:t>
            </a:r>
          </a:p>
        </p:txBody>
      </p:sp>
      <p:sp>
        <p:nvSpPr>
          <p:cNvPr id="40" name="xfer"/>
          <p:cNvSpPr/>
          <p:nvPr/>
        </p:nvSpPr>
        <p:spPr>
          <a:xfrm>
            <a:off x="2157984" y="2546604"/>
            <a:ext cx="155448" cy="155448"/>
          </a:xfrm>
          <a:prstGeom prst="ellipse">
            <a:avLst/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"/>
          <p:cNvSpPr txBox="1"/>
          <p:nvPr/>
        </p:nvSpPr>
        <p:spPr>
          <a:xfrm>
            <a:off x="2157984" y="2574036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2" name="t"/>
          <p:cNvSpPr txBox="1"/>
          <p:nvPr/>
        </p:nvSpPr>
        <p:spPr>
          <a:xfrm>
            <a:off x="1481328" y="2706624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서울특별시 광진구 능동 246-2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1388974" y="287121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1481328" y="2898648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00A84D"/>
                </a:solidFill>
                <a:latin typeface="Pretendard"/>
                <a:ea typeface="Pretendard"/>
              </a:rPr>
              <a:t>교통약자 내부환승 가능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1388974" y="306324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46" name="ln"/>
          <p:cNvCxnSpPr/>
          <p:nvPr/>
        </p:nvCxnSpPr>
        <p:spPr>
          <a:xfrm>
            <a:off x="1388974" y="4407408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1481328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‹ 장한평</a:t>
            </a:r>
          </a:p>
        </p:txBody>
      </p:sp>
      <p:sp>
        <p:nvSpPr>
          <p:cNvPr id="48" name="t"/>
          <p:cNvSpPr txBox="1"/>
          <p:nvPr/>
        </p:nvSpPr>
        <p:spPr>
          <a:xfrm>
            <a:off x="2286000" y="4453128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군자</a:t>
            </a:r>
          </a:p>
        </p:txBody>
      </p:sp>
      <p:sp>
        <p:nvSpPr>
          <p:cNvPr id="49" name="t"/>
          <p:cNvSpPr txBox="1"/>
          <p:nvPr/>
        </p:nvSpPr>
        <p:spPr>
          <a:xfrm>
            <a:off x="3108960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아차산 ›</a:t>
            </a:r>
          </a:p>
        </p:txBody>
      </p:sp>
      <p:cxnSp>
        <p:nvCxnSpPr>
          <p:cNvPr id="50" name="ln"/>
          <p:cNvCxnSpPr/>
          <p:nvPr/>
        </p:nvCxnSpPr>
        <p:spPr>
          <a:xfrm>
            <a:off x="1388974" y="462686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1" name="seg-on"/>
          <p:cNvSpPr/>
          <p:nvPr/>
        </p:nvSpPr>
        <p:spPr>
          <a:xfrm>
            <a:off x="1481328" y="4663440"/>
            <a:ext cx="777240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481328" y="471373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실시간</a:t>
            </a:r>
          </a:p>
        </p:txBody>
      </p:sp>
      <p:sp>
        <p:nvSpPr>
          <p:cNvPr id="53" name="seg-off"/>
          <p:cNvSpPr/>
          <p:nvPr/>
        </p:nvSpPr>
        <p:spPr>
          <a:xfrm>
            <a:off x="2276856" y="4663440"/>
            <a:ext cx="960120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276856" y="4713732"/>
            <a:ext cx="9601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시간표 기준</a:t>
            </a:r>
          </a:p>
        </p:txBody>
      </p:sp>
      <p:sp>
        <p:nvSpPr>
          <p:cNvPr id="55" name="refresh"/>
          <p:cNvSpPr/>
          <p:nvPr/>
        </p:nvSpPr>
        <p:spPr>
          <a:xfrm>
            <a:off x="3639312" y="464515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3639312" y="4704588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57" name="t"/>
          <p:cNvSpPr txBox="1"/>
          <p:nvPr/>
        </p:nvSpPr>
        <p:spPr>
          <a:xfrm>
            <a:off x="1481328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58" name="t"/>
          <p:cNvSpPr txBox="1"/>
          <p:nvPr/>
        </p:nvSpPr>
        <p:spPr>
          <a:xfrm>
            <a:off x="2724912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마천 · 하남검단산 방면</a:t>
            </a:r>
          </a:p>
        </p:txBody>
      </p:sp>
      <p:cxnSp>
        <p:nvCxnSpPr>
          <p:cNvPr id="59" name="ln"/>
          <p:cNvCxnSpPr/>
          <p:nvPr/>
        </p:nvCxnSpPr>
        <p:spPr>
          <a:xfrm>
            <a:off x="2679192" y="4937760"/>
            <a:ext cx="0" cy="68580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0" name="t"/>
          <p:cNvSpPr txBox="1"/>
          <p:nvPr/>
        </p:nvSpPr>
        <p:spPr>
          <a:xfrm>
            <a:off x="1481328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1" name="t"/>
          <p:cNvSpPr txBox="1"/>
          <p:nvPr/>
        </p:nvSpPr>
        <p:spPr>
          <a:xfrm>
            <a:off x="1984248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곧 도착</a:t>
            </a:r>
          </a:p>
        </p:txBody>
      </p:sp>
      <p:sp>
        <p:nvSpPr>
          <p:cNvPr id="62" name="t"/>
          <p:cNvSpPr txBox="1"/>
          <p:nvPr/>
        </p:nvSpPr>
        <p:spPr>
          <a:xfrm>
            <a:off x="1481328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984248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3분 20초</a:t>
            </a:r>
          </a:p>
        </p:txBody>
      </p:sp>
      <p:sp>
        <p:nvSpPr>
          <p:cNvPr id="64" name="t"/>
          <p:cNvSpPr txBox="1"/>
          <p:nvPr/>
        </p:nvSpPr>
        <p:spPr>
          <a:xfrm>
            <a:off x="2724912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마천</a:t>
            </a:r>
          </a:p>
        </p:txBody>
      </p:sp>
      <p:sp>
        <p:nvSpPr>
          <p:cNvPr id="65" name="t"/>
          <p:cNvSpPr txBox="1"/>
          <p:nvPr/>
        </p:nvSpPr>
        <p:spPr>
          <a:xfrm>
            <a:off x="3227832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6분 4초</a:t>
            </a:r>
          </a:p>
        </p:txBody>
      </p:sp>
      <p:sp>
        <p:nvSpPr>
          <p:cNvPr id="66" name="t"/>
          <p:cNvSpPr txBox="1"/>
          <p:nvPr/>
        </p:nvSpPr>
        <p:spPr>
          <a:xfrm>
            <a:off x="2724912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하남검…</a:t>
            </a:r>
          </a:p>
        </p:txBody>
      </p:sp>
      <p:sp>
        <p:nvSpPr>
          <p:cNvPr id="67" name="t"/>
          <p:cNvSpPr txBox="1"/>
          <p:nvPr/>
        </p:nvSpPr>
        <p:spPr>
          <a:xfrm>
            <a:off x="3227832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12분</a:t>
            </a:r>
          </a:p>
        </p:txBody>
      </p:sp>
      <p:cxnSp>
        <p:nvCxnSpPr>
          <p:cNvPr id="68" name="ln"/>
          <p:cNvCxnSpPr/>
          <p:nvPr/>
        </p:nvCxnSpPr>
        <p:spPr>
          <a:xfrm>
            <a:off x="1388974" y="552297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9" name="btn"/>
          <p:cNvSpPr/>
          <p:nvPr/>
        </p:nvSpPr>
        <p:spPr>
          <a:xfrm>
            <a:off x="1481328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1481328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시간표</a:t>
            </a:r>
          </a:p>
        </p:txBody>
      </p:sp>
      <p:sp>
        <p:nvSpPr>
          <p:cNvPr id="71" name="btn"/>
          <p:cNvSpPr/>
          <p:nvPr/>
        </p:nvSpPr>
        <p:spPr>
          <a:xfrm>
            <a:off x="2724912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2724912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cxnSp>
        <p:nvCxnSpPr>
          <p:cNvPr id="73" name="ln"/>
          <p:cNvCxnSpPr/>
          <p:nvPr/>
        </p:nvCxnSpPr>
        <p:spPr>
          <a:xfrm>
            <a:off x="1388974" y="590702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4" name="t"/>
          <p:cNvSpPr txBox="1"/>
          <p:nvPr/>
        </p:nvSpPr>
        <p:spPr>
          <a:xfrm>
            <a:off x="1417320" y="5998464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1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75" name="role"/>
          <p:cNvSpPr/>
          <p:nvPr/>
        </p:nvSpPr>
        <p:spPr>
          <a:xfrm>
            <a:off x="1737360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1737360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77" name="role"/>
          <p:cNvSpPr/>
          <p:nvPr/>
        </p:nvSpPr>
        <p:spPr>
          <a:xfrm>
            <a:off x="2871216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871216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79" name="지도 안내"/>
          <p:cNvSpPr txBox="1"/>
          <p:nvPr/>
        </p:nvSpPr>
        <p:spPr>
          <a:xfrm>
            <a:off x="1782166" y="1318565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역 1개만 핀 표출</a:t>
            </a:r>
          </a:p>
        </p:txBody>
      </p:sp>
      <p:sp>
        <p:nvSpPr>
          <p:cNvPr id="8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01822" y="1464869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01822" y="1464869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3601822" y="1812341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3601822" y="1812341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2888589" y="1812341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2888589" y="1812341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6" name="숫자배지 1"/>
          <p:cNvSpPr/>
          <p:nvPr/>
        </p:nvSpPr>
        <p:spPr>
          <a:xfrm>
            <a:off x="1115568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7" name="숫자배지 2"/>
          <p:cNvSpPr/>
          <p:nvPr/>
        </p:nvSpPr>
        <p:spPr>
          <a:xfrm>
            <a:off x="2267712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8" name="숫자배지 3"/>
          <p:cNvSpPr/>
          <p:nvPr/>
        </p:nvSpPr>
        <p:spPr>
          <a:xfrm>
            <a:off x="1115568" y="23408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4"/>
          <p:cNvSpPr/>
          <p:nvPr/>
        </p:nvSpPr>
        <p:spPr>
          <a:xfrm>
            <a:off x="2395728" y="254203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0" name="숫자배지 5"/>
          <p:cNvSpPr/>
          <p:nvPr/>
        </p:nvSpPr>
        <p:spPr>
          <a:xfrm>
            <a:off x="1115568" y="2898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1" name="숫자배지 6"/>
          <p:cNvSpPr/>
          <p:nvPr/>
        </p:nvSpPr>
        <p:spPr>
          <a:xfrm>
            <a:off x="1115568" y="4434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2" name="숫자배지 7"/>
          <p:cNvSpPr/>
          <p:nvPr/>
        </p:nvSpPr>
        <p:spPr>
          <a:xfrm>
            <a:off x="1115568" y="46451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3" name="숫자배지 8"/>
          <p:cNvSpPr/>
          <p:nvPr/>
        </p:nvSpPr>
        <p:spPr>
          <a:xfrm>
            <a:off x="1115568" y="4956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4" name="숫자배지 9"/>
          <p:cNvSpPr/>
          <p:nvPr/>
        </p:nvSpPr>
        <p:spPr>
          <a:xfrm>
            <a:off x="3913632" y="466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5" name="숫자배지 10"/>
          <p:cNvSpPr/>
          <p:nvPr/>
        </p:nvSpPr>
        <p:spPr>
          <a:xfrm>
            <a:off x="1115568" y="5596128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6" name="숫자배지 11"/>
          <p:cNvSpPr/>
          <p:nvPr/>
        </p:nvSpPr>
        <p:spPr>
          <a:xfrm>
            <a:off x="1115568" y="5989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97096531"/>
      </p:ext>
    </p:extLst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정보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(2/4)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465078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환승 노선 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환승할 수 있는 역일 때만 표출 — 「환승 없음」을 쓰지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표식 하나가 노선 하나 — 노선 고유색 ＋ 가운데 식별자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① 숫자는 숫자 1자 원 ② 그 외는 첫 글자 1자 원 ③ 겹치면 2글자 타원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약칭은 노선마다 고정 — 역마다 달라지지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내부환승 · 이동 설비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내부환승은 가능한 경우에만 표출 — 불가한 역에는 줄 자체가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이동 설비 4행 · 아이콘 ＋ 항목명 ＋ 상태값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있음 / 없음 / 미조사 3값 — 위치 · 개수 · 경로를 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행을 눌러 그 목록으로 보내지 않음 — 표시 전용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인접역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 줄 3칸 — 가운데가 선택한 역 · 좌우가 이전 · 다음 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표시 전용 — 눌러도 이동하지 않음 · 버튼 형태로 그리지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종점이면 한쪽 칸은 빈칸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back"/>
          <p:cNvSpPr/>
          <p:nvPr/>
        </p:nvSpPr>
        <p:spPr>
          <a:xfrm>
            <a:off x="1378915" y="128198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5" name="map"/>
          <p:cNvSpPr/>
          <p:nvPr/>
        </p:nvSpPr>
        <p:spPr>
          <a:xfrm>
            <a:off x="1324966" y="1190549"/>
            <a:ext cx="2734056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1334452" y="2194560"/>
            <a:ext cx="2714625" cy="410565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147732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147732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2496312" y="226771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20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1536192" y="3090672"/>
            <a:ext cx="2065417" cy="1269235"/>
            <a:chOff x="6412764" y="3631663"/>
            <a:chExt cx="2065417" cy="1269235"/>
          </a:xfrm>
        </p:grpSpPr>
        <p:pic>
          <p:nvPicPr>
            <p:cNvPr id="21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22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23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24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25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26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27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28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29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30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1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2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3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3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5" name="t"/>
          <p:cNvSpPr txBox="1"/>
          <p:nvPr/>
        </p:nvSpPr>
        <p:spPr>
          <a:xfrm>
            <a:off x="1481328" y="23225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0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36" name="linebadge"/>
          <p:cNvSpPr/>
          <p:nvPr/>
        </p:nvSpPr>
        <p:spPr>
          <a:xfrm>
            <a:off x="3419856" y="2363724"/>
            <a:ext cx="47548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3419856" y="2404872"/>
            <a:ext cx="4754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8" name="t"/>
          <p:cNvSpPr txBox="1"/>
          <p:nvPr/>
        </p:nvSpPr>
        <p:spPr>
          <a:xfrm>
            <a:off x="1481328" y="25603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350m</a:t>
            </a:r>
          </a:p>
        </p:txBody>
      </p:sp>
      <p:sp>
        <p:nvSpPr>
          <p:cNvPr id="39" name="t"/>
          <p:cNvSpPr txBox="1"/>
          <p:nvPr/>
        </p:nvSpPr>
        <p:spPr>
          <a:xfrm>
            <a:off x="1645920" y="25603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환승</a:t>
            </a:r>
          </a:p>
        </p:txBody>
      </p:sp>
      <p:sp>
        <p:nvSpPr>
          <p:cNvPr id="40" name="xfer"/>
          <p:cNvSpPr/>
          <p:nvPr/>
        </p:nvSpPr>
        <p:spPr>
          <a:xfrm>
            <a:off x="2157984" y="2546604"/>
            <a:ext cx="155448" cy="155448"/>
          </a:xfrm>
          <a:prstGeom prst="ellipse">
            <a:avLst/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"/>
          <p:cNvSpPr txBox="1"/>
          <p:nvPr/>
        </p:nvSpPr>
        <p:spPr>
          <a:xfrm>
            <a:off x="2157984" y="2574036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2" name="t"/>
          <p:cNvSpPr txBox="1"/>
          <p:nvPr/>
        </p:nvSpPr>
        <p:spPr>
          <a:xfrm>
            <a:off x="1481328" y="2706624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서울특별시 광진구 능동 246-2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1388974" y="287121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1481328" y="2898648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00A84D"/>
                </a:solidFill>
                <a:latin typeface="Pretendard"/>
                <a:ea typeface="Pretendard"/>
              </a:rPr>
              <a:t>교통약자 내부환승 가능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1388974" y="306324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46" name="ln"/>
          <p:cNvCxnSpPr/>
          <p:nvPr/>
        </p:nvCxnSpPr>
        <p:spPr>
          <a:xfrm>
            <a:off x="1388974" y="4407408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1481328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‹ 장한평</a:t>
            </a:r>
          </a:p>
        </p:txBody>
      </p:sp>
      <p:sp>
        <p:nvSpPr>
          <p:cNvPr id="48" name="t"/>
          <p:cNvSpPr txBox="1"/>
          <p:nvPr/>
        </p:nvSpPr>
        <p:spPr>
          <a:xfrm>
            <a:off x="2286000" y="4453128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군자</a:t>
            </a:r>
          </a:p>
        </p:txBody>
      </p:sp>
      <p:sp>
        <p:nvSpPr>
          <p:cNvPr id="49" name="t"/>
          <p:cNvSpPr txBox="1"/>
          <p:nvPr/>
        </p:nvSpPr>
        <p:spPr>
          <a:xfrm>
            <a:off x="3108960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아차산 ›</a:t>
            </a:r>
          </a:p>
        </p:txBody>
      </p:sp>
      <p:cxnSp>
        <p:nvCxnSpPr>
          <p:cNvPr id="50" name="ln"/>
          <p:cNvCxnSpPr/>
          <p:nvPr/>
        </p:nvCxnSpPr>
        <p:spPr>
          <a:xfrm>
            <a:off x="1388974" y="462686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1" name="seg-on"/>
          <p:cNvSpPr/>
          <p:nvPr/>
        </p:nvSpPr>
        <p:spPr>
          <a:xfrm>
            <a:off x="1481328" y="4663440"/>
            <a:ext cx="777240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481328" y="471373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실시간</a:t>
            </a:r>
          </a:p>
        </p:txBody>
      </p:sp>
      <p:sp>
        <p:nvSpPr>
          <p:cNvPr id="53" name="seg-off"/>
          <p:cNvSpPr/>
          <p:nvPr/>
        </p:nvSpPr>
        <p:spPr>
          <a:xfrm>
            <a:off x="2276856" y="4663440"/>
            <a:ext cx="960120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276856" y="4713732"/>
            <a:ext cx="9601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시간표 기준</a:t>
            </a:r>
          </a:p>
        </p:txBody>
      </p:sp>
      <p:sp>
        <p:nvSpPr>
          <p:cNvPr id="55" name="refresh"/>
          <p:cNvSpPr/>
          <p:nvPr/>
        </p:nvSpPr>
        <p:spPr>
          <a:xfrm>
            <a:off x="3639312" y="464515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3639312" y="4704588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57" name="t"/>
          <p:cNvSpPr txBox="1"/>
          <p:nvPr/>
        </p:nvSpPr>
        <p:spPr>
          <a:xfrm>
            <a:off x="1481328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58" name="t"/>
          <p:cNvSpPr txBox="1"/>
          <p:nvPr/>
        </p:nvSpPr>
        <p:spPr>
          <a:xfrm>
            <a:off x="2724912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마천 · 하남검단산 방면</a:t>
            </a:r>
          </a:p>
        </p:txBody>
      </p:sp>
      <p:cxnSp>
        <p:nvCxnSpPr>
          <p:cNvPr id="59" name="ln"/>
          <p:cNvCxnSpPr/>
          <p:nvPr/>
        </p:nvCxnSpPr>
        <p:spPr>
          <a:xfrm>
            <a:off x="2679192" y="4937760"/>
            <a:ext cx="0" cy="68580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0" name="t"/>
          <p:cNvSpPr txBox="1"/>
          <p:nvPr/>
        </p:nvSpPr>
        <p:spPr>
          <a:xfrm>
            <a:off x="1481328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1" name="t"/>
          <p:cNvSpPr txBox="1"/>
          <p:nvPr/>
        </p:nvSpPr>
        <p:spPr>
          <a:xfrm>
            <a:off x="1984248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곧 도착</a:t>
            </a:r>
          </a:p>
        </p:txBody>
      </p:sp>
      <p:sp>
        <p:nvSpPr>
          <p:cNvPr id="62" name="t"/>
          <p:cNvSpPr txBox="1"/>
          <p:nvPr/>
        </p:nvSpPr>
        <p:spPr>
          <a:xfrm>
            <a:off x="1481328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984248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3분 20초</a:t>
            </a:r>
          </a:p>
        </p:txBody>
      </p:sp>
      <p:sp>
        <p:nvSpPr>
          <p:cNvPr id="64" name="t"/>
          <p:cNvSpPr txBox="1"/>
          <p:nvPr/>
        </p:nvSpPr>
        <p:spPr>
          <a:xfrm>
            <a:off x="2724912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마천</a:t>
            </a:r>
          </a:p>
        </p:txBody>
      </p:sp>
      <p:sp>
        <p:nvSpPr>
          <p:cNvPr id="65" name="t"/>
          <p:cNvSpPr txBox="1"/>
          <p:nvPr/>
        </p:nvSpPr>
        <p:spPr>
          <a:xfrm>
            <a:off x="3227832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6분 4초</a:t>
            </a:r>
          </a:p>
        </p:txBody>
      </p:sp>
      <p:sp>
        <p:nvSpPr>
          <p:cNvPr id="66" name="t"/>
          <p:cNvSpPr txBox="1"/>
          <p:nvPr/>
        </p:nvSpPr>
        <p:spPr>
          <a:xfrm>
            <a:off x="2724912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하남검…</a:t>
            </a:r>
          </a:p>
        </p:txBody>
      </p:sp>
      <p:sp>
        <p:nvSpPr>
          <p:cNvPr id="67" name="t"/>
          <p:cNvSpPr txBox="1"/>
          <p:nvPr/>
        </p:nvSpPr>
        <p:spPr>
          <a:xfrm>
            <a:off x="3227832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12분</a:t>
            </a:r>
          </a:p>
        </p:txBody>
      </p:sp>
      <p:cxnSp>
        <p:nvCxnSpPr>
          <p:cNvPr id="68" name="ln"/>
          <p:cNvCxnSpPr/>
          <p:nvPr/>
        </p:nvCxnSpPr>
        <p:spPr>
          <a:xfrm>
            <a:off x="1388974" y="552297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9" name="btn"/>
          <p:cNvSpPr/>
          <p:nvPr/>
        </p:nvSpPr>
        <p:spPr>
          <a:xfrm>
            <a:off x="1481328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1481328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시간표</a:t>
            </a:r>
          </a:p>
        </p:txBody>
      </p:sp>
      <p:sp>
        <p:nvSpPr>
          <p:cNvPr id="71" name="btn"/>
          <p:cNvSpPr/>
          <p:nvPr/>
        </p:nvSpPr>
        <p:spPr>
          <a:xfrm>
            <a:off x="2724912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2724912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cxnSp>
        <p:nvCxnSpPr>
          <p:cNvPr id="73" name="ln"/>
          <p:cNvCxnSpPr/>
          <p:nvPr/>
        </p:nvCxnSpPr>
        <p:spPr>
          <a:xfrm>
            <a:off x="1388974" y="590702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4" name="t"/>
          <p:cNvSpPr txBox="1"/>
          <p:nvPr/>
        </p:nvSpPr>
        <p:spPr>
          <a:xfrm>
            <a:off x="1417320" y="5998464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1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75" name="role"/>
          <p:cNvSpPr/>
          <p:nvPr/>
        </p:nvSpPr>
        <p:spPr>
          <a:xfrm>
            <a:off x="1737360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1737360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77" name="role"/>
          <p:cNvSpPr/>
          <p:nvPr/>
        </p:nvSpPr>
        <p:spPr>
          <a:xfrm>
            <a:off x="2871216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871216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79" name="지도 안내"/>
          <p:cNvSpPr txBox="1"/>
          <p:nvPr/>
        </p:nvSpPr>
        <p:spPr>
          <a:xfrm>
            <a:off x="1782166" y="1318565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역 1개만 핀 표출</a:t>
            </a:r>
          </a:p>
        </p:txBody>
      </p:sp>
      <p:sp>
        <p:nvSpPr>
          <p:cNvPr id="8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01822" y="1464869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01822" y="1464869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3601822" y="1812341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3601822" y="1812341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2888589" y="1812341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2888589" y="1812341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6" name="숫자배지 1"/>
          <p:cNvSpPr/>
          <p:nvPr/>
        </p:nvSpPr>
        <p:spPr>
          <a:xfrm>
            <a:off x="1115568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7" name="숫자배지 2"/>
          <p:cNvSpPr/>
          <p:nvPr/>
        </p:nvSpPr>
        <p:spPr>
          <a:xfrm>
            <a:off x="2267712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8" name="숫자배지 3"/>
          <p:cNvSpPr/>
          <p:nvPr/>
        </p:nvSpPr>
        <p:spPr>
          <a:xfrm>
            <a:off x="1115568" y="23408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4"/>
          <p:cNvSpPr/>
          <p:nvPr/>
        </p:nvSpPr>
        <p:spPr>
          <a:xfrm>
            <a:off x="2395728" y="254203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0" name="숫자배지 5"/>
          <p:cNvSpPr/>
          <p:nvPr/>
        </p:nvSpPr>
        <p:spPr>
          <a:xfrm>
            <a:off x="1115568" y="2898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1" name="숫자배지 6"/>
          <p:cNvSpPr/>
          <p:nvPr/>
        </p:nvSpPr>
        <p:spPr>
          <a:xfrm>
            <a:off x="1115568" y="4434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2" name="숫자배지 7"/>
          <p:cNvSpPr/>
          <p:nvPr/>
        </p:nvSpPr>
        <p:spPr>
          <a:xfrm>
            <a:off x="1115568" y="46451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3" name="숫자배지 8"/>
          <p:cNvSpPr/>
          <p:nvPr/>
        </p:nvSpPr>
        <p:spPr>
          <a:xfrm>
            <a:off x="1115568" y="4956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4" name="숫자배지 9"/>
          <p:cNvSpPr/>
          <p:nvPr/>
        </p:nvSpPr>
        <p:spPr>
          <a:xfrm>
            <a:off x="3913632" y="466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5" name="숫자배지 10"/>
          <p:cNvSpPr/>
          <p:nvPr/>
        </p:nvSpPr>
        <p:spPr>
          <a:xfrm>
            <a:off x="1115568" y="5596128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6" name="숫자배지 11"/>
          <p:cNvSpPr/>
          <p:nvPr/>
        </p:nvSpPr>
        <p:spPr>
          <a:xfrm>
            <a:off x="1115568" y="5989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정보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(3/4)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81055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세그먼티드 — 실시간 / 시간표 기준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2종 · 기본값 「실시간」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바뀌는 것은 남은 시간의 근거뿐 — 목록 구조는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도착 정보 — 가로 2열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열 하나가 방면 하나 · 열 머리에 방면 이름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셀 = 「행선지 ＋ 남은 시간」 한 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「출발역 › 종착역」은 한 방향에 종착이 여럿일 때만 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방면이 1개인 역은 1열이 전폭 · 열은 2개를 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[새로고침]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세그먼티드 오른쪽 아이콘 컨트롤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두 모드 모두에서 누를 수 있음 — 시간표 모드에서 비활성하지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10초마다 자동 갱신 — 자동 갱신은 따로 알리지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back"/>
          <p:cNvSpPr/>
          <p:nvPr/>
        </p:nvSpPr>
        <p:spPr>
          <a:xfrm>
            <a:off x="1378915" y="128198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5" name="map"/>
          <p:cNvSpPr/>
          <p:nvPr/>
        </p:nvSpPr>
        <p:spPr>
          <a:xfrm>
            <a:off x="1324966" y="1190549"/>
            <a:ext cx="2734056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1334452" y="2194560"/>
            <a:ext cx="2714625" cy="410565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147732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147732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2496312" y="226771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20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1536192" y="3090672"/>
            <a:ext cx="2065417" cy="1269235"/>
            <a:chOff x="6412764" y="3631663"/>
            <a:chExt cx="2065417" cy="1269235"/>
          </a:xfrm>
        </p:grpSpPr>
        <p:pic>
          <p:nvPicPr>
            <p:cNvPr id="21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22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23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24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25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26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27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28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29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30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1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2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3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3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5" name="t"/>
          <p:cNvSpPr txBox="1"/>
          <p:nvPr/>
        </p:nvSpPr>
        <p:spPr>
          <a:xfrm>
            <a:off x="1481328" y="23225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0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36" name="linebadge"/>
          <p:cNvSpPr/>
          <p:nvPr/>
        </p:nvSpPr>
        <p:spPr>
          <a:xfrm>
            <a:off x="3419856" y="2363724"/>
            <a:ext cx="47548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3419856" y="2404872"/>
            <a:ext cx="4754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8" name="t"/>
          <p:cNvSpPr txBox="1"/>
          <p:nvPr/>
        </p:nvSpPr>
        <p:spPr>
          <a:xfrm>
            <a:off x="1481328" y="25603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350m</a:t>
            </a:r>
          </a:p>
        </p:txBody>
      </p:sp>
      <p:sp>
        <p:nvSpPr>
          <p:cNvPr id="39" name="t"/>
          <p:cNvSpPr txBox="1"/>
          <p:nvPr/>
        </p:nvSpPr>
        <p:spPr>
          <a:xfrm>
            <a:off x="1645920" y="25603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환승</a:t>
            </a:r>
          </a:p>
        </p:txBody>
      </p:sp>
      <p:sp>
        <p:nvSpPr>
          <p:cNvPr id="40" name="xfer"/>
          <p:cNvSpPr/>
          <p:nvPr/>
        </p:nvSpPr>
        <p:spPr>
          <a:xfrm>
            <a:off x="2157984" y="2546604"/>
            <a:ext cx="155448" cy="155448"/>
          </a:xfrm>
          <a:prstGeom prst="ellipse">
            <a:avLst/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"/>
          <p:cNvSpPr txBox="1"/>
          <p:nvPr/>
        </p:nvSpPr>
        <p:spPr>
          <a:xfrm>
            <a:off x="2157984" y="2574036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2" name="t"/>
          <p:cNvSpPr txBox="1"/>
          <p:nvPr/>
        </p:nvSpPr>
        <p:spPr>
          <a:xfrm>
            <a:off x="1481328" y="2706624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서울특별시 광진구 능동 246-2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1388974" y="287121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1481328" y="2898648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00A84D"/>
                </a:solidFill>
                <a:latin typeface="Pretendard"/>
                <a:ea typeface="Pretendard"/>
              </a:rPr>
              <a:t>교통약자 내부환승 가능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1388974" y="306324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46" name="ln"/>
          <p:cNvCxnSpPr/>
          <p:nvPr/>
        </p:nvCxnSpPr>
        <p:spPr>
          <a:xfrm>
            <a:off x="1388974" y="4407408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1481328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‹ 장한평</a:t>
            </a:r>
          </a:p>
        </p:txBody>
      </p:sp>
      <p:sp>
        <p:nvSpPr>
          <p:cNvPr id="48" name="t"/>
          <p:cNvSpPr txBox="1"/>
          <p:nvPr/>
        </p:nvSpPr>
        <p:spPr>
          <a:xfrm>
            <a:off x="2286000" y="4453128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군자</a:t>
            </a:r>
          </a:p>
        </p:txBody>
      </p:sp>
      <p:sp>
        <p:nvSpPr>
          <p:cNvPr id="49" name="t"/>
          <p:cNvSpPr txBox="1"/>
          <p:nvPr/>
        </p:nvSpPr>
        <p:spPr>
          <a:xfrm>
            <a:off x="3108960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아차산 ›</a:t>
            </a:r>
          </a:p>
        </p:txBody>
      </p:sp>
      <p:cxnSp>
        <p:nvCxnSpPr>
          <p:cNvPr id="50" name="ln"/>
          <p:cNvCxnSpPr/>
          <p:nvPr/>
        </p:nvCxnSpPr>
        <p:spPr>
          <a:xfrm>
            <a:off x="1388974" y="462686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1" name="seg-on"/>
          <p:cNvSpPr/>
          <p:nvPr/>
        </p:nvSpPr>
        <p:spPr>
          <a:xfrm>
            <a:off x="1481328" y="4663440"/>
            <a:ext cx="777240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481328" y="471373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실시간</a:t>
            </a:r>
          </a:p>
        </p:txBody>
      </p:sp>
      <p:sp>
        <p:nvSpPr>
          <p:cNvPr id="53" name="seg-off"/>
          <p:cNvSpPr/>
          <p:nvPr/>
        </p:nvSpPr>
        <p:spPr>
          <a:xfrm>
            <a:off x="2276856" y="4663440"/>
            <a:ext cx="960120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276856" y="4713732"/>
            <a:ext cx="9601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시간표 기준</a:t>
            </a:r>
          </a:p>
        </p:txBody>
      </p:sp>
      <p:sp>
        <p:nvSpPr>
          <p:cNvPr id="55" name="refresh"/>
          <p:cNvSpPr/>
          <p:nvPr/>
        </p:nvSpPr>
        <p:spPr>
          <a:xfrm>
            <a:off x="3639312" y="464515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3639312" y="4704588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57" name="t"/>
          <p:cNvSpPr txBox="1"/>
          <p:nvPr/>
        </p:nvSpPr>
        <p:spPr>
          <a:xfrm>
            <a:off x="1481328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58" name="t"/>
          <p:cNvSpPr txBox="1"/>
          <p:nvPr/>
        </p:nvSpPr>
        <p:spPr>
          <a:xfrm>
            <a:off x="2724912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마천 · 하남검단산 방면</a:t>
            </a:r>
          </a:p>
        </p:txBody>
      </p:sp>
      <p:cxnSp>
        <p:nvCxnSpPr>
          <p:cNvPr id="59" name="ln"/>
          <p:cNvCxnSpPr/>
          <p:nvPr/>
        </p:nvCxnSpPr>
        <p:spPr>
          <a:xfrm>
            <a:off x="2679192" y="4937760"/>
            <a:ext cx="0" cy="68580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0" name="t"/>
          <p:cNvSpPr txBox="1"/>
          <p:nvPr/>
        </p:nvSpPr>
        <p:spPr>
          <a:xfrm>
            <a:off x="1481328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1" name="t"/>
          <p:cNvSpPr txBox="1"/>
          <p:nvPr/>
        </p:nvSpPr>
        <p:spPr>
          <a:xfrm>
            <a:off x="1984248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곧 도착</a:t>
            </a:r>
          </a:p>
        </p:txBody>
      </p:sp>
      <p:sp>
        <p:nvSpPr>
          <p:cNvPr id="62" name="t"/>
          <p:cNvSpPr txBox="1"/>
          <p:nvPr/>
        </p:nvSpPr>
        <p:spPr>
          <a:xfrm>
            <a:off x="1481328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984248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3분 20초</a:t>
            </a:r>
          </a:p>
        </p:txBody>
      </p:sp>
      <p:sp>
        <p:nvSpPr>
          <p:cNvPr id="64" name="t"/>
          <p:cNvSpPr txBox="1"/>
          <p:nvPr/>
        </p:nvSpPr>
        <p:spPr>
          <a:xfrm>
            <a:off x="2724912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마천</a:t>
            </a:r>
          </a:p>
        </p:txBody>
      </p:sp>
      <p:sp>
        <p:nvSpPr>
          <p:cNvPr id="65" name="t"/>
          <p:cNvSpPr txBox="1"/>
          <p:nvPr/>
        </p:nvSpPr>
        <p:spPr>
          <a:xfrm>
            <a:off x="3227832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6분 4초</a:t>
            </a:r>
          </a:p>
        </p:txBody>
      </p:sp>
      <p:sp>
        <p:nvSpPr>
          <p:cNvPr id="66" name="t"/>
          <p:cNvSpPr txBox="1"/>
          <p:nvPr/>
        </p:nvSpPr>
        <p:spPr>
          <a:xfrm>
            <a:off x="2724912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하남검…</a:t>
            </a:r>
          </a:p>
        </p:txBody>
      </p:sp>
      <p:sp>
        <p:nvSpPr>
          <p:cNvPr id="67" name="t"/>
          <p:cNvSpPr txBox="1"/>
          <p:nvPr/>
        </p:nvSpPr>
        <p:spPr>
          <a:xfrm>
            <a:off x="3227832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12분</a:t>
            </a:r>
          </a:p>
        </p:txBody>
      </p:sp>
      <p:cxnSp>
        <p:nvCxnSpPr>
          <p:cNvPr id="68" name="ln"/>
          <p:cNvCxnSpPr/>
          <p:nvPr/>
        </p:nvCxnSpPr>
        <p:spPr>
          <a:xfrm>
            <a:off x="1388974" y="552297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9" name="btn"/>
          <p:cNvSpPr/>
          <p:nvPr/>
        </p:nvSpPr>
        <p:spPr>
          <a:xfrm>
            <a:off x="1481328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1481328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시간표</a:t>
            </a:r>
          </a:p>
        </p:txBody>
      </p:sp>
      <p:sp>
        <p:nvSpPr>
          <p:cNvPr id="71" name="btn"/>
          <p:cNvSpPr/>
          <p:nvPr/>
        </p:nvSpPr>
        <p:spPr>
          <a:xfrm>
            <a:off x="2724912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2724912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cxnSp>
        <p:nvCxnSpPr>
          <p:cNvPr id="73" name="ln"/>
          <p:cNvCxnSpPr/>
          <p:nvPr/>
        </p:nvCxnSpPr>
        <p:spPr>
          <a:xfrm>
            <a:off x="1388974" y="590702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4" name="t"/>
          <p:cNvSpPr txBox="1"/>
          <p:nvPr/>
        </p:nvSpPr>
        <p:spPr>
          <a:xfrm>
            <a:off x="1417320" y="5998464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1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75" name="role"/>
          <p:cNvSpPr/>
          <p:nvPr/>
        </p:nvSpPr>
        <p:spPr>
          <a:xfrm>
            <a:off x="1737360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1737360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77" name="role"/>
          <p:cNvSpPr/>
          <p:nvPr/>
        </p:nvSpPr>
        <p:spPr>
          <a:xfrm>
            <a:off x="2871216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871216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79" name="지도 안내"/>
          <p:cNvSpPr txBox="1"/>
          <p:nvPr/>
        </p:nvSpPr>
        <p:spPr>
          <a:xfrm>
            <a:off x="1782166" y="1318565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역 1개만 핀 표출</a:t>
            </a:r>
          </a:p>
        </p:txBody>
      </p:sp>
      <p:sp>
        <p:nvSpPr>
          <p:cNvPr id="8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01822" y="1464869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01822" y="1464869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3601822" y="1812341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3601822" y="1812341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2888589" y="1812341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2888589" y="1812341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6" name="숫자배지 1"/>
          <p:cNvSpPr/>
          <p:nvPr/>
        </p:nvSpPr>
        <p:spPr>
          <a:xfrm>
            <a:off x="1115568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7" name="숫자배지 2"/>
          <p:cNvSpPr/>
          <p:nvPr/>
        </p:nvSpPr>
        <p:spPr>
          <a:xfrm>
            <a:off x="2267712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8" name="숫자배지 3"/>
          <p:cNvSpPr/>
          <p:nvPr/>
        </p:nvSpPr>
        <p:spPr>
          <a:xfrm>
            <a:off x="1115568" y="23408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4"/>
          <p:cNvSpPr/>
          <p:nvPr/>
        </p:nvSpPr>
        <p:spPr>
          <a:xfrm>
            <a:off x="2395728" y="254203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0" name="숫자배지 5"/>
          <p:cNvSpPr/>
          <p:nvPr/>
        </p:nvSpPr>
        <p:spPr>
          <a:xfrm>
            <a:off x="1115568" y="2898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1" name="숫자배지 6"/>
          <p:cNvSpPr/>
          <p:nvPr/>
        </p:nvSpPr>
        <p:spPr>
          <a:xfrm>
            <a:off x="1115568" y="4434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2" name="숫자배지 7"/>
          <p:cNvSpPr/>
          <p:nvPr/>
        </p:nvSpPr>
        <p:spPr>
          <a:xfrm>
            <a:off x="1115568" y="46451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3" name="숫자배지 8"/>
          <p:cNvSpPr/>
          <p:nvPr/>
        </p:nvSpPr>
        <p:spPr>
          <a:xfrm>
            <a:off x="1115568" y="4956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4" name="숫자배지 9"/>
          <p:cNvSpPr/>
          <p:nvPr/>
        </p:nvSpPr>
        <p:spPr>
          <a:xfrm>
            <a:off x="3913632" y="466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5" name="숫자배지 10"/>
          <p:cNvSpPr/>
          <p:nvPr/>
        </p:nvSpPr>
        <p:spPr>
          <a:xfrm>
            <a:off x="1115568" y="5596128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6" name="숫자배지 11"/>
          <p:cNvSpPr/>
          <p:nvPr/>
        </p:nvSpPr>
        <p:spPr>
          <a:xfrm>
            <a:off x="1115568" y="5989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1-4-1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지하철역 정보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지도 + 바텀시트 (4/4)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29153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[시간표] · [전화 연결]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시트 콘텐츠의 끝 · 가로 2열 — 왼쪽 [시간표] · 오른쪽 [전화 연결]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고정에 들어가지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[시간표] → 1-4-2 (들어온 노선 · 방면을 들고 감)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[전화 연결] → 앱 밖 발신 · 번호 없는 역은 비활성 ＋ 사유 텍스트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· 역할 지정 2버튼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하단 고정 줄 — 설비 · 도착 목록과 함께 스크롤되지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「출발」 / 「도착」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☆ 저장 단위는 역 1개 — 노선별로 따로 저장하지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같은 역의 두 행은 ☆ 상태를 공유함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back"/>
          <p:cNvSpPr/>
          <p:nvPr/>
        </p:nvSpPr>
        <p:spPr>
          <a:xfrm>
            <a:off x="1378915" y="1281989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5" name="map"/>
          <p:cNvSpPr/>
          <p:nvPr/>
        </p:nvSpPr>
        <p:spPr>
          <a:xfrm>
            <a:off x="1324966" y="1190549"/>
            <a:ext cx="2734056" cy="10058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바텀시트">
            <a:extLst>
              <a:ext uri="{FF2B5EF4-FFF2-40B4-BE49-F238E27FC236}">
                <a16:creationId xmlns:a16="http://schemas.microsoft.com/office/drawing/2014/main" id="{02FF6B5C-B412-AE5B-51AF-3EDA17D33D49}"/>
              </a:ext>
            </a:extLst>
          </p:cNvPr>
          <p:cNvSpPr/>
          <p:nvPr/>
        </p:nvSpPr>
        <p:spPr>
          <a:xfrm>
            <a:off x="1334452" y="2194560"/>
            <a:ext cx="2714625" cy="4105656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31AAF60C-03A6-2250-948E-6C49AE8D8E2B}"/>
              </a:ext>
            </a:extLst>
          </p:cNvPr>
          <p:cNvCxnSpPr/>
          <p:nvPr/>
        </p:nvCxnSpPr>
        <p:spPr>
          <a:xfrm flipH="1">
            <a:off x="147732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뒤로가기">
            <a:extLst>
              <a:ext uri="{FF2B5EF4-FFF2-40B4-BE49-F238E27FC236}">
                <a16:creationId xmlns:a16="http://schemas.microsoft.com/office/drawing/2014/main" id="{9B9FA0A7-7FA2-D038-4A62-C2896DF78770}"/>
              </a:ext>
            </a:extLst>
          </p:cNvPr>
          <p:cNvCxnSpPr/>
          <p:nvPr/>
        </p:nvCxnSpPr>
        <p:spPr>
          <a:xfrm flipH="1" flipV="1">
            <a:off x="147732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시트 손잡이">
            <a:extLst>
              <a:ext uri="{FF2B5EF4-FFF2-40B4-BE49-F238E27FC236}">
                <a16:creationId xmlns:a16="http://schemas.microsoft.com/office/drawing/2014/main" id="{BB3C5BFC-79CC-0025-DD56-FFEFE0FF02D4}"/>
              </a:ext>
            </a:extLst>
          </p:cNvPr>
          <p:cNvSpPr/>
          <p:nvPr/>
        </p:nvSpPr>
        <p:spPr>
          <a:xfrm>
            <a:off x="2496312" y="2267712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pSp>
        <p:nvGrpSpPr>
          <p:cNvPr id="20" name="그룹 64">
            <a:extLst>
              <a:ext uri="{FF2B5EF4-FFF2-40B4-BE49-F238E27FC236}">
                <a16:creationId xmlns:a16="http://schemas.microsoft.com/office/drawing/2014/main" id="{12D60FBC-5248-0308-B65E-9B77C8689314}"/>
              </a:ext>
            </a:extLst>
          </p:cNvPr>
          <p:cNvGrpSpPr/>
          <p:nvPr/>
        </p:nvGrpSpPr>
        <p:grpSpPr>
          <a:xfrm>
            <a:off x="1536192" y="3090672"/>
            <a:ext cx="2065417" cy="1269235"/>
            <a:chOff x="6412764" y="3631663"/>
            <a:chExt cx="2065417" cy="1269235"/>
          </a:xfrm>
        </p:grpSpPr>
        <p:pic>
          <p:nvPicPr>
            <p:cNvPr id="21" name="Picture 34" descr="image.png">
              <a:extLst>
                <a:ext uri="{FF2B5EF4-FFF2-40B4-BE49-F238E27FC236}">
                  <a16:creationId xmlns:a16="http://schemas.microsoft.com/office/drawing/2014/main" id="{BAFBB2A2-5DA4-CE82-8E47-ED6890FD9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328" t="44058" r="71443"/>
            <a:stretch>
              <a:fillRect/>
            </a:stretch>
          </p:blipFill>
          <p:spPr>
            <a:xfrm>
              <a:off x="6450794" y="3827128"/>
              <a:ext cx="244668" cy="221321"/>
            </a:xfrm>
            <a:prstGeom prst="rect">
              <a:avLst/>
            </a:prstGeom>
          </p:spPr>
        </p:pic>
        <p:pic>
          <p:nvPicPr>
            <p:cNvPr id="22" name="Picture 34" descr="image.png">
              <a:extLst>
                <a:ext uri="{FF2B5EF4-FFF2-40B4-BE49-F238E27FC236}">
                  <a16:creationId xmlns:a16="http://schemas.microsoft.com/office/drawing/2014/main" id="{3F785438-E93B-3FB2-53BB-022F179B8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0382" t="40870" r="47390" b="1048"/>
            <a:stretch>
              <a:fillRect/>
            </a:stretch>
          </p:blipFill>
          <p:spPr>
            <a:xfrm>
              <a:off x="6450794" y="4093886"/>
              <a:ext cx="244668" cy="229789"/>
            </a:xfrm>
            <a:prstGeom prst="rect">
              <a:avLst/>
            </a:prstGeom>
          </p:spPr>
        </p:pic>
        <p:pic>
          <p:nvPicPr>
            <p:cNvPr id="23" name="Picture 34" descr="image.png">
              <a:extLst>
                <a:ext uri="{FF2B5EF4-FFF2-40B4-BE49-F238E27FC236}">
                  <a16:creationId xmlns:a16="http://schemas.microsoft.com/office/drawing/2014/main" id="{1326D28F-964F-61AD-21A8-5F09DC8B8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4063" t="39389" r="26393" b="2529"/>
            <a:stretch>
              <a:fillRect/>
            </a:stretch>
          </p:blipFill>
          <p:spPr>
            <a:xfrm>
              <a:off x="6455534" y="4366100"/>
              <a:ext cx="215127" cy="229789"/>
            </a:xfrm>
            <a:prstGeom prst="rect">
              <a:avLst/>
            </a:prstGeom>
          </p:spPr>
        </p:pic>
        <p:pic>
          <p:nvPicPr>
            <p:cNvPr id="24" name="Picture 34" descr="image.png">
              <a:extLst>
                <a:ext uri="{FF2B5EF4-FFF2-40B4-BE49-F238E27FC236}">
                  <a16:creationId xmlns:a16="http://schemas.microsoft.com/office/drawing/2014/main" id="{D01C297F-B00A-1D70-67EC-AA7BB6911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1443" t="37686" r="4491" b="3789"/>
            <a:stretch>
              <a:fillRect/>
            </a:stretch>
          </p:blipFill>
          <p:spPr>
            <a:xfrm>
              <a:off x="6412764" y="4626142"/>
              <a:ext cx="314324" cy="274756"/>
            </a:xfrm>
            <a:prstGeom prst="rect">
              <a:avLst/>
            </a:prstGeom>
          </p:spPr>
        </p:pic>
        <p:sp>
          <p:nvSpPr>
            <p:cNvPr id="25" name="TextBox 76">
              <a:extLst>
                <a:ext uri="{FF2B5EF4-FFF2-40B4-BE49-F238E27FC236}">
                  <a16:creationId xmlns:a16="http://schemas.microsoft.com/office/drawing/2014/main" id="{37A856CC-F2B6-F8D6-A6DB-43F687D25351}"/>
                </a:ext>
              </a:extLst>
            </p:cNvPr>
            <p:cNvSpPr txBox="1"/>
            <p:nvPr/>
          </p:nvSpPr>
          <p:spPr>
            <a:xfrm>
              <a:off x="6778138" y="3808767"/>
              <a:ext cx="56706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엘리베이터</a:t>
              </a:r>
            </a:p>
          </p:txBody>
        </p:sp>
        <p:sp>
          <p:nvSpPr>
            <p:cNvPr id="26" name="TextBox 77">
              <a:extLst>
                <a:ext uri="{FF2B5EF4-FFF2-40B4-BE49-F238E27FC236}">
                  <a16:creationId xmlns:a16="http://schemas.microsoft.com/office/drawing/2014/main" id="{423287A4-B7BB-9B7A-D50F-D5AE70443194}"/>
                </a:ext>
              </a:extLst>
            </p:cNvPr>
            <p:cNvSpPr txBox="1"/>
            <p:nvPr/>
          </p:nvSpPr>
          <p:spPr>
            <a:xfrm>
              <a:off x="6778138" y="4105803"/>
              <a:ext cx="6551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에스컬레이터</a:t>
              </a:r>
            </a:p>
          </p:txBody>
        </p:sp>
        <p:sp>
          <p:nvSpPr>
            <p:cNvPr id="27" name="TextBox 81">
              <a:extLst>
                <a:ext uri="{FF2B5EF4-FFF2-40B4-BE49-F238E27FC236}">
                  <a16:creationId xmlns:a16="http://schemas.microsoft.com/office/drawing/2014/main" id="{E29BE306-3CE6-149D-706F-E75BDC17E8BB}"/>
                </a:ext>
              </a:extLst>
            </p:cNvPr>
            <p:cNvSpPr txBox="1"/>
            <p:nvPr/>
          </p:nvSpPr>
          <p:spPr>
            <a:xfrm>
              <a:off x="6778138" y="4387955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기저귀 교환대</a:t>
              </a:r>
            </a:p>
          </p:txBody>
        </p:sp>
        <p:sp>
          <p:nvSpPr>
            <p:cNvPr id="28" name="TextBox 82">
              <a:extLst>
                <a:ext uri="{FF2B5EF4-FFF2-40B4-BE49-F238E27FC236}">
                  <a16:creationId xmlns:a16="http://schemas.microsoft.com/office/drawing/2014/main" id="{9B70089D-7CFF-36DF-DF58-E5C83EA27978}"/>
                </a:ext>
              </a:extLst>
            </p:cNvPr>
            <p:cNvSpPr txBox="1"/>
            <p:nvPr/>
          </p:nvSpPr>
          <p:spPr>
            <a:xfrm>
              <a:off x="6778138" y="4654866"/>
              <a:ext cx="68475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sz="700" dirty="0"/>
                <a:t>휠체어 충전소</a:t>
              </a:r>
            </a:p>
          </p:txBody>
        </p:sp>
        <p:sp>
          <p:nvSpPr>
            <p:cNvPr id="29" name="섹션 접근성설비">
              <a:extLst>
                <a:ext uri="{FF2B5EF4-FFF2-40B4-BE49-F238E27FC236}">
                  <a16:creationId xmlns:a16="http://schemas.microsoft.com/office/drawing/2014/main" id="{D3184978-3F8C-EAB9-F7BA-D102BD6A81D5}"/>
                </a:ext>
              </a:extLst>
            </p:cNvPr>
            <p:cNvSpPr/>
            <p:nvPr/>
          </p:nvSpPr>
          <p:spPr>
            <a:xfrm>
              <a:off x="6476209" y="3631663"/>
              <a:ext cx="1270112" cy="154228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l">
                <a:lnSpc>
                  <a:spcPct val="105000"/>
                </a:lnSpc>
              </a:pPr>
              <a:r>
                <a:rPr lang="ko-KR" altLang="en-US" sz="773" b="1" dirty="0">
                  <a:solidFill>
                    <a:srgbClr val="14181F"/>
                  </a:solidFill>
                  <a:latin typeface="Pretendard"/>
                </a:rPr>
                <a:t>이동</a:t>
              </a:r>
              <a:r>
                <a:rPr sz="773" b="1" dirty="0">
                  <a:solidFill>
                    <a:srgbClr val="14181F"/>
                  </a:solidFill>
                  <a:latin typeface="Pretendard"/>
                </a:rPr>
                <a:t> </a:t>
              </a:r>
              <a:r>
                <a:rPr sz="773" b="1" dirty="0" err="1">
                  <a:solidFill>
                    <a:srgbClr val="14181F"/>
                  </a:solidFill>
                  <a:latin typeface="Pretendard"/>
                </a:rPr>
                <a:t>설비</a:t>
              </a:r>
              <a:endParaRPr sz="773" b="1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30" name="노선2-1 도착1">
              <a:extLst>
                <a:ext uri="{FF2B5EF4-FFF2-40B4-BE49-F238E27FC236}">
                  <a16:creationId xmlns:a16="http://schemas.microsoft.com/office/drawing/2014/main" id="{C1980D2F-74FA-098C-2078-96CA84EBBEE0}"/>
                </a:ext>
              </a:extLst>
            </p:cNvPr>
            <p:cNvSpPr/>
            <p:nvPr/>
          </p:nvSpPr>
          <p:spPr>
            <a:xfrm>
              <a:off x="7106581" y="3868132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1" name="노선2-1 도착1">
              <a:extLst>
                <a:ext uri="{FF2B5EF4-FFF2-40B4-BE49-F238E27FC236}">
                  <a16:creationId xmlns:a16="http://schemas.microsoft.com/office/drawing/2014/main" id="{D61B441A-BA15-D320-530B-3C429F44B0CF}"/>
                </a:ext>
              </a:extLst>
            </p:cNvPr>
            <p:cNvSpPr/>
            <p:nvPr/>
          </p:nvSpPr>
          <p:spPr>
            <a:xfrm>
              <a:off x="7106581" y="4137971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있음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2" name="노선2-1 도착1">
              <a:extLst>
                <a:ext uri="{FF2B5EF4-FFF2-40B4-BE49-F238E27FC236}">
                  <a16:creationId xmlns:a16="http://schemas.microsoft.com/office/drawing/2014/main" id="{D226E691-77EA-0D34-2E83-00337615C04B}"/>
                </a:ext>
              </a:extLst>
            </p:cNvPr>
            <p:cNvSpPr/>
            <p:nvPr/>
          </p:nvSpPr>
          <p:spPr>
            <a:xfrm>
              <a:off x="7106581" y="4405706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</a:rPr>
                <a:t>있음</a:t>
              </a:r>
            </a:p>
            <a:p>
              <a:pPr algn="r">
                <a:lnSpc>
                  <a:spcPct val="105000"/>
                </a:lnSpc>
              </a:pP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  <p:sp>
          <p:nvSpPr>
            <p:cNvPr id="33" name="노선2-1 도착1">
              <a:extLst>
                <a:ext uri="{FF2B5EF4-FFF2-40B4-BE49-F238E27FC236}">
                  <a16:creationId xmlns:a16="http://schemas.microsoft.com/office/drawing/2014/main" id="{40EBB882-518C-19BB-1606-AC1238FA2D94}"/>
                </a:ext>
              </a:extLst>
            </p:cNvPr>
            <p:cNvSpPr/>
            <p:nvPr/>
          </p:nvSpPr>
          <p:spPr>
            <a:xfrm>
              <a:off x="7106581" y="4675547"/>
              <a:ext cx="1371600" cy="10054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>
              <a:noAutofit/>
            </a:bodyPr>
            <a:lstStyle/>
            <a:p>
              <a:pPr algn="r">
                <a:lnSpc>
                  <a:spcPct val="105000"/>
                </a:lnSpc>
              </a:pPr>
              <a:r>
                <a:rPr lang="ko-KR" altLang="en-US" sz="660" b="1" dirty="0">
                  <a:solidFill>
                    <a:srgbClr val="C00000"/>
                  </a:solidFill>
                  <a:latin typeface="Pretendard"/>
                </a:rPr>
                <a:t>없음</a:t>
              </a:r>
              <a:endParaRPr sz="660" b="1" dirty="0">
                <a:solidFill>
                  <a:srgbClr val="C00000"/>
                </a:solidFill>
                <a:latin typeface="Pretendard"/>
              </a:endParaRPr>
            </a:p>
          </p:txBody>
        </p:sp>
      </p:grpSp>
      <p:sp>
        <p:nvSpPr>
          <p:cNvPr id="3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5" name="t"/>
          <p:cNvSpPr txBox="1"/>
          <p:nvPr/>
        </p:nvSpPr>
        <p:spPr>
          <a:xfrm>
            <a:off x="1481328" y="2322576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1000" b="1" dirty="0">
                <a:solidFill>
                  <a:srgbClr val="14181F"/>
                </a:solidFill>
                <a:latin typeface="Pretendard"/>
                <a:ea typeface="Pretendard"/>
              </a:rPr>
              <a:t>군자역</a:t>
            </a:r>
          </a:p>
        </p:txBody>
      </p:sp>
      <p:sp>
        <p:nvSpPr>
          <p:cNvPr id="36" name="linebadge"/>
          <p:cNvSpPr/>
          <p:nvPr/>
        </p:nvSpPr>
        <p:spPr>
          <a:xfrm>
            <a:off x="3419856" y="2363724"/>
            <a:ext cx="475488" cy="173736"/>
          </a:xfrm>
          <a:prstGeom prst="roundRect">
            <a:avLst>
              <a:gd name="adj" fmla="val 30000"/>
            </a:avLst>
          </a:prstGeom>
          <a:solidFill>
            <a:srgbClr val="996CA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3419856" y="2404872"/>
            <a:ext cx="47548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5호선</a:t>
            </a:r>
          </a:p>
        </p:txBody>
      </p:sp>
      <p:sp>
        <p:nvSpPr>
          <p:cNvPr id="38" name="t"/>
          <p:cNvSpPr txBox="1"/>
          <p:nvPr/>
        </p:nvSpPr>
        <p:spPr>
          <a:xfrm>
            <a:off x="1481328" y="256032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350m</a:t>
            </a:r>
          </a:p>
        </p:txBody>
      </p:sp>
      <p:sp>
        <p:nvSpPr>
          <p:cNvPr id="39" name="t"/>
          <p:cNvSpPr txBox="1"/>
          <p:nvPr/>
        </p:nvSpPr>
        <p:spPr>
          <a:xfrm>
            <a:off x="1645920" y="25603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환승</a:t>
            </a:r>
          </a:p>
        </p:txBody>
      </p:sp>
      <p:sp>
        <p:nvSpPr>
          <p:cNvPr id="40" name="xfer"/>
          <p:cNvSpPr/>
          <p:nvPr/>
        </p:nvSpPr>
        <p:spPr>
          <a:xfrm>
            <a:off x="2157984" y="2546604"/>
            <a:ext cx="155448" cy="155448"/>
          </a:xfrm>
          <a:prstGeom prst="ellipse">
            <a:avLst/>
          </a:prstGeom>
          <a:solidFill>
            <a:srgbClr val="747F00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"/>
          <p:cNvSpPr txBox="1"/>
          <p:nvPr/>
        </p:nvSpPr>
        <p:spPr>
          <a:xfrm>
            <a:off x="2157984" y="2574036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>
        <p:nvSpPr>
          <p:cNvPr id="42" name="t"/>
          <p:cNvSpPr txBox="1"/>
          <p:nvPr/>
        </p:nvSpPr>
        <p:spPr>
          <a:xfrm>
            <a:off x="1481328" y="2706624"/>
            <a:ext cx="23774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서울특별시 광진구 능동 246-2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1388974" y="287121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1481328" y="2898648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00A84D"/>
                </a:solidFill>
                <a:latin typeface="Pretendard"/>
                <a:ea typeface="Pretendard"/>
              </a:rPr>
              <a:t>교통약자 내부환승 가능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1388974" y="3063240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46" name="ln"/>
          <p:cNvCxnSpPr/>
          <p:nvPr/>
        </p:nvCxnSpPr>
        <p:spPr>
          <a:xfrm>
            <a:off x="1388974" y="4407408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1481328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‹ 장한평</a:t>
            </a:r>
          </a:p>
        </p:txBody>
      </p:sp>
      <p:sp>
        <p:nvSpPr>
          <p:cNvPr id="48" name="t"/>
          <p:cNvSpPr txBox="1"/>
          <p:nvPr/>
        </p:nvSpPr>
        <p:spPr>
          <a:xfrm>
            <a:off x="2286000" y="4453128"/>
            <a:ext cx="8229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군자</a:t>
            </a:r>
          </a:p>
        </p:txBody>
      </p:sp>
      <p:sp>
        <p:nvSpPr>
          <p:cNvPr id="49" name="t"/>
          <p:cNvSpPr txBox="1"/>
          <p:nvPr/>
        </p:nvSpPr>
        <p:spPr>
          <a:xfrm>
            <a:off x="3108960" y="4453128"/>
            <a:ext cx="777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아차산 ›</a:t>
            </a:r>
          </a:p>
        </p:txBody>
      </p:sp>
      <p:cxnSp>
        <p:nvCxnSpPr>
          <p:cNvPr id="50" name="ln"/>
          <p:cNvCxnSpPr/>
          <p:nvPr/>
        </p:nvCxnSpPr>
        <p:spPr>
          <a:xfrm>
            <a:off x="1388974" y="462686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1" name="seg-on"/>
          <p:cNvSpPr/>
          <p:nvPr/>
        </p:nvSpPr>
        <p:spPr>
          <a:xfrm>
            <a:off x="1481328" y="4663440"/>
            <a:ext cx="777240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481328" y="471373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실시간</a:t>
            </a:r>
          </a:p>
        </p:txBody>
      </p:sp>
      <p:sp>
        <p:nvSpPr>
          <p:cNvPr id="53" name="seg-off"/>
          <p:cNvSpPr/>
          <p:nvPr/>
        </p:nvSpPr>
        <p:spPr>
          <a:xfrm>
            <a:off x="2276856" y="4663440"/>
            <a:ext cx="960120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276856" y="4713732"/>
            <a:ext cx="9601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시간표 기준</a:t>
            </a:r>
          </a:p>
        </p:txBody>
      </p:sp>
      <p:sp>
        <p:nvSpPr>
          <p:cNvPr id="55" name="refresh"/>
          <p:cNvSpPr/>
          <p:nvPr/>
        </p:nvSpPr>
        <p:spPr>
          <a:xfrm>
            <a:off x="3639312" y="464515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3639312" y="4704588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sp>
        <p:nvSpPr>
          <p:cNvPr id="57" name="t"/>
          <p:cNvSpPr txBox="1"/>
          <p:nvPr/>
        </p:nvSpPr>
        <p:spPr>
          <a:xfrm>
            <a:off x="1481328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58" name="t"/>
          <p:cNvSpPr txBox="1"/>
          <p:nvPr/>
        </p:nvSpPr>
        <p:spPr>
          <a:xfrm>
            <a:off x="2724912" y="4974336"/>
            <a:ext cx="118872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마천 · 하남검단산 방면</a:t>
            </a:r>
          </a:p>
        </p:txBody>
      </p:sp>
      <p:cxnSp>
        <p:nvCxnSpPr>
          <p:cNvPr id="59" name="ln"/>
          <p:cNvCxnSpPr/>
          <p:nvPr/>
        </p:nvCxnSpPr>
        <p:spPr>
          <a:xfrm>
            <a:off x="2679192" y="4937760"/>
            <a:ext cx="0" cy="68580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0" name="t"/>
          <p:cNvSpPr txBox="1"/>
          <p:nvPr/>
        </p:nvSpPr>
        <p:spPr>
          <a:xfrm>
            <a:off x="1481328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1" name="t"/>
          <p:cNvSpPr txBox="1"/>
          <p:nvPr/>
        </p:nvSpPr>
        <p:spPr>
          <a:xfrm>
            <a:off x="1984248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곧 도착</a:t>
            </a:r>
          </a:p>
        </p:txBody>
      </p:sp>
      <p:sp>
        <p:nvSpPr>
          <p:cNvPr id="62" name="t"/>
          <p:cNvSpPr txBox="1"/>
          <p:nvPr/>
        </p:nvSpPr>
        <p:spPr>
          <a:xfrm>
            <a:off x="1481328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984248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3분 20초</a:t>
            </a:r>
          </a:p>
        </p:txBody>
      </p:sp>
      <p:sp>
        <p:nvSpPr>
          <p:cNvPr id="64" name="t"/>
          <p:cNvSpPr txBox="1"/>
          <p:nvPr/>
        </p:nvSpPr>
        <p:spPr>
          <a:xfrm>
            <a:off x="2724912" y="5148072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마천</a:t>
            </a:r>
          </a:p>
        </p:txBody>
      </p:sp>
      <p:sp>
        <p:nvSpPr>
          <p:cNvPr id="65" name="t"/>
          <p:cNvSpPr txBox="1"/>
          <p:nvPr/>
        </p:nvSpPr>
        <p:spPr>
          <a:xfrm>
            <a:off x="3227832" y="5148072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6분 4초</a:t>
            </a:r>
          </a:p>
        </p:txBody>
      </p:sp>
      <p:sp>
        <p:nvSpPr>
          <p:cNvPr id="66" name="t"/>
          <p:cNvSpPr txBox="1"/>
          <p:nvPr/>
        </p:nvSpPr>
        <p:spPr>
          <a:xfrm>
            <a:off x="2724912" y="5321808"/>
            <a:ext cx="54864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하남검…</a:t>
            </a:r>
          </a:p>
        </p:txBody>
      </p:sp>
      <p:sp>
        <p:nvSpPr>
          <p:cNvPr id="67" name="t"/>
          <p:cNvSpPr txBox="1"/>
          <p:nvPr/>
        </p:nvSpPr>
        <p:spPr>
          <a:xfrm>
            <a:off x="3227832" y="5321808"/>
            <a:ext cx="65836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1" dirty="0">
                <a:solidFill>
                  <a:srgbClr val="E01B24"/>
                </a:solidFill>
                <a:latin typeface="Pretendard"/>
                <a:ea typeface="Pretendard"/>
              </a:rPr>
              <a:t>12분</a:t>
            </a:r>
          </a:p>
        </p:txBody>
      </p:sp>
      <p:cxnSp>
        <p:nvCxnSpPr>
          <p:cNvPr id="68" name="ln"/>
          <p:cNvCxnSpPr/>
          <p:nvPr/>
        </p:nvCxnSpPr>
        <p:spPr>
          <a:xfrm>
            <a:off x="1388974" y="5522976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69" name="btn"/>
          <p:cNvSpPr/>
          <p:nvPr/>
        </p:nvSpPr>
        <p:spPr>
          <a:xfrm>
            <a:off x="1481328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1481328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시간표</a:t>
            </a:r>
          </a:p>
        </p:txBody>
      </p:sp>
      <p:sp>
        <p:nvSpPr>
          <p:cNvPr id="71" name="btn"/>
          <p:cNvSpPr/>
          <p:nvPr/>
        </p:nvSpPr>
        <p:spPr>
          <a:xfrm>
            <a:off x="2724912" y="5577840"/>
            <a:ext cx="1188720" cy="228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2724912" y="563727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cxnSp>
        <p:nvCxnSpPr>
          <p:cNvPr id="73" name="ln"/>
          <p:cNvCxnSpPr/>
          <p:nvPr/>
        </p:nvCxnSpPr>
        <p:spPr>
          <a:xfrm>
            <a:off x="1388974" y="5907024"/>
            <a:ext cx="260512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4" name="t"/>
          <p:cNvSpPr txBox="1"/>
          <p:nvPr/>
        </p:nvSpPr>
        <p:spPr>
          <a:xfrm>
            <a:off x="1417320" y="5998464"/>
            <a:ext cx="21945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100" b="0" dirty="0">
                <a:solidFill>
                  <a:srgbClr val="3E4652"/>
                </a:solidFill>
                <a:latin typeface="Pretendard"/>
                <a:ea typeface="Pretendard"/>
              </a:rPr>
              <a:t>☆</a:t>
            </a:r>
          </a:p>
        </p:txBody>
      </p:sp>
      <p:sp>
        <p:nvSpPr>
          <p:cNvPr id="75" name="role"/>
          <p:cNvSpPr/>
          <p:nvPr/>
        </p:nvSpPr>
        <p:spPr>
          <a:xfrm>
            <a:off x="1737360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1737360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출발</a:t>
            </a:r>
          </a:p>
        </p:txBody>
      </p:sp>
      <p:sp>
        <p:nvSpPr>
          <p:cNvPr id="77" name="role"/>
          <p:cNvSpPr/>
          <p:nvPr/>
        </p:nvSpPr>
        <p:spPr>
          <a:xfrm>
            <a:off x="2871216" y="5971032"/>
            <a:ext cx="1024128" cy="23774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2871216" y="6025896"/>
            <a:ext cx="1024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도착</a:t>
            </a:r>
          </a:p>
        </p:txBody>
      </p:sp>
      <p:sp>
        <p:nvSpPr>
          <p:cNvPr id="79" name="지도 안내"/>
          <p:cNvSpPr txBox="1"/>
          <p:nvPr/>
        </p:nvSpPr>
        <p:spPr>
          <a:xfrm>
            <a:off x="1782166" y="1318565"/>
            <a:ext cx="14630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선택한 역 1개만 핀 표출</a:t>
            </a:r>
          </a:p>
        </p:txBody>
      </p:sp>
      <p:sp>
        <p:nvSpPr>
          <p:cNvPr id="80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3601822" y="1464869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3601822" y="1464869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3601822" y="1812341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3601822" y="1812341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2888589" y="1812341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2888589" y="1812341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86" name="숫자배지 1"/>
          <p:cNvSpPr/>
          <p:nvPr/>
        </p:nvSpPr>
        <p:spPr>
          <a:xfrm>
            <a:off x="1115568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7" name="숫자배지 2"/>
          <p:cNvSpPr/>
          <p:nvPr/>
        </p:nvSpPr>
        <p:spPr>
          <a:xfrm>
            <a:off x="2267712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8" name="숫자배지 3"/>
          <p:cNvSpPr/>
          <p:nvPr/>
        </p:nvSpPr>
        <p:spPr>
          <a:xfrm>
            <a:off x="1115568" y="23408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9" name="숫자배지 4"/>
          <p:cNvSpPr/>
          <p:nvPr/>
        </p:nvSpPr>
        <p:spPr>
          <a:xfrm>
            <a:off x="2395728" y="254203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0" name="숫자배지 5"/>
          <p:cNvSpPr/>
          <p:nvPr/>
        </p:nvSpPr>
        <p:spPr>
          <a:xfrm>
            <a:off x="1115568" y="2898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1" name="숫자배지 6"/>
          <p:cNvSpPr/>
          <p:nvPr/>
        </p:nvSpPr>
        <p:spPr>
          <a:xfrm>
            <a:off x="1115568" y="4434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92" name="숫자배지 7"/>
          <p:cNvSpPr/>
          <p:nvPr/>
        </p:nvSpPr>
        <p:spPr>
          <a:xfrm>
            <a:off x="1115568" y="464515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93" name="숫자배지 8"/>
          <p:cNvSpPr/>
          <p:nvPr/>
        </p:nvSpPr>
        <p:spPr>
          <a:xfrm>
            <a:off x="1115568" y="49560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94" name="숫자배지 9"/>
          <p:cNvSpPr/>
          <p:nvPr/>
        </p:nvSpPr>
        <p:spPr>
          <a:xfrm>
            <a:off x="3913632" y="4663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95" name="숫자배지 10"/>
          <p:cNvSpPr/>
          <p:nvPr/>
        </p:nvSpPr>
        <p:spPr>
          <a:xfrm>
            <a:off x="1115568" y="5596128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96" name="숫자배지 11"/>
          <p:cNvSpPr/>
          <p:nvPr/>
        </p:nvSpPr>
        <p:spPr>
          <a:xfrm>
            <a:off x="1115568" y="5989320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 시간표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요일 · 방면 2열 (1/2)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26293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앱바 · [새로고침]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「{역명} {노선} 시간표」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[새로고침] 앱바 오른쪽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→ 들어온 화면 (1-4-1 · 2-3)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요일 구분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3종 「평일」/「토요일」/「공휴일」 · 기본값은 오늘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방면 — 표의 열 머리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조작 컨트롤이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열 하나가 방면 하나 — 1-4-1 도착 2열과 같은 구조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들고 온 방면 열 하나만 강조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요일 구분과 같은 세그먼티드 형태로 그리지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5" name="t"/>
          <p:cNvSpPr txBox="1"/>
          <p:nvPr/>
        </p:nvSpPr>
        <p:spPr>
          <a:xfrm>
            <a:off x="1664208" y="1353312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군자역 5호선 시간표</a:t>
            </a:r>
          </a:p>
        </p:txBody>
      </p:sp>
      <p:sp>
        <p:nvSpPr>
          <p:cNvPr id="16" name="refresh"/>
          <p:cNvSpPr/>
          <p:nvPr/>
        </p:nvSpPr>
        <p:spPr>
          <a:xfrm>
            <a:off x="3685032" y="13258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7" name="t"/>
          <p:cNvSpPr txBox="1"/>
          <p:nvPr/>
        </p:nvSpPr>
        <p:spPr>
          <a:xfrm>
            <a:off x="3666744" y="1376172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cxnSp>
        <p:nvCxnSpPr>
          <p:cNvPr id="18" name="ln"/>
          <p:cNvCxnSpPr/>
          <p:nvPr/>
        </p:nvCxnSpPr>
        <p:spPr>
          <a:xfrm>
            <a:off x="1334110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9" name="day"/>
          <p:cNvSpPr/>
          <p:nvPr/>
        </p:nvSpPr>
        <p:spPr>
          <a:xfrm>
            <a:off x="148132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"/>
          <p:cNvSpPr txBox="1"/>
          <p:nvPr/>
        </p:nvSpPr>
        <p:spPr>
          <a:xfrm>
            <a:off x="148132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평일</a:t>
            </a:r>
          </a:p>
        </p:txBody>
      </p:sp>
      <p:sp>
        <p:nvSpPr>
          <p:cNvPr id="21" name="day"/>
          <p:cNvSpPr/>
          <p:nvPr/>
        </p:nvSpPr>
        <p:spPr>
          <a:xfrm>
            <a:off x="230428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2" name="t"/>
          <p:cNvSpPr txBox="1"/>
          <p:nvPr/>
        </p:nvSpPr>
        <p:spPr>
          <a:xfrm>
            <a:off x="230428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토요일</a:t>
            </a:r>
          </a:p>
        </p:txBody>
      </p:sp>
      <p:sp>
        <p:nvSpPr>
          <p:cNvPr id="23" name="day"/>
          <p:cNvSpPr/>
          <p:nvPr/>
        </p:nvSpPr>
        <p:spPr>
          <a:xfrm>
            <a:off x="312724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4" name="t"/>
          <p:cNvSpPr txBox="1"/>
          <p:nvPr/>
        </p:nvSpPr>
        <p:spPr>
          <a:xfrm>
            <a:off x="312724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공휴일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98092" y="13982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98092" y="14439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lhi"/>
          <p:cNvSpPr/>
          <p:nvPr/>
        </p:nvSpPr>
        <p:spPr>
          <a:xfrm>
            <a:off x="1773936" y="2121408"/>
            <a:ext cx="1152144" cy="274320"/>
          </a:xfrm>
          <a:prstGeom prst="rect">
            <a:avLst/>
          </a:prstGeom>
          <a:solidFill>
            <a:srgbClr val="ED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"/>
          <p:cNvSpPr txBox="1"/>
          <p:nvPr/>
        </p:nvSpPr>
        <p:spPr>
          <a:xfrm>
            <a:off x="1792224" y="219456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29" name="t"/>
          <p:cNvSpPr txBox="1"/>
          <p:nvPr/>
        </p:nvSpPr>
        <p:spPr>
          <a:xfrm>
            <a:off x="2926080" y="219456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5B6573"/>
                </a:solidFill>
                <a:latin typeface="Pretendard"/>
                <a:ea typeface="Pretendard"/>
              </a:rPr>
              <a:t>마천 · 하남 방면</a:t>
            </a:r>
          </a:p>
        </p:txBody>
      </p:sp>
      <p:sp>
        <p:nvSpPr>
          <p:cNvPr id="30" name="t"/>
          <p:cNvSpPr txBox="1"/>
          <p:nvPr/>
        </p:nvSpPr>
        <p:spPr>
          <a:xfrm>
            <a:off x="1481328" y="2688336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31" name="t"/>
          <p:cNvSpPr txBox="1"/>
          <p:nvPr/>
        </p:nvSpPr>
        <p:spPr>
          <a:xfrm>
            <a:off x="1792224" y="248716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05:31</a:t>
            </a:r>
          </a:p>
        </p:txBody>
      </p:sp>
      <p:sp>
        <p:nvSpPr>
          <p:cNvPr id="32" name="t"/>
          <p:cNvSpPr txBox="1"/>
          <p:nvPr/>
        </p:nvSpPr>
        <p:spPr>
          <a:xfrm>
            <a:off x="1792224" y="264261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33" name="t"/>
          <p:cNvSpPr txBox="1"/>
          <p:nvPr/>
        </p:nvSpPr>
        <p:spPr>
          <a:xfrm>
            <a:off x="1792224" y="2834640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05:48</a:t>
            </a:r>
          </a:p>
        </p:txBody>
      </p:sp>
      <p:sp>
        <p:nvSpPr>
          <p:cNvPr id="34" name="t"/>
          <p:cNvSpPr txBox="1"/>
          <p:nvPr/>
        </p:nvSpPr>
        <p:spPr>
          <a:xfrm>
            <a:off x="1792224" y="2990088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35" name="t"/>
          <p:cNvSpPr txBox="1"/>
          <p:nvPr/>
        </p:nvSpPr>
        <p:spPr>
          <a:xfrm>
            <a:off x="2926080" y="248716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05:29</a:t>
            </a:r>
          </a:p>
        </p:txBody>
      </p:sp>
      <p:sp>
        <p:nvSpPr>
          <p:cNvPr id="36" name="t"/>
          <p:cNvSpPr txBox="1"/>
          <p:nvPr/>
        </p:nvSpPr>
        <p:spPr>
          <a:xfrm>
            <a:off x="2926080" y="264261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37" name="t"/>
          <p:cNvSpPr txBox="1"/>
          <p:nvPr/>
        </p:nvSpPr>
        <p:spPr>
          <a:xfrm>
            <a:off x="2926080" y="2834640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05:52</a:t>
            </a:r>
          </a:p>
        </p:txBody>
      </p:sp>
      <p:sp>
        <p:nvSpPr>
          <p:cNvPr id="38" name="t"/>
          <p:cNvSpPr txBox="1"/>
          <p:nvPr/>
        </p:nvSpPr>
        <p:spPr>
          <a:xfrm>
            <a:off x="2926080" y="2990088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39" name="t"/>
          <p:cNvSpPr txBox="1"/>
          <p:nvPr/>
        </p:nvSpPr>
        <p:spPr>
          <a:xfrm>
            <a:off x="1481328" y="347472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40" name="t"/>
          <p:cNvSpPr txBox="1"/>
          <p:nvPr/>
        </p:nvSpPr>
        <p:spPr>
          <a:xfrm>
            <a:off x="1792224" y="327355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06:02</a:t>
            </a:r>
          </a:p>
        </p:txBody>
      </p:sp>
      <p:sp>
        <p:nvSpPr>
          <p:cNvPr id="41" name="t"/>
          <p:cNvSpPr txBox="1"/>
          <p:nvPr/>
        </p:nvSpPr>
        <p:spPr>
          <a:xfrm>
            <a:off x="1792224" y="342900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42" name="t"/>
          <p:cNvSpPr txBox="1"/>
          <p:nvPr/>
        </p:nvSpPr>
        <p:spPr>
          <a:xfrm>
            <a:off x="1792224" y="362102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06:27</a:t>
            </a:r>
          </a:p>
        </p:txBody>
      </p:sp>
      <p:sp>
        <p:nvSpPr>
          <p:cNvPr id="43" name="t"/>
          <p:cNvSpPr txBox="1"/>
          <p:nvPr/>
        </p:nvSpPr>
        <p:spPr>
          <a:xfrm>
            <a:off x="1792224" y="377647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44" name="t"/>
          <p:cNvSpPr txBox="1"/>
          <p:nvPr/>
        </p:nvSpPr>
        <p:spPr>
          <a:xfrm>
            <a:off x="2926080" y="327355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06:07</a:t>
            </a:r>
          </a:p>
        </p:txBody>
      </p:sp>
      <p:sp>
        <p:nvSpPr>
          <p:cNvPr id="45" name="t"/>
          <p:cNvSpPr txBox="1"/>
          <p:nvPr/>
        </p:nvSpPr>
        <p:spPr>
          <a:xfrm>
            <a:off x="2926080" y="342900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46" name="t"/>
          <p:cNvSpPr txBox="1"/>
          <p:nvPr/>
        </p:nvSpPr>
        <p:spPr>
          <a:xfrm>
            <a:off x="2926080" y="362102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06:31</a:t>
            </a:r>
          </a:p>
        </p:txBody>
      </p:sp>
      <p:sp>
        <p:nvSpPr>
          <p:cNvPr id="47" name="t"/>
          <p:cNvSpPr txBox="1"/>
          <p:nvPr/>
        </p:nvSpPr>
        <p:spPr>
          <a:xfrm>
            <a:off x="2926080" y="377647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48" name="t"/>
          <p:cNvSpPr txBox="1"/>
          <p:nvPr/>
        </p:nvSpPr>
        <p:spPr>
          <a:xfrm>
            <a:off x="1389888" y="402336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⋮</a:t>
            </a:r>
          </a:p>
        </p:txBody>
      </p:sp>
      <p:sp>
        <p:nvSpPr>
          <p:cNvPr id="49" name="nowrow"/>
          <p:cNvSpPr/>
          <p:nvPr/>
        </p:nvSpPr>
        <p:spPr>
          <a:xfrm>
            <a:off x="1389888" y="4187952"/>
            <a:ext cx="2651760" cy="786384"/>
          </a:xfrm>
          <a:prstGeom prst="rect">
            <a:avLst/>
          </a:prstGeom>
          <a:solidFill>
            <a:srgbClr val="ED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nowbar"/>
          <p:cNvSpPr/>
          <p:nvPr/>
        </p:nvSpPr>
        <p:spPr>
          <a:xfrm>
            <a:off x="1389888" y="4187952"/>
            <a:ext cx="27432" cy="786384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481328" y="44805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52" name="t"/>
          <p:cNvSpPr txBox="1"/>
          <p:nvPr/>
        </p:nvSpPr>
        <p:spPr>
          <a:xfrm>
            <a:off x="1792224" y="427939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14:25</a:t>
            </a:r>
          </a:p>
        </p:txBody>
      </p:sp>
      <p:sp>
        <p:nvSpPr>
          <p:cNvPr id="53" name="t"/>
          <p:cNvSpPr txBox="1"/>
          <p:nvPr/>
        </p:nvSpPr>
        <p:spPr>
          <a:xfrm>
            <a:off x="1792224" y="443484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54" name="t"/>
          <p:cNvSpPr txBox="1"/>
          <p:nvPr/>
        </p:nvSpPr>
        <p:spPr>
          <a:xfrm>
            <a:off x="1792224" y="462686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14:47</a:t>
            </a:r>
          </a:p>
        </p:txBody>
      </p:sp>
      <p:sp>
        <p:nvSpPr>
          <p:cNvPr id="55" name="t"/>
          <p:cNvSpPr txBox="1"/>
          <p:nvPr/>
        </p:nvSpPr>
        <p:spPr>
          <a:xfrm>
            <a:off x="1792224" y="478231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56" name="t"/>
          <p:cNvSpPr txBox="1"/>
          <p:nvPr/>
        </p:nvSpPr>
        <p:spPr>
          <a:xfrm>
            <a:off x="2926080" y="427939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14:21</a:t>
            </a:r>
          </a:p>
        </p:txBody>
      </p:sp>
      <p:sp>
        <p:nvSpPr>
          <p:cNvPr id="57" name="t"/>
          <p:cNvSpPr txBox="1"/>
          <p:nvPr/>
        </p:nvSpPr>
        <p:spPr>
          <a:xfrm>
            <a:off x="2926080" y="443484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58" name="t"/>
          <p:cNvSpPr txBox="1"/>
          <p:nvPr/>
        </p:nvSpPr>
        <p:spPr>
          <a:xfrm>
            <a:off x="2926080" y="462686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14:43</a:t>
            </a:r>
          </a:p>
        </p:txBody>
      </p:sp>
      <p:sp>
        <p:nvSpPr>
          <p:cNvPr id="59" name="t"/>
          <p:cNvSpPr txBox="1"/>
          <p:nvPr/>
        </p:nvSpPr>
        <p:spPr>
          <a:xfrm>
            <a:off x="2926080" y="478231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60" name="t"/>
          <p:cNvSpPr txBox="1"/>
          <p:nvPr/>
        </p:nvSpPr>
        <p:spPr>
          <a:xfrm>
            <a:off x="1481328" y="5266944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61" name="t"/>
          <p:cNvSpPr txBox="1"/>
          <p:nvPr/>
        </p:nvSpPr>
        <p:spPr>
          <a:xfrm>
            <a:off x="1792224" y="5065776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15:04</a:t>
            </a:r>
          </a:p>
        </p:txBody>
      </p:sp>
      <p:sp>
        <p:nvSpPr>
          <p:cNvPr id="62" name="t"/>
          <p:cNvSpPr txBox="1"/>
          <p:nvPr/>
        </p:nvSpPr>
        <p:spPr>
          <a:xfrm>
            <a:off x="1792224" y="5221224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792224" y="541324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15:26</a:t>
            </a:r>
          </a:p>
        </p:txBody>
      </p:sp>
      <p:sp>
        <p:nvSpPr>
          <p:cNvPr id="64" name="t"/>
          <p:cNvSpPr txBox="1"/>
          <p:nvPr/>
        </p:nvSpPr>
        <p:spPr>
          <a:xfrm>
            <a:off x="1792224" y="556869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65" name="t"/>
          <p:cNvSpPr txBox="1"/>
          <p:nvPr/>
        </p:nvSpPr>
        <p:spPr>
          <a:xfrm>
            <a:off x="2926080" y="5065776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15:08</a:t>
            </a:r>
          </a:p>
        </p:txBody>
      </p:sp>
      <p:sp>
        <p:nvSpPr>
          <p:cNvPr id="66" name="t"/>
          <p:cNvSpPr txBox="1"/>
          <p:nvPr/>
        </p:nvSpPr>
        <p:spPr>
          <a:xfrm>
            <a:off x="2926080" y="5221224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67" name="t"/>
          <p:cNvSpPr txBox="1"/>
          <p:nvPr/>
        </p:nvSpPr>
        <p:spPr>
          <a:xfrm>
            <a:off x="2926080" y="541324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15:30</a:t>
            </a:r>
          </a:p>
        </p:txBody>
      </p:sp>
      <p:sp>
        <p:nvSpPr>
          <p:cNvPr id="68" name="t"/>
          <p:cNvSpPr txBox="1"/>
          <p:nvPr/>
        </p:nvSpPr>
        <p:spPr>
          <a:xfrm>
            <a:off x="2926080" y="556869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cxnSp>
        <p:nvCxnSpPr>
          <p:cNvPr id="69" name="ln"/>
          <p:cNvCxnSpPr/>
          <p:nvPr/>
        </p:nvCxnSpPr>
        <p:spPr>
          <a:xfrm>
            <a:off x="1389888" y="2395728"/>
            <a:ext cx="2651760" cy="0"/>
          </a:xfrm>
          <a:prstGeom prst="line">
            <a:avLst/>
          </a:prstGeom>
          <a:ln w="12700">
            <a:solidFill>
              <a:srgbClr val="D7DDE5"/>
            </a:solidFill>
          </a:ln>
        </p:spPr>
      </p:cxnSp>
      <p:cxnSp>
        <p:nvCxnSpPr>
          <p:cNvPr id="70" name="ln"/>
          <p:cNvCxnSpPr/>
          <p:nvPr/>
        </p:nvCxnSpPr>
        <p:spPr>
          <a:xfrm>
            <a:off x="1389888" y="3182112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1" name="ln"/>
          <p:cNvCxnSpPr/>
          <p:nvPr/>
        </p:nvCxnSpPr>
        <p:spPr>
          <a:xfrm>
            <a:off x="1389888" y="3968496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2" name="ln"/>
          <p:cNvCxnSpPr/>
          <p:nvPr/>
        </p:nvCxnSpPr>
        <p:spPr>
          <a:xfrm>
            <a:off x="1389888" y="4187952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3" name="ln"/>
          <p:cNvCxnSpPr/>
          <p:nvPr/>
        </p:nvCxnSpPr>
        <p:spPr>
          <a:xfrm>
            <a:off x="1389888" y="4974336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4" name="ln"/>
          <p:cNvCxnSpPr/>
          <p:nvPr/>
        </p:nvCxnSpPr>
        <p:spPr>
          <a:xfrm>
            <a:off x="1389888" y="5760720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5" name="ln"/>
          <p:cNvCxnSpPr/>
          <p:nvPr/>
        </p:nvCxnSpPr>
        <p:spPr>
          <a:xfrm>
            <a:off x="1773936" y="2121408"/>
            <a:ext cx="0" cy="3639312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6" name="ln"/>
          <p:cNvCxnSpPr/>
          <p:nvPr/>
        </p:nvCxnSpPr>
        <p:spPr>
          <a:xfrm>
            <a:off x="2907792" y="2121408"/>
            <a:ext cx="0" cy="3639312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7" name="t"/>
          <p:cNvSpPr txBox="1"/>
          <p:nvPr/>
        </p:nvSpPr>
        <p:spPr>
          <a:xfrm>
            <a:off x="1389888" y="5888736"/>
            <a:ext cx="26517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현재 시각대 강조 — 진입 시 그 행으로 스크롤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15568" y="1335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1115568" y="1755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1115568" y="21396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15568" y="24323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4114800" y="4443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CEF9CB2B-B808-2423-CC90-578DAA8B3886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1898CCB9-5F47-A1D7-8197-13AFED94FBB8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9D1CBE87-A4D5-F5C9-86A9-24334FD07C26}"/>
              </a:ext>
            </a:extLst>
          </p:cNvPr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1-4-2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9492816-E3DB-3D2B-3E98-F5CDC4A6C671}"/>
              </a:ext>
            </a:extLst>
          </p:cNvPr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지하철 시간표</a:t>
            </a:r>
          </a:p>
        </p:txBody>
      </p:sp>
      <p:sp>
        <p:nvSpPr>
          <p:cNvPr id="7" name="부제">
            <a:extLst>
              <a:ext uri="{FF2B5EF4-FFF2-40B4-BE49-F238E27FC236}">
                <a16:creationId xmlns:a16="http://schemas.microsoft.com/office/drawing/2014/main" id="{E804337B-BB6D-83F2-9FDF-7549FD568C56}"/>
              </a:ext>
            </a:extLst>
          </p:cNvPr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요일 · 방면 2열 (2/2)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AAF814A2-9680-BFED-73B8-7E581850584E}"/>
              </a:ext>
            </a:extLst>
          </p:cNvPr>
          <p:cNvSpPr/>
          <p:nvPr/>
        </p:nvSpPr>
        <p:spPr>
          <a:xfrm>
            <a:off x="418795" y="952500"/>
            <a:ext cx="7829093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8830F6F3-1A81-CEDA-E00D-287A343A34C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2220AFA9-EC31-E58C-C9B1-9179FBC0B27E}"/>
              </a:ext>
            </a:extLst>
          </p:cNvPr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09350716-A799-7FA6-23B5-5475F72C9933}"/>
              </a:ext>
            </a:extLst>
          </p:cNvPr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A3A34B08-D42B-CCB0-8D42-F9E21A57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17421"/>
              </p:ext>
            </p:extLst>
          </p:nvPr>
        </p:nvGraphicFramePr>
        <p:xfrm>
          <a:off x="8629192" y="1447495"/>
          <a:ext cx="2972713" cy="381055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시(時) 행 · 편성 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맨 왼쪽 열이 시 · 2자리 · 두 방면 열에 공통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셀 2줄 — 1줄 시각 · 2줄 「출발역 › 종착역」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편성이 없는 시간대는 행 자체가 없음 — 빈 행을 만들지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한쪽 방면에만 편성이 있으면 행은 남고 반대쪽 칸이 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편성은 자기 열 안에 세로로 쌓임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하이라이트 — 현재 시간대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시각 기준 「가장 가까운 시간대」 한 곳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매초 따라 움직이지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오늘 · 현재 요일 구분을 보고 있을 때만 강조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 그 시간대로 스크롤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테두리 · 아이콘을 함께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표기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막차가 지난 시각이면 강조가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긴 역명은 말줄임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3A60990-2E55-B993-E98C-9701D78922A0}"/>
              </a:ext>
            </a:extLst>
          </p:cNvPr>
          <p:cNvSpPr/>
          <p:nvPr/>
        </p:nvSpPr>
        <p:spPr>
          <a:xfrm>
            <a:off x="132492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5" name="t"/>
          <p:cNvSpPr txBox="1"/>
          <p:nvPr/>
        </p:nvSpPr>
        <p:spPr>
          <a:xfrm>
            <a:off x="1664208" y="1353312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군자역 5호선 시간표</a:t>
            </a:r>
          </a:p>
        </p:txBody>
      </p:sp>
      <p:sp>
        <p:nvSpPr>
          <p:cNvPr id="16" name="refresh"/>
          <p:cNvSpPr/>
          <p:nvPr/>
        </p:nvSpPr>
        <p:spPr>
          <a:xfrm>
            <a:off x="3685032" y="13258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7" name="t"/>
          <p:cNvSpPr txBox="1"/>
          <p:nvPr/>
        </p:nvSpPr>
        <p:spPr>
          <a:xfrm>
            <a:off x="3666744" y="1376172"/>
            <a:ext cx="23774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3E4652"/>
                </a:solidFill>
                <a:latin typeface="Pretendard"/>
                <a:ea typeface="Pretendard"/>
              </a:rPr>
              <a:t>↻</a:t>
            </a:r>
          </a:p>
        </p:txBody>
      </p:sp>
      <p:cxnSp>
        <p:nvCxnSpPr>
          <p:cNvPr id="18" name="ln"/>
          <p:cNvCxnSpPr/>
          <p:nvPr/>
        </p:nvCxnSpPr>
        <p:spPr>
          <a:xfrm>
            <a:off x="1334110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9" name="day"/>
          <p:cNvSpPr/>
          <p:nvPr/>
        </p:nvSpPr>
        <p:spPr>
          <a:xfrm>
            <a:off x="148132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"/>
          <p:cNvSpPr txBox="1"/>
          <p:nvPr/>
        </p:nvSpPr>
        <p:spPr>
          <a:xfrm>
            <a:off x="148132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평일</a:t>
            </a:r>
          </a:p>
        </p:txBody>
      </p:sp>
      <p:sp>
        <p:nvSpPr>
          <p:cNvPr id="21" name="day"/>
          <p:cNvSpPr/>
          <p:nvPr/>
        </p:nvSpPr>
        <p:spPr>
          <a:xfrm>
            <a:off x="230428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2" name="t"/>
          <p:cNvSpPr txBox="1"/>
          <p:nvPr/>
        </p:nvSpPr>
        <p:spPr>
          <a:xfrm>
            <a:off x="230428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토요일</a:t>
            </a:r>
          </a:p>
        </p:txBody>
      </p:sp>
      <p:sp>
        <p:nvSpPr>
          <p:cNvPr id="23" name="day"/>
          <p:cNvSpPr/>
          <p:nvPr/>
        </p:nvSpPr>
        <p:spPr>
          <a:xfrm>
            <a:off x="3127248" y="1737360"/>
            <a:ext cx="78638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4" name="t"/>
          <p:cNvSpPr txBox="1"/>
          <p:nvPr/>
        </p:nvSpPr>
        <p:spPr>
          <a:xfrm>
            <a:off x="3127248" y="1787652"/>
            <a:ext cx="78638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공휴일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498092" y="139827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498092" y="144399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olhi"/>
          <p:cNvSpPr/>
          <p:nvPr/>
        </p:nvSpPr>
        <p:spPr>
          <a:xfrm>
            <a:off x="1773936" y="2121408"/>
            <a:ext cx="1152144" cy="274320"/>
          </a:xfrm>
          <a:prstGeom prst="rect">
            <a:avLst/>
          </a:prstGeom>
          <a:solidFill>
            <a:srgbClr val="ED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"/>
          <p:cNvSpPr txBox="1"/>
          <p:nvPr/>
        </p:nvSpPr>
        <p:spPr>
          <a:xfrm>
            <a:off x="1792224" y="219456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방화 방면</a:t>
            </a:r>
          </a:p>
        </p:txBody>
      </p:sp>
      <p:sp>
        <p:nvSpPr>
          <p:cNvPr id="29" name="t"/>
          <p:cNvSpPr txBox="1"/>
          <p:nvPr/>
        </p:nvSpPr>
        <p:spPr>
          <a:xfrm>
            <a:off x="2926080" y="219456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5B6573"/>
                </a:solidFill>
                <a:latin typeface="Pretendard"/>
                <a:ea typeface="Pretendard"/>
              </a:rPr>
              <a:t>마천 · 하남 방면</a:t>
            </a:r>
          </a:p>
        </p:txBody>
      </p:sp>
      <p:sp>
        <p:nvSpPr>
          <p:cNvPr id="30" name="t"/>
          <p:cNvSpPr txBox="1"/>
          <p:nvPr/>
        </p:nvSpPr>
        <p:spPr>
          <a:xfrm>
            <a:off x="1481328" y="2688336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31" name="t"/>
          <p:cNvSpPr txBox="1"/>
          <p:nvPr/>
        </p:nvSpPr>
        <p:spPr>
          <a:xfrm>
            <a:off x="1792224" y="248716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05:31</a:t>
            </a:r>
          </a:p>
        </p:txBody>
      </p:sp>
      <p:sp>
        <p:nvSpPr>
          <p:cNvPr id="32" name="t"/>
          <p:cNvSpPr txBox="1"/>
          <p:nvPr/>
        </p:nvSpPr>
        <p:spPr>
          <a:xfrm>
            <a:off x="1792224" y="264261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33" name="t"/>
          <p:cNvSpPr txBox="1"/>
          <p:nvPr/>
        </p:nvSpPr>
        <p:spPr>
          <a:xfrm>
            <a:off x="1792224" y="2834640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05:48</a:t>
            </a:r>
          </a:p>
        </p:txBody>
      </p:sp>
      <p:sp>
        <p:nvSpPr>
          <p:cNvPr id="34" name="t"/>
          <p:cNvSpPr txBox="1"/>
          <p:nvPr/>
        </p:nvSpPr>
        <p:spPr>
          <a:xfrm>
            <a:off x="1792224" y="2990088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35" name="t"/>
          <p:cNvSpPr txBox="1"/>
          <p:nvPr/>
        </p:nvSpPr>
        <p:spPr>
          <a:xfrm>
            <a:off x="2926080" y="248716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05:29</a:t>
            </a:r>
          </a:p>
        </p:txBody>
      </p:sp>
      <p:sp>
        <p:nvSpPr>
          <p:cNvPr id="36" name="t"/>
          <p:cNvSpPr txBox="1"/>
          <p:nvPr/>
        </p:nvSpPr>
        <p:spPr>
          <a:xfrm>
            <a:off x="2926080" y="264261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37" name="t"/>
          <p:cNvSpPr txBox="1"/>
          <p:nvPr/>
        </p:nvSpPr>
        <p:spPr>
          <a:xfrm>
            <a:off x="2926080" y="2834640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05:52</a:t>
            </a:r>
          </a:p>
        </p:txBody>
      </p:sp>
      <p:sp>
        <p:nvSpPr>
          <p:cNvPr id="38" name="t"/>
          <p:cNvSpPr txBox="1"/>
          <p:nvPr/>
        </p:nvSpPr>
        <p:spPr>
          <a:xfrm>
            <a:off x="2926080" y="2990088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39" name="t"/>
          <p:cNvSpPr txBox="1"/>
          <p:nvPr/>
        </p:nvSpPr>
        <p:spPr>
          <a:xfrm>
            <a:off x="1481328" y="347472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40" name="t"/>
          <p:cNvSpPr txBox="1"/>
          <p:nvPr/>
        </p:nvSpPr>
        <p:spPr>
          <a:xfrm>
            <a:off x="1792224" y="327355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06:02</a:t>
            </a:r>
          </a:p>
        </p:txBody>
      </p:sp>
      <p:sp>
        <p:nvSpPr>
          <p:cNvPr id="41" name="t"/>
          <p:cNvSpPr txBox="1"/>
          <p:nvPr/>
        </p:nvSpPr>
        <p:spPr>
          <a:xfrm>
            <a:off x="1792224" y="342900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42" name="t"/>
          <p:cNvSpPr txBox="1"/>
          <p:nvPr/>
        </p:nvSpPr>
        <p:spPr>
          <a:xfrm>
            <a:off x="1792224" y="362102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06:27</a:t>
            </a:r>
          </a:p>
        </p:txBody>
      </p:sp>
      <p:sp>
        <p:nvSpPr>
          <p:cNvPr id="43" name="t"/>
          <p:cNvSpPr txBox="1"/>
          <p:nvPr/>
        </p:nvSpPr>
        <p:spPr>
          <a:xfrm>
            <a:off x="1792224" y="377647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44" name="t"/>
          <p:cNvSpPr txBox="1"/>
          <p:nvPr/>
        </p:nvSpPr>
        <p:spPr>
          <a:xfrm>
            <a:off x="2926080" y="327355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06:07</a:t>
            </a:r>
          </a:p>
        </p:txBody>
      </p:sp>
      <p:sp>
        <p:nvSpPr>
          <p:cNvPr id="45" name="t"/>
          <p:cNvSpPr txBox="1"/>
          <p:nvPr/>
        </p:nvSpPr>
        <p:spPr>
          <a:xfrm>
            <a:off x="2926080" y="342900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46" name="t"/>
          <p:cNvSpPr txBox="1"/>
          <p:nvPr/>
        </p:nvSpPr>
        <p:spPr>
          <a:xfrm>
            <a:off x="2926080" y="362102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06:31</a:t>
            </a:r>
          </a:p>
        </p:txBody>
      </p:sp>
      <p:sp>
        <p:nvSpPr>
          <p:cNvPr id="47" name="t"/>
          <p:cNvSpPr txBox="1"/>
          <p:nvPr/>
        </p:nvSpPr>
        <p:spPr>
          <a:xfrm>
            <a:off x="2926080" y="377647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48" name="t"/>
          <p:cNvSpPr txBox="1"/>
          <p:nvPr/>
        </p:nvSpPr>
        <p:spPr>
          <a:xfrm>
            <a:off x="1389888" y="4023360"/>
            <a:ext cx="26517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⋮</a:t>
            </a:r>
          </a:p>
        </p:txBody>
      </p:sp>
      <p:sp>
        <p:nvSpPr>
          <p:cNvPr id="49" name="nowrow"/>
          <p:cNvSpPr/>
          <p:nvPr/>
        </p:nvSpPr>
        <p:spPr>
          <a:xfrm>
            <a:off x="1389888" y="4187952"/>
            <a:ext cx="2651760" cy="786384"/>
          </a:xfrm>
          <a:prstGeom prst="rect">
            <a:avLst/>
          </a:prstGeom>
          <a:solidFill>
            <a:srgbClr val="EDF1FB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nowbar"/>
          <p:cNvSpPr/>
          <p:nvPr/>
        </p:nvSpPr>
        <p:spPr>
          <a:xfrm>
            <a:off x="1389888" y="4187952"/>
            <a:ext cx="27432" cy="786384"/>
          </a:xfrm>
          <a:prstGeom prst="rect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481328" y="4480560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14</a:t>
            </a:r>
          </a:p>
        </p:txBody>
      </p:sp>
      <p:sp>
        <p:nvSpPr>
          <p:cNvPr id="52" name="t"/>
          <p:cNvSpPr txBox="1"/>
          <p:nvPr/>
        </p:nvSpPr>
        <p:spPr>
          <a:xfrm>
            <a:off x="1792224" y="427939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14:25</a:t>
            </a:r>
          </a:p>
        </p:txBody>
      </p:sp>
      <p:sp>
        <p:nvSpPr>
          <p:cNvPr id="53" name="t"/>
          <p:cNvSpPr txBox="1"/>
          <p:nvPr/>
        </p:nvSpPr>
        <p:spPr>
          <a:xfrm>
            <a:off x="1792224" y="443484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54" name="t"/>
          <p:cNvSpPr txBox="1"/>
          <p:nvPr/>
        </p:nvSpPr>
        <p:spPr>
          <a:xfrm>
            <a:off x="1792224" y="462686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14:47</a:t>
            </a:r>
          </a:p>
        </p:txBody>
      </p:sp>
      <p:sp>
        <p:nvSpPr>
          <p:cNvPr id="55" name="t"/>
          <p:cNvSpPr txBox="1"/>
          <p:nvPr/>
        </p:nvSpPr>
        <p:spPr>
          <a:xfrm>
            <a:off x="1792224" y="478231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56" name="t"/>
          <p:cNvSpPr txBox="1"/>
          <p:nvPr/>
        </p:nvSpPr>
        <p:spPr>
          <a:xfrm>
            <a:off x="2926080" y="4279392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14:21</a:t>
            </a:r>
          </a:p>
        </p:txBody>
      </p:sp>
      <p:sp>
        <p:nvSpPr>
          <p:cNvPr id="57" name="t"/>
          <p:cNvSpPr txBox="1"/>
          <p:nvPr/>
        </p:nvSpPr>
        <p:spPr>
          <a:xfrm>
            <a:off x="2926080" y="4434840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58" name="t"/>
          <p:cNvSpPr txBox="1"/>
          <p:nvPr/>
        </p:nvSpPr>
        <p:spPr>
          <a:xfrm>
            <a:off x="2926080" y="4626864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14:43</a:t>
            </a:r>
          </a:p>
        </p:txBody>
      </p:sp>
      <p:sp>
        <p:nvSpPr>
          <p:cNvPr id="59" name="t"/>
          <p:cNvSpPr txBox="1"/>
          <p:nvPr/>
        </p:nvSpPr>
        <p:spPr>
          <a:xfrm>
            <a:off x="2926080" y="4782312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sp>
        <p:nvSpPr>
          <p:cNvPr id="60" name="t"/>
          <p:cNvSpPr txBox="1"/>
          <p:nvPr/>
        </p:nvSpPr>
        <p:spPr>
          <a:xfrm>
            <a:off x="1481328" y="5266944"/>
            <a:ext cx="3657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15</a:t>
            </a:r>
          </a:p>
        </p:txBody>
      </p:sp>
      <p:sp>
        <p:nvSpPr>
          <p:cNvPr id="61" name="t"/>
          <p:cNvSpPr txBox="1"/>
          <p:nvPr/>
        </p:nvSpPr>
        <p:spPr>
          <a:xfrm>
            <a:off x="1792224" y="5065776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15:04</a:t>
            </a:r>
          </a:p>
        </p:txBody>
      </p:sp>
      <p:sp>
        <p:nvSpPr>
          <p:cNvPr id="62" name="t"/>
          <p:cNvSpPr txBox="1"/>
          <p:nvPr/>
        </p:nvSpPr>
        <p:spPr>
          <a:xfrm>
            <a:off x="1792224" y="5221224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마천 › 방화</a:t>
            </a:r>
          </a:p>
        </p:txBody>
      </p:sp>
      <p:sp>
        <p:nvSpPr>
          <p:cNvPr id="63" name="t"/>
          <p:cNvSpPr txBox="1"/>
          <p:nvPr/>
        </p:nvSpPr>
        <p:spPr>
          <a:xfrm>
            <a:off x="1792224" y="541324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15:26</a:t>
            </a:r>
          </a:p>
        </p:txBody>
      </p:sp>
      <p:sp>
        <p:nvSpPr>
          <p:cNvPr id="64" name="t"/>
          <p:cNvSpPr txBox="1"/>
          <p:nvPr/>
        </p:nvSpPr>
        <p:spPr>
          <a:xfrm>
            <a:off x="1792224" y="556869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하남검단산 › 방화</a:t>
            </a:r>
          </a:p>
        </p:txBody>
      </p:sp>
      <p:sp>
        <p:nvSpPr>
          <p:cNvPr id="65" name="t"/>
          <p:cNvSpPr txBox="1"/>
          <p:nvPr/>
        </p:nvSpPr>
        <p:spPr>
          <a:xfrm>
            <a:off x="2926080" y="5065776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15:08</a:t>
            </a:r>
          </a:p>
        </p:txBody>
      </p:sp>
      <p:sp>
        <p:nvSpPr>
          <p:cNvPr id="66" name="t"/>
          <p:cNvSpPr txBox="1"/>
          <p:nvPr/>
        </p:nvSpPr>
        <p:spPr>
          <a:xfrm>
            <a:off x="2926080" y="5221224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마천</a:t>
            </a:r>
          </a:p>
        </p:txBody>
      </p:sp>
      <p:sp>
        <p:nvSpPr>
          <p:cNvPr id="67" name="t"/>
          <p:cNvSpPr txBox="1"/>
          <p:nvPr/>
        </p:nvSpPr>
        <p:spPr>
          <a:xfrm>
            <a:off x="2926080" y="5413248"/>
            <a:ext cx="11155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14181F"/>
                </a:solidFill>
                <a:latin typeface="Pretendard"/>
                <a:ea typeface="Pretendard"/>
              </a:rPr>
              <a:t>15:30</a:t>
            </a:r>
          </a:p>
        </p:txBody>
      </p:sp>
      <p:sp>
        <p:nvSpPr>
          <p:cNvPr id="68" name="t"/>
          <p:cNvSpPr txBox="1"/>
          <p:nvPr/>
        </p:nvSpPr>
        <p:spPr>
          <a:xfrm>
            <a:off x="2926080" y="5568696"/>
            <a:ext cx="111556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550" b="0" dirty="0">
                <a:solidFill>
                  <a:srgbClr val="5B6573"/>
                </a:solidFill>
                <a:latin typeface="Pretendard"/>
                <a:ea typeface="Pretendard"/>
              </a:rPr>
              <a:t>방화 › 하남검단산</a:t>
            </a:r>
          </a:p>
        </p:txBody>
      </p:sp>
      <p:cxnSp>
        <p:nvCxnSpPr>
          <p:cNvPr id="69" name="ln"/>
          <p:cNvCxnSpPr/>
          <p:nvPr/>
        </p:nvCxnSpPr>
        <p:spPr>
          <a:xfrm>
            <a:off x="1389888" y="2395728"/>
            <a:ext cx="2651760" cy="0"/>
          </a:xfrm>
          <a:prstGeom prst="line">
            <a:avLst/>
          </a:prstGeom>
          <a:ln w="12700">
            <a:solidFill>
              <a:srgbClr val="D7DDE5"/>
            </a:solidFill>
          </a:ln>
        </p:spPr>
      </p:cxnSp>
      <p:cxnSp>
        <p:nvCxnSpPr>
          <p:cNvPr id="70" name="ln"/>
          <p:cNvCxnSpPr/>
          <p:nvPr/>
        </p:nvCxnSpPr>
        <p:spPr>
          <a:xfrm>
            <a:off x="1389888" y="3182112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1" name="ln"/>
          <p:cNvCxnSpPr/>
          <p:nvPr/>
        </p:nvCxnSpPr>
        <p:spPr>
          <a:xfrm>
            <a:off x="1389888" y="3968496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2" name="ln"/>
          <p:cNvCxnSpPr/>
          <p:nvPr/>
        </p:nvCxnSpPr>
        <p:spPr>
          <a:xfrm>
            <a:off x="1389888" y="4187952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3" name="ln"/>
          <p:cNvCxnSpPr/>
          <p:nvPr/>
        </p:nvCxnSpPr>
        <p:spPr>
          <a:xfrm>
            <a:off x="1389888" y="4974336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4" name="ln"/>
          <p:cNvCxnSpPr/>
          <p:nvPr/>
        </p:nvCxnSpPr>
        <p:spPr>
          <a:xfrm>
            <a:off x="1389888" y="5760720"/>
            <a:ext cx="2651760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5" name="ln"/>
          <p:cNvCxnSpPr/>
          <p:nvPr/>
        </p:nvCxnSpPr>
        <p:spPr>
          <a:xfrm>
            <a:off x="1773936" y="2121408"/>
            <a:ext cx="0" cy="3639312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cxnSp>
        <p:nvCxnSpPr>
          <p:cNvPr id="76" name="ln"/>
          <p:cNvCxnSpPr/>
          <p:nvPr/>
        </p:nvCxnSpPr>
        <p:spPr>
          <a:xfrm>
            <a:off x="2907792" y="2121408"/>
            <a:ext cx="0" cy="3639312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7" name="t"/>
          <p:cNvSpPr txBox="1"/>
          <p:nvPr/>
        </p:nvSpPr>
        <p:spPr>
          <a:xfrm>
            <a:off x="1389888" y="5888736"/>
            <a:ext cx="26517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현재 시각대 강조 — 진입 시 그 행으로 스크롤</a:t>
            </a:r>
          </a:p>
        </p:txBody>
      </p:sp>
      <p:sp>
        <p:nvSpPr>
          <p:cNvPr id="78" name="숫자배지 1"/>
          <p:cNvSpPr/>
          <p:nvPr/>
        </p:nvSpPr>
        <p:spPr>
          <a:xfrm>
            <a:off x="1115568" y="13350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9" name="숫자배지 2"/>
          <p:cNvSpPr/>
          <p:nvPr/>
        </p:nvSpPr>
        <p:spPr>
          <a:xfrm>
            <a:off x="1115568" y="1755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0" name="숫자배지 3"/>
          <p:cNvSpPr/>
          <p:nvPr/>
        </p:nvSpPr>
        <p:spPr>
          <a:xfrm>
            <a:off x="1115568" y="21396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81" name="숫자배지 4"/>
          <p:cNvSpPr/>
          <p:nvPr/>
        </p:nvSpPr>
        <p:spPr>
          <a:xfrm>
            <a:off x="1115568" y="24323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2" name="숫자배지 5"/>
          <p:cNvSpPr/>
          <p:nvPr/>
        </p:nvSpPr>
        <p:spPr>
          <a:xfrm>
            <a:off x="4114800" y="4443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83338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87313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워크플로우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883920" y="3200400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988695" y="3200400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3 택시 호출"/>
          <p:cNvSpPr/>
          <p:nvPr/>
        </p:nvSpPr>
        <p:spPr>
          <a:xfrm>
            <a:off x="2987040" y="3200400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091815" y="3200400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1-5 택시 호출</a:t>
            </a:r>
          </a:p>
        </p:txBody>
      </p:sp>
      <p:sp>
        <p:nvSpPr>
          <p:cNvPr id="13" name="흐름 1-3-1 장애인 콜택시"/>
          <p:cNvSpPr/>
          <p:nvPr/>
        </p:nvSpPr>
        <p:spPr>
          <a:xfrm>
            <a:off x="5638800" y="173736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5743575" y="173736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장애인 콜택시 (카드)</a:t>
            </a:r>
          </a:p>
        </p:txBody>
      </p:sp>
      <p:sp>
        <p:nvSpPr>
          <p:cNvPr id="15" name="흐름 1-3-2 장애인 복지콜"/>
          <p:cNvSpPr/>
          <p:nvPr/>
        </p:nvSpPr>
        <p:spPr>
          <a:xfrm>
            <a:off x="5638800" y="278892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743575" y="278892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장애인 복지콜 (카드)</a:t>
            </a:r>
          </a:p>
        </p:txBody>
      </p:sp>
      <p:sp>
        <p:nvSpPr>
          <p:cNvPr id="17" name="흐름 1-3-3 서울엄마아빠택시 타다 예약"/>
          <p:cNvSpPr/>
          <p:nvPr/>
        </p:nvSpPr>
        <p:spPr>
          <a:xfrm>
            <a:off x="5638800" y="384048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5743575" y="384048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서울엄마아빠택시 타다 예약 (카드)</a:t>
            </a:r>
          </a:p>
        </p:txBody>
      </p:sp>
      <p:sp>
        <p:nvSpPr>
          <p:cNvPr id="19" name="흐름 1-3-4 서울엄마아빠택시 파파 예약"/>
          <p:cNvSpPr/>
          <p:nvPr/>
        </p:nvSpPr>
        <p:spPr>
          <a:xfrm>
            <a:off x="5638800" y="4892040"/>
            <a:ext cx="2377440" cy="457200"/>
          </a:xfrm>
          <a:prstGeom prst="roundRect">
            <a:avLst>
              <a:gd name="adj" fmla="val 25000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743575" y="4892040"/>
            <a:ext cx="216789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서울엄마아빠택시 파파 예약 (카드)</a:t>
            </a:r>
          </a:p>
        </p:txBody>
      </p:sp>
      <p:sp>
        <p:nvSpPr>
          <p:cNvPr id="21" name="흐름 전화 걸기 · 홈페이지"/>
          <p:cNvSpPr/>
          <p:nvPr/>
        </p:nvSpPr>
        <p:spPr>
          <a:xfrm>
            <a:off x="8839200" y="3200400"/>
            <a:ext cx="246888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943975" y="3200400"/>
            <a:ext cx="22593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앱 밖 이탈 — 발신 · 브라우저 · 스토어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438400" y="3483864"/>
            <a:ext cx="54864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3"/>
            <a:endCxn id="13" idx="1"/>
          </p:cNvCxnSpPr>
          <p:nvPr/>
        </p:nvCxnSpPr>
        <p:spPr>
          <a:xfrm flipV="1">
            <a:off x="48158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3" idx="3"/>
            <a:endCxn id="21" idx="1"/>
          </p:cNvCxnSpPr>
          <p:nvPr/>
        </p:nvCxnSpPr>
        <p:spPr>
          <a:xfrm>
            <a:off x="8016240" y="1965960"/>
            <a:ext cx="822960" cy="151790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5" idx="1"/>
          </p:cNvCxnSpPr>
          <p:nvPr/>
        </p:nvCxnSpPr>
        <p:spPr>
          <a:xfrm flipV="1">
            <a:off x="48158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21" idx="1"/>
          </p:cNvCxnSpPr>
          <p:nvPr/>
        </p:nvCxnSpPr>
        <p:spPr>
          <a:xfrm>
            <a:off x="8016240" y="3017520"/>
            <a:ext cx="822960" cy="466344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1" idx="3"/>
            <a:endCxn id="17" idx="1"/>
          </p:cNvCxnSpPr>
          <p:nvPr/>
        </p:nvCxnSpPr>
        <p:spPr>
          <a:xfrm>
            <a:off x="48158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연결선"/>
          <p:cNvCxnSpPr>
            <a:stCxn id="17" idx="3"/>
            <a:endCxn id="21" idx="1"/>
          </p:cNvCxnSpPr>
          <p:nvPr/>
        </p:nvCxnSpPr>
        <p:spPr>
          <a:xfrm flipV="1">
            <a:off x="8016240" y="3483864"/>
            <a:ext cx="822960" cy="58521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"/>
          <p:cNvCxnSpPr>
            <a:stCxn id="11" idx="3"/>
            <a:endCxn id="19" idx="1"/>
          </p:cNvCxnSpPr>
          <p:nvPr/>
        </p:nvCxnSpPr>
        <p:spPr>
          <a:xfrm>
            <a:off x="48158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연결선"/>
          <p:cNvCxnSpPr>
            <a:stCxn id="19" idx="3"/>
            <a:endCxn id="21" idx="1"/>
          </p:cNvCxnSpPr>
          <p:nvPr/>
        </p:nvCxnSpPr>
        <p:spPr>
          <a:xfrm flipV="1">
            <a:off x="8016240" y="3483864"/>
            <a:ext cx="822960" cy="1636776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C8E2A2F3-945D-D778-63AD-5341676F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746299BD-44AC-FF2B-1781-2475D0A32498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E1AFFE4-A3E8-B498-C02A-B8EE6D86E36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613EBC39-FCA5-97D1-B7AE-E49F7F5148D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19B9F4EE-A6B2-70BB-603F-96C45073FF7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3EDF8EE4-F8CB-9D6F-E824-10C1C2D0875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>
            <a:extLst>
              <a:ext uri="{FF2B5EF4-FFF2-40B4-BE49-F238E27FC236}">
                <a16:creationId xmlns:a16="http://schemas.microsoft.com/office/drawing/2014/main" id="{09E184F3-F178-086D-1A4E-087424333757}"/>
              </a:ext>
            </a:extLst>
          </p:cNvPr>
          <p:cNvSpPr/>
          <p:nvPr/>
        </p:nvSpPr>
        <p:spPr>
          <a:xfrm>
            <a:off x="1324966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08C39CB9-1889-C1A1-35EA-4BA6DB2152E7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DCA00701-756A-027A-A18F-39E95607489A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A34170B9-9A01-09B1-20DA-5BAEBD2A21A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C941AFA-1171-3041-6DCC-C5AE7053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06681"/>
              </p:ext>
            </p:extLst>
          </p:nvPr>
        </p:nvGraphicFramePr>
        <p:xfrm>
          <a:off x="8629192" y="1447800"/>
          <a:ext cx="2972409" cy="364174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탑바 · 서비스 카드 4개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＋ 제목 「택시 호출」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카드 4개 세로 나열 · 순서 고정 — ① 콜택시 ② 복지콜 ③④ 엄마아빠택시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자격 고지 — 4카드 공통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서비스명 바로 아래 · 대표번호보다 위 · 4카드가 같은 자리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운영기관 공식 표기 그대로 사용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대표번호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번호는 서버 설정값으로 관리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카드당 1개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[전화 연결] — 콜택시 · 복지콜 2종만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「전화 걸기」가 아니라 「전화 연결」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OS 기본 발신 확인 팝업이 바로 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통화 종료 시 직전 화면 그대로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/>
          <p:cNvSpPr/>
          <p:nvPr/>
        </p:nvSpPr>
        <p:spPr>
          <a:xfrm>
            <a:off x="4607662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1324966" y="1335024"/>
            <a:ext cx="27340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택시 호출</a:t>
            </a:r>
          </a:p>
        </p:txBody>
      </p:sp>
      <p:cxnSp>
        <p:nvCxnSpPr>
          <p:cNvPr id="16" name="ln"/>
          <p:cNvCxnSpPr/>
          <p:nvPr/>
        </p:nvCxnSpPr>
        <p:spPr>
          <a:xfrm>
            <a:off x="1334110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7" name="t"/>
          <p:cNvSpPr txBox="1"/>
          <p:nvPr/>
        </p:nvSpPr>
        <p:spPr>
          <a:xfrm>
            <a:off x="1480414" y="179222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장애인 콜택시</a:t>
            </a:r>
          </a:p>
        </p:txBody>
      </p:sp>
      <p:sp>
        <p:nvSpPr>
          <p:cNvPr id="18" name="t"/>
          <p:cNvSpPr txBox="1"/>
          <p:nvPr/>
        </p:nvSpPr>
        <p:spPr>
          <a:xfrm>
            <a:off x="1480414" y="197510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중증보행장애인(중증장애인이면서 보행상장애가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있는 장애인)·국가유공자 등 한정 서비스입니다.</a:t>
            </a:r>
          </a:p>
        </p:txBody>
      </p:sp>
      <p:sp>
        <p:nvSpPr>
          <p:cNvPr id="19" name="t"/>
          <p:cNvSpPr txBox="1"/>
          <p:nvPr/>
        </p:nvSpPr>
        <p:spPr>
          <a:xfrm>
            <a:off x="1480414" y="229514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대표번호</a:t>
            </a:r>
          </a:p>
        </p:txBody>
      </p:sp>
      <p:sp>
        <p:nvSpPr>
          <p:cNvPr id="20" name="t"/>
          <p:cNvSpPr txBox="1"/>
          <p:nvPr/>
        </p:nvSpPr>
        <p:spPr>
          <a:xfrm>
            <a:off x="2577694" y="2295144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1588-4388</a:t>
            </a:r>
          </a:p>
        </p:txBody>
      </p:sp>
      <p:sp>
        <p:nvSpPr>
          <p:cNvPr id="21" name="act"/>
          <p:cNvSpPr/>
          <p:nvPr/>
        </p:nvSpPr>
        <p:spPr>
          <a:xfrm>
            <a:off x="1480414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2" name="t"/>
          <p:cNvSpPr txBox="1"/>
          <p:nvPr/>
        </p:nvSpPr>
        <p:spPr>
          <a:xfrm>
            <a:off x="1480414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sp>
        <p:nvSpPr>
          <p:cNvPr id="23" name="act"/>
          <p:cNvSpPr/>
          <p:nvPr/>
        </p:nvSpPr>
        <p:spPr>
          <a:xfrm>
            <a:off x="2737714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4" name="t"/>
          <p:cNvSpPr txBox="1"/>
          <p:nvPr/>
        </p:nvSpPr>
        <p:spPr>
          <a:xfrm>
            <a:off x="2737714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</a:t>
            </a:r>
          </a:p>
        </p:txBody>
      </p:sp>
      <p:cxnSp>
        <p:nvCxnSpPr>
          <p:cNvPr id="25" name="ln"/>
          <p:cNvCxnSpPr/>
          <p:nvPr/>
        </p:nvCxnSpPr>
        <p:spPr>
          <a:xfrm>
            <a:off x="1416406" y="2880360"/>
            <a:ext cx="255117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6" name="t"/>
          <p:cNvSpPr txBox="1"/>
          <p:nvPr/>
        </p:nvSpPr>
        <p:spPr>
          <a:xfrm>
            <a:off x="1480414" y="302666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장애인 복지콜</a:t>
            </a:r>
          </a:p>
        </p:txBody>
      </p:sp>
      <p:sp>
        <p:nvSpPr>
          <p:cNvPr id="27" name="t"/>
          <p:cNvSpPr txBox="1"/>
          <p:nvPr/>
        </p:nvSpPr>
        <p:spPr>
          <a:xfrm>
            <a:off x="1480414" y="320954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시각 또는 신장장애인 한정 서비스입니다.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80414" y="339242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대표번호</a:t>
            </a:r>
          </a:p>
        </p:txBody>
      </p:sp>
      <p:sp>
        <p:nvSpPr>
          <p:cNvPr id="29" name="t"/>
          <p:cNvSpPr txBox="1"/>
          <p:nvPr/>
        </p:nvSpPr>
        <p:spPr>
          <a:xfrm>
            <a:off x="2577694" y="3392424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1600-4477</a:t>
            </a:r>
          </a:p>
        </p:txBody>
      </p:sp>
      <p:sp>
        <p:nvSpPr>
          <p:cNvPr id="30" name="act"/>
          <p:cNvSpPr/>
          <p:nvPr/>
        </p:nvSpPr>
        <p:spPr>
          <a:xfrm>
            <a:off x="1480414" y="361188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1" name="t"/>
          <p:cNvSpPr txBox="1"/>
          <p:nvPr/>
        </p:nvSpPr>
        <p:spPr>
          <a:xfrm>
            <a:off x="1480414" y="367131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sp>
        <p:nvSpPr>
          <p:cNvPr id="32" name="act"/>
          <p:cNvSpPr/>
          <p:nvPr/>
        </p:nvSpPr>
        <p:spPr>
          <a:xfrm>
            <a:off x="2737714" y="361188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3" name="t"/>
          <p:cNvSpPr txBox="1"/>
          <p:nvPr/>
        </p:nvSpPr>
        <p:spPr>
          <a:xfrm>
            <a:off x="2737714" y="367131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</a:t>
            </a:r>
          </a:p>
        </p:txBody>
      </p:sp>
      <p:sp>
        <p:nvSpPr>
          <p:cNvPr id="34" name="t"/>
          <p:cNvSpPr txBox="1"/>
          <p:nvPr/>
        </p:nvSpPr>
        <p:spPr>
          <a:xfrm>
            <a:off x="4607662" y="1335024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스크롤 하단 — 카드 ③ ④</a:t>
            </a:r>
          </a:p>
        </p:txBody>
      </p:sp>
      <p:cxnSp>
        <p:nvCxnSpPr>
          <p:cNvPr id="35" name="ln"/>
          <p:cNvCxnSpPr/>
          <p:nvPr/>
        </p:nvCxnSpPr>
        <p:spPr>
          <a:xfrm>
            <a:off x="4616806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6" name="t"/>
          <p:cNvSpPr txBox="1"/>
          <p:nvPr/>
        </p:nvSpPr>
        <p:spPr>
          <a:xfrm>
            <a:off x="4763110" y="179222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서울엄마아빠택시 타다 예약</a:t>
            </a:r>
          </a:p>
        </p:txBody>
      </p:sp>
      <p:sp>
        <p:nvSpPr>
          <p:cNvPr id="37" name="t"/>
          <p:cNvSpPr txBox="1"/>
          <p:nvPr/>
        </p:nvSpPr>
        <p:spPr>
          <a:xfrm>
            <a:off x="4763110" y="197510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서울시에 주소를 둔 24개월 이하 영아를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양육하는 실질적 양육자 한정 서비스입니다.</a:t>
            </a:r>
          </a:p>
        </p:txBody>
      </p:sp>
      <p:sp>
        <p:nvSpPr>
          <p:cNvPr id="38" name="t"/>
          <p:cNvSpPr txBox="1"/>
          <p:nvPr/>
        </p:nvSpPr>
        <p:spPr>
          <a:xfrm>
            <a:off x="4763110" y="2295144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상담 없음 앱 내 문의만 제공</a:t>
            </a:r>
          </a:p>
        </p:txBody>
      </p:sp>
      <p:sp>
        <p:nvSpPr>
          <p:cNvPr id="39" name="act"/>
          <p:cNvSpPr/>
          <p:nvPr/>
        </p:nvSpPr>
        <p:spPr>
          <a:xfrm>
            <a:off x="4763110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0" name="t"/>
          <p:cNvSpPr txBox="1"/>
          <p:nvPr/>
        </p:nvSpPr>
        <p:spPr>
          <a:xfrm>
            <a:off x="4763110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앱 다운로드</a:t>
            </a:r>
          </a:p>
        </p:txBody>
      </p:sp>
      <p:sp>
        <p:nvSpPr>
          <p:cNvPr id="41" name="act"/>
          <p:cNvSpPr/>
          <p:nvPr/>
        </p:nvSpPr>
        <p:spPr>
          <a:xfrm>
            <a:off x="6020410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2" name="t"/>
          <p:cNvSpPr txBox="1"/>
          <p:nvPr/>
        </p:nvSpPr>
        <p:spPr>
          <a:xfrm>
            <a:off x="6020410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</a:t>
            </a:r>
          </a:p>
        </p:txBody>
      </p:sp>
      <p:sp>
        <p:nvSpPr>
          <p:cNvPr id="43" name="voucher"/>
          <p:cNvSpPr/>
          <p:nvPr/>
        </p:nvSpPr>
        <p:spPr>
          <a:xfrm>
            <a:off x="4763110" y="2825496"/>
            <a:ext cx="24231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4763110" y="2884932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바우처 신청 (몽땅정보만능키)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4699102" y="3191256"/>
            <a:ext cx="255117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6" name="t"/>
          <p:cNvSpPr txBox="1"/>
          <p:nvPr/>
        </p:nvSpPr>
        <p:spPr>
          <a:xfrm>
            <a:off x="4763110" y="3337560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서울엄마아빠택시 파파 예약</a:t>
            </a:r>
          </a:p>
        </p:txBody>
      </p:sp>
      <p:sp>
        <p:nvSpPr>
          <p:cNvPr id="47" name="t"/>
          <p:cNvSpPr txBox="1"/>
          <p:nvPr/>
        </p:nvSpPr>
        <p:spPr>
          <a:xfrm>
            <a:off x="4763110" y="3520440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서울시에 주소를 둔 24개월 이하 영아를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양육하는 실질적 양육자 한정 서비스입니다.</a:t>
            </a:r>
          </a:p>
        </p:txBody>
      </p:sp>
      <p:sp>
        <p:nvSpPr>
          <p:cNvPr id="48" name="t"/>
          <p:cNvSpPr txBox="1"/>
          <p:nvPr/>
        </p:nvSpPr>
        <p:spPr>
          <a:xfrm>
            <a:off x="4763110" y="3840480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상담 없음 앱 내 문의만 제공</a:t>
            </a:r>
          </a:p>
        </p:txBody>
      </p:sp>
      <p:sp>
        <p:nvSpPr>
          <p:cNvPr id="49" name="act"/>
          <p:cNvSpPr/>
          <p:nvPr/>
        </p:nvSpPr>
        <p:spPr>
          <a:xfrm>
            <a:off x="4763110" y="4059936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0" name="t"/>
          <p:cNvSpPr txBox="1"/>
          <p:nvPr/>
        </p:nvSpPr>
        <p:spPr>
          <a:xfrm>
            <a:off x="4763110" y="4119372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앱 다운로드</a:t>
            </a:r>
          </a:p>
        </p:txBody>
      </p:sp>
      <p:sp>
        <p:nvSpPr>
          <p:cNvPr id="51" name="act"/>
          <p:cNvSpPr/>
          <p:nvPr/>
        </p:nvSpPr>
        <p:spPr>
          <a:xfrm>
            <a:off x="6020410" y="4059936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6020410" y="4119372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</a:t>
            </a:r>
          </a:p>
        </p:txBody>
      </p:sp>
      <p:sp>
        <p:nvSpPr>
          <p:cNvPr id="53" name="voucher"/>
          <p:cNvSpPr/>
          <p:nvPr/>
        </p:nvSpPr>
        <p:spPr>
          <a:xfrm>
            <a:off x="4763110" y="4370832"/>
            <a:ext cx="24231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4763110" y="4430268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바우처 신청 (몽땅정보만능키)</a:t>
            </a:r>
          </a:p>
        </p:txBody>
      </p:sp>
      <p:sp>
        <p:nvSpPr>
          <p:cNvPr id="55" name="t"/>
          <p:cNvSpPr txBox="1"/>
          <p:nvPr/>
        </p:nvSpPr>
        <p:spPr>
          <a:xfrm>
            <a:off x="1324966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카드 ① ②</a:t>
            </a:r>
          </a:p>
        </p:txBody>
      </p:sp>
      <p:sp>
        <p:nvSpPr>
          <p:cNvPr id="56" name="부제"/>
          <p:cNvSpPr txBox="1"/>
          <p:nvPr/>
        </p:nvSpPr>
        <p:spPr>
          <a:xfrm>
            <a:off x="1865376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서비스 카드 4종 (1/2)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cxnSp>
        <p:nvCxnSpPr>
          <p:cNvPr id="57" name="뒤로가기"/>
          <p:cNvCxnSpPr/>
          <p:nvPr/>
        </p:nvCxnSpPr>
        <p:spPr>
          <a:xfrm flipH="1">
            <a:off x="1497178" y="137998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 flipV="1">
            <a:off x="1497178" y="142570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숫자배지 1"/>
          <p:cNvSpPr/>
          <p:nvPr/>
        </p:nvSpPr>
        <p:spPr>
          <a:xfrm>
            <a:off x="111556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0" name="숫자배지 2"/>
          <p:cNvSpPr/>
          <p:nvPr/>
        </p:nvSpPr>
        <p:spPr>
          <a:xfrm>
            <a:off x="1115568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1" name="숫자배지 3"/>
          <p:cNvSpPr/>
          <p:nvPr/>
        </p:nvSpPr>
        <p:spPr>
          <a:xfrm>
            <a:off x="1115568" y="22768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4"/>
          <p:cNvSpPr/>
          <p:nvPr/>
        </p:nvSpPr>
        <p:spPr>
          <a:xfrm>
            <a:off x="1115568" y="2496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3" name="숫자배지 5"/>
          <p:cNvSpPr/>
          <p:nvPr/>
        </p:nvSpPr>
        <p:spPr>
          <a:xfrm>
            <a:off x="4407408" y="22768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4" name="숫자배지 6"/>
          <p:cNvSpPr/>
          <p:nvPr/>
        </p:nvSpPr>
        <p:spPr>
          <a:xfrm>
            <a:off x="4407408" y="280720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08563776"/>
      </p:ext>
    </p:extLst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>
            <a:extLst>
              <a:ext uri="{FF2B5EF4-FFF2-40B4-BE49-F238E27FC236}">
                <a16:creationId xmlns:a16="http://schemas.microsoft.com/office/drawing/2014/main" id="{746299BD-44AC-FF2B-1781-2475D0A32498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E1AFFE4-A3E8-B498-C02A-B8EE6D86E363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613EBC39-FCA5-97D1-B7AE-E49F7F5148D9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1-5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19B9F4EE-A6B2-70BB-603F-96C45073FF77}"/>
              </a:ext>
            </a:extLst>
          </p:cNvPr>
          <p:cNvSpPr txBox="1"/>
          <p:nvPr/>
        </p:nvSpPr>
        <p:spPr>
          <a:xfrm>
            <a:off x="911733" y="228600"/>
            <a:ext cx="78781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택시 호출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3EDF8EE4-F8CB-9D6F-E824-10C1C2D0875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>
            <a:extLst>
              <a:ext uri="{FF2B5EF4-FFF2-40B4-BE49-F238E27FC236}">
                <a16:creationId xmlns:a16="http://schemas.microsoft.com/office/drawing/2014/main" id="{09E184F3-F178-086D-1A4E-087424333757}"/>
              </a:ext>
            </a:extLst>
          </p:cNvPr>
          <p:cNvSpPr/>
          <p:nvPr/>
        </p:nvSpPr>
        <p:spPr>
          <a:xfrm>
            <a:off x="1324966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>
            <a:extLst>
              <a:ext uri="{FF2B5EF4-FFF2-40B4-BE49-F238E27FC236}">
                <a16:creationId xmlns:a16="http://schemas.microsoft.com/office/drawing/2014/main" id="{08C39CB9-1889-C1A1-35EA-4BA6DB2152E7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>
            <a:extLst>
              <a:ext uri="{FF2B5EF4-FFF2-40B4-BE49-F238E27FC236}">
                <a16:creationId xmlns:a16="http://schemas.microsoft.com/office/drawing/2014/main" id="{DCA00701-756A-027A-A18F-39E95607489A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>
            <a:extLst>
              <a:ext uri="{FF2B5EF4-FFF2-40B4-BE49-F238E27FC236}">
                <a16:creationId xmlns:a16="http://schemas.microsoft.com/office/drawing/2014/main" id="{A34170B9-9A01-09B1-20DA-5BAEBD2A21A1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>
            <a:extLst>
              <a:ext uri="{FF2B5EF4-FFF2-40B4-BE49-F238E27FC236}">
                <a16:creationId xmlns:a16="http://schemas.microsoft.com/office/drawing/2014/main" id="{3C941AFA-1171-3041-6DCC-C5AE7053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706681"/>
              </p:ext>
            </p:extLst>
          </p:nvPr>
        </p:nvGraphicFramePr>
        <p:xfrm>
          <a:off x="8629192" y="1447800"/>
          <a:ext cx="2972409" cy="214548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엄마아빠택시 2종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대표번호 자리에 「전화 상담 없음 앱 내 문의만 제공」 한 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[앱 다운로드]는 스토어 앱의 상세 페이지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[바우처 신청 (몽땅정보만능키)]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엄마아빠택시 2종에만 표출 · 액션 2버튼 아래 단에 전폭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괄호까지가 라벨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타다 · 파파가 같은 곳으로 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목업 프레임"/>
          <p:cNvSpPr/>
          <p:nvPr/>
        </p:nvSpPr>
        <p:spPr>
          <a:xfrm>
            <a:off x="4607662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t"/>
          <p:cNvSpPr txBox="1"/>
          <p:nvPr/>
        </p:nvSpPr>
        <p:spPr>
          <a:xfrm>
            <a:off x="1324966" y="1335024"/>
            <a:ext cx="27340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택시 호출</a:t>
            </a:r>
          </a:p>
        </p:txBody>
      </p:sp>
      <p:cxnSp>
        <p:nvCxnSpPr>
          <p:cNvPr id="16" name="ln"/>
          <p:cNvCxnSpPr/>
          <p:nvPr/>
        </p:nvCxnSpPr>
        <p:spPr>
          <a:xfrm>
            <a:off x="1334110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7" name="t"/>
          <p:cNvSpPr txBox="1"/>
          <p:nvPr/>
        </p:nvSpPr>
        <p:spPr>
          <a:xfrm>
            <a:off x="1480414" y="179222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장애인 콜택시</a:t>
            </a:r>
          </a:p>
        </p:txBody>
      </p:sp>
      <p:sp>
        <p:nvSpPr>
          <p:cNvPr id="18" name="t"/>
          <p:cNvSpPr txBox="1"/>
          <p:nvPr/>
        </p:nvSpPr>
        <p:spPr>
          <a:xfrm>
            <a:off x="1480414" y="197510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중증보행장애인(중증장애인이면서 보행상장애가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있는 장애인)·국가유공자 등 한정 서비스입니다.</a:t>
            </a:r>
          </a:p>
        </p:txBody>
      </p:sp>
      <p:sp>
        <p:nvSpPr>
          <p:cNvPr id="19" name="t"/>
          <p:cNvSpPr txBox="1"/>
          <p:nvPr/>
        </p:nvSpPr>
        <p:spPr>
          <a:xfrm>
            <a:off x="1480414" y="229514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대표번호</a:t>
            </a:r>
          </a:p>
        </p:txBody>
      </p:sp>
      <p:sp>
        <p:nvSpPr>
          <p:cNvPr id="20" name="t"/>
          <p:cNvSpPr txBox="1"/>
          <p:nvPr/>
        </p:nvSpPr>
        <p:spPr>
          <a:xfrm>
            <a:off x="2577694" y="2295144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1588-4388</a:t>
            </a:r>
          </a:p>
        </p:txBody>
      </p:sp>
      <p:sp>
        <p:nvSpPr>
          <p:cNvPr id="21" name="act"/>
          <p:cNvSpPr/>
          <p:nvPr/>
        </p:nvSpPr>
        <p:spPr>
          <a:xfrm>
            <a:off x="1480414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2" name="t"/>
          <p:cNvSpPr txBox="1"/>
          <p:nvPr/>
        </p:nvSpPr>
        <p:spPr>
          <a:xfrm>
            <a:off x="1480414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sp>
        <p:nvSpPr>
          <p:cNvPr id="23" name="act"/>
          <p:cNvSpPr/>
          <p:nvPr/>
        </p:nvSpPr>
        <p:spPr>
          <a:xfrm>
            <a:off x="2737714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24" name="t"/>
          <p:cNvSpPr txBox="1"/>
          <p:nvPr/>
        </p:nvSpPr>
        <p:spPr>
          <a:xfrm>
            <a:off x="2737714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</a:t>
            </a:r>
          </a:p>
        </p:txBody>
      </p:sp>
      <p:cxnSp>
        <p:nvCxnSpPr>
          <p:cNvPr id="25" name="ln"/>
          <p:cNvCxnSpPr/>
          <p:nvPr/>
        </p:nvCxnSpPr>
        <p:spPr>
          <a:xfrm>
            <a:off x="1416406" y="2880360"/>
            <a:ext cx="255117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6" name="t"/>
          <p:cNvSpPr txBox="1"/>
          <p:nvPr/>
        </p:nvSpPr>
        <p:spPr>
          <a:xfrm>
            <a:off x="1480414" y="302666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장애인 복지콜</a:t>
            </a:r>
          </a:p>
        </p:txBody>
      </p:sp>
      <p:sp>
        <p:nvSpPr>
          <p:cNvPr id="27" name="t"/>
          <p:cNvSpPr txBox="1"/>
          <p:nvPr/>
        </p:nvSpPr>
        <p:spPr>
          <a:xfrm>
            <a:off x="1480414" y="320954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시각 또는 신장장애인 한정 서비스입니다.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80414" y="3392424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대표번호</a:t>
            </a:r>
          </a:p>
        </p:txBody>
      </p:sp>
      <p:sp>
        <p:nvSpPr>
          <p:cNvPr id="29" name="t"/>
          <p:cNvSpPr txBox="1"/>
          <p:nvPr/>
        </p:nvSpPr>
        <p:spPr>
          <a:xfrm>
            <a:off x="2577694" y="3392424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1600-4477</a:t>
            </a:r>
          </a:p>
        </p:txBody>
      </p:sp>
      <p:sp>
        <p:nvSpPr>
          <p:cNvPr id="30" name="act"/>
          <p:cNvSpPr/>
          <p:nvPr/>
        </p:nvSpPr>
        <p:spPr>
          <a:xfrm>
            <a:off x="1480414" y="361188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1" name="t"/>
          <p:cNvSpPr txBox="1"/>
          <p:nvPr/>
        </p:nvSpPr>
        <p:spPr>
          <a:xfrm>
            <a:off x="1480414" y="367131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연결</a:t>
            </a:r>
          </a:p>
        </p:txBody>
      </p:sp>
      <p:sp>
        <p:nvSpPr>
          <p:cNvPr id="32" name="act"/>
          <p:cNvSpPr/>
          <p:nvPr/>
        </p:nvSpPr>
        <p:spPr>
          <a:xfrm>
            <a:off x="2737714" y="361188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3" name="t"/>
          <p:cNvSpPr txBox="1"/>
          <p:nvPr/>
        </p:nvSpPr>
        <p:spPr>
          <a:xfrm>
            <a:off x="2737714" y="367131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</a:t>
            </a:r>
          </a:p>
        </p:txBody>
      </p:sp>
      <p:sp>
        <p:nvSpPr>
          <p:cNvPr id="34" name="t"/>
          <p:cNvSpPr txBox="1"/>
          <p:nvPr/>
        </p:nvSpPr>
        <p:spPr>
          <a:xfrm>
            <a:off x="4607662" y="1335024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스크롤 하단 — 카드 ③ ④</a:t>
            </a:r>
          </a:p>
        </p:txBody>
      </p:sp>
      <p:cxnSp>
        <p:nvCxnSpPr>
          <p:cNvPr id="35" name="ln"/>
          <p:cNvCxnSpPr/>
          <p:nvPr/>
        </p:nvCxnSpPr>
        <p:spPr>
          <a:xfrm>
            <a:off x="4616806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6" name="t"/>
          <p:cNvSpPr txBox="1"/>
          <p:nvPr/>
        </p:nvSpPr>
        <p:spPr>
          <a:xfrm>
            <a:off x="4763110" y="1792224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서울엄마아빠택시 타다 예약</a:t>
            </a:r>
          </a:p>
        </p:txBody>
      </p:sp>
      <p:sp>
        <p:nvSpPr>
          <p:cNvPr id="37" name="t"/>
          <p:cNvSpPr txBox="1"/>
          <p:nvPr/>
        </p:nvSpPr>
        <p:spPr>
          <a:xfrm>
            <a:off x="4763110" y="1975104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서울시에 주소를 둔 24개월 이하 영아를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양육하는 실질적 양육자 한정 서비스입니다.</a:t>
            </a:r>
          </a:p>
        </p:txBody>
      </p:sp>
      <p:sp>
        <p:nvSpPr>
          <p:cNvPr id="38" name="t"/>
          <p:cNvSpPr txBox="1"/>
          <p:nvPr/>
        </p:nvSpPr>
        <p:spPr>
          <a:xfrm>
            <a:off x="4763110" y="2295144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상담 없음 앱 내 문의만 제공</a:t>
            </a:r>
          </a:p>
        </p:txBody>
      </p:sp>
      <p:sp>
        <p:nvSpPr>
          <p:cNvPr id="39" name="act"/>
          <p:cNvSpPr/>
          <p:nvPr/>
        </p:nvSpPr>
        <p:spPr>
          <a:xfrm>
            <a:off x="4763110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0" name="t"/>
          <p:cNvSpPr txBox="1"/>
          <p:nvPr/>
        </p:nvSpPr>
        <p:spPr>
          <a:xfrm>
            <a:off x="4763110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앱 다운로드</a:t>
            </a:r>
          </a:p>
        </p:txBody>
      </p:sp>
      <p:sp>
        <p:nvSpPr>
          <p:cNvPr id="41" name="act"/>
          <p:cNvSpPr/>
          <p:nvPr/>
        </p:nvSpPr>
        <p:spPr>
          <a:xfrm>
            <a:off x="6020410" y="2514600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2" name="t"/>
          <p:cNvSpPr txBox="1"/>
          <p:nvPr/>
        </p:nvSpPr>
        <p:spPr>
          <a:xfrm>
            <a:off x="6020410" y="2574036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</a:t>
            </a:r>
          </a:p>
        </p:txBody>
      </p:sp>
      <p:sp>
        <p:nvSpPr>
          <p:cNvPr id="43" name="voucher"/>
          <p:cNvSpPr/>
          <p:nvPr/>
        </p:nvSpPr>
        <p:spPr>
          <a:xfrm>
            <a:off x="4763110" y="2825496"/>
            <a:ext cx="24231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44" name="t"/>
          <p:cNvSpPr txBox="1"/>
          <p:nvPr/>
        </p:nvSpPr>
        <p:spPr>
          <a:xfrm>
            <a:off x="4763110" y="2884932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바우처 신청 (몽땅정보만능키)</a:t>
            </a:r>
          </a:p>
        </p:txBody>
      </p:sp>
      <p:cxnSp>
        <p:nvCxnSpPr>
          <p:cNvPr id="45" name="ln"/>
          <p:cNvCxnSpPr/>
          <p:nvPr/>
        </p:nvCxnSpPr>
        <p:spPr>
          <a:xfrm>
            <a:off x="4699102" y="3191256"/>
            <a:ext cx="255117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6" name="t"/>
          <p:cNvSpPr txBox="1"/>
          <p:nvPr/>
        </p:nvSpPr>
        <p:spPr>
          <a:xfrm>
            <a:off x="4763110" y="3337560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서울엄마아빠택시 파파 예약</a:t>
            </a:r>
          </a:p>
        </p:txBody>
      </p:sp>
      <p:sp>
        <p:nvSpPr>
          <p:cNvPr id="47" name="t"/>
          <p:cNvSpPr txBox="1"/>
          <p:nvPr/>
        </p:nvSpPr>
        <p:spPr>
          <a:xfrm>
            <a:off x="4763110" y="3520440"/>
            <a:ext cx="2423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서울시에 주소를 둔 24개월 이하 영아를</a:t>
            </a:r>
          </a:p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양육하는 실질적 양육자 한정 서비스입니다.</a:t>
            </a:r>
          </a:p>
        </p:txBody>
      </p:sp>
      <p:sp>
        <p:nvSpPr>
          <p:cNvPr id="48" name="t"/>
          <p:cNvSpPr txBox="1"/>
          <p:nvPr/>
        </p:nvSpPr>
        <p:spPr>
          <a:xfrm>
            <a:off x="4763110" y="3840480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전화 상담 없음 앱 내 문의만 제공</a:t>
            </a:r>
          </a:p>
        </p:txBody>
      </p:sp>
      <p:sp>
        <p:nvSpPr>
          <p:cNvPr id="49" name="act"/>
          <p:cNvSpPr/>
          <p:nvPr/>
        </p:nvSpPr>
        <p:spPr>
          <a:xfrm>
            <a:off x="4763110" y="4059936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0" name="t"/>
          <p:cNvSpPr txBox="1"/>
          <p:nvPr/>
        </p:nvSpPr>
        <p:spPr>
          <a:xfrm>
            <a:off x="4763110" y="4119372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앱 다운로드</a:t>
            </a:r>
          </a:p>
        </p:txBody>
      </p:sp>
      <p:sp>
        <p:nvSpPr>
          <p:cNvPr id="51" name="act"/>
          <p:cNvSpPr/>
          <p:nvPr/>
        </p:nvSpPr>
        <p:spPr>
          <a:xfrm>
            <a:off x="6020410" y="4059936"/>
            <a:ext cx="11658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6020410" y="4119372"/>
            <a:ext cx="11658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홈페이지</a:t>
            </a:r>
          </a:p>
        </p:txBody>
      </p:sp>
      <p:sp>
        <p:nvSpPr>
          <p:cNvPr id="53" name="voucher"/>
          <p:cNvSpPr/>
          <p:nvPr/>
        </p:nvSpPr>
        <p:spPr>
          <a:xfrm>
            <a:off x="4763110" y="4370832"/>
            <a:ext cx="242316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4763110" y="4430268"/>
            <a:ext cx="2423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바우처 신청 (몽땅정보만능키)</a:t>
            </a:r>
          </a:p>
        </p:txBody>
      </p:sp>
      <p:sp>
        <p:nvSpPr>
          <p:cNvPr id="55" name="t"/>
          <p:cNvSpPr txBox="1"/>
          <p:nvPr/>
        </p:nvSpPr>
        <p:spPr>
          <a:xfrm>
            <a:off x="1324966" y="1005840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카드 ① ②</a:t>
            </a:r>
          </a:p>
        </p:txBody>
      </p:sp>
      <p:sp>
        <p:nvSpPr>
          <p:cNvPr id="56" name="부제"/>
          <p:cNvSpPr txBox="1"/>
          <p:nvPr/>
        </p:nvSpPr>
        <p:spPr>
          <a:xfrm>
            <a:off x="1865376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서비스 카드 4종 (2/2)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cxnSp>
        <p:nvCxnSpPr>
          <p:cNvPr id="57" name="뒤로가기"/>
          <p:cNvCxnSpPr/>
          <p:nvPr/>
        </p:nvCxnSpPr>
        <p:spPr>
          <a:xfrm flipH="1">
            <a:off x="1497178" y="137998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 flipV="1">
            <a:off x="1497178" y="142570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숫자배지 1"/>
          <p:cNvSpPr/>
          <p:nvPr/>
        </p:nvSpPr>
        <p:spPr>
          <a:xfrm>
            <a:off x="111556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0" name="숫자배지 2"/>
          <p:cNvSpPr/>
          <p:nvPr/>
        </p:nvSpPr>
        <p:spPr>
          <a:xfrm>
            <a:off x="1115568" y="19568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1" name="숫자배지 3"/>
          <p:cNvSpPr/>
          <p:nvPr/>
        </p:nvSpPr>
        <p:spPr>
          <a:xfrm>
            <a:off x="1115568" y="22768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2" name="숫자배지 4"/>
          <p:cNvSpPr/>
          <p:nvPr/>
        </p:nvSpPr>
        <p:spPr>
          <a:xfrm>
            <a:off x="1115568" y="2496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3" name="숫자배지 5"/>
          <p:cNvSpPr/>
          <p:nvPr/>
        </p:nvSpPr>
        <p:spPr>
          <a:xfrm>
            <a:off x="4407408" y="22768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4" name="숫자배지 6"/>
          <p:cNvSpPr/>
          <p:nvPr/>
        </p:nvSpPr>
        <p:spPr>
          <a:xfrm>
            <a:off x="4407408" y="280720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흐름 1-0 홈"/>
          <p:cNvSpPr/>
          <p:nvPr/>
        </p:nvSpPr>
        <p:spPr>
          <a:xfrm>
            <a:off x="1272540" y="3602736"/>
            <a:ext cx="155448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제목"/>
          <p:cNvSpPr txBox="1"/>
          <p:nvPr/>
        </p:nvSpPr>
        <p:spPr>
          <a:xfrm>
            <a:off x="1377315" y="3602736"/>
            <a:ext cx="134493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1" name="흐름 1-6 불편신고"/>
          <p:cNvSpPr/>
          <p:nvPr/>
        </p:nvSpPr>
        <p:spPr>
          <a:xfrm>
            <a:off x="3238500" y="3602736"/>
            <a:ext cx="192024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흐름 제목"/>
          <p:cNvSpPr txBox="1"/>
          <p:nvPr/>
        </p:nvSpPr>
        <p:spPr>
          <a:xfrm>
            <a:off x="3343275" y="3602736"/>
            <a:ext cx="171069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 불편신고</a:t>
            </a:r>
          </a:p>
        </p:txBody>
      </p:sp>
      <p:sp>
        <p:nvSpPr>
          <p:cNvPr id="13" name="흐름 로그인 필요 팝업"/>
          <p:cNvSpPr/>
          <p:nvPr/>
        </p:nvSpPr>
        <p:spPr>
          <a:xfrm>
            <a:off x="3284220" y="2139696"/>
            <a:ext cx="182880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흐름 제목"/>
          <p:cNvSpPr txBox="1"/>
          <p:nvPr/>
        </p:nvSpPr>
        <p:spPr>
          <a:xfrm>
            <a:off x="3388995" y="2139696"/>
            <a:ext cx="161925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5" name="흐름 1-6-1 불편신고 등록"/>
          <p:cNvSpPr/>
          <p:nvPr/>
        </p:nvSpPr>
        <p:spPr>
          <a:xfrm>
            <a:off x="5890260" y="282549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95035" y="282549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1-6-1 불편신고 등록</a:t>
            </a:r>
          </a:p>
        </p:txBody>
      </p:sp>
      <p:sp>
        <p:nvSpPr>
          <p:cNvPr id="17" name="흐름 신고 접수 완료"/>
          <p:cNvSpPr/>
          <p:nvPr/>
        </p:nvSpPr>
        <p:spPr>
          <a:xfrm>
            <a:off x="8724900" y="2825496"/>
            <a:ext cx="17373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흐름 제목"/>
          <p:cNvSpPr txBox="1"/>
          <p:nvPr/>
        </p:nvSpPr>
        <p:spPr>
          <a:xfrm>
            <a:off x="8829675" y="2825496"/>
            <a:ext cx="15278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접수 완료</a:t>
            </a:r>
          </a:p>
        </p:txBody>
      </p:sp>
      <p:sp>
        <p:nvSpPr>
          <p:cNvPr id="19" name="흐름 1-6-2 내 신고 내역"/>
          <p:cNvSpPr/>
          <p:nvPr/>
        </p:nvSpPr>
        <p:spPr>
          <a:xfrm>
            <a:off x="5890260" y="4379976"/>
            <a:ext cx="2103120" cy="566928"/>
          </a:xfrm>
          <a:prstGeom prst="roundRect">
            <a:avLst>
              <a:gd name="adj" fmla="val 20161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5995035" y="4379976"/>
            <a:ext cx="189357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 dirty="0">
                <a:solidFill>
                  <a:srgbClr val="2D4CC8"/>
                </a:solidFill>
                <a:latin typeface="Pretendard"/>
              </a:rPr>
              <a:t>1-6-2 나의 불편신고 내역</a:t>
            </a:r>
          </a:p>
        </p:txBody>
      </p:sp>
      <p:sp>
        <p:nvSpPr>
          <p:cNvPr id="21" name="흐름 신고 상세"/>
          <p:cNvSpPr/>
          <p:nvPr/>
        </p:nvSpPr>
        <p:spPr>
          <a:xfrm>
            <a:off x="8724900" y="4379976"/>
            <a:ext cx="21945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흐름 제목"/>
          <p:cNvSpPr txBox="1"/>
          <p:nvPr/>
        </p:nvSpPr>
        <p:spPr>
          <a:xfrm>
            <a:off x="8829675" y="4379976"/>
            <a:ext cx="19850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신고 상세</a:t>
            </a:r>
          </a:p>
        </p:txBody>
      </p:sp>
      <p:cxnSp>
        <p:nvCxnSpPr>
          <p:cNvPr id="23" name="연결선"/>
          <p:cNvCxnSpPr>
            <a:stCxn id="9" idx="3"/>
            <a:endCxn id="11" idx="1"/>
          </p:cNvCxnSpPr>
          <p:nvPr/>
        </p:nvCxnSpPr>
        <p:spPr>
          <a:xfrm>
            <a:off x="2827020" y="3886200"/>
            <a:ext cx="41148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연결선"/>
          <p:cNvCxnSpPr>
            <a:stCxn id="11" idx="0"/>
            <a:endCxn id="13" idx="2"/>
          </p:cNvCxnSpPr>
          <p:nvPr/>
        </p:nvCxnSpPr>
        <p:spPr>
          <a:xfrm flipV="1">
            <a:off x="4198620" y="2706624"/>
            <a:ext cx="0" cy="896112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연결선"/>
          <p:cNvCxnSpPr>
            <a:stCxn id="11" idx="3"/>
            <a:endCxn id="15" idx="1"/>
          </p:cNvCxnSpPr>
          <p:nvPr/>
        </p:nvCxnSpPr>
        <p:spPr>
          <a:xfrm flipV="1">
            <a:off x="5158740" y="310896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"/>
          <p:cNvCxnSpPr>
            <a:stCxn id="11" idx="3"/>
            <a:endCxn id="19" idx="1"/>
          </p:cNvCxnSpPr>
          <p:nvPr/>
        </p:nvCxnSpPr>
        <p:spPr>
          <a:xfrm>
            <a:off x="5158740" y="3886200"/>
            <a:ext cx="731520" cy="777240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연결선"/>
          <p:cNvCxnSpPr>
            <a:stCxn id="15" idx="3"/>
            <a:endCxn id="17" idx="1"/>
          </p:cNvCxnSpPr>
          <p:nvPr/>
        </p:nvCxnSpPr>
        <p:spPr>
          <a:xfrm>
            <a:off x="7993380" y="310896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"/>
          <p:cNvCxnSpPr>
            <a:stCxn id="19" idx="3"/>
            <a:endCxn id="21" idx="1"/>
          </p:cNvCxnSpPr>
          <p:nvPr/>
        </p:nvCxnSpPr>
        <p:spPr>
          <a:xfrm>
            <a:off x="7993380" y="4663440"/>
            <a:ext cx="731520" cy="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흐름 신고 상세"/>
          <p:cNvSpPr/>
          <p:nvPr/>
        </p:nvSpPr>
        <p:spPr>
          <a:xfrm>
            <a:off x="8725205" y="5349240"/>
            <a:ext cx="2194560" cy="566928"/>
          </a:xfrm>
          <a:prstGeom prst="roundRect">
            <a:avLst>
              <a:gd name="adj" fmla="val 201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8829446" y="5349240"/>
            <a:ext cx="198501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수정 모드 → 저장하기</a:t>
            </a:r>
          </a:p>
        </p:txBody>
      </p:sp>
      <p:cxnSp>
        <p:nvCxnSpPr>
          <p:cNvPr id="31" name="연결선"/>
          <p:cNvCxnSpPr>
            <a:stCxn id="15" idx="3"/>
            <a:endCxn id="17" idx="1"/>
          </p:cNvCxnSpPr>
          <p:nvPr/>
        </p:nvCxnSpPr>
        <p:spPr>
          <a:xfrm>
            <a:off x="9593885" y="4946904"/>
            <a:ext cx="0" cy="402336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메뉴 · 로그인 팝업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E0BE00AF-C464-F9C4-2038-1D251DDD98B2}"/>
              </a:ext>
            </a:extLst>
          </p:cNvPr>
          <p:cNvSpPr/>
          <p:nvPr/>
        </p:nvSpPr>
        <p:spPr>
          <a:xfrm>
            <a:off x="4349291" y="142761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id="{42FA9DAE-4A95-45F7-8E88-B365ED696CEA}"/>
              </a:ext>
            </a:extLst>
          </p:cNvPr>
          <p:cNvSpPr/>
          <p:nvPr/>
        </p:nvSpPr>
        <p:spPr>
          <a:xfrm>
            <a:off x="4531385" y="19764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599DE8C1-D11E-BB16-28E8-60D581707EF9}"/>
              </a:ext>
            </a:extLst>
          </p:cNvPr>
          <p:cNvSpPr/>
          <p:nvPr/>
        </p:nvSpPr>
        <p:spPr>
          <a:xfrm>
            <a:off x="4531385" y="2422800"/>
            <a:ext cx="2073499" cy="38981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dirty="0">
                <a:solidFill>
                  <a:srgbClr val="14181F"/>
                </a:solidFill>
                <a:latin typeface="Pretendard"/>
              </a:rPr>
              <a:t>나의 불편</a:t>
            </a:r>
            <a:r>
              <a:rPr lang="ko-KR" altLang="en-US" sz="885" b="0" dirty="0">
                <a:solidFill>
                  <a:srgbClr val="14181F"/>
                </a:solidFill>
                <a:latin typeface="Pretendard"/>
              </a:rPr>
              <a:t>신고 내역</a:t>
            </a:r>
            <a:endParaRPr sz="885" b="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2" name="사각형: 둥근 모서리 46">
            <a:extLst>
              <a:ext uri="{FF2B5EF4-FFF2-40B4-BE49-F238E27FC236}">
                <a16:creationId xmlns:a16="http://schemas.microsoft.com/office/drawing/2014/main" id="{AB39C4E3-75B1-5FCF-F2FC-349DE450EC78}"/>
              </a:ext>
            </a:extLst>
          </p:cNvPr>
          <p:cNvSpPr/>
          <p:nvPr/>
        </p:nvSpPr>
        <p:spPr>
          <a:xfrm>
            <a:off x="552450" y="2812713"/>
            <a:ext cx="2055518" cy="974960"/>
          </a:xfrm>
          <a:prstGeom prst="roundRect">
            <a:avLst>
              <a:gd name="adj" fmla="val 136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28600" dist="50800" dir="5400000" rotWithShape="0">
              <a:srgbClr val="1A233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3" name="TextBox 48">
            <a:extLst>
              <a:ext uri="{FF2B5EF4-FFF2-40B4-BE49-F238E27FC236}">
                <a16:creationId xmlns:a16="http://schemas.microsoft.com/office/drawing/2014/main" id="{2EDF1416-CC82-0161-EA24-B8FFC318DFCB}"/>
              </a:ext>
            </a:extLst>
          </p:cNvPr>
          <p:cNvSpPr/>
          <p:nvPr/>
        </p:nvSpPr>
        <p:spPr>
          <a:xfrm>
            <a:off x="630936" y="2971800"/>
            <a:ext cx="1892808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 dirty="0" err="1">
                <a:solidFill>
                  <a:srgbClr val="14181F"/>
                </a:solidFill>
                <a:latin typeface="Pretendard"/>
              </a:rPr>
              <a:t>불편신고는 로그인 후 이용 가능합니다.</a:t>
            </a:r>
          </a:p>
        </p:txBody>
      </p:sp>
      <p:pic>
        <p:nvPicPr>
          <p:cNvPr id="14" name="Picture 26" descr="image.png">
            <a:extLst>
              <a:ext uri="{FF2B5EF4-FFF2-40B4-BE49-F238E27FC236}">
                <a16:creationId xmlns:a16="http://schemas.microsoft.com/office/drawing/2014/main" id="{0CAD7C77-9288-F80D-12AF-12FB43A7D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425" y="2909109"/>
            <a:ext cx="142091" cy="142091"/>
          </a:xfrm>
          <a:prstGeom prst="rect">
            <a:avLst/>
          </a:prstGeom>
        </p:spPr>
      </p:pic>
      <p:sp>
        <p:nvSpPr>
          <p:cNvPr id="15" name="사각형: 둥근 모서리 58">
            <a:extLst>
              <a:ext uri="{FF2B5EF4-FFF2-40B4-BE49-F238E27FC236}">
                <a16:creationId xmlns:a16="http://schemas.microsoft.com/office/drawing/2014/main" id="{54D55869-F086-737B-C277-8AE69F7DA0C7}"/>
              </a:ext>
            </a:extLst>
          </p:cNvPr>
          <p:cNvSpPr/>
          <p:nvPr/>
        </p:nvSpPr>
        <p:spPr>
          <a:xfrm>
            <a:off x="955435" y="3393937"/>
            <a:ext cx="601738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16" name="사각형: 둥근 모서리 60">
            <a:extLst>
              <a:ext uri="{FF2B5EF4-FFF2-40B4-BE49-F238E27FC236}">
                <a16:creationId xmlns:a16="http://schemas.microsoft.com/office/drawing/2014/main" id="{30DC1553-DB32-EFD5-4B34-B3D57E5177B0}"/>
              </a:ext>
            </a:extLst>
          </p:cNvPr>
          <p:cNvSpPr/>
          <p:nvPr/>
        </p:nvSpPr>
        <p:spPr>
          <a:xfrm>
            <a:off x="1644185" y="3393934"/>
            <a:ext cx="601737" cy="256354"/>
          </a:xfrm>
          <a:prstGeom prst="roundRect">
            <a:avLst>
              <a:gd name="adj" fmla="val 2972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3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17" name="탑바 구분선">
            <a:extLst>
              <a:ext uri="{FF2B5EF4-FFF2-40B4-BE49-F238E27FC236}">
                <a16:creationId xmlns:a16="http://schemas.microsoft.com/office/drawing/2014/main" id="{01D7F900-0048-342B-E9B1-C3F940D17E6C}"/>
              </a:ext>
            </a:extLst>
          </p:cNvPr>
          <p:cNvSpPr/>
          <p:nvPr/>
        </p:nvSpPr>
        <p:spPr>
          <a:xfrm>
            <a:off x="4358816" y="188481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탑바 타이틀">
            <a:extLst>
              <a:ext uri="{FF2B5EF4-FFF2-40B4-BE49-F238E27FC236}">
                <a16:creationId xmlns:a16="http://schemas.microsoft.com/office/drawing/2014/main" id="{3B0B7294-C38E-3C4F-AD75-CFF7C45BFA22}"/>
              </a:ext>
            </a:extLst>
          </p:cNvPr>
          <p:cNvSpPr txBox="1"/>
          <p:nvPr/>
        </p:nvSpPr>
        <p:spPr>
          <a:xfrm>
            <a:off x="4768391" y="154191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9" name="뒤로가기">
            <a:extLst>
              <a:ext uri="{FF2B5EF4-FFF2-40B4-BE49-F238E27FC236}">
                <a16:creationId xmlns:a16="http://schemas.microsoft.com/office/drawing/2014/main" id="{99967339-FD25-F8F8-B3A2-2E6DBF39ADEE}"/>
              </a:ext>
            </a:extLst>
          </p:cNvPr>
          <p:cNvCxnSpPr/>
          <p:nvPr/>
        </p:nvCxnSpPr>
        <p:spPr>
          <a:xfrm flipH="1">
            <a:off x="4501691" y="160897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뒤로가기">
            <a:extLst>
              <a:ext uri="{FF2B5EF4-FFF2-40B4-BE49-F238E27FC236}">
                <a16:creationId xmlns:a16="http://schemas.microsoft.com/office/drawing/2014/main" id="{6FF9D928-E773-E8F7-F1C2-962F948DA937}"/>
              </a:ext>
            </a:extLst>
          </p:cNvPr>
          <p:cNvCxnSpPr/>
          <p:nvPr/>
        </p:nvCxnSpPr>
        <p:spPr>
          <a:xfrm flipH="1" flipV="1">
            <a:off x="4501691" y="165621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3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29192" y="1447800"/>
          <a:ext cx="2972409" cy="2693110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탑바 · 1열 2행 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＋ 제목 「불편신고」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1열 2행 — 「불편신고」 / 「나의 불편신고 내역」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선택 → 1-6-1 등록 · 1-6-2 내역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로그인 팝업 — 비회원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본문 「불편신고는 로그인 후 이용 가능합니다.」 · [닫기] / [로그인]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뒷 배경 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[닫기] → 팝업 닫힘 · [로그인] → 0-1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「나의 불편신고 내역」도 차단 — 「신고 내역은 로그인 후 이용 가능합니다」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6" name="t"/>
          <p:cNvSpPr txBox="1"/>
          <p:nvPr/>
        </p:nvSpPr>
        <p:spPr>
          <a:xfrm>
            <a:off x="457200" y="1024128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비회원 진입 — 로그인 팝업</a:t>
            </a:r>
          </a:p>
        </p:txBody>
      </p:sp>
      <p:sp>
        <p:nvSpPr>
          <p:cNvPr id="27" name="t"/>
          <p:cNvSpPr txBox="1"/>
          <p:nvPr/>
        </p:nvSpPr>
        <p:spPr>
          <a:xfrm>
            <a:off x="4348886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회원 — 1열 2행 리스트</a:t>
            </a:r>
          </a:p>
        </p:txBody>
      </p:sp>
      <p:sp>
        <p:nvSpPr>
          <p:cNvPr id="28" name="숫자배지 1"/>
          <p:cNvSpPr/>
          <p:nvPr/>
        </p:nvSpPr>
        <p:spPr>
          <a:xfrm>
            <a:off x="4261104" y="20116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29" name="숫자배지 2"/>
          <p:cNvSpPr/>
          <p:nvPr/>
        </p:nvSpPr>
        <p:spPr>
          <a:xfrm>
            <a:off x="457200" y="28803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1-6-1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 등록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등록 폼 · 지도 지정 상태 (1/3)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1325313" y="119078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map"/>
          <p:cNvSpPr/>
          <p:nvPr/>
        </p:nvSpPr>
        <p:spPr>
          <a:xfrm>
            <a:off x="1526134" y="2103120"/>
            <a:ext cx="2073859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1526134" y="4370832"/>
            <a:ext cx="2073859" cy="530352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내용을 적어주세요. (예시: 보도폭이 좁아 휠체어 이용이 어렵습니다.)</a:t>
            </a:r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1559052" y="5394960"/>
            <a:ext cx="2073859" cy="29260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2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1386509" y="164798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1796084" y="130508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1529384" y="137214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1529384" y="141938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29192" y="1447800"/>
          <a:ext cx="2972409" cy="402696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사용자 안내 문구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폼 최상단 · 상시 표출 텍스트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「…신고하여」까지 볼드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158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위치 지정 — 지도 ＋ 주소 1줄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안내 문구 아래 폼 최상단 · 두 방식 모두 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ⓐ GPS 현재 위치 자동 측정 — 측정 중 「위치를 확인하는 중입니다.」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ⓑ 폼의 지도를 누르면 「지도 지정 상태」로 전환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주소는 「지번 풀주소 (도로명 하위주소)」 한 줄 형식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지도 지정 상태 — 제목 「위치 선택」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중앙 고정 핀 — 지도가 움직이고 핀은 고정 · 핀 아래 좌표가 신고 지점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컨트롤 세로 스택 — 「내 위치」 하단 고정 앵커 · 정북 복원은 조건부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[이 위치로 지정] → 폼 복귀 · 확정 / 뒤로가기 → 종전 위치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1526134" y="4992624"/>
            <a:ext cx="2073859" cy="292608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sp>
        <p:nvSpPr>
          <p:cNvPr id="21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1526134" y="2395728"/>
            <a:ext cx="2073859" cy="164592"/>
          </a:xfrm>
          <a:prstGeom prst="roundRect">
            <a:avLst>
              <a:gd name="adj" fmla="val 20097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1526134" y="2889504"/>
            <a:ext cx="207385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(영등포구 당산로41길 12)</a:t>
            </a:r>
          </a:p>
        </p:txBody>
      </p:sp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4" name="안내 문구 배너 (등록)"/>
          <p:cNvSpPr/>
          <p:nvPr/>
        </p:nvSpPr>
        <p:spPr>
          <a:xfrm>
            <a:off x="1525866" y="1728770"/>
            <a:ext cx="2073600" cy="38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700" b="1" dirty="0">
                <a:solidFill>
                  <a:srgbClr val="5B6573"/>
                </a:solidFill>
                <a:latin typeface="Pretendard"/>
              </a:rPr>
              <a:t>교통약자 통행 이용 불편 지점을 신고하여 </a:t>
            </a:r>
            <a:r>
              <a:rPr lang="ko-KR" altLang="en-US" sz="700" b="0" dirty="0">
                <a:solidFill>
                  <a:srgbClr val="5B6573"/>
                </a:solidFill>
                <a:latin typeface="Pretendard"/>
              </a:rPr>
              <a:t>이용자가 함께 만들어가는 교통약자 서비스입니다.</a:t>
            </a:r>
          </a:p>
        </p:txBody>
      </p:sp>
      <p:sp>
        <p:nvSpPr>
          <p:cNvPr id="25" name="입력 라벨 상세 내용 입력"/>
          <p:cNvSpPr/>
          <p:nvPr/>
        </p:nvSpPr>
        <p:spPr>
          <a:xfrm>
            <a:off x="1526134" y="4059936"/>
            <a:ext cx="2073859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상세 내용 입력</a:t>
            </a:r>
          </a:p>
        </p:txBody>
      </p:sp>
      <p:sp>
        <p:nvSpPr>
          <p:cNvPr id="26" name="입력 라벨 신고 사항"/>
          <p:cNvSpPr/>
          <p:nvPr/>
        </p:nvSpPr>
        <p:spPr>
          <a:xfrm>
            <a:off x="1523996" y="3218688"/>
            <a:ext cx="2075688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신고 유형</a:t>
            </a:r>
          </a:p>
        </p:txBody>
      </p:sp>
      <p:sp>
        <p:nvSpPr>
          <p:cNvPr id="27" name="라디오"/>
          <p:cNvSpPr/>
          <p:nvPr/>
        </p:nvSpPr>
        <p:spPr>
          <a:xfrm>
            <a:off x="1542284" y="3434738"/>
            <a:ext cx="128016" cy="128016"/>
          </a:xfrm>
          <a:prstGeom prst="roundRect">
            <a:avLst>
              <a:gd name="adj" fmla="val 6926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라디오 라벨"/>
          <p:cNvSpPr/>
          <p:nvPr/>
        </p:nvSpPr>
        <p:spPr>
          <a:xfrm>
            <a:off x="1725164" y="341645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단차 (높이 2cm 이상)</a:t>
            </a:r>
          </a:p>
        </p:txBody>
      </p:sp>
      <p:sp>
        <p:nvSpPr>
          <p:cNvPr id="29" name="라디오"/>
          <p:cNvSpPr/>
          <p:nvPr/>
        </p:nvSpPr>
        <p:spPr>
          <a:xfrm>
            <a:off x="1542284" y="3654193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라디오 라벨"/>
          <p:cNvSpPr/>
          <p:nvPr/>
        </p:nvSpPr>
        <p:spPr>
          <a:xfrm>
            <a:off x="1725164" y="363590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경사 (경사도 1/8 이상)</a:t>
            </a:r>
          </a:p>
        </p:txBody>
      </p:sp>
      <p:sp>
        <p:nvSpPr>
          <p:cNvPr id="31" name="라디오"/>
          <p:cNvSpPr/>
          <p:nvPr/>
        </p:nvSpPr>
        <p:spPr>
          <a:xfrm>
            <a:off x="1542284" y="3873649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라디오 라벨"/>
          <p:cNvSpPr/>
          <p:nvPr/>
        </p:nvSpPr>
        <p:spPr>
          <a:xfrm>
            <a:off x="1725164" y="385536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보도폭 (1.2m 이하)</a:t>
            </a:r>
          </a:p>
        </p:txBody>
      </p:sp>
      <p:sp>
        <p:nvSpPr>
          <p:cNvPr id="33" name="radio"/>
          <p:cNvSpPr/>
          <p:nvPr/>
        </p:nvSpPr>
        <p:spPr>
          <a:xfrm>
            <a:off x="1542593" y="3434486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dot"/>
          <p:cNvSpPr/>
          <p:nvPr/>
        </p:nvSpPr>
        <p:spPr>
          <a:xfrm>
            <a:off x="1570025" y="346191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adio"/>
          <p:cNvSpPr/>
          <p:nvPr/>
        </p:nvSpPr>
        <p:spPr>
          <a:xfrm>
            <a:off x="1542593" y="365394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6" name="radio"/>
          <p:cNvSpPr/>
          <p:nvPr/>
        </p:nvSpPr>
        <p:spPr>
          <a:xfrm>
            <a:off x="1542593" y="387339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1526134" y="4224528"/>
            <a:ext cx="207385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38" name="목업 프레임 2"/>
          <p:cNvSpPr/>
          <p:nvPr/>
        </p:nvSpPr>
        <p:spPr>
          <a:xfrm>
            <a:off x="4607662" y="1190549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t"/>
          <p:cNvSpPr txBox="1"/>
          <p:nvPr/>
        </p:nvSpPr>
        <p:spPr>
          <a:xfrm>
            <a:off x="4607662" y="1298448"/>
            <a:ext cx="247528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위치 선택</a:t>
            </a:r>
          </a:p>
        </p:txBody>
      </p:sp>
      <p:cxnSp>
        <p:nvCxnSpPr>
          <p:cNvPr id="40" name="ln"/>
          <p:cNvCxnSpPr/>
          <p:nvPr/>
        </p:nvCxnSpPr>
        <p:spPr>
          <a:xfrm>
            <a:off x="4616806" y="1609344"/>
            <a:ext cx="2456993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1" name="map2"/>
          <p:cNvSpPr/>
          <p:nvPr/>
        </p:nvSpPr>
        <p:spPr>
          <a:xfrm>
            <a:off x="4616806" y="1609344"/>
            <a:ext cx="2456993" cy="2651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"/>
          <p:cNvSpPr txBox="1"/>
          <p:nvPr/>
        </p:nvSpPr>
        <p:spPr>
          <a:xfrm>
            <a:off x="4607662" y="2816352"/>
            <a:ext cx="247528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1" dirty="0">
                <a:solidFill>
                  <a:srgbClr val="E01B24"/>
                </a:solidFill>
                <a:latin typeface="Pretendard"/>
                <a:ea typeface="Pretendard"/>
              </a:rPr>
              <a:t>▼</a:t>
            </a:r>
          </a:p>
        </p:txBody>
      </p:sp>
      <p:sp>
        <p:nvSpPr>
          <p:cNvPr id="43" name="t"/>
          <p:cNvSpPr txBox="1"/>
          <p:nvPr/>
        </p:nvSpPr>
        <p:spPr>
          <a:xfrm>
            <a:off x="4607662" y="3017520"/>
            <a:ext cx="2475281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중앙 고정 핀 — 지도가 움직이고 핀은 고정</a:t>
            </a:r>
          </a:p>
        </p:txBody>
      </p:sp>
      <p:sp>
        <p:nvSpPr>
          <p:cNvPr id="44" name="t"/>
          <p:cNvSpPr txBox="1"/>
          <p:nvPr/>
        </p:nvSpPr>
        <p:spPr>
          <a:xfrm>
            <a:off x="4790542" y="433425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sp>
        <p:nvSpPr>
          <p:cNvPr id="45" name="confirm"/>
          <p:cNvSpPr/>
          <p:nvPr/>
        </p:nvSpPr>
        <p:spPr>
          <a:xfrm>
            <a:off x="4790542" y="4754880"/>
            <a:ext cx="2103120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"/>
          <p:cNvSpPr txBox="1"/>
          <p:nvPr/>
        </p:nvSpPr>
        <p:spPr>
          <a:xfrm>
            <a:off x="4790542" y="48326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이 위치로 지정</a:t>
            </a:r>
          </a:p>
        </p:txBody>
      </p:sp>
      <p:sp>
        <p:nvSpPr>
          <p:cNvPr id="47" name="t"/>
          <p:cNvSpPr txBox="1"/>
          <p:nvPr/>
        </p:nvSpPr>
        <p:spPr>
          <a:xfrm>
            <a:off x="1324966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등록 폼</a:t>
            </a:r>
          </a:p>
        </p:txBody>
      </p:sp>
      <p:sp>
        <p:nvSpPr>
          <p:cNvPr id="48" name="t"/>
          <p:cNvSpPr txBox="1"/>
          <p:nvPr/>
        </p:nvSpPr>
        <p:spPr>
          <a:xfrm>
            <a:off x="4607662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지도 지정 상태 — 폼의 지도를 누르면 진입</a:t>
            </a:r>
          </a:p>
        </p:txBody>
      </p:sp>
      <p:cxnSp>
        <p:nvCxnSpPr>
          <p:cNvPr id="49" name="뒤로가기"/>
          <p:cNvCxnSpPr/>
          <p:nvPr/>
        </p:nvCxnSpPr>
        <p:spPr>
          <a:xfrm flipH="1">
            <a:off x="4779874" y="13434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뒤로가기"/>
          <p:cNvCxnSpPr/>
          <p:nvPr/>
        </p:nvCxnSpPr>
        <p:spPr>
          <a:xfrm flipH="1" flipV="1">
            <a:off x="4779874" y="13891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6625743" y="3182112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6625743" y="3182112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3" name="지도 컨트롤"/>
          <p:cNvSpPr/>
          <p:nvPr/>
        </p:nvSpPr>
        <p:spPr>
          <a:xfrm>
            <a:off x="6625743" y="35295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지도 컨트롤 라벨"/>
          <p:cNvSpPr txBox="1"/>
          <p:nvPr/>
        </p:nvSpPr>
        <p:spPr>
          <a:xfrm>
            <a:off x="6625743" y="35295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5" name="지도 컨트롤"/>
          <p:cNvSpPr/>
          <p:nvPr/>
        </p:nvSpPr>
        <p:spPr>
          <a:xfrm>
            <a:off x="6259983" y="3877056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지도 컨트롤 라벨"/>
          <p:cNvSpPr txBox="1"/>
          <p:nvPr/>
        </p:nvSpPr>
        <p:spPr>
          <a:xfrm>
            <a:off x="6259983" y="3877056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57" name="숫자배지 1"/>
          <p:cNvSpPr/>
          <p:nvPr/>
        </p:nvSpPr>
        <p:spPr>
          <a:xfrm>
            <a:off x="1115568" y="17007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8" name="숫자배지 2"/>
          <p:cNvSpPr/>
          <p:nvPr/>
        </p:nvSpPr>
        <p:spPr>
          <a:xfrm>
            <a:off x="1115568" y="2377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9" name="숫자배지 3"/>
          <p:cNvSpPr/>
          <p:nvPr/>
        </p:nvSpPr>
        <p:spPr>
          <a:xfrm>
            <a:off x="4389120" y="27614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0" name="숫자배지 4"/>
          <p:cNvSpPr/>
          <p:nvPr/>
        </p:nvSpPr>
        <p:spPr>
          <a:xfrm>
            <a:off x="1115568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1" name="숫자배지 5"/>
          <p:cNvSpPr/>
          <p:nvPr/>
        </p:nvSpPr>
        <p:spPr>
          <a:xfrm>
            <a:off x="1115568" y="4041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2" name="숫자배지 6"/>
          <p:cNvSpPr/>
          <p:nvPr/>
        </p:nvSpPr>
        <p:spPr>
          <a:xfrm>
            <a:off x="1115568" y="49926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3" name="숫자배지 7"/>
          <p:cNvSpPr/>
          <p:nvPr/>
        </p:nvSpPr>
        <p:spPr>
          <a:xfrm>
            <a:off x="1115568" y="53949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1-6-1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 등록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등록 폼 · 지도 지정 상태 (2/3)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1325313" y="119078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map"/>
          <p:cNvSpPr/>
          <p:nvPr/>
        </p:nvSpPr>
        <p:spPr>
          <a:xfrm>
            <a:off x="1526134" y="2103120"/>
            <a:ext cx="2073859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1526134" y="4370832"/>
            <a:ext cx="2073859" cy="530352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내용을 적어주세요. (예시: 보도폭이 좁아 휠체어 이용이 어렵습니다.)</a:t>
            </a:r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1559052" y="5394960"/>
            <a:ext cx="2073859" cy="29260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2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1386509" y="164798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1796084" y="130508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1529384" y="137214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1529384" y="141938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29192" y="1447800"/>
          <a:ext cx="2972409" cy="381055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신고 유형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라디오 단일 선택 · 필수 · 선택지 3종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단차 — 보도 · 횡단보도 턱 등 높이 2cm 이상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경사 — 급경사 및 경사도 1/8 이상 지점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보도폭 — 도보 · 지장물 등으로 보도폭 1.2m 이하 (판정 기준을 라벨에 병기)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상세 내용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필수 · 라벨 「상세 내용 입력」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보조 설명문을 라벨 아래 상시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키보드는 입력란 밖 어디를 선택하든 내려감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＋ 사진 첨부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항목 · 전 유형 공통 노출 · 상한 3장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시트 — 「사진 촬영」 / 「앨범에서 선택」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첨부 후 썸네일 목록 · 삭제는 확인 없이 즉시 ＋ 토스트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3장 도달 시 버튼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1526134" y="4992624"/>
            <a:ext cx="2073859" cy="292608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sp>
        <p:nvSpPr>
          <p:cNvPr id="21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1526134" y="2395728"/>
            <a:ext cx="2073859" cy="164592"/>
          </a:xfrm>
          <a:prstGeom prst="roundRect">
            <a:avLst>
              <a:gd name="adj" fmla="val 20097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1526134" y="2889504"/>
            <a:ext cx="207385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(영등포구 당산로41길 12)</a:t>
            </a:r>
          </a:p>
        </p:txBody>
      </p:sp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4" name="안내 문구 배너 (등록)"/>
          <p:cNvSpPr/>
          <p:nvPr/>
        </p:nvSpPr>
        <p:spPr>
          <a:xfrm>
            <a:off x="1525866" y="1728770"/>
            <a:ext cx="2073600" cy="38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700" b="1" dirty="0">
                <a:solidFill>
                  <a:srgbClr val="5B6573"/>
                </a:solidFill>
                <a:latin typeface="Pretendard"/>
              </a:rPr>
              <a:t>교통약자 통행 이용 불편 지점을 신고하여 </a:t>
            </a:r>
            <a:r>
              <a:rPr lang="ko-KR" altLang="en-US" sz="700" b="0" dirty="0">
                <a:solidFill>
                  <a:srgbClr val="5B6573"/>
                </a:solidFill>
                <a:latin typeface="Pretendard"/>
              </a:rPr>
              <a:t>이용자가 함께 만들어가는 교통약자 서비스입니다.</a:t>
            </a:r>
          </a:p>
        </p:txBody>
      </p:sp>
      <p:sp>
        <p:nvSpPr>
          <p:cNvPr id="25" name="입력 라벨 상세 내용 입력"/>
          <p:cNvSpPr/>
          <p:nvPr/>
        </p:nvSpPr>
        <p:spPr>
          <a:xfrm>
            <a:off x="1526134" y="4059936"/>
            <a:ext cx="2073859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상세 내용 입력</a:t>
            </a:r>
          </a:p>
        </p:txBody>
      </p:sp>
      <p:sp>
        <p:nvSpPr>
          <p:cNvPr id="26" name="입력 라벨 신고 사항"/>
          <p:cNvSpPr/>
          <p:nvPr/>
        </p:nvSpPr>
        <p:spPr>
          <a:xfrm>
            <a:off x="1523996" y="3218688"/>
            <a:ext cx="2075688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신고 유형</a:t>
            </a:r>
          </a:p>
        </p:txBody>
      </p:sp>
      <p:sp>
        <p:nvSpPr>
          <p:cNvPr id="27" name="라디오"/>
          <p:cNvSpPr/>
          <p:nvPr/>
        </p:nvSpPr>
        <p:spPr>
          <a:xfrm>
            <a:off x="1542284" y="3434738"/>
            <a:ext cx="128016" cy="128016"/>
          </a:xfrm>
          <a:prstGeom prst="roundRect">
            <a:avLst>
              <a:gd name="adj" fmla="val 6926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라디오 라벨"/>
          <p:cNvSpPr/>
          <p:nvPr/>
        </p:nvSpPr>
        <p:spPr>
          <a:xfrm>
            <a:off x="1725164" y="341645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단차 (높이 2cm 이상)</a:t>
            </a:r>
          </a:p>
        </p:txBody>
      </p:sp>
      <p:sp>
        <p:nvSpPr>
          <p:cNvPr id="29" name="라디오"/>
          <p:cNvSpPr/>
          <p:nvPr/>
        </p:nvSpPr>
        <p:spPr>
          <a:xfrm>
            <a:off x="1542284" y="3654193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라디오 라벨"/>
          <p:cNvSpPr/>
          <p:nvPr/>
        </p:nvSpPr>
        <p:spPr>
          <a:xfrm>
            <a:off x="1725164" y="363590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경사 (경사도 1/8 이상)</a:t>
            </a:r>
          </a:p>
        </p:txBody>
      </p:sp>
      <p:sp>
        <p:nvSpPr>
          <p:cNvPr id="31" name="라디오"/>
          <p:cNvSpPr/>
          <p:nvPr/>
        </p:nvSpPr>
        <p:spPr>
          <a:xfrm>
            <a:off x="1542284" y="3873649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라디오 라벨"/>
          <p:cNvSpPr/>
          <p:nvPr/>
        </p:nvSpPr>
        <p:spPr>
          <a:xfrm>
            <a:off x="1725164" y="385536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보도폭 (1.2m 이하)</a:t>
            </a:r>
          </a:p>
        </p:txBody>
      </p:sp>
      <p:sp>
        <p:nvSpPr>
          <p:cNvPr id="33" name="radio"/>
          <p:cNvSpPr/>
          <p:nvPr/>
        </p:nvSpPr>
        <p:spPr>
          <a:xfrm>
            <a:off x="1542593" y="3434486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dot"/>
          <p:cNvSpPr/>
          <p:nvPr/>
        </p:nvSpPr>
        <p:spPr>
          <a:xfrm>
            <a:off x="1570025" y="346191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adio"/>
          <p:cNvSpPr/>
          <p:nvPr/>
        </p:nvSpPr>
        <p:spPr>
          <a:xfrm>
            <a:off x="1542593" y="365394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6" name="radio"/>
          <p:cNvSpPr/>
          <p:nvPr/>
        </p:nvSpPr>
        <p:spPr>
          <a:xfrm>
            <a:off x="1542593" y="387339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1526134" y="4224528"/>
            <a:ext cx="207385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38" name="목업 프레임 2"/>
          <p:cNvSpPr/>
          <p:nvPr/>
        </p:nvSpPr>
        <p:spPr>
          <a:xfrm>
            <a:off x="4607662" y="1190549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t"/>
          <p:cNvSpPr txBox="1"/>
          <p:nvPr/>
        </p:nvSpPr>
        <p:spPr>
          <a:xfrm>
            <a:off x="4607662" y="1298448"/>
            <a:ext cx="247528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위치 선택</a:t>
            </a:r>
          </a:p>
        </p:txBody>
      </p:sp>
      <p:cxnSp>
        <p:nvCxnSpPr>
          <p:cNvPr id="40" name="ln"/>
          <p:cNvCxnSpPr/>
          <p:nvPr/>
        </p:nvCxnSpPr>
        <p:spPr>
          <a:xfrm>
            <a:off x="4616806" y="1609344"/>
            <a:ext cx="2456993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1" name="map2"/>
          <p:cNvSpPr/>
          <p:nvPr/>
        </p:nvSpPr>
        <p:spPr>
          <a:xfrm>
            <a:off x="4616806" y="1609344"/>
            <a:ext cx="2456993" cy="2651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"/>
          <p:cNvSpPr txBox="1"/>
          <p:nvPr/>
        </p:nvSpPr>
        <p:spPr>
          <a:xfrm>
            <a:off x="4607662" y="2816352"/>
            <a:ext cx="247528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1" dirty="0">
                <a:solidFill>
                  <a:srgbClr val="E01B24"/>
                </a:solidFill>
                <a:latin typeface="Pretendard"/>
                <a:ea typeface="Pretendard"/>
              </a:rPr>
              <a:t>▼</a:t>
            </a:r>
          </a:p>
        </p:txBody>
      </p:sp>
      <p:sp>
        <p:nvSpPr>
          <p:cNvPr id="43" name="t"/>
          <p:cNvSpPr txBox="1"/>
          <p:nvPr/>
        </p:nvSpPr>
        <p:spPr>
          <a:xfrm>
            <a:off x="4607662" y="3017520"/>
            <a:ext cx="2475281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중앙 고정 핀 — 지도가 움직이고 핀은 고정</a:t>
            </a:r>
          </a:p>
        </p:txBody>
      </p:sp>
      <p:sp>
        <p:nvSpPr>
          <p:cNvPr id="44" name="t"/>
          <p:cNvSpPr txBox="1"/>
          <p:nvPr/>
        </p:nvSpPr>
        <p:spPr>
          <a:xfrm>
            <a:off x="4790542" y="433425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sp>
        <p:nvSpPr>
          <p:cNvPr id="45" name="confirm"/>
          <p:cNvSpPr/>
          <p:nvPr/>
        </p:nvSpPr>
        <p:spPr>
          <a:xfrm>
            <a:off x="4790542" y="4754880"/>
            <a:ext cx="2103120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"/>
          <p:cNvSpPr txBox="1"/>
          <p:nvPr/>
        </p:nvSpPr>
        <p:spPr>
          <a:xfrm>
            <a:off x="4790542" y="48326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이 위치로 지정</a:t>
            </a:r>
          </a:p>
        </p:txBody>
      </p:sp>
      <p:sp>
        <p:nvSpPr>
          <p:cNvPr id="47" name="t"/>
          <p:cNvSpPr txBox="1"/>
          <p:nvPr/>
        </p:nvSpPr>
        <p:spPr>
          <a:xfrm>
            <a:off x="1324966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등록 폼</a:t>
            </a:r>
          </a:p>
        </p:txBody>
      </p:sp>
      <p:sp>
        <p:nvSpPr>
          <p:cNvPr id="48" name="t"/>
          <p:cNvSpPr txBox="1"/>
          <p:nvPr/>
        </p:nvSpPr>
        <p:spPr>
          <a:xfrm>
            <a:off x="4607662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지도 지정 상태 — 폼의 지도를 누르면 진입</a:t>
            </a:r>
          </a:p>
        </p:txBody>
      </p:sp>
      <p:cxnSp>
        <p:nvCxnSpPr>
          <p:cNvPr id="49" name="뒤로가기"/>
          <p:cNvCxnSpPr/>
          <p:nvPr/>
        </p:nvCxnSpPr>
        <p:spPr>
          <a:xfrm flipH="1">
            <a:off x="4779874" y="13434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뒤로가기"/>
          <p:cNvCxnSpPr/>
          <p:nvPr/>
        </p:nvCxnSpPr>
        <p:spPr>
          <a:xfrm flipH="1" flipV="1">
            <a:off x="4779874" y="13891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6625743" y="3182112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6625743" y="3182112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3" name="지도 컨트롤"/>
          <p:cNvSpPr/>
          <p:nvPr/>
        </p:nvSpPr>
        <p:spPr>
          <a:xfrm>
            <a:off x="6625743" y="35295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지도 컨트롤 라벨"/>
          <p:cNvSpPr txBox="1"/>
          <p:nvPr/>
        </p:nvSpPr>
        <p:spPr>
          <a:xfrm>
            <a:off x="6625743" y="35295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5" name="지도 컨트롤"/>
          <p:cNvSpPr/>
          <p:nvPr/>
        </p:nvSpPr>
        <p:spPr>
          <a:xfrm>
            <a:off x="6259983" y="3877056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지도 컨트롤 라벨"/>
          <p:cNvSpPr txBox="1"/>
          <p:nvPr/>
        </p:nvSpPr>
        <p:spPr>
          <a:xfrm>
            <a:off x="6259983" y="3877056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57" name="숫자배지 1"/>
          <p:cNvSpPr/>
          <p:nvPr/>
        </p:nvSpPr>
        <p:spPr>
          <a:xfrm>
            <a:off x="1115568" y="17007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8" name="숫자배지 2"/>
          <p:cNvSpPr/>
          <p:nvPr/>
        </p:nvSpPr>
        <p:spPr>
          <a:xfrm>
            <a:off x="1115568" y="2377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9" name="숫자배지 3"/>
          <p:cNvSpPr/>
          <p:nvPr/>
        </p:nvSpPr>
        <p:spPr>
          <a:xfrm>
            <a:off x="4389120" y="27614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0" name="숫자배지 4"/>
          <p:cNvSpPr/>
          <p:nvPr/>
        </p:nvSpPr>
        <p:spPr>
          <a:xfrm>
            <a:off x="1115568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1" name="숫자배지 5"/>
          <p:cNvSpPr/>
          <p:nvPr/>
        </p:nvSpPr>
        <p:spPr>
          <a:xfrm>
            <a:off x="1115568" y="4041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2" name="숫자배지 6"/>
          <p:cNvSpPr/>
          <p:nvPr/>
        </p:nvSpPr>
        <p:spPr>
          <a:xfrm>
            <a:off x="1115568" y="49926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3" name="숫자배지 7"/>
          <p:cNvSpPr/>
          <p:nvPr/>
        </p:nvSpPr>
        <p:spPr>
          <a:xfrm>
            <a:off x="1115568" y="53949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1-6-1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2344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불편신고 등록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4871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등록 폼 · 지도 지정 상태 (3/3)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42701AD6-D651-6C2D-2B56-FFEFE14803EE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2">
            <a:extLst>
              <a:ext uri="{FF2B5EF4-FFF2-40B4-BE49-F238E27FC236}">
                <a16:creationId xmlns:a16="http://schemas.microsoft.com/office/drawing/2014/main" id="{D43D5D40-935A-0473-4FCE-15A9DE81922D}"/>
              </a:ext>
            </a:extLst>
          </p:cNvPr>
          <p:cNvSpPr/>
          <p:nvPr/>
        </p:nvSpPr>
        <p:spPr>
          <a:xfrm>
            <a:off x="1325313" y="1190786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map"/>
          <p:cNvSpPr/>
          <p:nvPr/>
        </p:nvSpPr>
        <p:spPr>
          <a:xfrm>
            <a:off x="1526134" y="2103120"/>
            <a:ext cx="2073859" cy="73152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id="{32D27F1E-1F18-2F33-C6EE-7B02929AB524}"/>
              </a:ext>
            </a:extLst>
          </p:cNvPr>
          <p:cNvSpPr/>
          <p:nvPr/>
        </p:nvSpPr>
        <p:spPr>
          <a:xfrm>
            <a:off x="1526134" y="4370832"/>
            <a:ext cx="2073859" cy="530352"/>
          </a:xfrm>
          <a:prstGeom prst="roundRect">
            <a:avLst>
              <a:gd name="adj" fmla="val 200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>
                <a:solidFill>
                  <a:srgbClr val="5B6573"/>
                </a:solidFill>
                <a:latin typeface="Pretendard"/>
              </a:rPr>
              <a:t>내용을 적어주세요. (예시: 보도폭이 좁아 휠체어 이용이 어렵습니다.)</a:t>
            </a:r>
          </a:p>
        </p:txBody>
      </p:sp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id="{F956A85D-1084-DA95-A182-BB2BA4A6DBD2}"/>
              </a:ext>
            </a:extLst>
          </p:cNvPr>
          <p:cNvSpPr/>
          <p:nvPr/>
        </p:nvSpPr>
        <p:spPr>
          <a:xfrm>
            <a:off x="1559052" y="5394960"/>
            <a:ext cx="2073859" cy="292608"/>
          </a:xfrm>
          <a:prstGeom prst="roundRect">
            <a:avLst>
              <a:gd name="adj" fmla="val 2687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1">
                <a:solidFill>
                  <a:srgbClr val="14181F"/>
                </a:solidFill>
                <a:latin typeface="Pretendard"/>
              </a:rPr>
              <a:t>신고하기</a:t>
            </a:r>
          </a:p>
        </p:txBody>
      </p:sp>
      <p:sp>
        <p:nvSpPr>
          <p:cNvPr id="12" name="탑바 구분선">
            <a:extLst>
              <a:ext uri="{FF2B5EF4-FFF2-40B4-BE49-F238E27FC236}">
                <a16:creationId xmlns:a16="http://schemas.microsoft.com/office/drawing/2014/main" id="{86E916CF-BC4D-D6AA-27AA-A8549976AD4F}"/>
              </a:ext>
            </a:extLst>
          </p:cNvPr>
          <p:cNvSpPr/>
          <p:nvPr/>
        </p:nvSpPr>
        <p:spPr>
          <a:xfrm>
            <a:off x="1386509" y="1647986"/>
            <a:ext cx="2456333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타이틀">
            <a:extLst>
              <a:ext uri="{FF2B5EF4-FFF2-40B4-BE49-F238E27FC236}">
                <a16:creationId xmlns:a16="http://schemas.microsoft.com/office/drawing/2014/main" id="{9436A02D-9161-0C80-1534-792F914B7389}"/>
              </a:ext>
            </a:extLst>
          </p:cNvPr>
          <p:cNvSpPr txBox="1"/>
          <p:nvPr/>
        </p:nvSpPr>
        <p:spPr>
          <a:xfrm>
            <a:off x="1796084" y="1305086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cxnSp>
        <p:nvCxnSpPr>
          <p:cNvPr id="14" name="뒤로가기">
            <a:extLst>
              <a:ext uri="{FF2B5EF4-FFF2-40B4-BE49-F238E27FC236}">
                <a16:creationId xmlns:a16="http://schemas.microsoft.com/office/drawing/2014/main" id="{03A4895C-616D-D667-8120-E7645AA2872C}"/>
              </a:ext>
            </a:extLst>
          </p:cNvPr>
          <p:cNvCxnSpPr/>
          <p:nvPr/>
        </p:nvCxnSpPr>
        <p:spPr>
          <a:xfrm flipH="1">
            <a:off x="1529384" y="1372142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뒤로가기">
            <a:extLst>
              <a:ext uri="{FF2B5EF4-FFF2-40B4-BE49-F238E27FC236}">
                <a16:creationId xmlns:a16="http://schemas.microsoft.com/office/drawing/2014/main" id="{89A0AC8B-91E3-9503-8335-1EB5CCEA7F99}"/>
              </a:ext>
            </a:extLst>
          </p:cNvPr>
          <p:cNvCxnSpPr/>
          <p:nvPr/>
        </p:nvCxnSpPr>
        <p:spPr>
          <a:xfrm flipH="1" flipV="1">
            <a:off x="1529384" y="141938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escription 패널">
            <a:extLst>
              <a:ext uri="{FF2B5EF4-FFF2-40B4-BE49-F238E27FC236}">
                <a16:creationId xmlns:a16="http://schemas.microsoft.com/office/drawing/2014/main" id="{43BC1E0C-110E-FD8B-0AD3-CF046472BE01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Description 제목">
            <a:extLst>
              <a:ext uri="{FF2B5EF4-FFF2-40B4-BE49-F238E27FC236}">
                <a16:creationId xmlns:a16="http://schemas.microsoft.com/office/drawing/2014/main" id="{2E37FAE7-201C-C420-9DA6-232B6DF783A1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8" name="Description 밑줄">
            <a:extLst>
              <a:ext uri="{FF2B5EF4-FFF2-40B4-BE49-F238E27FC236}">
                <a16:creationId xmlns:a16="http://schemas.microsoft.com/office/drawing/2014/main" id="{8379D81B-4530-C8B5-20C3-879D432BF64F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91057"/>
              </p:ext>
            </p:extLst>
          </p:nvPr>
        </p:nvGraphicFramePr>
        <p:xfrm>
          <a:off x="8629192" y="1447800"/>
          <a:ext cx="2972409" cy="155026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[신고하기]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활성 조건 — 좌표 확보 ＋ 유형 1건 ＋ 설명 1자 이상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사진 첨부는 활성 조건이 아님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비활성 라벨 문안 4종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좌표 미확보 사유를 다른 사유보다 먼저 말함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누른 즉시 비활성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사각형: 둥근 모서리 76">
            <a:extLst>
              <a:ext uri="{FF2B5EF4-FFF2-40B4-BE49-F238E27FC236}">
                <a16:creationId xmlns:a16="http://schemas.microsoft.com/office/drawing/2014/main" id="{34C2D05E-B30B-7BAB-E5F6-EFE49650F21D}"/>
              </a:ext>
            </a:extLst>
          </p:cNvPr>
          <p:cNvSpPr/>
          <p:nvPr/>
        </p:nvSpPr>
        <p:spPr>
          <a:xfrm>
            <a:off x="1526134" y="4992624"/>
            <a:ext cx="2073859" cy="292608"/>
          </a:xfrm>
          <a:prstGeom prst="roundRect">
            <a:avLst>
              <a:gd name="adj" fmla="val 17864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885" b="0">
                <a:solidFill>
                  <a:srgbClr val="5B6573"/>
                </a:solidFill>
                <a:latin typeface="Pretendard"/>
              </a:rPr>
              <a:t>＋ 사진 첨부</a:t>
            </a:r>
          </a:p>
        </p:txBody>
      </p:sp>
      <p:sp>
        <p:nvSpPr>
          <p:cNvPr id="21" name="사각형: 둥근 모서리 76">
            <a:extLst>
              <a:ext uri="{FF2B5EF4-FFF2-40B4-BE49-F238E27FC236}">
                <a16:creationId xmlns:a16="http://schemas.microsoft.com/office/drawing/2014/main" id="{80839E63-7C41-8236-B988-9404E873C6DF}"/>
              </a:ext>
            </a:extLst>
          </p:cNvPr>
          <p:cNvSpPr/>
          <p:nvPr/>
        </p:nvSpPr>
        <p:spPr>
          <a:xfrm>
            <a:off x="1526134" y="2395728"/>
            <a:ext cx="2073859" cy="164592"/>
          </a:xfrm>
          <a:prstGeom prst="roundRect">
            <a:avLst>
              <a:gd name="adj" fmla="val 20097"/>
            </a:avLst>
          </a:prstGeom>
          <a:noFill/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885" b="0" dirty="0">
                <a:solidFill>
                  <a:srgbClr val="5B6573"/>
                </a:solidFill>
                <a:latin typeface="Pretendard"/>
              </a:rPr>
              <a:t>지도에 현재 내 위치 </a:t>
            </a:r>
            <a:r>
              <a:rPr lang="en-US" altLang="ko-KR" sz="885" dirty="0">
                <a:solidFill>
                  <a:srgbClr val="5B6573"/>
                </a:solidFill>
                <a:latin typeface="Pretendard"/>
              </a:rPr>
              <a:t>POI </a:t>
            </a:r>
            <a:r>
              <a:rPr lang="ko-KR" altLang="en-US" sz="885" dirty="0">
                <a:solidFill>
                  <a:srgbClr val="5B6573"/>
                </a:solidFill>
                <a:latin typeface="Pretendard"/>
              </a:rPr>
              <a:t>표출</a:t>
            </a:r>
            <a:endParaRPr sz="885" b="0" dirty="0">
              <a:solidFill>
                <a:srgbClr val="5B6573"/>
              </a:solidFill>
              <a:latin typeface="Pretendard"/>
            </a:endParaRPr>
          </a:p>
        </p:txBody>
      </p:sp>
      <p:sp>
        <p:nvSpPr>
          <p:cNvPr id="22" name="TextBox 48">
            <a:extLst>
              <a:ext uri="{FF2B5EF4-FFF2-40B4-BE49-F238E27FC236}">
                <a16:creationId xmlns:a16="http://schemas.microsoft.com/office/drawing/2014/main" id="{D1E0FD3E-4A38-56C8-50BC-AFD5FCD483DB}"/>
              </a:ext>
            </a:extLst>
          </p:cNvPr>
          <p:cNvSpPr/>
          <p:nvPr/>
        </p:nvSpPr>
        <p:spPr>
          <a:xfrm>
            <a:off x="1526134" y="2889504"/>
            <a:ext cx="2073859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서울특별시 영등포구 당산동4가 80-5</a:t>
            </a:r>
          </a:p>
          <a:p>
            <a:pPr>
              <a:lnSpc>
                <a:spcPct val="125000"/>
              </a:lnSpc>
            </a:pPr>
            <a:r>
              <a:rPr lang="ko-KR" altLang="en-US" sz="700" dirty="0">
                <a:solidFill>
                  <a:srgbClr val="14181F"/>
                </a:solidFill>
                <a:latin typeface="Pretendard"/>
              </a:rPr>
              <a:t>(영등포구 당산로41길 12)</a:t>
            </a:r>
          </a:p>
        </p:txBody>
      </p:sp>
      <p:sp>
        <p:nvSpPr>
          <p:cNvPr id="2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24" name="안내 문구 배너 (등록)"/>
          <p:cNvSpPr/>
          <p:nvPr/>
        </p:nvSpPr>
        <p:spPr>
          <a:xfrm>
            <a:off x="1525866" y="1728770"/>
            <a:ext cx="2073600" cy="3816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700" b="1" dirty="0">
                <a:solidFill>
                  <a:srgbClr val="5B6573"/>
                </a:solidFill>
                <a:latin typeface="Pretendard"/>
              </a:rPr>
              <a:t>교통약자 통행 이용 불편 지점을 신고하여 </a:t>
            </a:r>
            <a:r>
              <a:rPr lang="ko-KR" altLang="en-US" sz="700" b="0" dirty="0">
                <a:solidFill>
                  <a:srgbClr val="5B6573"/>
                </a:solidFill>
                <a:latin typeface="Pretendard"/>
              </a:rPr>
              <a:t>이용자가 함께 만들어가는 교통약자 서비스입니다.</a:t>
            </a:r>
          </a:p>
        </p:txBody>
      </p:sp>
      <p:sp>
        <p:nvSpPr>
          <p:cNvPr id="25" name="입력 라벨 상세 내용 입력"/>
          <p:cNvSpPr/>
          <p:nvPr/>
        </p:nvSpPr>
        <p:spPr>
          <a:xfrm>
            <a:off x="1526134" y="4059936"/>
            <a:ext cx="2073859" cy="1463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상세 내용 입력</a:t>
            </a:r>
          </a:p>
        </p:txBody>
      </p:sp>
      <p:sp>
        <p:nvSpPr>
          <p:cNvPr id="26" name="입력 라벨 신고 사항"/>
          <p:cNvSpPr/>
          <p:nvPr/>
        </p:nvSpPr>
        <p:spPr>
          <a:xfrm>
            <a:off x="1523996" y="3218688"/>
            <a:ext cx="2075688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신고 유형</a:t>
            </a:r>
          </a:p>
        </p:txBody>
      </p:sp>
      <p:sp>
        <p:nvSpPr>
          <p:cNvPr id="27" name="라디오"/>
          <p:cNvSpPr/>
          <p:nvPr/>
        </p:nvSpPr>
        <p:spPr>
          <a:xfrm>
            <a:off x="1542284" y="3434738"/>
            <a:ext cx="128016" cy="128016"/>
          </a:xfrm>
          <a:prstGeom prst="roundRect">
            <a:avLst>
              <a:gd name="adj" fmla="val 6926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라디오 라벨"/>
          <p:cNvSpPr/>
          <p:nvPr/>
        </p:nvSpPr>
        <p:spPr>
          <a:xfrm>
            <a:off x="1725164" y="3416450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단차 (높이 2cm 이상)</a:t>
            </a:r>
          </a:p>
        </p:txBody>
      </p:sp>
      <p:sp>
        <p:nvSpPr>
          <p:cNvPr id="29" name="라디오"/>
          <p:cNvSpPr/>
          <p:nvPr/>
        </p:nvSpPr>
        <p:spPr>
          <a:xfrm>
            <a:off x="1542284" y="3654193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라디오 라벨"/>
          <p:cNvSpPr/>
          <p:nvPr/>
        </p:nvSpPr>
        <p:spPr>
          <a:xfrm>
            <a:off x="1725164" y="3635906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경사 (경사도 1/8 이상)</a:t>
            </a:r>
          </a:p>
        </p:txBody>
      </p:sp>
      <p:sp>
        <p:nvSpPr>
          <p:cNvPr id="31" name="라디오"/>
          <p:cNvSpPr/>
          <p:nvPr/>
        </p:nvSpPr>
        <p:spPr>
          <a:xfrm>
            <a:off x="1542284" y="3873649"/>
            <a:ext cx="128016" cy="128016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라디오 라벨"/>
          <p:cNvSpPr/>
          <p:nvPr/>
        </p:nvSpPr>
        <p:spPr>
          <a:xfrm>
            <a:off x="1725164" y="3855362"/>
            <a:ext cx="1737360" cy="1554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00" b="1" dirty="0">
                <a:solidFill>
                  <a:srgbClr val="14181F"/>
                </a:solidFill>
                <a:latin typeface="Pretendard"/>
              </a:rPr>
              <a:t>보도폭 (1.2m 이하)</a:t>
            </a:r>
          </a:p>
        </p:txBody>
      </p:sp>
      <p:sp>
        <p:nvSpPr>
          <p:cNvPr id="33" name="radio"/>
          <p:cNvSpPr/>
          <p:nvPr/>
        </p:nvSpPr>
        <p:spPr>
          <a:xfrm>
            <a:off x="1542593" y="3434486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dot"/>
          <p:cNvSpPr/>
          <p:nvPr/>
        </p:nvSpPr>
        <p:spPr>
          <a:xfrm>
            <a:off x="1570025" y="3461918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adio"/>
          <p:cNvSpPr/>
          <p:nvPr/>
        </p:nvSpPr>
        <p:spPr>
          <a:xfrm>
            <a:off x="1542593" y="3653942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6" name="radio"/>
          <p:cNvSpPr/>
          <p:nvPr/>
        </p:nvSpPr>
        <p:spPr>
          <a:xfrm>
            <a:off x="1542593" y="3873398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1526134" y="4224528"/>
            <a:ext cx="207385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38" name="목업 프레임 2"/>
          <p:cNvSpPr/>
          <p:nvPr/>
        </p:nvSpPr>
        <p:spPr>
          <a:xfrm>
            <a:off x="4607662" y="1190549"/>
            <a:ext cx="2475383" cy="4669519"/>
          </a:xfrm>
          <a:prstGeom prst="roundRect">
            <a:avLst>
              <a:gd name="adj" fmla="val 6926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t"/>
          <p:cNvSpPr txBox="1"/>
          <p:nvPr/>
        </p:nvSpPr>
        <p:spPr>
          <a:xfrm>
            <a:off x="4607662" y="1298448"/>
            <a:ext cx="247528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위치 선택</a:t>
            </a:r>
          </a:p>
        </p:txBody>
      </p:sp>
      <p:cxnSp>
        <p:nvCxnSpPr>
          <p:cNvPr id="40" name="ln"/>
          <p:cNvCxnSpPr/>
          <p:nvPr/>
        </p:nvCxnSpPr>
        <p:spPr>
          <a:xfrm>
            <a:off x="4616806" y="1609344"/>
            <a:ext cx="2456993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1" name="map2"/>
          <p:cNvSpPr/>
          <p:nvPr/>
        </p:nvSpPr>
        <p:spPr>
          <a:xfrm>
            <a:off x="4616806" y="1609344"/>
            <a:ext cx="2456993" cy="26517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"/>
          <p:cNvSpPr txBox="1"/>
          <p:nvPr/>
        </p:nvSpPr>
        <p:spPr>
          <a:xfrm>
            <a:off x="4607662" y="2816352"/>
            <a:ext cx="247528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1200" b="1" dirty="0">
                <a:solidFill>
                  <a:srgbClr val="E01B24"/>
                </a:solidFill>
                <a:latin typeface="Pretendard"/>
                <a:ea typeface="Pretendard"/>
              </a:rPr>
              <a:t>▼</a:t>
            </a:r>
          </a:p>
        </p:txBody>
      </p:sp>
      <p:sp>
        <p:nvSpPr>
          <p:cNvPr id="43" name="t"/>
          <p:cNvSpPr txBox="1"/>
          <p:nvPr/>
        </p:nvSpPr>
        <p:spPr>
          <a:xfrm>
            <a:off x="4607662" y="3017520"/>
            <a:ext cx="2475281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중앙 고정 핀 — 지도가 움직이고 핀은 고정</a:t>
            </a:r>
          </a:p>
        </p:txBody>
      </p:sp>
      <p:sp>
        <p:nvSpPr>
          <p:cNvPr id="44" name="t"/>
          <p:cNvSpPr txBox="1"/>
          <p:nvPr/>
        </p:nvSpPr>
        <p:spPr>
          <a:xfrm>
            <a:off x="4790542" y="433425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sp>
        <p:nvSpPr>
          <p:cNvPr id="45" name="confirm"/>
          <p:cNvSpPr/>
          <p:nvPr/>
        </p:nvSpPr>
        <p:spPr>
          <a:xfrm>
            <a:off x="4790542" y="4754880"/>
            <a:ext cx="2103120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"/>
          <p:cNvSpPr txBox="1"/>
          <p:nvPr/>
        </p:nvSpPr>
        <p:spPr>
          <a:xfrm>
            <a:off x="4790542" y="4832604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이 위치로 지정</a:t>
            </a:r>
          </a:p>
        </p:txBody>
      </p:sp>
      <p:sp>
        <p:nvSpPr>
          <p:cNvPr id="47" name="t"/>
          <p:cNvSpPr txBox="1"/>
          <p:nvPr/>
        </p:nvSpPr>
        <p:spPr>
          <a:xfrm>
            <a:off x="1324966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등록 폼</a:t>
            </a:r>
          </a:p>
        </p:txBody>
      </p:sp>
      <p:sp>
        <p:nvSpPr>
          <p:cNvPr id="48" name="t"/>
          <p:cNvSpPr txBox="1"/>
          <p:nvPr/>
        </p:nvSpPr>
        <p:spPr>
          <a:xfrm>
            <a:off x="4607662" y="1024128"/>
            <a:ext cx="2475281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지도 지정 상태 — 폼의 지도를 누르면 진입</a:t>
            </a:r>
          </a:p>
        </p:txBody>
      </p:sp>
      <p:cxnSp>
        <p:nvCxnSpPr>
          <p:cNvPr id="49" name="뒤로가기"/>
          <p:cNvCxnSpPr/>
          <p:nvPr/>
        </p:nvCxnSpPr>
        <p:spPr>
          <a:xfrm flipH="1">
            <a:off x="4779874" y="134340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뒤로가기"/>
          <p:cNvCxnSpPr/>
          <p:nvPr/>
        </p:nvCxnSpPr>
        <p:spPr>
          <a:xfrm flipH="1" flipV="1">
            <a:off x="4779874" y="1389126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6625743" y="3182112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6625743" y="3182112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3" name="지도 컨트롤"/>
          <p:cNvSpPr/>
          <p:nvPr/>
        </p:nvSpPr>
        <p:spPr>
          <a:xfrm>
            <a:off x="6625743" y="3529584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지도 컨트롤 라벨"/>
          <p:cNvSpPr txBox="1"/>
          <p:nvPr/>
        </p:nvSpPr>
        <p:spPr>
          <a:xfrm>
            <a:off x="6625743" y="3529584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5" name="지도 컨트롤"/>
          <p:cNvSpPr/>
          <p:nvPr/>
        </p:nvSpPr>
        <p:spPr>
          <a:xfrm>
            <a:off x="6259983" y="3877056"/>
            <a:ext cx="6766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지도 컨트롤 라벨"/>
          <p:cNvSpPr txBox="1"/>
          <p:nvPr/>
        </p:nvSpPr>
        <p:spPr>
          <a:xfrm>
            <a:off x="6259983" y="3877056"/>
            <a:ext cx="6766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내 위치</a:t>
            </a:r>
          </a:p>
        </p:txBody>
      </p:sp>
      <p:sp>
        <p:nvSpPr>
          <p:cNvPr id="57" name="숫자배지 1"/>
          <p:cNvSpPr/>
          <p:nvPr/>
        </p:nvSpPr>
        <p:spPr>
          <a:xfrm>
            <a:off x="1115568" y="17007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8" name="숫자배지 2"/>
          <p:cNvSpPr/>
          <p:nvPr/>
        </p:nvSpPr>
        <p:spPr>
          <a:xfrm>
            <a:off x="1115568" y="23774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59" name="숫자배지 3"/>
          <p:cNvSpPr/>
          <p:nvPr/>
        </p:nvSpPr>
        <p:spPr>
          <a:xfrm>
            <a:off x="4389120" y="27614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0" name="숫자배지 4"/>
          <p:cNvSpPr/>
          <p:nvPr/>
        </p:nvSpPr>
        <p:spPr>
          <a:xfrm>
            <a:off x="1115568" y="32186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1" name="숫자배지 5"/>
          <p:cNvSpPr/>
          <p:nvPr/>
        </p:nvSpPr>
        <p:spPr>
          <a:xfrm>
            <a:off x="1115568" y="4041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2" name="숫자배지 6"/>
          <p:cNvSpPr/>
          <p:nvPr/>
        </p:nvSpPr>
        <p:spPr>
          <a:xfrm>
            <a:off x="1115568" y="49926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3" name="숫자배지 7"/>
          <p:cNvSpPr/>
          <p:nvPr/>
        </p:nvSpPr>
        <p:spPr>
          <a:xfrm>
            <a:off x="1115568" y="53949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6916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9443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내역 · 상세 · 수정 (1/3)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29192" y="1447800"/>
          <a:ext cx="2972409" cy="34539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신고 항목 — 내역 리스트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내용 요약 · 등록 일자 · 접수 상태 3요소 (일자는 「YYYY년 M월 D일」)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상태는 텍스트로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→ 신고 상세 내역 (같은 화면의 상세 상태)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접수 상태 4종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접수됨 / 처리중 / 처리완료 / 정보부족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정보부족 = 내용이 부실해 처리로 넘기지 못한 상태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주소 · 신고 사진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상세 최상단 · 라벨 「주소」 ＋ 값 1줄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표기 형식은 등록 폼과 같음 — 지번 풀주소 (도로명 하위주소)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조회 모드에는 지도를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신고 사진은 첨부분이 있을 때만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"/>
          <p:cNvSpPr txBox="1"/>
          <p:nvPr/>
        </p:nvSpPr>
        <p:spPr>
          <a:xfrm>
            <a:off x="1260958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나의 불편신고 내역</a:t>
            </a:r>
          </a:p>
        </p:txBody>
      </p:sp>
      <p:cxnSp>
        <p:nvCxnSpPr>
          <p:cNvPr id="15" name="ln"/>
          <p:cNvCxnSpPr/>
          <p:nvPr/>
        </p:nvCxnSpPr>
        <p:spPr>
          <a:xfrm>
            <a:off x="1270102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6" name="t"/>
          <p:cNvSpPr txBox="1"/>
          <p:nvPr/>
        </p:nvSpPr>
        <p:spPr>
          <a:xfrm>
            <a:off x="1443838" y="1773936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불편신고</a:t>
            </a:r>
          </a:p>
        </p:txBody>
      </p:sp>
      <p:sp>
        <p:nvSpPr>
          <p:cNvPr id="17" name="t"/>
          <p:cNvSpPr txBox="1"/>
          <p:nvPr/>
        </p:nvSpPr>
        <p:spPr>
          <a:xfrm>
            <a:off x="2632558" y="1773936"/>
            <a:ext cx="11750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2026년 1월 3일</a:t>
            </a:r>
          </a:p>
        </p:txBody>
      </p:sp>
      <p:sp>
        <p:nvSpPr>
          <p:cNvPr id="18" name="t"/>
          <p:cNvSpPr txBox="1"/>
          <p:nvPr/>
        </p:nvSpPr>
        <p:spPr>
          <a:xfrm>
            <a:off x="1443838" y="1975104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불편 신고에 대한 상세 내용 작성</a:t>
            </a:r>
          </a:p>
        </p:txBody>
      </p:sp>
      <p:sp>
        <p:nvSpPr>
          <p:cNvPr id="19" name="t"/>
          <p:cNvSpPr txBox="1"/>
          <p:nvPr/>
        </p:nvSpPr>
        <p:spPr>
          <a:xfrm>
            <a:off x="2906878" y="1975104"/>
            <a:ext cx="9006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접수됨</a:t>
            </a:r>
          </a:p>
        </p:txBody>
      </p:sp>
      <p:cxnSp>
        <p:nvCxnSpPr>
          <p:cNvPr id="20" name="ln"/>
          <p:cNvCxnSpPr/>
          <p:nvPr/>
        </p:nvCxnSpPr>
        <p:spPr>
          <a:xfrm>
            <a:off x="1270102" y="2249424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1" name="t"/>
          <p:cNvSpPr txBox="1"/>
          <p:nvPr/>
        </p:nvSpPr>
        <p:spPr>
          <a:xfrm>
            <a:off x="1443838" y="256032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불편신고</a:t>
            </a:r>
          </a:p>
        </p:txBody>
      </p:sp>
      <p:sp>
        <p:nvSpPr>
          <p:cNvPr id="22" name="t"/>
          <p:cNvSpPr txBox="1"/>
          <p:nvPr/>
        </p:nvSpPr>
        <p:spPr>
          <a:xfrm>
            <a:off x="2632558" y="2560320"/>
            <a:ext cx="11750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2025년 12월 28일</a:t>
            </a:r>
          </a:p>
        </p:txBody>
      </p:sp>
      <p:sp>
        <p:nvSpPr>
          <p:cNvPr id="23" name="t"/>
          <p:cNvSpPr txBox="1"/>
          <p:nvPr/>
        </p:nvSpPr>
        <p:spPr>
          <a:xfrm>
            <a:off x="1443838" y="2761488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불편 신고에 대한 상세 내용 작성</a:t>
            </a:r>
          </a:p>
        </p:txBody>
      </p:sp>
      <p:sp>
        <p:nvSpPr>
          <p:cNvPr id="24" name="t"/>
          <p:cNvSpPr txBox="1"/>
          <p:nvPr/>
        </p:nvSpPr>
        <p:spPr>
          <a:xfrm>
            <a:off x="2906878" y="2761488"/>
            <a:ext cx="9006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처리중</a:t>
            </a:r>
          </a:p>
        </p:txBody>
      </p:sp>
      <p:cxnSp>
        <p:nvCxnSpPr>
          <p:cNvPr id="25" name="ln"/>
          <p:cNvCxnSpPr/>
          <p:nvPr/>
        </p:nvCxnSpPr>
        <p:spPr>
          <a:xfrm>
            <a:off x="1270102" y="303580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6" name="t"/>
          <p:cNvSpPr txBox="1"/>
          <p:nvPr/>
        </p:nvSpPr>
        <p:spPr>
          <a:xfrm>
            <a:off x="1443838" y="3346704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불편신고</a:t>
            </a:r>
          </a:p>
        </p:txBody>
      </p:sp>
      <p:sp>
        <p:nvSpPr>
          <p:cNvPr id="27" name="t"/>
          <p:cNvSpPr txBox="1"/>
          <p:nvPr/>
        </p:nvSpPr>
        <p:spPr>
          <a:xfrm>
            <a:off x="2632558" y="3346704"/>
            <a:ext cx="11750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2025년 12월 11일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43838" y="3547872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불편 신고에 대한 상세 내용 작성</a:t>
            </a:r>
          </a:p>
        </p:txBody>
      </p:sp>
      <p:sp>
        <p:nvSpPr>
          <p:cNvPr id="29" name="t"/>
          <p:cNvSpPr txBox="1"/>
          <p:nvPr/>
        </p:nvSpPr>
        <p:spPr>
          <a:xfrm>
            <a:off x="2906878" y="3547872"/>
            <a:ext cx="9006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처리완료</a:t>
            </a:r>
          </a:p>
        </p:txBody>
      </p:sp>
      <p:cxnSp>
        <p:nvCxnSpPr>
          <p:cNvPr id="30" name="ln"/>
          <p:cNvCxnSpPr/>
          <p:nvPr/>
        </p:nvCxnSpPr>
        <p:spPr>
          <a:xfrm>
            <a:off x="1270102" y="3822192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1" name="t"/>
          <p:cNvSpPr txBox="1"/>
          <p:nvPr/>
        </p:nvSpPr>
        <p:spPr>
          <a:xfrm>
            <a:off x="1443838" y="413308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불편신고</a:t>
            </a:r>
          </a:p>
        </p:txBody>
      </p:sp>
      <p:sp>
        <p:nvSpPr>
          <p:cNvPr id="32" name="t"/>
          <p:cNvSpPr txBox="1"/>
          <p:nvPr/>
        </p:nvSpPr>
        <p:spPr>
          <a:xfrm>
            <a:off x="2632558" y="4133088"/>
            <a:ext cx="11750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2025년 12월 5일</a:t>
            </a:r>
          </a:p>
        </p:txBody>
      </p:sp>
      <p:sp>
        <p:nvSpPr>
          <p:cNvPr id="33" name="t"/>
          <p:cNvSpPr txBox="1"/>
          <p:nvPr/>
        </p:nvSpPr>
        <p:spPr>
          <a:xfrm>
            <a:off x="1443838" y="4334256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불편 신고에 대한 상세 내용 작성</a:t>
            </a:r>
          </a:p>
        </p:txBody>
      </p:sp>
      <p:sp>
        <p:nvSpPr>
          <p:cNvPr id="34" name="t"/>
          <p:cNvSpPr txBox="1"/>
          <p:nvPr/>
        </p:nvSpPr>
        <p:spPr>
          <a:xfrm>
            <a:off x="2906878" y="4334256"/>
            <a:ext cx="9006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정보부족</a:t>
            </a:r>
          </a:p>
        </p:txBody>
      </p:sp>
      <p:cxnSp>
        <p:nvCxnSpPr>
          <p:cNvPr id="35" name="ln"/>
          <p:cNvCxnSpPr/>
          <p:nvPr/>
        </p:nvCxnSpPr>
        <p:spPr>
          <a:xfrm>
            <a:off x="1270102" y="4608576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6" name="t"/>
          <p:cNvSpPr txBox="1"/>
          <p:nvPr/>
        </p:nvSpPr>
        <p:spPr>
          <a:xfrm>
            <a:off x="4753966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37" name="ln"/>
          <p:cNvCxnSpPr/>
          <p:nvPr/>
        </p:nvCxnSpPr>
        <p:spPr>
          <a:xfrm>
            <a:off x="4763110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8" name="t"/>
          <p:cNvSpPr txBox="1"/>
          <p:nvPr/>
        </p:nvSpPr>
        <p:spPr>
          <a:xfrm>
            <a:off x="4936846" y="1755648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주소</a:t>
            </a:r>
          </a:p>
        </p:txBody>
      </p:sp>
      <p:sp>
        <p:nvSpPr>
          <p:cNvPr id="39" name="t"/>
          <p:cNvSpPr txBox="1"/>
          <p:nvPr/>
        </p:nvSpPr>
        <p:spPr>
          <a:xfrm>
            <a:off x="4936846" y="1920240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40" name="ln"/>
          <p:cNvCxnSpPr/>
          <p:nvPr/>
        </p:nvCxnSpPr>
        <p:spPr>
          <a:xfrm>
            <a:off x="4763110" y="2286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1" name="photo"/>
          <p:cNvSpPr/>
          <p:nvPr/>
        </p:nvSpPr>
        <p:spPr>
          <a:xfrm>
            <a:off x="4936846" y="2359152"/>
            <a:ext cx="2363724" cy="713232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"/>
          <p:cNvSpPr txBox="1"/>
          <p:nvPr/>
        </p:nvSpPr>
        <p:spPr>
          <a:xfrm>
            <a:off x="4936846" y="2651760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신고 사진</a:t>
            </a:r>
          </a:p>
        </p:txBody>
      </p:sp>
      <p:cxnSp>
        <p:nvCxnSpPr>
          <p:cNvPr id="43" name="ln"/>
          <p:cNvCxnSpPr/>
          <p:nvPr/>
        </p:nvCxnSpPr>
        <p:spPr>
          <a:xfrm>
            <a:off x="4763110" y="3163824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4" name="t"/>
          <p:cNvSpPr txBox="1"/>
          <p:nvPr/>
        </p:nvSpPr>
        <p:spPr>
          <a:xfrm>
            <a:off x="4936846" y="3236976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</a:t>
            </a:r>
          </a:p>
        </p:txBody>
      </p:sp>
      <p:sp>
        <p:nvSpPr>
          <p:cNvPr id="45" name="t"/>
          <p:cNvSpPr txBox="1"/>
          <p:nvPr/>
        </p:nvSpPr>
        <p:spPr>
          <a:xfrm>
            <a:off x="4936846" y="3419856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불편 신고에 대한 상세 내용 표출</a:t>
            </a:r>
          </a:p>
        </p:txBody>
      </p:sp>
      <p:cxnSp>
        <p:nvCxnSpPr>
          <p:cNvPr id="46" name="ln"/>
          <p:cNvCxnSpPr/>
          <p:nvPr/>
        </p:nvCxnSpPr>
        <p:spPr>
          <a:xfrm>
            <a:off x="4763110" y="3639312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7" name="t"/>
          <p:cNvSpPr txBox="1"/>
          <p:nvPr/>
        </p:nvSpPr>
        <p:spPr>
          <a:xfrm>
            <a:off x="4936846" y="3712464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접수 상태</a:t>
            </a:r>
          </a:p>
        </p:txBody>
      </p:sp>
      <p:sp>
        <p:nvSpPr>
          <p:cNvPr id="48" name="t"/>
          <p:cNvSpPr txBox="1"/>
          <p:nvPr/>
        </p:nvSpPr>
        <p:spPr>
          <a:xfrm>
            <a:off x="6217006" y="3712464"/>
            <a:ext cx="108356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접수됨</a:t>
            </a:r>
          </a:p>
        </p:txBody>
      </p:sp>
      <p:sp>
        <p:nvSpPr>
          <p:cNvPr id="49" name="t"/>
          <p:cNvSpPr txBox="1"/>
          <p:nvPr/>
        </p:nvSpPr>
        <p:spPr>
          <a:xfrm>
            <a:off x="4936846" y="3931920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처리 결과</a:t>
            </a:r>
          </a:p>
        </p:txBody>
      </p:sp>
      <p:sp>
        <p:nvSpPr>
          <p:cNvPr id="50" name="t"/>
          <p:cNvSpPr txBox="1"/>
          <p:nvPr/>
        </p:nvSpPr>
        <p:spPr>
          <a:xfrm>
            <a:off x="4936846" y="4114800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(관리자 코멘트)</a:t>
            </a:r>
          </a:p>
        </p:txBody>
      </p:sp>
      <p:sp>
        <p:nvSpPr>
          <p:cNvPr id="51" name="edit"/>
          <p:cNvSpPr/>
          <p:nvPr/>
        </p:nvSpPr>
        <p:spPr>
          <a:xfrm>
            <a:off x="4936846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4936846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신고 내역 수정</a:t>
            </a:r>
          </a:p>
        </p:txBody>
      </p:sp>
      <p:sp>
        <p:nvSpPr>
          <p:cNvPr id="53" name="t"/>
          <p:cNvSpPr txBox="1"/>
          <p:nvPr/>
        </p:nvSpPr>
        <p:spPr>
          <a:xfrm>
            <a:off x="1260958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나의 불편신고 내역 — 상태 4종</a:t>
            </a:r>
          </a:p>
        </p:txBody>
      </p:sp>
      <p:sp>
        <p:nvSpPr>
          <p:cNvPr id="54" name="t"/>
          <p:cNvSpPr txBox="1"/>
          <p:nvPr/>
        </p:nvSpPr>
        <p:spPr>
          <a:xfrm>
            <a:off x="4753966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신고 상세 내역 — 조회 모드 · 접수됨</a:t>
            </a:r>
          </a:p>
        </p:txBody>
      </p:sp>
      <p:sp>
        <p:nvSpPr>
          <p:cNvPr id="5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56" name="뒤로가기"/>
          <p:cNvCxnSpPr/>
          <p:nvPr/>
        </p:nvCxnSpPr>
        <p:spPr>
          <a:xfrm flipH="1">
            <a:off x="1433170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뒤로가기"/>
          <p:cNvCxnSpPr/>
          <p:nvPr/>
        </p:nvCxnSpPr>
        <p:spPr>
          <a:xfrm flipH="1" flipV="1">
            <a:off x="1433170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뒤로가기"/>
          <p:cNvCxnSpPr/>
          <p:nvPr/>
        </p:nvCxnSpPr>
        <p:spPr>
          <a:xfrm flipH="1">
            <a:off x="4926178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뒤로가기"/>
          <p:cNvCxnSpPr/>
          <p:nvPr/>
        </p:nvCxnSpPr>
        <p:spPr>
          <a:xfrm flipH="1" flipV="1">
            <a:off x="4926178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숫자배지 1"/>
          <p:cNvSpPr/>
          <p:nvPr/>
        </p:nvSpPr>
        <p:spPr>
          <a:xfrm>
            <a:off x="1115568" y="17556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61" name="숫자배지 2"/>
          <p:cNvSpPr/>
          <p:nvPr/>
        </p:nvSpPr>
        <p:spPr>
          <a:xfrm>
            <a:off x="1115568" y="413308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62" name="숫자배지 3"/>
          <p:cNvSpPr/>
          <p:nvPr/>
        </p:nvSpPr>
        <p:spPr>
          <a:xfrm>
            <a:off x="4608576" y="17373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3" name="숫자배지 4"/>
          <p:cNvSpPr/>
          <p:nvPr/>
        </p:nvSpPr>
        <p:spPr>
          <a:xfrm>
            <a:off x="4608576" y="3639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6916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9443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내역 · 상세 · 수정 (2/3)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29192" y="1447800"/>
          <a:ext cx="2972409" cy="230789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접수 상태 · 처리 결과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관리자 처리 결과 코멘트를 표시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마일리지 미지급 안내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정보부족일 때만 해당 내용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[신고 내역 수정]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조회 모드 상세 하단 · 접수됨 · 정보부족일 때만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처리중 · 처리완료에서는 표출하지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수정 모드로 전환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"/>
          <p:cNvSpPr txBox="1"/>
          <p:nvPr/>
        </p:nvSpPr>
        <p:spPr>
          <a:xfrm>
            <a:off x="1260958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15" name="ln"/>
          <p:cNvCxnSpPr/>
          <p:nvPr/>
        </p:nvCxnSpPr>
        <p:spPr>
          <a:xfrm>
            <a:off x="1270102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6" name="t"/>
          <p:cNvSpPr txBox="1"/>
          <p:nvPr/>
        </p:nvSpPr>
        <p:spPr>
          <a:xfrm>
            <a:off x="1443838" y="1755648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주소</a:t>
            </a:r>
          </a:p>
        </p:txBody>
      </p:sp>
      <p:sp>
        <p:nvSpPr>
          <p:cNvPr id="17" name="t"/>
          <p:cNvSpPr txBox="1"/>
          <p:nvPr/>
        </p:nvSpPr>
        <p:spPr>
          <a:xfrm>
            <a:off x="1443838" y="1920240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18" name="ln"/>
          <p:cNvCxnSpPr/>
          <p:nvPr/>
        </p:nvCxnSpPr>
        <p:spPr>
          <a:xfrm>
            <a:off x="1270102" y="2286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9" name="photo"/>
          <p:cNvSpPr/>
          <p:nvPr/>
        </p:nvSpPr>
        <p:spPr>
          <a:xfrm>
            <a:off x="1443838" y="2359152"/>
            <a:ext cx="2363724" cy="658368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"/>
          <p:cNvSpPr txBox="1"/>
          <p:nvPr/>
        </p:nvSpPr>
        <p:spPr>
          <a:xfrm>
            <a:off x="1443838" y="261518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신고 사진</a:t>
            </a:r>
          </a:p>
        </p:txBody>
      </p:sp>
      <p:cxnSp>
        <p:nvCxnSpPr>
          <p:cNvPr id="21" name="ln"/>
          <p:cNvCxnSpPr/>
          <p:nvPr/>
        </p:nvCxnSpPr>
        <p:spPr>
          <a:xfrm>
            <a:off x="1270102" y="310896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2" name="t"/>
          <p:cNvSpPr txBox="1"/>
          <p:nvPr/>
        </p:nvSpPr>
        <p:spPr>
          <a:xfrm>
            <a:off x="1443838" y="3182112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</a:t>
            </a:r>
          </a:p>
        </p:txBody>
      </p:sp>
      <p:sp>
        <p:nvSpPr>
          <p:cNvPr id="23" name="t"/>
          <p:cNvSpPr txBox="1"/>
          <p:nvPr/>
        </p:nvSpPr>
        <p:spPr>
          <a:xfrm>
            <a:off x="1443838" y="3364992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불편 신고에 대한 상세 내용 표출</a:t>
            </a:r>
          </a:p>
        </p:txBody>
      </p:sp>
      <p:cxnSp>
        <p:nvCxnSpPr>
          <p:cNvPr id="24" name="ln"/>
          <p:cNvCxnSpPr/>
          <p:nvPr/>
        </p:nvCxnSpPr>
        <p:spPr>
          <a:xfrm>
            <a:off x="1270102" y="358444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5" name="t"/>
          <p:cNvSpPr txBox="1"/>
          <p:nvPr/>
        </p:nvSpPr>
        <p:spPr>
          <a:xfrm>
            <a:off x="1443838" y="3657600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접수 상태</a:t>
            </a:r>
          </a:p>
        </p:txBody>
      </p:sp>
      <p:sp>
        <p:nvSpPr>
          <p:cNvPr id="26" name="t"/>
          <p:cNvSpPr txBox="1"/>
          <p:nvPr/>
        </p:nvSpPr>
        <p:spPr>
          <a:xfrm>
            <a:off x="2723998" y="3657600"/>
            <a:ext cx="108356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정보부족</a:t>
            </a:r>
          </a:p>
        </p:txBody>
      </p:sp>
      <p:sp>
        <p:nvSpPr>
          <p:cNvPr id="27" name="t"/>
          <p:cNvSpPr txBox="1"/>
          <p:nvPr/>
        </p:nvSpPr>
        <p:spPr>
          <a:xfrm>
            <a:off x="1443838" y="3877056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처리 결과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43838" y="4059936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(관리자 코멘트 — 부족한 내용)</a:t>
            </a:r>
          </a:p>
        </p:txBody>
      </p:sp>
      <p:cxnSp>
        <p:nvCxnSpPr>
          <p:cNvPr id="29" name="ln"/>
          <p:cNvCxnSpPr/>
          <p:nvPr/>
        </p:nvCxnSpPr>
        <p:spPr>
          <a:xfrm>
            <a:off x="1270102" y="4279392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0" name="mileage"/>
          <p:cNvSpPr/>
          <p:nvPr/>
        </p:nvSpPr>
        <p:spPr>
          <a:xfrm>
            <a:off x="1443838" y="4352544"/>
            <a:ext cx="2363724" cy="475488"/>
          </a:xfrm>
          <a:prstGeom prst="roundRect">
            <a:avLst>
              <a:gd name="adj" fmla="val 6000"/>
            </a:avLst>
          </a:prstGeom>
          <a:solidFill>
            <a:srgbClr val="FFF6F6"/>
          </a:solidFill>
          <a:ln w="12700">
            <a:solidFill>
              <a:srgbClr val="F3C9CC"/>
            </a:solidFill>
          </a:ln>
        </p:spPr>
        <p:txBody>
          <a:bodyPr/>
          <a:lstStyle/>
          <a:p/>
        </p:txBody>
      </p:sp>
      <p:sp>
        <p:nvSpPr>
          <p:cNvPr id="31" name="t"/>
          <p:cNvSpPr txBox="1"/>
          <p:nvPr/>
        </p:nvSpPr>
        <p:spPr>
          <a:xfrm>
            <a:off x="1516990" y="4425696"/>
            <a:ext cx="22174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C00000"/>
                </a:solidFill>
                <a:latin typeface="Pretendard"/>
                <a:ea typeface="Pretendard"/>
              </a:rPr>
              <a:t>내용 부족으로 인해 아직 마일리지가 지급되지</a:t>
            </a:r>
          </a:p>
          <a:p>
            <a:pPr algn="l"/>
            <a:r>
              <a:rPr lang="ko-KR" sz="650" b="0" dirty="0">
                <a:solidFill>
                  <a:srgbClr val="C00000"/>
                </a:solidFill>
                <a:latin typeface="Pretendard"/>
                <a:ea typeface="Pretendard"/>
              </a:rPr>
              <a:t>않았습니다. 신고 내역을 보완해 주세요.</a:t>
            </a:r>
          </a:p>
        </p:txBody>
      </p:sp>
      <p:sp>
        <p:nvSpPr>
          <p:cNvPr id="32" name="edit"/>
          <p:cNvSpPr/>
          <p:nvPr/>
        </p:nvSpPr>
        <p:spPr>
          <a:xfrm>
            <a:off x="1443838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33" name="t"/>
          <p:cNvSpPr txBox="1"/>
          <p:nvPr/>
        </p:nvSpPr>
        <p:spPr>
          <a:xfrm>
            <a:off x="1443838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신고 내역 수정</a:t>
            </a:r>
          </a:p>
        </p:txBody>
      </p:sp>
      <p:sp>
        <p:nvSpPr>
          <p:cNvPr id="34" name="t"/>
          <p:cNvSpPr txBox="1"/>
          <p:nvPr/>
        </p:nvSpPr>
        <p:spPr>
          <a:xfrm>
            <a:off x="4753966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35" name="ln"/>
          <p:cNvCxnSpPr/>
          <p:nvPr/>
        </p:nvCxnSpPr>
        <p:spPr>
          <a:xfrm>
            <a:off x="4763110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6" name="map"/>
          <p:cNvSpPr/>
          <p:nvPr/>
        </p:nvSpPr>
        <p:spPr>
          <a:xfrm>
            <a:off x="4936846" y="1737360"/>
            <a:ext cx="2363724" cy="603504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4936846" y="1956816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지도 · 핀</a:t>
            </a:r>
          </a:p>
        </p:txBody>
      </p:sp>
      <p:sp>
        <p:nvSpPr>
          <p:cNvPr id="38" name="t"/>
          <p:cNvSpPr txBox="1"/>
          <p:nvPr/>
        </p:nvSpPr>
        <p:spPr>
          <a:xfrm>
            <a:off x="4936846" y="2395728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39" name="ln"/>
          <p:cNvCxnSpPr/>
          <p:nvPr/>
        </p:nvCxnSpPr>
        <p:spPr>
          <a:xfrm>
            <a:off x="4763110" y="27432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0" name="t"/>
          <p:cNvSpPr txBox="1"/>
          <p:nvPr/>
        </p:nvSpPr>
        <p:spPr>
          <a:xfrm>
            <a:off x="4936846" y="2798064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신고 유형</a:t>
            </a:r>
          </a:p>
        </p:txBody>
      </p:sp>
      <p:sp>
        <p:nvSpPr>
          <p:cNvPr id="41" name="radio"/>
          <p:cNvSpPr/>
          <p:nvPr/>
        </p:nvSpPr>
        <p:spPr>
          <a:xfrm>
            <a:off x="4936846" y="2999232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dot"/>
          <p:cNvSpPr/>
          <p:nvPr/>
        </p:nvSpPr>
        <p:spPr>
          <a:xfrm>
            <a:off x="4964278" y="302666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"/>
          <p:cNvSpPr txBox="1"/>
          <p:nvPr/>
        </p:nvSpPr>
        <p:spPr>
          <a:xfrm>
            <a:off x="5119726" y="2990088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단차 (높이 2cm 이상)</a:t>
            </a:r>
          </a:p>
        </p:txBody>
      </p:sp>
      <p:sp>
        <p:nvSpPr>
          <p:cNvPr id="44" name="radio"/>
          <p:cNvSpPr/>
          <p:nvPr/>
        </p:nvSpPr>
        <p:spPr>
          <a:xfrm>
            <a:off x="4936846" y="3209544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5119726" y="3200400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경사 (경사도 1/8 이상)</a:t>
            </a:r>
          </a:p>
        </p:txBody>
      </p:sp>
      <p:sp>
        <p:nvSpPr>
          <p:cNvPr id="46" name="radio"/>
          <p:cNvSpPr/>
          <p:nvPr/>
        </p:nvSpPr>
        <p:spPr>
          <a:xfrm>
            <a:off x="4936846" y="341985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5119726" y="3410712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보도폭 (1.2m 이하)</a:t>
            </a:r>
          </a:p>
        </p:txBody>
      </p:sp>
      <p:cxnSp>
        <p:nvCxnSpPr>
          <p:cNvPr id="48" name="ln"/>
          <p:cNvCxnSpPr/>
          <p:nvPr/>
        </p:nvCxnSpPr>
        <p:spPr>
          <a:xfrm>
            <a:off x="4763110" y="367588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9" name="t"/>
          <p:cNvSpPr txBox="1"/>
          <p:nvPr/>
        </p:nvSpPr>
        <p:spPr>
          <a:xfrm>
            <a:off x="4936846" y="3730752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 입력</a:t>
            </a:r>
          </a:p>
        </p:txBody>
      </p:sp>
      <p:sp>
        <p:nvSpPr>
          <p:cNvPr id="50" name="t"/>
          <p:cNvSpPr txBox="1"/>
          <p:nvPr/>
        </p:nvSpPr>
        <p:spPr>
          <a:xfrm>
            <a:off x="4936846" y="3895344"/>
            <a:ext cx="23637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51" name="ta"/>
          <p:cNvSpPr/>
          <p:nvPr/>
        </p:nvSpPr>
        <p:spPr>
          <a:xfrm>
            <a:off x="4936846" y="4059936"/>
            <a:ext cx="2363724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5009998" y="4151376"/>
            <a:ext cx="22174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보도폭이 좁아 휠체어 이용이 어렵습니다.</a:t>
            </a:r>
          </a:p>
        </p:txBody>
      </p:sp>
      <p:cxnSp>
        <p:nvCxnSpPr>
          <p:cNvPr id="53" name="ln"/>
          <p:cNvCxnSpPr/>
          <p:nvPr/>
        </p:nvCxnSpPr>
        <p:spPr>
          <a:xfrm>
            <a:off x="4763110" y="4572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4" name="thumb"/>
          <p:cNvSpPr/>
          <p:nvPr/>
        </p:nvSpPr>
        <p:spPr>
          <a:xfrm>
            <a:off x="4936846" y="46451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4936846" y="4809744"/>
            <a:ext cx="4572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사진1</a:t>
            </a:r>
          </a:p>
        </p:txBody>
      </p:sp>
      <p:sp>
        <p:nvSpPr>
          <p:cNvPr id="56" name="thumb"/>
          <p:cNvSpPr/>
          <p:nvPr/>
        </p:nvSpPr>
        <p:spPr>
          <a:xfrm>
            <a:off x="5448910" y="46451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"/>
          <p:cNvSpPr txBox="1"/>
          <p:nvPr/>
        </p:nvSpPr>
        <p:spPr>
          <a:xfrm>
            <a:off x="5448910" y="4809744"/>
            <a:ext cx="4572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사진2</a:t>
            </a:r>
          </a:p>
        </p:txBody>
      </p:sp>
      <p:sp>
        <p:nvSpPr>
          <p:cNvPr id="58" name="addphoto"/>
          <p:cNvSpPr/>
          <p:nvPr/>
        </p:nvSpPr>
        <p:spPr>
          <a:xfrm>
            <a:off x="4936846" y="5193792"/>
            <a:ext cx="2363724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4936846" y="5262372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＋ 사진 첨부</a:t>
            </a:r>
          </a:p>
        </p:txBody>
      </p:sp>
      <p:sp>
        <p:nvSpPr>
          <p:cNvPr id="60" name="save"/>
          <p:cNvSpPr/>
          <p:nvPr/>
        </p:nvSpPr>
        <p:spPr>
          <a:xfrm>
            <a:off x="4936846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4936846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저장하기</a:t>
            </a:r>
          </a:p>
        </p:txBody>
      </p:sp>
      <p:sp>
        <p:nvSpPr>
          <p:cNvPr id="62" name="t"/>
          <p:cNvSpPr txBox="1"/>
          <p:nvPr/>
        </p:nvSpPr>
        <p:spPr>
          <a:xfrm>
            <a:off x="1260958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조회 모드 — 정보부족</a:t>
            </a:r>
          </a:p>
        </p:txBody>
      </p:sp>
      <p:sp>
        <p:nvSpPr>
          <p:cNvPr id="63" name="t"/>
          <p:cNvSpPr txBox="1"/>
          <p:nvPr/>
        </p:nvSpPr>
        <p:spPr>
          <a:xfrm>
            <a:off x="4753966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수정 모드 — 값이 채워진 등록 폼</a:t>
            </a:r>
          </a:p>
        </p:txBody>
      </p:sp>
      <p:sp>
        <p:nvSpPr>
          <p:cNvPr id="6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65" name="뒤로가기"/>
          <p:cNvCxnSpPr/>
          <p:nvPr/>
        </p:nvCxnSpPr>
        <p:spPr>
          <a:xfrm flipH="1">
            <a:off x="1433170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뒤로가기"/>
          <p:cNvCxnSpPr/>
          <p:nvPr/>
        </p:nvCxnSpPr>
        <p:spPr>
          <a:xfrm flipH="1" flipV="1">
            <a:off x="1433170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뒤로가기"/>
          <p:cNvCxnSpPr/>
          <p:nvPr/>
        </p:nvCxnSpPr>
        <p:spPr>
          <a:xfrm flipH="1">
            <a:off x="4926178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뒤로가기"/>
          <p:cNvCxnSpPr/>
          <p:nvPr/>
        </p:nvCxnSpPr>
        <p:spPr>
          <a:xfrm flipH="1" flipV="1">
            <a:off x="4926178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숫자배지 4"/>
          <p:cNvSpPr/>
          <p:nvPr/>
        </p:nvSpPr>
        <p:spPr>
          <a:xfrm>
            <a:off x="1115568" y="3639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0" name="숫자배지 5"/>
          <p:cNvSpPr/>
          <p:nvPr/>
        </p:nvSpPr>
        <p:spPr>
          <a:xfrm>
            <a:off x="1115568" y="43525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1" name="숫자배지 6"/>
          <p:cNvSpPr/>
          <p:nvPr/>
        </p:nvSpPr>
        <p:spPr>
          <a:xfrm>
            <a:off x="1115568" y="5577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72" name="숫자배지 7"/>
          <p:cNvSpPr/>
          <p:nvPr/>
        </p:nvSpPr>
        <p:spPr>
          <a:xfrm>
            <a:off x="4608576" y="17190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73" name="숫자배지 8"/>
          <p:cNvSpPr/>
          <p:nvPr/>
        </p:nvSpPr>
        <p:spPr>
          <a:xfrm>
            <a:off x="4608576" y="5577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566928" cy="247650"/>
          </a:xfrm>
          <a:prstGeom prst="roundRect">
            <a:avLst>
              <a:gd name="adj" fmla="val 23076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2D4CC8"/>
                </a:solidFill>
                <a:latin typeface="Pretendard"/>
              </a:rPr>
              <a:t>1-6-2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1115568" y="228600"/>
            <a:ext cx="169164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나의 불편신고 내역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944368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내역 · 상세 · 수정 (3/3)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1260804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2">
            <a:extLst>
              <a:ext uri="{FF2B5EF4-FFF2-40B4-BE49-F238E27FC236}">
                <a16:creationId xmlns:a16="http://schemas.microsoft.com/office/drawing/2014/main" id="{854C89A3-0F88-D44C-26A5-AFA1787069C3}"/>
              </a:ext>
            </a:extLst>
          </p:cNvPr>
          <p:cNvSpPr/>
          <p:nvPr/>
        </p:nvSpPr>
        <p:spPr>
          <a:xfrm>
            <a:off x="4753882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2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3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8629192" y="1447800"/>
          <a:ext cx="2972409" cy="386135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수정 모드 — 값이 채워진 등록 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1-6-1의 레이아웃 · 요소 · 동작을 상속 · 하단만 [저장하기]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고칠 수 있는 것 4가지 — 위치 · 신고 유형 · 상세 내용 · 사진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접수 상태 · 처리 결과 · 사용자 안내 문구를 가져오지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 시 현위치를 자동 측정하지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[저장하기]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활성 조건 · 비활성 문안 4종을 등록 폼에서 그대로 상속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위치 · 사진 · 유형 · 내용이 이때 함께 올라감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정보부족에서 저장하면 상태가 접수됨으로 변경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저장 · 사진 삭제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저장하지 않은 변경은 남지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사진 삭제에 확인 팝업을 두지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"/>
          <p:cNvSpPr txBox="1"/>
          <p:nvPr/>
        </p:nvSpPr>
        <p:spPr>
          <a:xfrm>
            <a:off x="1260958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16" name="ln"/>
          <p:cNvCxnSpPr/>
          <p:nvPr/>
        </p:nvCxnSpPr>
        <p:spPr>
          <a:xfrm>
            <a:off x="1270102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7" name="t"/>
          <p:cNvSpPr txBox="1"/>
          <p:nvPr/>
        </p:nvSpPr>
        <p:spPr>
          <a:xfrm>
            <a:off x="1443838" y="1755648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주소</a:t>
            </a:r>
          </a:p>
        </p:txBody>
      </p:sp>
      <p:sp>
        <p:nvSpPr>
          <p:cNvPr id="18" name="t"/>
          <p:cNvSpPr txBox="1"/>
          <p:nvPr/>
        </p:nvSpPr>
        <p:spPr>
          <a:xfrm>
            <a:off x="1443838" y="1920240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19" name="ln"/>
          <p:cNvCxnSpPr/>
          <p:nvPr/>
        </p:nvCxnSpPr>
        <p:spPr>
          <a:xfrm>
            <a:off x="1270102" y="2286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0" name="photo"/>
          <p:cNvSpPr/>
          <p:nvPr/>
        </p:nvSpPr>
        <p:spPr>
          <a:xfrm>
            <a:off x="1443838" y="2359152"/>
            <a:ext cx="2363724" cy="658368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"/>
          <p:cNvSpPr txBox="1"/>
          <p:nvPr/>
        </p:nvSpPr>
        <p:spPr>
          <a:xfrm>
            <a:off x="1443838" y="261518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신고 사진</a:t>
            </a:r>
          </a:p>
        </p:txBody>
      </p:sp>
      <p:cxnSp>
        <p:nvCxnSpPr>
          <p:cNvPr id="22" name="ln"/>
          <p:cNvCxnSpPr/>
          <p:nvPr/>
        </p:nvCxnSpPr>
        <p:spPr>
          <a:xfrm>
            <a:off x="1270102" y="310896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3" name="t"/>
          <p:cNvSpPr txBox="1"/>
          <p:nvPr/>
        </p:nvSpPr>
        <p:spPr>
          <a:xfrm>
            <a:off x="1443838" y="3182112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</a:t>
            </a:r>
          </a:p>
        </p:txBody>
      </p:sp>
      <p:sp>
        <p:nvSpPr>
          <p:cNvPr id="24" name="t"/>
          <p:cNvSpPr txBox="1"/>
          <p:nvPr/>
        </p:nvSpPr>
        <p:spPr>
          <a:xfrm>
            <a:off x="1443838" y="3364992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불편 신고에 대한 상세 내용 표출</a:t>
            </a:r>
          </a:p>
        </p:txBody>
      </p:sp>
      <p:cxnSp>
        <p:nvCxnSpPr>
          <p:cNvPr id="25" name="ln"/>
          <p:cNvCxnSpPr/>
          <p:nvPr/>
        </p:nvCxnSpPr>
        <p:spPr>
          <a:xfrm>
            <a:off x="1270102" y="358444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26" name="t"/>
          <p:cNvSpPr txBox="1"/>
          <p:nvPr/>
        </p:nvSpPr>
        <p:spPr>
          <a:xfrm>
            <a:off x="1443838" y="3657600"/>
            <a:ext cx="12801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접수 상태</a:t>
            </a:r>
          </a:p>
        </p:txBody>
      </p:sp>
      <p:sp>
        <p:nvSpPr>
          <p:cNvPr id="27" name="t"/>
          <p:cNvSpPr txBox="1"/>
          <p:nvPr/>
        </p:nvSpPr>
        <p:spPr>
          <a:xfrm>
            <a:off x="2723998" y="3657600"/>
            <a:ext cx="108356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정보부족</a:t>
            </a:r>
          </a:p>
        </p:txBody>
      </p:sp>
      <p:sp>
        <p:nvSpPr>
          <p:cNvPr id="28" name="t"/>
          <p:cNvSpPr txBox="1"/>
          <p:nvPr/>
        </p:nvSpPr>
        <p:spPr>
          <a:xfrm>
            <a:off x="1443838" y="3877056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처리 결과</a:t>
            </a:r>
          </a:p>
        </p:txBody>
      </p:sp>
      <p:sp>
        <p:nvSpPr>
          <p:cNvPr id="29" name="t"/>
          <p:cNvSpPr txBox="1"/>
          <p:nvPr/>
        </p:nvSpPr>
        <p:spPr>
          <a:xfrm>
            <a:off x="1443838" y="4059936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(관리자 코멘트 — 부족한 내용)</a:t>
            </a:r>
          </a:p>
        </p:txBody>
      </p:sp>
      <p:cxnSp>
        <p:nvCxnSpPr>
          <p:cNvPr id="30" name="ln"/>
          <p:cNvCxnSpPr/>
          <p:nvPr/>
        </p:nvCxnSpPr>
        <p:spPr>
          <a:xfrm>
            <a:off x="1270102" y="4279392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1" name="mileage"/>
          <p:cNvSpPr/>
          <p:nvPr/>
        </p:nvSpPr>
        <p:spPr>
          <a:xfrm>
            <a:off x="1443838" y="4352544"/>
            <a:ext cx="2363724" cy="475488"/>
          </a:xfrm>
          <a:prstGeom prst="roundRect">
            <a:avLst>
              <a:gd name="adj" fmla="val 6000"/>
            </a:avLst>
          </a:prstGeom>
          <a:solidFill>
            <a:srgbClr val="FFF6F6"/>
          </a:solidFill>
          <a:ln w="12700">
            <a:solidFill>
              <a:srgbClr val="F3C9CC"/>
            </a:solidFill>
          </a:ln>
        </p:spPr>
        <p:txBody>
          <a:bodyPr/>
          <a:lstStyle/>
          <a:p/>
        </p:txBody>
      </p:sp>
      <p:sp>
        <p:nvSpPr>
          <p:cNvPr id="32" name="t"/>
          <p:cNvSpPr txBox="1"/>
          <p:nvPr/>
        </p:nvSpPr>
        <p:spPr>
          <a:xfrm>
            <a:off x="1516990" y="4425696"/>
            <a:ext cx="22174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C00000"/>
                </a:solidFill>
                <a:latin typeface="Pretendard"/>
                <a:ea typeface="Pretendard"/>
              </a:rPr>
              <a:t>내용 부족으로 인해 아직 마일리지가 지급되지</a:t>
            </a:r>
          </a:p>
          <a:p>
            <a:pPr algn="l"/>
            <a:r>
              <a:rPr lang="ko-KR" sz="650" b="0" dirty="0">
                <a:solidFill>
                  <a:srgbClr val="C00000"/>
                </a:solidFill>
                <a:latin typeface="Pretendard"/>
                <a:ea typeface="Pretendard"/>
              </a:rPr>
              <a:t>않았습니다. 신고 내역을 보완해 주세요.</a:t>
            </a:r>
          </a:p>
        </p:txBody>
      </p:sp>
      <p:sp>
        <p:nvSpPr>
          <p:cNvPr id="33" name="edit"/>
          <p:cNvSpPr/>
          <p:nvPr/>
        </p:nvSpPr>
        <p:spPr>
          <a:xfrm>
            <a:off x="1443838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34" name="t"/>
          <p:cNvSpPr txBox="1"/>
          <p:nvPr/>
        </p:nvSpPr>
        <p:spPr>
          <a:xfrm>
            <a:off x="1443838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2D4CC8"/>
                </a:solidFill>
                <a:latin typeface="Pretendard"/>
                <a:ea typeface="Pretendard"/>
              </a:rPr>
              <a:t>신고 내역 수정</a:t>
            </a:r>
          </a:p>
        </p:txBody>
      </p:sp>
      <p:sp>
        <p:nvSpPr>
          <p:cNvPr id="36" name="t"/>
          <p:cNvSpPr txBox="1"/>
          <p:nvPr/>
        </p:nvSpPr>
        <p:spPr>
          <a:xfrm>
            <a:off x="4753966" y="1316736"/>
            <a:ext cx="27294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신고 상세 내역</a:t>
            </a:r>
          </a:p>
        </p:txBody>
      </p:sp>
      <p:cxnSp>
        <p:nvCxnSpPr>
          <p:cNvPr id="37" name="ln"/>
          <p:cNvCxnSpPr/>
          <p:nvPr/>
        </p:nvCxnSpPr>
        <p:spPr>
          <a:xfrm>
            <a:off x="4763110" y="164592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38" name="map"/>
          <p:cNvSpPr/>
          <p:nvPr/>
        </p:nvSpPr>
        <p:spPr>
          <a:xfrm>
            <a:off x="4936846" y="1737360"/>
            <a:ext cx="2363724" cy="603504"/>
          </a:xfrm>
          <a:prstGeom prst="roundRect">
            <a:avLst>
              <a:gd name="adj" fmla="val 6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"/>
          <p:cNvSpPr txBox="1"/>
          <p:nvPr/>
        </p:nvSpPr>
        <p:spPr>
          <a:xfrm>
            <a:off x="4936846" y="1956816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지도 · 핀</a:t>
            </a:r>
          </a:p>
        </p:txBody>
      </p:sp>
      <p:sp>
        <p:nvSpPr>
          <p:cNvPr id="40" name="t"/>
          <p:cNvSpPr txBox="1"/>
          <p:nvPr/>
        </p:nvSpPr>
        <p:spPr>
          <a:xfrm>
            <a:off x="4936846" y="2395728"/>
            <a:ext cx="23637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서울특별시 영등포구 당산동4가 80-5</a:t>
            </a:r>
          </a:p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(영등포구 당산로41길 12)</a:t>
            </a:r>
          </a:p>
        </p:txBody>
      </p:sp>
      <p:cxnSp>
        <p:nvCxnSpPr>
          <p:cNvPr id="41" name="ln"/>
          <p:cNvCxnSpPr/>
          <p:nvPr/>
        </p:nvCxnSpPr>
        <p:spPr>
          <a:xfrm>
            <a:off x="4763110" y="27432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42" name="t"/>
          <p:cNvSpPr txBox="1"/>
          <p:nvPr/>
        </p:nvSpPr>
        <p:spPr>
          <a:xfrm>
            <a:off x="4936846" y="2798064"/>
            <a:ext cx="14630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신고 유형</a:t>
            </a:r>
          </a:p>
        </p:txBody>
      </p:sp>
      <p:sp>
        <p:nvSpPr>
          <p:cNvPr id="43" name="radio"/>
          <p:cNvSpPr/>
          <p:nvPr/>
        </p:nvSpPr>
        <p:spPr>
          <a:xfrm>
            <a:off x="4936846" y="2999232"/>
            <a:ext cx="118872" cy="118872"/>
          </a:xfrm>
          <a:prstGeom prst="ellipse">
            <a:avLst/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dot"/>
          <p:cNvSpPr/>
          <p:nvPr/>
        </p:nvSpPr>
        <p:spPr>
          <a:xfrm>
            <a:off x="4964278" y="302666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5119726" y="2990088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1" dirty="0">
                <a:solidFill>
                  <a:srgbClr val="14181F"/>
                </a:solidFill>
                <a:latin typeface="Pretendard"/>
                <a:ea typeface="Pretendard"/>
              </a:rPr>
              <a:t>단차 (높이 2cm 이상)</a:t>
            </a:r>
          </a:p>
        </p:txBody>
      </p:sp>
      <p:sp>
        <p:nvSpPr>
          <p:cNvPr id="46" name="radio"/>
          <p:cNvSpPr/>
          <p:nvPr/>
        </p:nvSpPr>
        <p:spPr>
          <a:xfrm>
            <a:off x="4936846" y="3209544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5119726" y="3200400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경사 (경사도 1/8 이상)</a:t>
            </a:r>
          </a:p>
        </p:txBody>
      </p:sp>
      <p:sp>
        <p:nvSpPr>
          <p:cNvPr id="48" name="radio"/>
          <p:cNvSpPr/>
          <p:nvPr/>
        </p:nvSpPr>
        <p:spPr>
          <a:xfrm>
            <a:off x="4936846" y="341985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5119726" y="3410712"/>
            <a:ext cx="218084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보도폭 (1.2m 이하)</a:t>
            </a:r>
          </a:p>
        </p:txBody>
      </p:sp>
      <p:cxnSp>
        <p:nvCxnSpPr>
          <p:cNvPr id="50" name="ln"/>
          <p:cNvCxnSpPr/>
          <p:nvPr/>
        </p:nvCxnSpPr>
        <p:spPr>
          <a:xfrm>
            <a:off x="4763110" y="3675888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1" name="t"/>
          <p:cNvSpPr txBox="1"/>
          <p:nvPr/>
        </p:nvSpPr>
        <p:spPr>
          <a:xfrm>
            <a:off x="4936846" y="3730752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상세 내용 입력</a:t>
            </a:r>
          </a:p>
        </p:txBody>
      </p:sp>
      <p:sp>
        <p:nvSpPr>
          <p:cNvPr id="52" name="t"/>
          <p:cNvSpPr txBox="1"/>
          <p:nvPr/>
        </p:nvSpPr>
        <p:spPr>
          <a:xfrm>
            <a:off x="4936846" y="3895344"/>
            <a:ext cx="23637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자세한 위치를 함께 적어 주시면 확인에 도움이 됩니다.</a:t>
            </a:r>
          </a:p>
        </p:txBody>
      </p:sp>
      <p:sp>
        <p:nvSpPr>
          <p:cNvPr id="53" name="ta"/>
          <p:cNvSpPr/>
          <p:nvPr/>
        </p:nvSpPr>
        <p:spPr>
          <a:xfrm>
            <a:off x="4936846" y="4059936"/>
            <a:ext cx="2363724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5009998" y="4151376"/>
            <a:ext cx="22174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14181F"/>
                </a:solidFill>
                <a:latin typeface="Pretendard"/>
                <a:ea typeface="Pretendard"/>
              </a:rPr>
              <a:t>보도폭이 좁아 휠체어 이용이 어렵습니다.</a:t>
            </a:r>
          </a:p>
        </p:txBody>
      </p:sp>
      <p:cxnSp>
        <p:nvCxnSpPr>
          <p:cNvPr id="55" name="ln"/>
          <p:cNvCxnSpPr/>
          <p:nvPr/>
        </p:nvCxnSpPr>
        <p:spPr>
          <a:xfrm>
            <a:off x="4763110" y="4572000"/>
            <a:ext cx="2711196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56" name="thumb"/>
          <p:cNvSpPr/>
          <p:nvPr/>
        </p:nvSpPr>
        <p:spPr>
          <a:xfrm>
            <a:off x="4936846" y="46451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"/>
          <p:cNvSpPr txBox="1"/>
          <p:nvPr/>
        </p:nvSpPr>
        <p:spPr>
          <a:xfrm>
            <a:off x="4936846" y="4809744"/>
            <a:ext cx="4572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사진1</a:t>
            </a:r>
          </a:p>
        </p:txBody>
      </p:sp>
      <p:sp>
        <p:nvSpPr>
          <p:cNvPr id="58" name="thumb"/>
          <p:cNvSpPr/>
          <p:nvPr/>
        </p:nvSpPr>
        <p:spPr>
          <a:xfrm>
            <a:off x="5448910" y="464515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E3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5448910" y="4809744"/>
            <a:ext cx="4572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0" dirty="0">
                <a:solidFill>
                  <a:srgbClr val="5B6573"/>
                </a:solidFill>
                <a:latin typeface="Pretendard"/>
                <a:ea typeface="Pretendard"/>
              </a:rPr>
              <a:t>사진2</a:t>
            </a:r>
          </a:p>
        </p:txBody>
      </p:sp>
      <p:sp>
        <p:nvSpPr>
          <p:cNvPr id="60" name="addphoto"/>
          <p:cNvSpPr/>
          <p:nvPr/>
        </p:nvSpPr>
        <p:spPr>
          <a:xfrm>
            <a:off x="4936846" y="5193792"/>
            <a:ext cx="2363724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4936846" y="5262372"/>
            <a:ext cx="236372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3E4652"/>
                </a:solidFill>
                <a:latin typeface="Pretendard"/>
                <a:ea typeface="Pretendard"/>
              </a:rPr>
              <a:t>＋ 사진 첨부</a:t>
            </a:r>
          </a:p>
        </p:txBody>
      </p:sp>
      <p:sp>
        <p:nvSpPr>
          <p:cNvPr id="62" name="save"/>
          <p:cNvSpPr/>
          <p:nvPr/>
        </p:nvSpPr>
        <p:spPr>
          <a:xfrm>
            <a:off x="4936846" y="5577840"/>
            <a:ext cx="2363724" cy="292608"/>
          </a:xfrm>
          <a:prstGeom prst="roundRect">
            <a:avLst>
              <a:gd name="adj" fmla="val 20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4936846" y="5655564"/>
            <a:ext cx="23637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FFFFFF"/>
                </a:solidFill>
                <a:latin typeface="Pretendard"/>
                <a:ea typeface="Pretendard"/>
              </a:rPr>
              <a:t>저장하기</a:t>
            </a:r>
          </a:p>
        </p:txBody>
      </p:sp>
      <p:sp>
        <p:nvSpPr>
          <p:cNvPr id="64" name="t"/>
          <p:cNvSpPr txBox="1"/>
          <p:nvPr/>
        </p:nvSpPr>
        <p:spPr>
          <a:xfrm>
            <a:off x="1260958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조회 모드 — 정보부족</a:t>
            </a:r>
          </a:p>
        </p:txBody>
      </p:sp>
      <p:sp>
        <p:nvSpPr>
          <p:cNvPr id="65" name="t"/>
          <p:cNvSpPr txBox="1"/>
          <p:nvPr/>
        </p:nvSpPr>
        <p:spPr>
          <a:xfrm>
            <a:off x="4753966" y="1024128"/>
            <a:ext cx="2729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수정 모드 — 값이 채워진 등록 폼</a:t>
            </a:r>
          </a:p>
        </p:txBody>
      </p:sp>
      <p:sp>
        <p:nvSpPr>
          <p:cNvPr id="66" name="숫자배지 4"/>
          <p:cNvSpPr/>
          <p:nvPr/>
        </p:nvSpPr>
        <p:spPr>
          <a:xfrm>
            <a:off x="1115568" y="3639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67" name="숫자배지 5"/>
          <p:cNvSpPr/>
          <p:nvPr/>
        </p:nvSpPr>
        <p:spPr>
          <a:xfrm>
            <a:off x="1115568" y="43525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68" name="숫자배지 6"/>
          <p:cNvSpPr/>
          <p:nvPr/>
        </p:nvSpPr>
        <p:spPr>
          <a:xfrm>
            <a:off x="1115568" y="5577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9" name="숫자배지 7"/>
          <p:cNvSpPr/>
          <p:nvPr/>
        </p:nvSpPr>
        <p:spPr>
          <a:xfrm>
            <a:off x="4608576" y="171907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70" name="숫자배지 8"/>
          <p:cNvSpPr/>
          <p:nvPr/>
        </p:nvSpPr>
        <p:spPr>
          <a:xfrm>
            <a:off x="4608576" y="557784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  <p:sp>
        <p:nvSpPr>
          <p:cNvPr id="71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cxnSp>
        <p:nvCxnSpPr>
          <p:cNvPr id="72" name="뒤로가기"/>
          <p:cNvCxnSpPr/>
          <p:nvPr/>
        </p:nvCxnSpPr>
        <p:spPr>
          <a:xfrm flipH="1">
            <a:off x="1433170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뒤로가기"/>
          <p:cNvCxnSpPr/>
          <p:nvPr/>
        </p:nvCxnSpPr>
        <p:spPr>
          <a:xfrm flipH="1" flipV="1">
            <a:off x="1433170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뒤로가기"/>
          <p:cNvCxnSpPr/>
          <p:nvPr/>
        </p:nvCxnSpPr>
        <p:spPr>
          <a:xfrm flipH="1">
            <a:off x="4926178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뒤로가기"/>
          <p:cNvCxnSpPr/>
          <p:nvPr/>
        </p:nvCxnSpPr>
        <p:spPr>
          <a:xfrm flipH="1" flipV="1">
            <a:off x="4926178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1-0 홈"/>
          <p:cNvSpPr/>
          <p:nvPr/>
        </p:nvSpPr>
        <p:spPr>
          <a:xfrm>
            <a:off x="1046312" y="2972663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EDF1FD"/>
          </a:solidFill>
          <a:ln w="9525">
            <a:solidFill>
              <a:srgbClr val="C9D5F7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51087" y="2972663"/>
            <a:ext cx="142084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2D4CC8"/>
                </a:solidFill>
                <a:latin typeface="Pretendard"/>
              </a:rPr>
              <a:t>1-0 홈</a:t>
            </a:r>
          </a:p>
        </p:txBody>
      </p:sp>
      <p:sp>
        <p:nvSpPr>
          <p:cNvPr id="12" name="흐름 3-0 마이페이지"/>
          <p:cNvSpPr/>
          <p:nvPr/>
        </p:nvSpPr>
        <p:spPr>
          <a:xfrm>
            <a:off x="3084303" y="297266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89078" y="297266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4" name="흐름 로그인 필요 팝업"/>
          <p:cNvSpPr/>
          <p:nvPr/>
        </p:nvSpPr>
        <p:spPr>
          <a:xfrm>
            <a:off x="3082092" y="1369443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흐름 제목"/>
          <p:cNvSpPr txBox="1"/>
          <p:nvPr/>
        </p:nvSpPr>
        <p:spPr>
          <a:xfrm>
            <a:off x="3186867" y="1369443"/>
            <a:ext cx="160199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로그인 필요 팝업</a:t>
            </a:r>
          </a:p>
        </p:txBody>
      </p:sp>
      <p:sp>
        <p:nvSpPr>
          <p:cNvPr id="16" name="흐름 3-1 교통약자 유형 변경"/>
          <p:cNvSpPr/>
          <p:nvPr/>
        </p:nvSpPr>
        <p:spPr>
          <a:xfrm>
            <a:off x="5801868" y="1078992"/>
            <a:ext cx="2083279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흐름 제목"/>
          <p:cNvSpPr txBox="1"/>
          <p:nvPr/>
        </p:nvSpPr>
        <p:spPr>
          <a:xfrm>
            <a:off x="5906110" y="1078992"/>
            <a:ext cx="187372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 교통약자 유형 변경</a:t>
            </a:r>
          </a:p>
        </p:txBody>
      </p:sp>
      <p:sp>
        <p:nvSpPr>
          <p:cNvPr id="18" name="흐름 3-2 내 마일리지"/>
          <p:cNvSpPr/>
          <p:nvPr/>
        </p:nvSpPr>
        <p:spPr>
          <a:xfrm>
            <a:off x="5801868" y="1572768"/>
            <a:ext cx="2083279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흐름 제목"/>
          <p:cNvSpPr txBox="1"/>
          <p:nvPr/>
        </p:nvSpPr>
        <p:spPr>
          <a:xfrm>
            <a:off x="5906110" y="1572768"/>
            <a:ext cx="187372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3-2 내 마일리지</a:t>
            </a:r>
          </a:p>
        </p:txBody>
      </p:sp>
      <p:sp>
        <p:nvSpPr>
          <p:cNvPr id="20" name="흐름 3-3 즐겨찾기 관리"/>
          <p:cNvSpPr/>
          <p:nvPr/>
        </p:nvSpPr>
        <p:spPr>
          <a:xfrm>
            <a:off x="5801868" y="2066544"/>
            <a:ext cx="2083279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흐름 제목"/>
          <p:cNvSpPr txBox="1"/>
          <p:nvPr/>
        </p:nvSpPr>
        <p:spPr>
          <a:xfrm>
            <a:off x="5906110" y="2066544"/>
            <a:ext cx="187372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 관리</a:t>
            </a:r>
          </a:p>
        </p:txBody>
      </p:sp>
      <p:sp>
        <p:nvSpPr>
          <p:cNvPr id="22" name="흐름 3-5 공지사항"/>
          <p:cNvSpPr/>
          <p:nvPr/>
        </p:nvSpPr>
        <p:spPr>
          <a:xfrm>
            <a:off x="5801868" y="3054096"/>
            <a:ext cx="2083279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06110" y="3054096"/>
            <a:ext cx="187372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3-5 공지사항</a:t>
            </a:r>
          </a:p>
        </p:txBody>
      </p:sp>
      <p:sp>
        <p:nvSpPr>
          <p:cNvPr id="24" name="흐름 3-7 로그아웃"/>
          <p:cNvSpPr/>
          <p:nvPr/>
        </p:nvSpPr>
        <p:spPr>
          <a:xfrm>
            <a:off x="5801868" y="4535424"/>
            <a:ext cx="2083279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흐름 제목"/>
          <p:cNvSpPr txBox="1"/>
          <p:nvPr/>
        </p:nvSpPr>
        <p:spPr>
          <a:xfrm>
            <a:off x="5906110" y="4535424"/>
            <a:ext cx="187372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3-8 로그아웃</a:t>
            </a:r>
          </a:p>
        </p:txBody>
      </p:sp>
      <p:sp>
        <p:nvSpPr>
          <p:cNvPr id="26" name="흐름 3-8 회원탈퇴"/>
          <p:cNvSpPr/>
          <p:nvPr/>
        </p:nvSpPr>
        <p:spPr>
          <a:xfrm>
            <a:off x="5801868" y="5029200"/>
            <a:ext cx="2083279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5906110" y="5029200"/>
            <a:ext cx="187372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3-9 회원 탈퇴</a:t>
            </a:r>
          </a:p>
        </p:txBody>
      </p:sp>
      <p:sp>
        <p:nvSpPr>
          <p:cNvPr id="28" name="흐름 선택 유형 → 경로 탐색 최적"/>
          <p:cNvSpPr/>
          <p:nvPr/>
        </p:nvSpPr>
        <p:spPr>
          <a:xfrm>
            <a:off x="8518944" y="1062860"/>
            <a:ext cx="2626743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흐름 제목"/>
          <p:cNvSpPr txBox="1"/>
          <p:nvPr/>
        </p:nvSpPr>
        <p:spPr>
          <a:xfrm>
            <a:off x="8623719" y="1062860"/>
            <a:ext cx="241719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선택 유형 → 경로 탐색 최적화 반영</a:t>
            </a:r>
          </a:p>
        </p:txBody>
      </p:sp>
      <p:sp>
        <p:nvSpPr>
          <p:cNvPr id="30" name="흐름 0-1 로그인 복귀"/>
          <p:cNvSpPr/>
          <p:nvPr/>
        </p:nvSpPr>
        <p:spPr>
          <a:xfrm>
            <a:off x="8518944" y="4519292"/>
            <a:ext cx="1811547" cy="452887"/>
          </a:xfrm>
          <a:prstGeom prst="roundRect">
            <a:avLst>
              <a:gd name="adj" fmla="val 2523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흐름 제목"/>
          <p:cNvSpPr txBox="1"/>
          <p:nvPr/>
        </p:nvSpPr>
        <p:spPr>
          <a:xfrm>
            <a:off x="8623719" y="4519292"/>
            <a:ext cx="160199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0-1 로그인 복귀</a:t>
            </a:r>
          </a:p>
        </p:txBody>
      </p:sp>
      <p:cxnSp>
        <p:nvCxnSpPr>
          <p:cNvPr id="32" name="연결선"/>
          <p:cNvCxnSpPr>
            <a:stCxn id="12" idx="0"/>
            <a:endCxn id="14" idx="2"/>
          </p:cNvCxnSpPr>
          <p:nvPr/>
        </p:nvCxnSpPr>
        <p:spPr>
          <a:xfrm flipH="1" flipV="1">
            <a:off x="3987865" y="1931023"/>
            <a:ext cx="2211" cy="1041640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연결선"/>
          <p:cNvCxnSpPr>
            <a:stCxn id="24" idx="3"/>
            <a:endCxn id="30" idx="1"/>
          </p:cNvCxnSpPr>
          <p:nvPr/>
        </p:nvCxnSpPr>
        <p:spPr>
          <a:xfrm>
            <a:off x="7884903" y="4745736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연결선"/>
          <p:cNvCxnSpPr>
            <a:stCxn id="16" idx="3"/>
            <a:endCxn id="28" idx="1"/>
          </p:cNvCxnSpPr>
          <p:nvPr/>
        </p:nvCxnSpPr>
        <p:spPr>
          <a:xfrm>
            <a:off x="7884903" y="1289304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">
            <a:extLst>
              <a:ext uri="{FF2B5EF4-FFF2-40B4-BE49-F238E27FC236}">
                <a16:creationId xmlns:a16="http://schemas.microsoft.com/office/drawing/2014/main" id="{E48C6D71-1C8A-1601-1157-B3F22071CE9A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2676704" y="3253453"/>
            <a:ext cx="407599" cy="1"/>
          </a:xfrm>
          <a:prstGeom prst="line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흐름 3-6 이용약관 및 정책"/>
          <p:cNvSpPr/>
          <p:nvPr/>
        </p:nvSpPr>
        <p:spPr>
          <a:xfrm>
            <a:off x="5801868" y="3547872"/>
            <a:ext cx="2083279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흐름 제목"/>
          <p:cNvSpPr txBox="1"/>
          <p:nvPr/>
        </p:nvSpPr>
        <p:spPr>
          <a:xfrm>
            <a:off x="5906110" y="3547872"/>
            <a:ext cx="187372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3-6 이용약관 및 정책</a:t>
            </a:r>
          </a:p>
        </p:txBody>
      </p:sp>
      <p:sp>
        <p:nvSpPr>
          <p:cNvPr id="38" name="흐름 3-4 저상버스 예약 내역"/>
          <p:cNvSpPr/>
          <p:nvPr/>
        </p:nvSpPr>
        <p:spPr>
          <a:xfrm>
            <a:off x="5801868" y="2560320"/>
            <a:ext cx="2084831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흐름 제목"/>
          <p:cNvSpPr txBox="1"/>
          <p:nvPr/>
        </p:nvSpPr>
        <p:spPr>
          <a:xfrm>
            <a:off x="5906110" y="2560320"/>
            <a:ext cx="187451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3-4 저상버스 예약 내역</a:t>
            </a:r>
          </a:p>
        </p:txBody>
      </p:sp>
      <p:sp>
        <p:nvSpPr>
          <p:cNvPr id="40" name="흐름 3-6 이용약관 및 정책"/>
          <p:cNvSpPr/>
          <p:nvPr/>
        </p:nvSpPr>
        <p:spPr>
          <a:xfrm>
            <a:off x="5801868" y="4041648"/>
            <a:ext cx="2083279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흐름 제목"/>
          <p:cNvSpPr txBox="1"/>
          <p:nvPr/>
        </p:nvSpPr>
        <p:spPr>
          <a:xfrm>
            <a:off x="5906110" y="4041648"/>
            <a:ext cx="187372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1" spc="-17">
                <a:solidFill>
                  <a:srgbClr val="9A6410"/>
                </a:solidFill>
                <a:latin typeface="Pretendard"/>
              </a:rPr>
              <a:t>3-7 오픈소스 라이선스</a:t>
            </a:r>
          </a:p>
        </p:txBody>
      </p:sp>
      <p:cxnSp>
        <p:nvCxnSpPr>
          <p:cNvPr id="42" name="연결선"/>
          <p:cNvCxnSpPr>
            <a:stCxn id="12" idx="3"/>
            <a:endCxn id="16" idx="1"/>
          </p:cNvCxnSpPr>
          <p:nvPr/>
        </p:nvCxnSpPr>
        <p:spPr>
          <a:xfrm flipV="1">
            <a:off x="4895850" y="1289304"/>
            <a:ext cx="906018" cy="196414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연결선"/>
          <p:cNvCxnSpPr>
            <a:stCxn id="12" idx="3"/>
            <a:endCxn id="18" idx="1"/>
          </p:cNvCxnSpPr>
          <p:nvPr/>
        </p:nvCxnSpPr>
        <p:spPr>
          <a:xfrm flipV="1">
            <a:off x="4895850" y="1783080"/>
            <a:ext cx="906018" cy="147037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"/>
          <p:cNvCxnSpPr>
            <a:stCxn id="12" idx="3"/>
            <a:endCxn id="20" idx="1"/>
          </p:cNvCxnSpPr>
          <p:nvPr/>
        </p:nvCxnSpPr>
        <p:spPr>
          <a:xfrm flipV="1">
            <a:off x="4895850" y="2276856"/>
            <a:ext cx="906018" cy="97659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연결선"/>
          <p:cNvCxnSpPr>
            <a:stCxn id="12" idx="3"/>
            <a:endCxn id="38" idx="1"/>
          </p:cNvCxnSpPr>
          <p:nvPr/>
        </p:nvCxnSpPr>
        <p:spPr>
          <a:xfrm flipV="1">
            <a:off x="4895850" y="2770632"/>
            <a:ext cx="906018" cy="482821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연결선"/>
          <p:cNvCxnSpPr>
            <a:stCxn id="12" idx="3"/>
            <a:endCxn id="22" idx="1"/>
          </p:cNvCxnSpPr>
          <p:nvPr/>
        </p:nvCxnSpPr>
        <p:spPr>
          <a:xfrm>
            <a:off x="4895850" y="3253453"/>
            <a:ext cx="906018" cy="1095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"/>
          <p:cNvCxnSpPr>
            <a:stCxn id="12" idx="3"/>
            <a:endCxn id="36" idx="1"/>
          </p:cNvCxnSpPr>
          <p:nvPr/>
        </p:nvCxnSpPr>
        <p:spPr>
          <a:xfrm>
            <a:off x="4895850" y="3253453"/>
            <a:ext cx="906018" cy="504731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연결선"/>
          <p:cNvCxnSpPr>
            <a:stCxn id="12" idx="3"/>
            <a:endCxn id="40" idx="1"/>
          </p:cNvCxnSpPr>
          <p:nvPr/>
        </p:nvCxnSpPr>
        <p:spPr>
          <a:xfrm>
            <a:off x="4895850" y="3253453"/>
            <a:ext cx="906018" cy="998507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연결선"/>
          <p:cNvCxnSpPr>
            <a:stCxn id="12" idx="3"/>
            <a:endCxn id="24" idx="1"/>
          </p:cNvCxnSpPr>
          <p:nvPr/>
        </p:nvCxnSpPr>
        <p:spPr>
          <a:xfrm>
            <a:off x="4895850" y="3253453"/>
            <a:ext cx="906018" cy="1492283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"/>
          <p:cNvCxnSpPr>
            <a:stCxn id="12" idx="3"/>
            <a:endCxn id="26" idx="1"/>
          </p:cNvCxnSpPr>
          <p:nvPr/>
        </p:nvCxnSpPr>
        <p:spPr>
          <a:xfrm>
            <a:off x="4895850" y="3253453"/>
            <a:ext cx="906018" cy="1986059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"/>
          <p:cNvCxnSpPr>
            <a:stCxn id="12" idx="3"/>
            <a:endCxn id="51" idx="1"/>
          </p:cNvCxnSpPr>
          <p:nvPr/>
        </p:nvCxnSpPr>
        <p:spPr>
          <a:xfrm>
            <a:off x="4895850" y="3253453"/>
            <a:ext cx="906018" cy="2479835"/>
          </a:xfrm>
          <a:prstGeom prst="bentConnector3">
            <a:avLst/>
          </a:prstGeom>
          <a:ln w="11906">
            <a:solidFill>
              <a:srgbClr val="9AA4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흐름 3-10 언어 변경"/>
          <p:cNvSpPr/>
          <p:nvPr/>
        </p:nvSpPr>
        <p:spPr>
          <a:xfrm>
            <a:off x="5801868" y="5522976"/>
            <a:ext cx="2083279" cy="420624"/>
          </a:xfrm>
          <a:prstGeom prst="roundRect">
            <a:avLst>
              <a:gd name="adj" fmla="val 2294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흐름 제목"/>
          <p:cNvSpPr txBox="1"/>
          <p:nvPr/>
        </p:nvSpPr>
        <p:spPr>
          <a:xfrm>
            <a:off x="5906110" y="5522976"/>
            <a:ext cx="1873729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3-10 언어 변경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686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789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레이아웃 · 회원 (1/4)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099185"/>
            <a:ext cx="2733675" cy="534466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5563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2134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85330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997130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6001131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6077140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997130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6085142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5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8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0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1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3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35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36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37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1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2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3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4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5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4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429097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레이아웃 — 섹션 3개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개인 설정 → 카드 2개 → 저상버스 예약 내역 → 서비스 정보 → 계정 → 앱 버전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제목은 눌리지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[&gt;]는 하위 화면 진입 행에만 표출 — 계정 · 앱 버전에는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닉네임 인사 줄 ＋ 수정 아이콘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「0000 님 반갑습니다.」 ＋ 우측 연필 아이콘 · 한글 · 영문 8자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닉네임 수정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본문 「닉네임을 입력해주세요.」 ＋ ✕ · 입력란 1개 · [취소] / [저장]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닉네임이 들어 있는 것이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 체크는 [저장]을 누르는 시점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교통약자 유형 ＋ [유형변경]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캡션 1행 ＋ 값 1행 = 2행 · 버튼 1개는 두 행 높이에 맞춤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[유형변경]을 누르면 3-1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0" name="t"/>
          <p:cNvSpPr txBox="1"/>
          <p:nvPr/>
        </p:nvSpPr>
        <p:spPr>
          <a:xfrm>
            <a:off x="771754" y="160934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51" name="card"/>
          <p:cNvSpPr/>
          <p:nvPr/>
        </p:nvSpPr>
        <p:spPr>
          <a:xfrm>
            <a:off x="771754" y="179222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881482" y="184251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3" name="t"/>
          <p:cNvSpPr txBox="1"/>
          <p:nvPr/>
        </p:nvSpPr>
        <p:spPr>
          <a:xfrm>
            <a:off x="2944368" y="183337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4" name="card"/>
          <p:cNvSpPr/>
          <p:nvPr/>
        </p:nvSpPr>
        <p:spPr>
          <a:xfrm>
            <a:off x="771754" y="206654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881482" y="213055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6" name="t"/>
          <p:cNvSpPr txBox="1"/>
          <p:nvPr/>
        </p:nvSpPr>
        <p:spPr>
          <a:xfrm>
            <a:off x="881482" y="227685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7" name="btn"/>
          <p:cNvSpPr/>
          <p:nvPr/>
        </p:nvSpPr>
        <p:spPr>
          <a:xfrm>
            <a:off x="2487168" y="216712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2487168" y="221742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59" name="card"/>
          <p:cNvSpPr/>
          <p:nvPr/>
        </p:nvSpPr>
        <p:spPr>
          <a:xfrm>
            <a:off x="771754" y="250545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881482" y="255117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61" name="seg"/>
          <p:cNvSpPr/>
          <p:nvPr/>
        </p:nvSpPr>
        <p:spPr>
          <a:xfrm>
            <a:off x="881482" y="268376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881482" y="270662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3" name="seg"/>
          <p:cNvSpPr/>
          <p:nvPr/>
        </p:nvSpPr>
        <p:spPr>
          <a:xfrm>
            <a:off x="1539850" y="268376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1539850" y="270662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5" name="card2"/>
          <p:cNvSpPr/>
          <p:nvPr/>
        </p:nvSpPr>
        <p:spPr>
          <a:xfrm>
            <a:off x="771754" y="338328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771754" y="344728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7" name="t"/>
          <p:cNvSpPr txBox="1"/>
          <p:nvPr/>
        </p:nvSpPr>
        <p:spPr>
          <a:xfrm>
            <a:off x="771754" y="359359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8" name="card2"/>
          <p:cNvSpPr/>
          <p:nvPr/>
        </p:nvSpPr>
        <p:spPr>
          <a:xfrm>
            <a:off x="2022653" y="338328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2022653" y="344728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70" name="t"/>
          <p:cNvSpPr txBox="1"/>
          <p:nvPr/>
        </p:nvSpPr>
        <p:spPr>
          <a:xfrm>
            <a:off x="2022653" y="359359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71" name="card"/>
          <p:cNvSpPr/>
          <p:nvPr/>
        </p:nvSpPr>
        <p:spPr>
          <a:xfrm>
            <a:off x="771754" y="3822192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881482" y="3890772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3" name="badge"/>
          <p:cNvSpPr/>
          <p:nvPr/>
        </p:nvSpPr>
        <p:spPr>
          <a:xfrm>
            <a:off x="2161642" y="3890772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2161642" y="3918204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75" name="t"/>
          <p:cNvSpPr txBox="1"/>
          <p:nvPr/>
        </p:nvSpPr>
        <p:spPr>
          <a:xfrm>
            <a:off x="2962656" y="388162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6" name="t"/>
          <p:cNvSpPr txBox="1"/>
          <p:nvPr/>
        </p:nvSpPr>
        <p:spPr>
          <a:xfrm>
            <a:off x="771754" y="415137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7" name="card"/>
          <p:cNvSpPr/>
          <p:nvPr/>
        </p:nvSpPr>
        <p:spPr>
          <a:xfrm>
            <a:off x="771754" y="4315968"/>
            <a:ext cx="242864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881482" y="4386507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9" name="t"/>
          <p:cNvSpPr txBox="1"/>
          <p:nvPr/>
        </p:nvSpPr>
        <p:spPr>
          <a:xfrm>
            <a:off x="2962656" y="437867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0" name="ln"/>
          <p:cNvCxnSpPr/>
          <p:nvPr/>
        </p:nvCxnSpPr>
        <p:spPr>
          <a:xfrm>
            <a:off x="863194" y="4535424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1" name="t"/>
          <p:cNvSpPr txBox="1"/>
          <p:nvPr/>
        </p:nvSpPr>
        <p:spPr>
          <a:xfrm>
            <a:off x="881482" y="4605963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82" name="t"/>
          <p:cNvSpPr txBox="1"/>
          <p:nvPr/>
        </p:nvSpPr>
        <p:spPr>
          <a:xfrm>
            <a:off x="2962656" y="459812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3" name="ln"/>
          <p:cNvCxnSpPr/>
          <p:nvPr/>
        </p:nvCxnSpPr>
        <p:spPr>
          <a:xfrm>
            <a:off x="863194" y="47548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4" name="t"/>
          <p:cNvSpPr txBox="1"/>
          <p:nvPr/>
        </p:nvSpPr>
        <p:spPr>
          <a:xfrm>
            <a:off x="881482" y="4825419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5" name="t"/>
          <p:cNvSpPr txBox="1"/>
          <p:nvPr/>
        </p:nvSpPr>
        <p:spPr>
          <a:xfrm>
            <a:off x="2962656" y="481758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6" name="t"/>
          <p:cNvSpPr txBox="1"/>
          <p:nvPr/>
        </p:nvSpPr>
        <p:spPr>
          <a:xfrm>
            <a:off x="771754" y="5029200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7" name="card"/>
          <p:cNvSpPr/>
          <p:nvPr/>
        </p:nvSpPr>
        <p:spPr>
          <a:xfrm>
            <a:off x="771754" y="5193792"/>
            <a:ext cx="2428646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8" name="t"/>
          <p:cNvSpPr txBox="1"/>
          <p:nvPr/>
        </p:nvSpPr>
        <p:spPr>
          <a:xfrm>
            <a:off x="881482" y="526433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9" name="ln"/>
          <p:cNvCxnSpPr/>
          <p:nvPr/>
        </p:nvCxnSpPr>
        <p:spPr>
          <a:xfrm>
            <a:off x="863194" y="541324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90" name="t"/>
          <p:cNvSpPr txBox="1"/>
          <p:nvPr/>
        </p:nvSpPr>
        <p:spPr>
          <a:xfrm>
            <a:off x="881482" y="5483787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91" name="t"/>
          <p:cNvSpPr txBox="1"/>
          <p:nvPr/>
        </p:nvSpPr>
        <p:spPr>
          <a:xfrm>
            <a:off x="771754" y="5669280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92" name="card"/>
          <p:cNvSpPr/>
          <p:nvPr/>
        </p:nvSpPr>
        <p:spPr>
          <a:xfrm>
            <a:off x="771754" y="2926080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3" name="t"/>
          <p:cNvSpPr txBox="1"/>
          <p:nvPr/>
        </p:nvSpPr>
        <p:spPr>
          <a:xfrm>
            <a:off x="881482" y="2990088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94" name="t"/>
          <p:cNvSpPr txBox="1"/>
          <p:nvPr/>
        </p:nvSpPr>
        <p:spPr>
          <a:xfrm>
            <a:off x="881482" y="3136392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95" name="btn"/>
          <p:cNvSpPr/>
          <p:nvPr/>
        </p:nvSpPr>
        <p:spPr>
          <a:xfrm>
            <a:off x="2487168" y="3026664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6" name="t"/>
          <p:cNvSpPr txBox="1"/>
          <p:nvPr/>
        </p:nvSpPr>
        <p:spPr>
          <a:xfrm>
            <a:off x="2487168" y="3076956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언어변경</a:t>
            </a:r>
          </a:p>
        </p:txBody>
      </p:sp>
      <p:sp>
        <p:nvSpPr>
          <p:cNvPr id="97" name="사각형: 둥근 모서리 46"/>
          <p:cNvSpPr/>
          <p:nvPr/>
        </p:nvSpPr>
        <p:spPr>
          <a:xfrm>
            <a:off x="6348897" y="4227002"/>
            <a:ext cx="2266177" cy="21808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8" name="TextBox 48"/>
          <p:cNvSpPr/>
          <p:nvPr/>
        </p:nvSpPr>
        <p:spPr>
          <a:xfrm>
            <a:off x="6405070" y="4437973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언어 변경</a:t>
            </a:r>
          </a:p>
        </p:txBody>
      </p:sp>
      <p:sp>
        <p:nvSpPr>
          <p:cNvPr id="99" name="TextBox 50"/>
          <p:cNvSpPr/>
          <p:nvPr/>
        </p:nvSpPr>
        <p:spPr>
          <a:xfrm>
            <a:off x="6801278" y="4741448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한국어</a:t>
            </a:r>
          </a:p>
        </p:txBody>
      </p:sp>
      <p:sp>
        <p:nvSpPr>
          <p:cNvPr id="100" name="TextBox 51"/>
          <p:cNvSpPr/>
          <p:nvPr/>
        </p:nvSpPr>
        <p:spPr>
          <a:xfrm>
            <a:off x="6801278" y="4983197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English</a:t>
            </a:r>
          </a:p>
        </p:txBody>
      </p:sp>
      <p:sp>
        <p:nvSpPr>
          <p:cNvPr id="101" name="TextBox 52"/>
          <p:cNvSpPr/>
          <p:nvPr/>
        </p:nvSpPr>
        <p:spPr>
          <a:xfrm>
            <a:off x="6801278" y="5209988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日本語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2" name="Circle"/>
          <p:cNvSpPr/>
          <p:nvPr/>
        </p:nvSpPr>
        <p:spPr>
          <a:xfrm>
            <a:off x="6644911" y="480092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3" name="Circle"/>
          <p:cNvSpPr/>
          <p:nvPr/>
        </p:nvSpPr>
        <p:spPr>
          <a:xfrm>
            <a:off x="6644911" y="5042696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4" name="Circle"/>
          <p:cNvSpPr/>
          <p:nvPr/>
        </p:nvSpPr>
        <p:spPr>
          <a:xfrm>
            <a:off x="6644911" y="526625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105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915" y="4304264"/>
            <a:ext cx="156653" cy="156653"/>
          </a:xfrm>
          <a:prstGeom prst="rect">
            <a:avLst/>
          </a:prstGeom>
        </p:spPr>
      </p:pic>
      <p:sp>
        <p:nvSpPr>
          <p:cNvPr id="106" name="사각형: 둥근 모서리 58"/>
          <p:cNvSpPr/>
          <p:nvPr/>
        </p:nvSpPr>
        <p:spPr>
          <a:xfrm>
            <a:off x="6795981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07" name="사각형: 둥근 모서리 60"/>
          <p:cNvSpPr/>
          <p:nvPr/>
        </p:nvSpPr>
        <p:spPr>
          <a:xfrm>
            <a:off x="7555319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108" name="TextBox 35"/>
          <p:cNvSpPr/>
          <p:nvPr/>
        </p:nvSpPr>
        <p:spPr>
          <a:xfrm>
            <a:off x="6801278" y="54437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简体中文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9" name="Circle"/>
          <p:cNvSpPr/>
          <p:nvPr/>
        </p:nvSpPr>
        <p:spPr>
          <a:xfrm>
            <a:off x="6644911" y="55000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0" name="Circle"/>
          <p:cNvSpPr/>
          <p:nvPr/>
        </p:nvSpPr>
        <p:spPr>
          <a:xfrm>
            <a:off x="6660427" y="4818790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1" name="TextBox 35"/>
          <p:cNvSpPr/>
          <p:nvPr/>
        </p:nvSpPr>
        <p:spPr>
          <a:xfrm>
            <a:off x="6801278" y="56723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繁體中文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2" name="Circle"/>
          <p:cNvSpPr/>
          <p:nvPr/>
        </p:nvSpPr>
        <p:spPr>
          <a:xfrm>
            <a:off x="6644911" y="57286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3" name="숫자배지 3"/>
          <p:cNvSpPr/>
          <p:nvPr/>
        </p:nvSpPr>
        <p:spPr>
          <a:xfrm>
            <a:off x="3639312" y="2157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4" name="숫자배지 5"/>
          <p:cNvSpPr/>
          <p:nvPr/>
        </p:nvSpPr>
        <p:spPr>
          <a:xfrm>
            <a:off x="6382512" y="2103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5" name="숫자배지 1"/>
          <p:cNvSpPr/>
          <p:nvPr/>
        </p:nvSpPr>
        <p:spPr>
          <a:xfrm>
            <a:off x="384048" y="15910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6" name="숫자배지 2"/>
          <p:cNvSpPr/>
          <p:nvPr/>
        </p:nvSpPr>
        <p:spPr>
          <a:xfrm>
            <a:off x="38404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7" name="숫자배지 4"/>
          <p:cNvSpPr/>
          <p:nvPr/>
        </p:nvSpPr>
        <p:spPr>
          <a:xfrm>
            <a:off x="384048" y="20665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8" name="숫자배지 6"/>
          <p:cNvSpPr/>
          <p:nvPr/>
        </p:nvSpPr>
        <p:spPr>
          <a:xfrm>
            <a:off x="384048" y="25054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19" name="숫자배지 9"/>
          <p:cNvSpPr/>
          <p:nvPr/>
        </p:nvSpPr>
        <p:spPr>
          <a:xfrm>
            <a:off x="384048" y="33284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120" name="숫자배지 10"/>
          <p:cNvSpPr/>
          <p:nvPr/>
        </p:nvSpPr>
        <p:spPr>
          <a:xfrm>
            <a:off x="384048" y="3785616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121" name="숫자배지 11"/>
          <p:cNvSpPr/>
          <p:nvPr/>
        </p:nvSpPr>
        <p:spPr>
          <a:xfrm>
            <a:off x="384048" y="4151376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22" name="숫자배지 12"/>
          <p:cNvSpPr/>
          <p:nvPr/>
        </p:nvSpPr>
        <p:spPr>
          <a:xfrm>
            <a:off x="384048" y="5010912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123" name="숫자배지 7"/>
          <p:cNvSpPr/>
          <p:nvPr/>
        </p:nvSpPr>
        <p:spPr>
          <a:xfrm>
            <a:off x="384048" y="29260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24" name="숫자배지 8"/>
          <p:cNvSpPr/>
          <p:nvPr/>
        </p:nvSpPr>
        <p:spPr>
          <a:xfrm>
            <a:off x="6382512" y="41696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686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789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레이아웃 · 회원 (2/4)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099185"/>
            <a:ext cx="2733675" cy="534466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5563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2134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85330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997130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6001131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6077140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997130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6085142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5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8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0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1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3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35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36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37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1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2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3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4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5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4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338993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유형 변경 팝업 (3-1)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선택지 4종 · 라디오 · [취소] / [선택]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전맹을 고르거나 해제할 때는 확인 단계를 한 번 더 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글자 크기 2분할 세그먼트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「기본」 / 「크게」 두 단이 한자리에 보임 · 그 자리에서 값이 바뀜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651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7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언어 · Language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캡션 「언어 · Language」 1행 ＋ 현재 언어 1행 · 우측 [언어변경] 1개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값은 그 언어의 이름 — 「한국어」 · 「English」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영어 화면에서는 캡션이 「Language」 하나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[언어변경]을 누르면 3-10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0" name="t"/>
          <p:cNvSpPr txBox="1"/>
          <p:nvPr/>
        </p:nvSpPr>
        <p:spPr>
          <a:xfrm>
            <a:off x="771754" y="160934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51" name="card"/>
          <p:cNvSpPr/>
          <p:nvPr/>
        </p:nvSpPr>
        <p:spPr>
          <a:xfrm>
            <a:off x="771754" y="179222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881482" y="184251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3" name="t"/>
          <p:cNvSpPr txBox="1"/>
          <p:nvPr/>
        </p:nvSpPr>
        <p:spPr>
          <a:xfrm>
            <a:off x="2944368" y="183337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4" name="card"/>
          <p:cNvSpPr/>
          <p:nvPr/>
        </p:nvSpPr>
        <p:spPr>
          <a:xfrm>
            <a:off x="771754" y="206654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881482" y="213055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6" name="t"/>
          <p:cNvSpPr txBox="1"/>
          <p:nvPr/>
        </p:nvSpPr>
        <p:spPr>
          <a:xfrm>
            <a:off x="881482" y="227685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7" name="btn"/>
          <p:cNvSpPr/>
          <p:nvPr/>
        </p:nvSpPr>
        <p:spPr>
          <a:xfrm>
            <a:off x="2487168" y="216712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2487168" y="221742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59" name="card"/>
          <p:cNvSpPr/>
          <p:nvPr/>
        </p:nvSpPr>
        <p:spPr>
          <a:xfrm>
            <a:off x="771754" y="250545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881482" y="255117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61" name="seg"/>
          <p:cNvSpPr/>
          <p:nvPr/>
        </p:nvSpPr>
        <p:spPr>
          <a:xfrm>
            <a:off x="881482" y="268376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881482" y="270662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3" name="seg"/>
          <p:cNvSpPr/>
          <p:nvPr/>
        </p:nvSpPr>
        <p:spPr>
          <a:xfrm>
            <a:off x="1539850" y="268376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1539850" y="270662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5" name="card2"/>
          <p:cNvSpPr/>
          <p:nvPr/>
        </p:nvSpPr>
        <p:spPr>
          <a:xfrm>
            <a:off x="771754" y="338328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771754" y="344728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7" name="t"/>
          <p:cNvSpPr txBox="1"/>
          <p:nvPr/>
        </p:nvSpPr>
        <p:spPr>
          <a:xfrm>
            <a:off x="771754" y="359359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8" name="card2"/>
          <p:cNvSpPr/>
          <p:nvPr/>
        </p:nvSpPr>
        <p:spPr>
          <a:xfrm>
            <a:off x="2022653" y="338328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2022653" y="344728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70" name="t"/>
          <p:cNvSpPr txBox="1"/>
          <p:nvPr/>
        </p:nvSpPr>
        <p:spPr>
          <a:xfrm>
            <a:off x="2022653" y="359359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71" name="card"/>
          <p:cNvSpPr/>
          <p:nvPr/>
        </p:nvSpPr>
        <p:spPr>
          <a:xfrm>
            <a:off x="771754" y="3822192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881482" y="3890772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3" name="badge"/>
          <p:cNvSpPr/>
          <p:nvPr/>
        </p:nvSpPr>
        <p:spPr>
          <a:xfrm>
            <a:off x="2161642" y="3890772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2161642" y="3918204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75" name="t"/>
          <p:cNvSpPr txBox="1"/>
          <p:nvPr/>
        </p:nvSpPr>
        <p:spPr>
          <a:xfrm>
            <a:off x="2962656" y="388162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6" name="t"/>
          <p:cNvSpPr txBox="1"/>
          <p:nvPr/>
        </p:nvSpPr>
        <p:spPr>
          <a:xfrm>
            <a:off x="771754" y="415137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7" name="card"/>
          <p:cNvSpPr/>
          <p:nvPr/>
        </p:nvSpPr>
        <p:spPr>
          <a:xfrm>
            <a:off x="771754" y="4315968"/>
            <a:ext cx="242864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8" name="t"/>
          <p:cNvSpPr txBox="1"/>
          <p:nvPr/>
        </p:nvSpPr>
        <p:spPr>
          <a:xfrm>
            <a:off x="881482" y="4386507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9" name="t"/>
          <p:cNvSpPr txBox="1"/>
          <p:nvPr/>
        </p:nvSpPr>
        <p:spPr>
          <a:xfrm>
            <a:off x="2962656" y="437867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0" name="ln"/>
          <p:cNvCxnSpPr/>
          <p:nvPr/>
        </p:nvCxnSpPr>
        <p:spPr>
          <a:xfrm>
            <a:off x="863194" y="4535424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1" name="t"/>
          <p:cNvSpPr txBox="1"/>
          <p:nvPr/>
        </p:nvSpPr>
        <p:spPr>
          <a:xfrm>
            <a:off x="881482" y="4605963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82" name="t"/>
          <p:cNvSpPr txBox="1"/>
          <p:nvPr/>
        </p:nvSpPr>
        <p:spPr>
          <a:xfrm>
            <a:off x="2962656" y="459812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3" name="ln"/>
          <p:cNvCxnSpPr/>
          <p:nvPr/>
        </p:nvCxnSpPr>
        <p:spPr>
          <a:xfrm>
            <a:off x="863194" y="47548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4" name="t"/>
          <p:cNvSpPr txBox="1"/>
          <p:nvPr/>
        </p:nvSpPr>
        <p:spPr>
          <a:xfrm>
            <a:off x="881482" y="4825419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5" name="t"/>
          <p:cNvSpPr txBox="1"/>
          <p:nvPr/>
        </p:nvSpPr>
        <p:spPr>
          <a:xfrm>
            <a:off x="2962656" y="481758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6" name="t"/>
          <p:cNvSpPr txBox="1"/>
          <p:nvPr/>
        </p:nvSpPr>
        <p:spPr>
          <a:xfrm>
            <a:off x="771754" y="5029200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7" name="card"/>
          <p:cNvSpPr/>
          <p:nvPr/>
        </p:nvSpPr>
        <p:spPr>
          <a:xfrm>
            <a:off x="771754" y="5193792"/>
            <a:ext cx="2428646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8" name="t"/>
          <p:cNvSpPr txBox="1"/>
          <p:nvPr/>
        </p:nvSpPr>
        <p:spPr>
          <a:xfrm>
            <a:off x="881482" y="526433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9" name="ln"/>
          <p:cNvCxnSpPr/>
          <p:nvPr/>
        </p:nvCxnSpPr>
        <p:spPr>
          <a:xfrm>
            <a:off x="863194" y="541324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90" name="t"/>
          <p:cNvSpPr txBox="1"/>
          <p:nvPr/>
        </p:nvSpPr>
        <p:spPr>
          <a:xfrm>
            <a:off x="881482" y="5483787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91" name="t"/>
          <p:cNvSpPr txBox="1"/>
          <p:nvPr/>
        </p:nvSpPr>
        <p:spPr>
          <a:xfrm>
            <a:off x="771754" y="5669280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92" name="card"/>
          <p:cNvSpPr/>
          <p:nvPr/>
        </p:nvSpPr>
        <p:spPr>
          <a:xfrm>
            <a:off x="771754" y="2926080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3" name="t"/>
          <p:cNvSpPr txBox="1"/>
          <p:nvPr/>
        </p:nvSpPr>
        <p:spPr>
          <a:xfrm>
            <a:off x="881482" y="2990088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94" name="t"/>
          <p:cNvSpPr txBox="1"/>
          <p:nvPr/>
        </p:nvSpPr>
        <p:spPr>
          <a:xfrm>
            <a:off x="881482" y="3136392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95" name="btn"/>
          <p:cNvSpPr/>
          <p:nvPr/>
        </p:nvSpPr>
        <p:spPr>
          <a:xfrm>
            <a:off x="2487168" y="3026664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6" name="t"/>
          <p:cNvSpPr txBox="1"/>
          <p:nvPr/>
        </p:nvSpPr>
        <p:spPr>
          <a:xfrm>
            <a:off x="2487168" y="3076956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언어변경</a:t>
            </a:r>
          </a:p>
        </p:txBody>
      </p:sp>
      <p:sp>
        <p:nvSpPr>
          <p:cNvPr id="97" name="사각형: 둥근 모서리 46"/>
          <p:cNvSpPr/>
          <p:nvPr/>
        </p:nvSpPr>
        <p:spPr>
          <a:xfrm>
            <a:off x="6348897" y="4227002"/>
            <a:ext cx="2266177" cy="21808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8" name="TextBox 48"/>
          <p:cNvSpPr/>
          <p:nvPr/>
        </p:nvSpPr>
        <p:spPr>
          <a:xfrm>
            <a:off x="6405070" y="4437973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언어 변경</a:t>
            </a:r>
          </a:p>
        </p:txBody>
      </p:sp>
      <p:sp>
        <p:nvSpPr>
          <p:cNvPr id="99" name="TextBox 50"/>
          <p:cNvSpPr/>
          <p:nvPr/>
        </p:nvSpPr>
        <p:spPr>
          <a:xfrm>
            <a:off x="6801278" y="4741448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한국어</a:t>
            </a:r>
          </a:p>
        </p:txBody>
      </p:sp>
      <p:sp>
        <p:nvSpPr>
          <p:cNvPr id="100" name="TextBox 51"/>
          <p:cNvSpPr/>
          <p:nvPr/>
        </p:nvSpPr>
        <p:spPr>
          <a:xfrm>
            <a:off x="6801278" y="4983197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English</a:t>
            </a:r>
          </a:p>
        </p:txBody>
      </p:sp>
      <p:sp>
        <p:nvSpPr>
          <p:cNvPr id="101" name="TextBox 52"/>
          <p:cNvSpPr/>
          <p:nvPr/>
        </p:nvSpPr>
        <p:spPr>
          <a:xfrm>
            <a:off x="6801278" y="5209988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日本語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2" name="Circle"/>
          <p:cNvSpPr/>
          <p:nvPr/>
        </p:nvSpPr>
        <p:spPr>
          <a:xfrm>
            <a:off x="6644911" y="480092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3" name="Circle"/>
          <p:cNvSpPr/>
          <p:nvPr/>
        </p:nvSpPr>
        <p:spPr>
          <a:xfrm>
            <a:off x="6644911" y="5042696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4" name="Circle"/>
          <p:cNvSpPr/>
          <p:nvPr/>
        </p:nvSpPr>
        <p:spPr>
          <a:xfrm>
            <a:off x="6644911" y="526625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105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4304264"/>
            <a:ext cx="156653" cy="156653"/>
          </a:xfrm>
          <a:prstGeom prst="rect">
            <a:avLst/>
          </a:prstGeom>
        </p:spPr>
      </p:pic>
      <p:sp>
        <p:nvSpPr>
          <p:cNvPr id="106" name="사각형: 둥근 모서리 58"/>
          <p:cNvSpPr/>
          <p:nvPr/>
        </p:nvSpPr>
        <p:spPr>
          <a:xfrm>
            <a:off x="6795981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07" name="사각형: 둥근 모서리 60"/>
          <p:cNvSpPr/>
          <p:nvPr/>
        </p:nvSpPr>
        <p:spPr>
          <a:xfrm>
            <a:off x="7555319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108" name="TextBox 35"/>
          <p:cNvSpPr/>
          <p:nvPr/>
        </p:nvSpPr>
        <p:spPr>
          <a:xfrm>
            <a:off x="6801278" y="54437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简体中文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9" name="Circle"/>
          <p:cNvSpPr/>
          <p:nvPr/>
        </p:nvSpPr>
        <p:spPr>
          <a:xfrm>
            <a:off x="6644911" y="55000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0" name="Circle"/>
          <p:cNvSpPr/>
          <p:nvPr/>
        </p:nvSpPr>
        <p:spPr>
          <a:xfrm>
            <a:off x="6660427" y="4818790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1" name="TextBox 35"/>
          <p:cNvSpPr/>
          <p:nvPr/>
        </p:nvSpPr>
        <p:spPr>
          <a:xfrm>
            <a:off x="6801278" y="56723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繁體中文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2" name="Circle"/>
          <p:cNvSpPr/>
          <p:nvPr/>
        </p:nvSpPr>
        <p:spPr>
          <a:xfrm>
            <a:off x="6644911" y="57286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3" name="숫자배지 3"/>
          <p:cNvSpPr/>
          <p:nvPr/>
        </p:nvSpPr>
        <p:spPr>
          <a:xfrm>
            <a:off x="3639312" y="2157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4" name="숫자배지 5"/>
          <p:cNvSpPr/>
          <p:nvPr/>
        </p:nvSpPr>
        <p:spPr>
          <a:xfrm>
            <a:off x="6382512" y="2103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5" name="숫자배지 1"/>
          <p:cNvSpPr/>
          <p:nvPr/>
        </p:nvSpPr>
        <p:spPr>
          <a:xfrm>
            <a:off x="384048" y="15910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6" name="숫자배지 2"/>
          <p:cNvSpPr/>
          <p:nvPr/>
        </p:nvSpPr>
        <p:spPr>
          <a:xfrm>
            <a:off x="38404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7" name="숫자배지 4"/>
          <p:cNvSpPr/>
          <p:nvPr/>
        </p:nvSpPr>
        <p:spPr>
          <a:xfrm>
            <a:off x="384048" y="20665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8" name="숫자배지 6"/>
          <p:cNvSpPr/>
          <p:nvPr/>
        </p:nvSpPr>
        <p:spPr>
          <a:xfrm>
            <a:off x="384048" y="25054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19" name="숫자배지 9"/>
          <p:cNvSpPr/>
          <p:nvPr/>
        </p:nvSpPr>
        <p:spPr>
          <a:xfrm>
            <a:off x="384048" y="33284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120" name="숫자배지 10"/>
          <p:cNvSpPr/>
          <p:nvPr/>
        </p:nvSpPr>
        <p:spPr>
          <a:xfrm>
            <a:off x="384048" y="3785616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121" name="숫자배지 11"/>
          <p:cNvSpPr/>
          <p:nvPr/>
        </p:nvSpPr>
        <p:spPr>
          <a:xfrm>
            <a:off x="384048" y="4151376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22" name="숫자배지 12"/>
          <p:cNvSpPr/>
          <p:nvPr/>
        </p:nvSpPr>
        <p:spPr>
          <a:xfrm>
            <a:off x="384048" y="5010912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123" name="숫자배지 7"/>
          <p:cNvSpPr/>
          <p:nvPr/>
        </p:nvSpPr>
        <p:spPr>
          <a:xfrm>
            <a:off x="384048" y="29260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24" name="숫자배지 8"/>
          <p:cNvSpPr/>
          <p:nvPr/>
        </p:nvSpPr>
        <p:spPr>
          <a:xfrm>
            <a:off x="6382512" y="41696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686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789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레이아웃 · 회원 (3/4)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099185"/>
            <a:ext cx="2733675" cy="534466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5563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2134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85330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997130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6001131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6077140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997130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6085142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5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8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0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1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3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35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36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37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1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2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3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4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5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4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477778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46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8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언어 변경 팝업 (3-10)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5개 언어 라디오 — 한국어 / English / 日本語 / 简体中文 / 繁體中文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현재 언어가 선택된 상태로 열림 · [취소] / [선택]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[선택] 시 화면과 음성 안내 언어가 바로 바뀜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이후 선택값이 OS 언어보다 우선 · OS 언어가 5개 밖이면 English로 시작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회원은 계정, 비회원은 기기에 저장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9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카드 2개 — 내 마일리지 · 즐겨찾기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라벨 1행 ＋ 값 1행 =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마일리지 단위는 숫자와 붙여 씀 (254M)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티머니GO 연계 미성립이면 마일리지 카드 미노출 · 즐겨찾기가 전체 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값을 못 받으면 마지막 값을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10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저상버스 예약 내역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카드 아래 · 서비스 정보 위 · 라벨 ＋ 건수 배지 ＋ [&gt;]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배지는 「진행 중」 건수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0건이면 배지를 두지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3-4 저상버스 예약 내역으로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0" name="t"/>
          <p:cNvSpPr txBox="1"/>
          <p:nvPr/>
        </p:nvSpPr>
        <p:spPr>
          <a:xfrm>
            <a:off x="771754" y="160934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51" name="card"/>
          <p:cNvSpPr/>
          <p:nvPr/>
        </p:nvSpPr>
        <p:spPr>
          <a:xfrm>
            <a:off x="771754" y="179222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881482" y="184251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3" name="t"/>
          <p:cNvSpPr txBox="1"/>
          <p:nvPr/>
        </p:nvSpPr>
        <p:spPr>
          <a:xfrm>
            <a:off x="2944368" y="183337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4" name="card"/>
          <p:cNvSpPr/>
          <p:nvPr/>
        </p:nvSpPr>
        <p:spPr>
          <a:xfrm>
            <a:off x="771754" y="206654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881482" y="213055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6" name="t"/>
          <p:cNvSpPr txBox="1"/>
          <p:nvPr/>
        </p:nvSpPr>
        <p:spPr>
          <a:xfrm>
            <a:off x="881482" y="227685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7" name="btn"/>
          <p:cNvSpPr/>
          <p:nvPr/>
        </p:nvSpPr>
        <p:spPr>
          <a:xfrm>
            <a:off x="2487168" y="216712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2487168" y="221742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59" name="card"/>
          <p:cNvSpPr/>
          <p:nvPr/>
        </p:nvSpPr>
        <p:spPr>
          <a:xfrm>
            <a:off x="771754" y="250545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881482" y="255117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61" name="seg"/>
          <p:cNvSpPr/>
          <p:nvPr/>
        </p:nvSpPr>
        <p:spPr>
          <a:xfrm>
            <a:off x="881482" y="268376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881482" y="270662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3" name="seg"/>
          <p:cNvSpPr/>
          <p:nvPr/>
        </p:nvSpPr>
        <p:spPr>
          <a:xfrm>
            <a:off x="1539850" y="268376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1539850" y="270662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5" name="card2"/>
          <p:cNvSpPr/>
          <p:nvPr/>
        </p:nvSpPr>
        <p:spPr>
          <a:xfrm>
            <a:off x="771754" y="338328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771754" y="344728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7" name="t"/>
          <p:cNvSpPr txBox="1"/>
          <p:nvPr/>
        </p:nvSpPr>
        <p:spPr>
          <a:xfrm>
            <a:off x="771754" y="359359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8" name="card2"/>
          <p:cNvSpPr/>
          <p:nvPr/>
        </p:nvSpPr>
        <p:spPr>
          <a:xfrm>
            <a:off x="2022653" y="338328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2022653" y="344728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70" name="t"/>
          <p:cNvSpPr txBox="1"/>
          <p:nvPr/>
        </p:nvSpPr>
        <p:spPr>
          <a:xfrm>
            <a:off x="2022653" y="359359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71" name="card"/>
          <p:cNvSpPr/>
          <p:nvPr/>
        </p:nvSpPr>
        <p:spPr>
          <a:xfrm>
            <a:off x="771754" y="3822192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881482" y="3890772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3" name="badge"/>
          <p:cNvSpPr/>
          <p:nvPr/>
        </p:nvSpPr>
        <p:spPr>
          <a:xfrm>
            <a:off x="2161642" y="3890772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2962656" y="388162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5" name="t"/>
          <p:cNvSpPr txBox="1"/>
          <p:nvPr/>
        </p:nvSpPr>
        <p:spPr>
          <a:xfrm>
            <a:off x="771754" y="415137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6" name="card"/>
          <p:cNvSpPr/>
          <p:nvPr/>
        </p:nvSpPr>
        <p:spPr>
          <a:xfrm>
            <a:off x="771754" y="4315968"/>
            <a:ext cx="242864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7" name="t"/>
          <p:cNvSpPr txBox="1"/>
          <p:nvPr/>
        </p:nvSpPr>
        <p:spPr>
          <a:xfrm>
            <a:off x="881482" y="4386507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8" name="t"/>
          <p:cNvSpPr txBox="1"/>
          <p:nvPr/>
        </p:nvSpPr>
        <p:spPr>
          <a:xfrm>
            <a:off x="2962656" y="437867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9" name="ln"/>
          <p:cNvCxnSpPr/>
          <p:nvPr/>
        </p:nvCxnSpPr>
        <p:spPr>
          <a:xfrm>
            <a:off x="863194" y="4535424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0" name="t"/>
          <p:cNvSpPr txBox="1"/>
          <p:nvPr/>
        </p:nvSpPr>
        <p:spPr>
          <a:xfrm>
            <a:off x="881482" y="4605963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81" name="t"/>
          <p:cNvSpPr txBox="1"/>
          <p:nvPr/>
        </p:nvSpPr>
        <p:spPr>
          <a:xfrm>
            <a:off x="2962656" y="459812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2" name="ln"/>
          <p:cNvCxnSpPr/>
          <p:nvPr/>
        </p:nvCxnSpPr>
        <p:spPr>
          <a:xfrm>
            <a:off x="863194" y="47548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3" name="t"/>
          <p:cNvSpPr txBox="1"/>
          <p:nvPr/>
        </p:nvSpPr>
        <p:spPr>
          <a:xfrm>
            <a:off x="881482" y="4825419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4" name="t"/>
          <p:cNvSpPr txBox="1"/>
          <p:nvPr/>
        </p:nvSpPr>
        <p:spPr>
          <a:xfrm>
            <a:off x="2962656" y="481758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5" name="t"/>
          <p:cNvSpPr txBox="1"/>
          <p:nvPr/>
        </p:nvSpPr>
        <p:spPr>
          <a:xfrm>
            <a:off x="771754" y="5029200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6" name="card"/>
          <p:cNvSpPr/>
          <p:nvPr/>
        </p:nvSpPr>
        <p:spPr>
          <a:xfrm>
            <a:off x="771754" y="5193792"/>
            <a:ext cx="2428646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7" name="t"/>
          <p:cNvSpPr txBox="1"/>
          <p:nvPr/>
        </p:nvSpPr>
        <p:spPr>
          <a:xfrm>
            <a:off x="881482" y="526433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8" name="ln"/>
          <p:cNvCxnSpPr/>
          <p:nvPr/>
        </p:nvCxnSpPr>
        <p:spPr>
          <a:xfrm>
            <a:off x="863194" y="541324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9" name="t"/>
          <p:cNvSpPr txBox="1"/>
          <p:nvPr/>
        </p:nvSpPr>
        <p:spPr>
          <a:xfrm>
            <a:off x="881482" y="5483787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90" name="t"/>
          <p:cNvSpPr txBox="1"/>
          <p:nvPr/>
        </p:nvSpPr>
        <p:spPr>
          <a:xfrm>
            <a:off x="771754" y="5669280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91" name="t"/>
          <p:cNvSpPr txBox="1"/>
          <p:nvPr/>
        </p:nvSpPr>
        <p:spPr>
          <a:xfrm>
            <a:off x="2161642" y="3918204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2" name="card"/>
          <p:cNvSpPr/>
          <p:nvPr/>
        </p:nvSpPr>
        <p:spPr>
          <a:xfrm>
            <a:off x="771754" y="2926080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3" name="t"/>
          <p:cNvSpPr txBox="1"/>
          <p:nvPr/>
        </p:nvSpPr>
        <p:spPr>
          <a:xfrm>
            <a:off x="881482" y="2990088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94" name="t"/>
          <p:cNvSpPr txBox="1"/>
          <p:nvPr/>
        </p:nvSpPr>
        <p:spPr>
          <a:xfrm>
            <a:off x="881482" y="3136392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95" name="btn"/>
          <p:cNvSpPr/>
          <p:nvPr/>
        </p:nvSpPr>
        <p:spPr>
          <a:xfrm>
            <a:off x="2487168" y="3026664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6" name="t"/>
          <p:cNvSpPr txBox="1"/>
          <p:nvPr/>
        </p:nvSpPr>
        <p:spPr>
          <a:xfrm>
            <a:off x="2487168" y="3076956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언어변경</a:t>
            </a:r>
          </a:p>
        </p:txBody>
      </p:sp>
      <p:sp>
        <p:nvSpPr>
          <p:cNvPr id="97" name="사각형: 둥근 모서리 46"/>
          <p:cNvSpPr/>
          <p:nvPr/>
        </p:nvSpPr>
        <p:spPr>
          <a:xfrm>
            <a:off x="6348897" y="4227002"/>
            <a:ext cx="2266177" cy="21808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8" name="TextBox 48"/>
          <p:cNvSpPr/>
          <p:nvPr/>
        </p:nvSpPr>
        <p:spPr>
          <a:xfrm>
            <a:off x="6405070" y="4437973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언어 변경</a:t>
            </a:r>
          </a:p>
        </p:txBody>
      </p:sp>
      <p:sp>
        <p:nvSpPr>
          <p:cNvPr id="99" name="TextBox 50"/>
          <p:cNvSpPr/>
          <p:nvPr/>
        </p:nvSpPr>
        <p:spPr>
          <a:xfrm>
            <a:off x="6801278" y="4741448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한국어</a:t>
            </a:r>
          </a:p>
        </p:txBody>
      </p:sp>
      <p:sp>
        <p:nvSpPr>
          <p:cNvPr id="100" name="TextBox 51"/>
          <p:cNvSpPr/>
          <p:nvPr/>
        </p:nvSpPr>
        <p:spPr>
          <a:xfrm>
            <a:off x="6801278" y="4983197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English</a:t>
            </a:r>
          </a:p>
        </p:txBody>
      </p:sp>
      <p:sp>
        <p:nvSpPr>
          <p:cNvPr id="101" name="TextBox 52"/>
          <p:cNvSpPr/>
          <p:nvPr/>
        </p:nvSpPr>
        <p:spPr>
          <a:xfrm>
            <a:off x="6801278" y="5209988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日本語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2" name="Circle"/>
          <p:cNvSpPr/>
          <p:nvPr/>
        </p:nvSpPr>
        <p:spPr>
          <a:xfrm>
            <a:off x="6644911" y="480092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3" name="Circle"/>
          <p:cNvSpPr/>
          <p:nvPr/>
        </p:nvSpPr>
        <p:spPr>
          <a:xfrm>
            <a:off x="6644911" y="5042696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4" name="Circle"/>
          <p:cNvSpPr/>
          <p:nvPr/>
        </p:nvSpPr>
        <p:spPr>
          <a:xfrm>
            <a:off x="6644911" y="526625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105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4304264"/>
            <a:ext cx="156653" cy="156653"/>
          </a:xfrm>
          <a:prstGeom prst="rect">
            <a:avLst/>
          </a:prstGeom>
        </p:spPr>
      </p:pic>
      <p:sp>
        <p:nvSpPr>
          <p:cNvPr id="106" name="사각형: 둥근 모서리 58"/>
          <p:cNvSpPr/>
          <p:nvPr/>
        </p:nvSpPr>
        <p:spPr>
          <a:xfrm>
            <a:off x="6795981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07" name="사각형: 둥근 모서리 60"/>
          <p:cNvSpPr/>
          <p:nvPr/>
        </p:nvSpPr>
        <p:spPr>
          <a:xfrm>
            <a:off x="7555319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108" name="TextBox 35"/>
          <p:cNvSpPr/>
          <p:nvPr/>
        </p:nvSpPr>
        <p:spPr>
          <a:xfrm>
            <a:off x="6801278" y="54437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简体中文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9" name="Circle"/>
          <p:cNvSpPr/>
          <p:nvPr/>
        </p:nvSpPr>
        <p:spPr>
          <a:xfrm>
            <a:off x="6644911" y="55000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0" name="Circle"/>
          <p:cNvSpPr/>
          <p:nvPr/>
        </p:nvSpPr>
        <p:spPr>
          <a:xfrm>
            <a:off x="6660427" y="4818790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1" name="TextBox 35"/>
          <p:cNvSpPr/>
          <p:nvPr/>
        </p:nvSpPr>
        <p:spPr>
          <a:xfrm>
            <a:off x="6801278" y="56723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繁體中文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2" name="Circle"/>
          <p:cNvSpPr/>
          <p:nvPr/>
        </p:nvSpPr>
        <p:spPr>
          <a:xfrm>
            <a:off x="6644911" y="57286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3" name="숫자배지 1"/>
          <p:cNvSpPr/>
          <p:nvPr/>
        </p:nvSpPr>
        <p:spPr>
          <a:xfrm>
            <a:off x="384048" y="15910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4" name="숫자배지 2"/>
          <p:cNvSpPr/>
          <p:nvPr/>
        </p:nvSpPr>
        <p:spPr>
          <a:xfrm>
            <a:off x="38404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5" name="숫자배지 3"/>
          <p:cNvSpPr/>
          <p:nvPr/>
        </p:nvSpPr>
        <p:spPr>
          <a:xfrm>
            <a:off x="3639312" y="2157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6" name="숫자배지 4"/>
          <p:cNvSpPr/>
          <p:nvPr/>
        </p:nvSpPr>
        <p:spPr>
          <a:xfrm>
            <a:off x="384048" y="20665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7" name="숫자배지 5"/>
          <p:cNvSpPr/>
          <p:nvPr/>
        </p:nvSpPr>
        <p:spPr>
          <a:xfrm>
            <a:off x="6382512" y="2103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8" name="숫자배지 6"/>
          <p:cNvSpPr/>
          <p:nvPr/>
        </p:nvSpPr>
        <p:spPr>
          <a:xfrm>
            <a:off x="384048" y="25054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19" name="숫자배지 9"/>
          <p:cNvSpPr/>
          <p:nvPr/>
        </p:nvSpPr>
        <p:spPr>
          <a:xfrm>
            <a:off x="384048" y="33284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120" name="숫자배지 10"/>
          <p:cNvSpPr/>
          <p:nvPr/>
        </p:nvSpPr>
        <p:spPr>
          <a:xfrm>
            <a:off x="384048" y="3785616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121" name="숫자배지 11"/>
          <p:cNvSpPr/>
          <p:nvPr/>
        </p:nvSpPr>
        <p:spPr>
          <a:xfrm>
            <a:off x="384048" y="4151376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22" name="숫자배지 12"/>
          <p:cNvSpPr/>
          <p:nvPr/>
        </p:nvSpPr>
        <p:spPr>
          <a:xfrm>
            <a:off x="384048" y="5010912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123" name="숫자배지 7"/>
          <p:cNvSpPr/>
          <p:nvPr/>
        </p:nvSpPr>
        <p:spPr>
          <a:xfrm>
            <a:off x="384048" y="29260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24" name="숫자배지 8"/>
          <p:cNvSpPr/>
          <p:nvPr/>
        </p:nvSpPr>
        <p:spPr>
          <a:xfrm>
            <a:off x="6382512" y="41696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86868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789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레이아웃 · 회원 (4/4)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099185"/>
            <a:ext cx="2733675" cy="534466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55638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21348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853303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997130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6001131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6077140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997130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6085142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224778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68347F87-ADB0-B5AF-0E2E-F720E60D4BDF}"/>
              </a:ext>
            </a:extLst>
          </p:cNvPr>
          <p:cNvSpPr/>
          <p:nvPr/>
        </p:nvSpPr>
        <p:spPr>
          <a:xfrm>
            <a:off x="3575609" y="2750928"/>
            <a:ext cx="2503611" cy="1600639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안내 문구">
            <a:extLst>
              <a:ext uri="{FF2B5EF4-FFF2-40B4-BE49-F238E27FC236}">
                <a16:creationId xmlns:a16="http://schemas.microsoft.com/office/drawing/2014/main" id="{4E21CA92-3C37-131E-6E85-965D3286928B}"/>
              </a:ext>
            </a:extLst>
          </p:cNvPr>
          <p:cNvSpPr txBox="1"/>
          <p:nvPr/>
        </p:nvSpPr>
        <p:spPr>
          <a:xfrm>
            <a:off x="4156791" y="2934770"/>
            <a:ext cx="1341247" cy="238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닉네임을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50" b="1" spc="-21" dirty="0" err="1">
                <a:solidFill>
                  <a:srgbClr val="14181F"/>
                </a:solidFill>
                <a:latin typeface="Pretendard"/>
              </a:rPr>
              <a:t>입력해주세요</a:t>
            </a:r>
            <a:r>
              <a:rPr sz="1050" b="1" spc="-21" dirty="0">
                <a:solidFill>
                  <a:srgbClr val="14181F"/>
                </a:solidFill>
                <a:latin typeface="Pretendard"/>
              </a:rPr>
              <a:t>.</a:t>
            </a:r>
          </a:p>
        </p:txBody>
      </p:sp>
      <p:sp>
        <p:nvSpPr>
          <p:cNvPr id="25" name="닉네임 입력란">
            <a:extLst>
              <a:ext uri="{FF2B5EF4-FFF2-40B4-BE49-F238E27FC236}">
                <a16:creationId xmlns:a16="http://schemas.microsoft.com/office/drawing/2014/main" id="{3B771CDA-C434-1845-61F9-62DAEA60B9F7}"/>
              </a:ext>
            </a:extLst>
          </p:cNvPr>
          <p:cNvSpPr/>
          <p:nvPr/>
        </p:nvSpPr>
        <p:spPr>
          <a:xfrm>
            <a:off x="3800431" y="3287195"/>
            <a:ext cx="2133600" cy="457200"/>
          </a:xfrm>
          <a:prstGeom prst="roundRect">
            <a:avLst>
              <a:gd name="adj" fmla="val 22916"/>
            </a:avLst>
          </a:prstGeom>
          <a:solidFill>
            <a:srgbClr val="FFFFFF"/>
          </a:solidFill>
          <a:ln w="14287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닉네임 값">
            <a:extLst>
              <a:ext uri="{FF2B5EF4-FFF2-40B4-BE49-F238E27FC236}">
                <a16:creationId xmlns:a16="http://schemas.microsoft.com/office/drawing/2014/main" id="{40619954-C71B-EA25-8FDF-258FEF27797D}"/>
              </a:ext>
            </a:extLst>
          </p:cNvPr>
          <p:cNvSpPr txBox="1"/>
          <p:nvPr/>
        </p:nvSpPr>
        <p:spPr>
          <a:xfrm>
            <a:off x="3876631" y="3287195"/>
            <a:ext cx="20574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75" b="0" spc="-20" dirty="0" err="1">
                <a:solidFill>
                  <a:srgbClr val="14181F"/>
                </a:solidFill>
                <a:latin typeface="Pretendard"/>
              </a:rPr>
              <a:t>김나비</a:t>
            </a:r>
            <a:endParaRPr sz="975" b="0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7" name="사각형: 둥근 모서리 58">
            <a:extLst>
              <a:ext uri="{FF2B5EF4-FFF2-40B4-BE49-F238E27FC236}">
                <a16:creationId xmlns:a16="http://schemas.microsoft.com/office/drawing/2014/main" id="{DD8264B6-3C19-0E4F-27D7-ECC41FA9E741}"/>
              </a:ext>
            </a:extLst>
          </p:cNvPr>
          <p:cNvSpPr/>
          <p:nvPr/>
        </p:nvSpPr>
        <p:spPr>
          <a:xfrm>
            <a:off x="4096240" y="3894445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8" name="사각형: 둥근 모서리 60">
            <a:extLst>
              <a:ext uri="{FF2B5EF4-FFF2-40B4-BE49-F238E27FC236}">
                <a16:creationId xmlns:a16="http://schemas.microsoft.com/office/drawing/2014/main" id="{3EC98CAD-E888-EF0D-CCC8-4C586A9A23F2}"/>
              </a:ext>
            </a:extLst>
          </p:cNvPr>
          <p:cNvSpPr/>
          <p:nvPr/>
        </p:nvSpPr>
        <p:spPr>
          <a:xfrm>
            <a:off x="4855576" y="3894442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저장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TextBox 62">
            <a:extLst>
              <a:ext uri="{FF2B5EF4-FFF2-40B4-BE49-F238E27FC236}">
                <a16:creationId xmlns:a16="http://schemas.microsoft.com/office/drawing/2014/main" id="{95370CFB-7D94-750B-86B1-804978D9F86F}"/>
              </a:ext>
            </a:extLst>
          </p:cNvPr>
          <p:cNvSpPr/>
          <p:nvPr/>
        </p:nvSpPr>
        <p:spPr>
          <a:xfrm>
            <a:off x="4243511" y="3918484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취소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30" name="Picture 51" descr="image.png">
            <a:extLst>
              <a:ext uri="{FF2B5EF4-FFF2-40B4-BE49-F238E27FC236}">
                <a16:creationId xmlns:a16="http://schemas.microsoft.com/office/drawing/2014/main" id="{50648245-B2B0-5350-BE96-3E096123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61" y="2939779"/>
            <a:ext cx="156653" cy="156653"/>
          </a:xfrm>
          <a:prstGeom prst="rect">
            <a:avLst/>
          </a:prstGeom>
        </p:spPr>
      </p:pic>
      <p:sp>
        <p:nvSpPr>
          <p:cNvPr id="31" name="TextBox 43">
            <a:extLst>
              <a:ext uri="{FF2B5EF4-FFF2-40B4-BE49-F238E27FC236}">
                <a16:creationId xmlns:a16="http://schemas.microsoft.com/office/drawing/2014/main" id="{05DAE600-B356-38ED-E065-3D8FE6BCB48C}"/>
              </a:ext>
            </a:extLst>
          </p:cNvPr>
          <p:cNvSpPr/>
          <p:nvPr/>
        </p:nvSpPr>
        <p:spPr>
          <a:xfrm>
            <a:off x="7242875" y="2516788"/>
            <a:ext cx="734305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32" name="TextBox 45">
            <a:extLst>
              <a:ext uri="{FF2B5EF4-FFF2-40B4-BE49-F238E27FC236}">
                <a16:creationId xmlns:a16="http://schemas.microsoft.com/office/drawing/2014/main" id="{B99D8691-5E53-0419-44CD-D30B9FAFE9C9}"/>
              </a:ext>
            </a:extLst>
          </p:cNvPr>
          <p:cNvSpPr/>
          <p:nvPr/>
        </p:nvSpPr>
        <p:spPr>
          <a:xfrm>
            <a:off x="7285641" y="3029459"/>
            <a:ext cx="593603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로그아웃</a:t>
            </a:r>
          </a:p>
        </p:txBody>
      </p:sp>
      <p:sp>
        <p:nvSpPr>
          <p:cNvPr id="33" name="사각형: 둥근 모서리 46">
            <a:extLst>
              <a:ext uri="{FF2B5EF4-FFF2-40B4-BE49-F238E27FC236}">
                <a16:creationId xmlns:a16="http://schemas.microsoft.com/office/drawing/2014/main" id="{462322B6-C179-78DB-7E3C-F609AC80C4A5}"/>
              </a:ext>
            </a:extLst>
          </p:cNvPr>
          <p:cNvSpPr/>
          <p:nvPr/>
        </p:nvSpPr>
        <p:spPr>
          <a:xfrm>
            <a:off x="6348897" y="2160458"/>
            <a:ext cx="2266177" cy="19522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4" name="TextBox 48">
            <a:extLst>
              <a:ext uri="{FF2B5EF4-FFF2-40B4-BE49-F238E27FC236}">
                <a16:creationId xmlns:a16="http://schemas.microsoft.com/office/drawing/2014/main" id="{1F9E90FA-0E80-03E8-EDB7-FAEBA4041C4F}"/>
              </a:ext>
            </a:extLst>
          </p:cNvPr>
          <p:cNvSpPr/>
          <p:nvPr/>
        </p:nvSpPr>
        <p:spPr>
          <a:xfrm>
            <a:off x="6405070" y="2371429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교통약자 유형을 선택해주세요.</a:t>
            </a:r>
          </a:p>
        </p:txBody>
      </p:sp>
      <p:sp>
        <p:nvSpPr>
          <p:cNvPr id="35" name="TextBox 50">
            <a:extLst>
              <a:ext uri="{FF2B5EF4-FFF2-40B4-BE49-F238E27FC236}">
                <a16:creationId xmlns:a16="http://schemas.microsoft.com/office/drawing/2014/main" id="{DF52BDB0-C0C4-1625-348C-81D881C20C46}"/>
              </a:ext>
            </a:extLst>
          </p:cNvPr>
          <p:cNvSpPr/>
          <p:nvPr/>
        </p:nvSpPr>
        <p:spPr>
          <a:xfrm>
            <a:off x="6801278" y="2674904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휠체어•유모차</a:t>
            </a:r>
          </a:p>
        </p:txBody>
      </p:sp>
      <p:sp>
        <p:nvSpPr>
          <p:cNvPr id="36" name="TextBox 51">
            <a:extLst>
              <a:ext uri="{FF2B5EF4-FFF2-40B4-BE49-F238E27FC236}">
                <a16:creationId xmlns:a16="http://schemas.microsoft.com/office/drawing/2014/main" id="{0AC5B594-AD05-94EE-9FD0-86F0EE7BD8B1}"/>
              </a:ext>
            </a:extLst>
          </p:cNvPr>
          <p:cNvSpPr/>
          <p:nvPr/>
        </p:nvSpPr>
        <p:spPr>
          <a:xfrm>
            <a:off x="6801278" y="2916653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노약자•임산부</a:t>
            </a:r>
          </a:p>
        </p:txBody>
      </p:sp>
      <p:sp>
        <p:nvSpPr>
          <p:cNvPr id="37" name="TextBox 52">
            <a:extLst>
              <a:ext uri="{FF2B5EF4-FFF2-40B4-BE49-F238E27FC236}">
                <a16:creationId xmlns:a16="http://schemas.microsoft.com/office/drawing/2014/main" id="{8E322509-4387-4474-5327-EC0F1944E79F}"/>
              </a:ext>
            </a:extLst>
          </p:cNvPr>
          <p:cNvSpPr/>
          <p:nvPr/>
        </p:nvSpPr>
        <p:spPr>
          <a:xfrm>
            <a:off x="6801278" y="3143444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저시력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화면을 볼 수 있어요</a:t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>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8" name="Circle">
            <a:extLst>
              <a:ext uri="{FF2B5EF4-FFF2-40B4-BE49-F238E27FC236}">
                <a16:creationId xmlns:a16="http://schemas.microsoft.com/office/drawing/2014/main" id="{3D474B53-08F9-FEAB-01B6-B0092C7C5168}"/>
              </a:ext>
            </a:extLst>
          </p:cNvPr>
          <p:cNvSpPr/>
          <p:nvPr/>
        </p:nvSpPr>
        <p:spPr>
          <a:xfrm>
            <a:off x="6644911" y="2734378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39" name="Circle">
            <a:extLst>
              <a:ext uri="{FF2B5EF4-FFF2-40B4-BE49-F238E27FC236}">
                <a16:creationId xmlns:a16="http://schemas.microsoft.com/office/drawing/2014/main" id="{B098AC39-7E50-7FB6-EF58-5C6B208B5491}"/>
              </a:ext>
            </a:extLst>
          </p:cNvPr>
          <p:cNvSpPr/>
          <p:nvPr/>
        </p:nvSpPr>
        <p:spPr>
          <a:xfrm>
            <a:off x="6644911" y="297615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0" name="Circle">
            <a:extLst>
              <a:ext uri="{FF2B5EF4-FFF2-40B4-BE49-F238E27FC236}">
                <a16:creationId xmlns:a16="http://schemas.microsoft.com/office/drawing/2014/main" id="{852CA267-E189-808B-9CE0-E3F0408B2C4C}"/>
              </a:ext>
            </a:extLst>
          </p:cNvPr>
          <p:cNvSpPr/>
          <p:nvPr/>
        </p:nvSpPr>
        <p:spPr>
          <a:xfrm>
            <a:off x="6644911" y="3199713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41" name="Picture 35" descr="image.png">
            <a:extLst>
              <a:ext uri="{FF2B5EF4-FFF2-40B4-BE49-F238E27FC236}">
                <a16:creationId xmlns:a16="http://schemas.microsoft.com/office/drawing/2014/main" id="{120A44D7-8210-F42E-E53B-2444C7610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2237720"/>
            <a:ext cx="156653" cy="156653"/>
          </a:xfrm>
          <a:prstGeom prst="rect">
            <a:avLst/>
          </a:prstGeom>
        </p:spPr>
      </p:pic>
      <p:sp>
        <p:nvSpPr>
          <p:cNvPr id="42" name="사각형: 둥근 모서리 58">
            <a:extLst>
              <a:ext uri="{FF2B5EF4-FFF2-40B4-BE49-F238E27FC236}">
                <a16:creationId xmlns:a16="http://schemas.microsoft.com/office/drawing/2014/main" id="{7D40E14E-C5C8-9CCE-648F-51B2F8B08EA9}"/>
              </a:ext>
            </a:extLst>
          </p:cNvPr>
          <p:cNvSpPr/>
          <p:nvPr/>
        </p:nvSpPr>
        <p:spPr>
          <a:xfrm>
            <a:off x="6795981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43" name="사각형: 둥근 모서리 60">
            <a:extLst>
              <a:ext uri="{FF2B5EF4-FFF2-40B4-BE49-F238E27FC236}">
                <a16:creationId xmlns:a16="http://schemas.microsoft.com/office/drawing/2014/main" id="{E030939A-9BAB-E54F-D4A5-372D80DB9051}"/>
              </a:ext>
            </a:extLst>
          </p:cNvPr>
          <p:cNvSpPr/>
          <p:nvPr/>
        </p:nvSpPr>
        <p:spPr>
          <a:xfrm>
            <a:off x="7555319" y="3752674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44" name="TextBox 35">
            <a:extLst>
              <a:ext uri="{FF2B5EF4-FFF2-40B4-BE49-F238E27FC236}">
                <a16:creationId xmlns:a16="http://schemas.microsoft.com/office/drawing/2014/main" id="{9096601F-912E-247E-4F7C-42F8E4A939B1}"/>
              </a:ext>
            </a:extLst>
          </p:cNvPr>
          <p:cNvSpPr/>
          <p:nvPr/>
        </p:nvSpPr>
        <p:spPr>
          <a:xfrm>
            <a:off x="6801278" y="3377208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전맹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r>
              <a:rPr lang="en-US" altLang="ko-KR" sz="974" dirty="0">
                <a:solidFill>
                  <a:srgbClr val="14181F"/>
                </a:solidFill>
              </a:rPr>
              <a:t>– </a:t>
            </a:r>
            <a:r>
              <a:rPr lang="ko-KR" altLang="en-US" sz="974" dirty="0">
                <a:solidFill>
                  <a:srgbClr val="14181F"/>
                </a:solidFill>
              </a:rPr>
              <a:t>화면을 볼 수 없어요</a:t>
            </a:r>
            <a:r>
              <a:rPr lang="en-US" altLang="ko-KR" sz="974" dirty="0">
                <a:solidFill>
                  <a:srgbClr val="14181F"/>
                </a:solidFill>
              </a:rPr>
              <a:t>.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> 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5" name="Circle">
            <a:extLst>
              <a:ext uri="{FF2B5EF4-FFF2-40B4-BE49-F238E27FC236}">
                <a16:creationId xmlns:a16="http://schemas.microsoft.com/office/drawing/2014/main" id="{AEA654B2-0C1C-F2DD-F5C2-831B98A7330C}"/>
              </a:ext>
            </a:extLst>
          </p:cNvPr>
          <p:cNvSpPr/>
          <p:nvPr/>
        </p:nvSpPr>
        <p:spPr>
          <a:xfrm>
            <a:off x="6644911" y="343347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6" name="Circle">
            <a:extLst>
              <a:ext uri="{FF2B5EF4-FFF2-40B4-BE49-F238E27FC236}">
                <a16:creationId xmlns:a16="http://schemas.microsoft.com/office/drawing/2014/main" id="{A697C058-0463-504D-821C-CCAB4F31A004}"/>
              </a:ext>
            </a:extLst>
          </p:cNvPr>
          <p:cNvSpPr/>
          <p:nvPr/>
        </p:nvSpPr>
        <p:spPr>
          <a:xfrm>
            <a:off x="6660427" y="2752246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48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331373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서비스 정보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 ＋ 행 3개 — 공지사항 → 이용약관 및 정책 → 오픈소스 라이선스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서비스 정보 전체가 카드 1개이고 행 사이는 구분선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계정 · 앱 버전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 ＋ 로그아웃 → 회원 탈퇴 · [&gt;] 미제공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로그아웃은 확인 팝업 없이 즉시 · 회원 탈퇴는 확인 팝업 1단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앱 버전은 최하단 텍스트 1행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유형 변경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유형이 바뀌면 "교통약자 유형이 노약자•임산부로 변경되었습니다."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50" name="t"/>
          <p:cNvSpPr txBox="1"/>
          <p:nvPr/>
        </p:nvSpPr>
        <p:spPr>
          <a:xfrm>
            <a:off x="771754" y="160934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51" name="card"/>
          <p:cNvSpPr/>
          <p:nvPr/>
        </p:nvSpPr>
        <p:spPr>
          <a:xfrm>
            <a:off x="771754" y="179222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881482" y="184251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3" name="t"/>
          <p:cNvSpPr txBox="1"/>
          <p:nvPr/>
        </p:nvSpPr>
        <p:spPr>
          <a:xfrm>
            <a:off x="2944368" y="183337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4" name="card"/>
          <p:cNvSpPr/>
          <p:nvPr/>
        </p:nvSpPr>
        <p:spPr>
          <a:xfrm>
            <a:off x="771754" y="206654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881482" y="213055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6" name="t"/>
          <p:cNvSpPr txBox="1"/>
          <p:nvPr/>
        </p:nvSpPr>
        <p:spPr>
          <a:xfrm>
            <a:off x="881482" y="227685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7" name="btn"/>
          <p:cNvSpPr/>
          <p:nvPr/>
        </p:nvSpPr>
        <p:spPr>
          <a:xfrm>
            <a:off x="2487168" y="216712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2487168" y="221742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59" name="card"/>
          <p:cNvSpPr/>
          <p:nvPr/>
        </p:nvSpPr>
        <p:spPr>
          <a:xfrm>
            <a:off x="771754" y="250545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881482" y="255117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61" name="seg"/>
          <p:cNvSpPr/>
          <p:nvPr/>
        </p:nvSpPr>
        <p:spPr>
          <a:xfrm>
            <a:off x="881482" y="268376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881482" y="270662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3" name="seg"/>
          <p:cNvSpPr/>
          <p:nvPr/>
        </p:nvSpPr>
        <p:spPr>
          <a:xfrm>
            <a:off x="1539850" y="268376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4" name="t"/>
          <p:cNvSpPr txBox="1"/>
          <p:nvPr/>
        </p:nvSpPr>
        <p:spPr>
          <a:xfrm>
            <a:off x="1539850" y="270662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5" name="card2"/>
          <p:cNvSpPr/>
          <p:nvPr/>
        </p:nvSpPr>
        <p:spPr>
          <a:xfrm>
            <a:off x="771754" y="338328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771754" y="344728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7" name="t"/>
          <p:cNvSpPr txBox="1"/>
          <p:nvPr/>
        </p:nvSpPr>
        <p:spPr>
          <a:xfrm>
            <a:off x="771754" y="359359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8" name="card2"/>
          <p:cNvSpPr/>
          <p:nvPr/>
        </p:nvSpPr>
        <p:spPr>
          <a:xfrm>
            <a:off x="2022653" y="338328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2022653" y="344728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70" name="t"/>
          <p:cNvSpPr txBox="1"/>
          <p:nvPr/>
        </p:nvSpPr>
        <p:spPr>
          <a:xfrm>
            <a:off x="2022653" y="359359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71" name="card"/>
          <p:cNvSpPr/>
          <p:nvPr/>
        </p:nvSpPr>
        <p:spPr>
          <a:xfrm>
            <a:off x="771754" y="3822192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2" name="t"/>
          <p:cNvSpPr txBox="1"/>
          <p:nvPr/>
        </p:nvSpPr>
        <p:spPr>
          <a:xfrm>
            <a:off x="881482" y="3890772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3" name="badge"/>
          <p:cNvSpPr/>
          <p:nvPr/>
        </p:nvSpPr>
        <p:spPr>
          <a:xfrm>
            <a:off x="2161642" y="3890772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2962656" y="388162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5" name="t"/>
          <p:cNvSpPr txBox="1"/>
          <p:nvPr/>
        </p:nvSpPr>
        <p:spPr>
          <a:xfrm>
            <a:off x="771754" y="415137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6" name="card"/>
          <p:cNvSpPr/>
          <p:nvPr/>
        </p:nvSpPr>
        <p:spPr>
          <a:xfrm>
            <a:off x="771754" y="4315968"/>
            <a:ext cx="2428646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7" name="t"/>
          <p:cNvSpPr txBox="1"/>
          <p:nvPr/>
        </p:nvSpPr>
        <p:spPr>
          <a:xfrm>
            <a:off x="881482" y="4386507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8" name="t"/>
          <p:cNvSpPr txBox="1"/>
          <p:nvPr/>
        </p:nvSpPr>
        <p:spPr>
          <a:xfrm>
            <a:off x="2962656" y="437867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9" name="ln"/>
          <p:cNvCxnSpPr/>
          <p:nvPr/>
        </p:nvCxnSpPr>
        <p:spPr>
          <a:xfrm>
            <a:off x="863194" y="4535424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0" name="t"/>
          <p:cNvSpPr txBox="1"/>
          <p:nvPr/>
        </p:nvSpPr>
        <p:spPr>
          <a:xfrm>
            <a:off x="881482" y="4605963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81" name="t"/>
          <p:cNvSpPr txBox="1"/>
          <p:nvPr/>
        </p:nvSpPr>
        <p:spPr>
          <a:xfrm>
            <a:off x="2962656" y="459812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82" name="ln"/>
          <p:cNvCxnSpPr/>
          <p:nvPr/>
        </p:nvCxnSpPr>
        <p:spPr>
          <a:xfrm>
            <a:off x="863194" y="47548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3" name="t"/>
          <p:cNvSpPr txBox="1"/>
          <p:nvPr/>
        </p:nvSpPr>
        <p:spPr>
          <a:xfrm>
            <a:off x="881482" y="4825419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4" name="t"/>
          <p:cNvSpPr txBox="1"/>
          <p:nvPr/>
        </p:nvSpPr>
        <p:spPr>
          <a:xfrm>
            <a:off x="2962656" y="481758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5" name="t"/>
          <p:cNvSpPr txBox="1"/>
          <p:nvPr/>
        </p:nvSpPr>
        <p:spPr>
          <a:xfrm>
            <a:off x="771754" y="5029200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6" name="card"/>
          <p:cNvSpPr/>
          <p:nvPr/>
        </p:nvSpPr>
        <p:spPr>
          <a:xfrm>
            <a:off x="771754" y="5193792"/>
            <a:ext cx="2428646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7" name="t"/>
          <p:cNvSpPr txBox="1"/>
          <p:nvPr/>
        </p:nvSpPr>
        <p:spPr>
          <a:xfrm>
            <a:off x="881482" y="526433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8" name="ln"/>
          <p:cNvCxnSpPr/>
          <p:nvPr/>
        </p:nvCxnSpPr>
        <p:spPr>
          <a:xfrm>
            <a:off x="863194" y="541324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9" name="t"/>
          <p:cNvSpPr txBox="1"/>
          <p:nvPr/>
        </p:nvSpPr>
        <p:spPr>
          <a:xfrm>
            <a:off x="881482" y="5483787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90" name="t"/>
          <p:cNvSpPr txBox="1"/>
          <p:nvPr/>
        </p:nvSpPr>
        <p:spPr>
          <a:xfrm>
            <a:off x="771754" y="5669280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91" name="t"/>
          <p:cNvSpPr txBox="1"/>
          <p:nvPr/>
        </p:nvSpPr>
        <p:spPr>
          <a:xfrm>
            <a:off x="2161642" y="3918204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2" name="card"/>
          <p:cNvSpPr/>
          <p:nvPr/>
        </p:nvSpPr>
        <p:spPr>
          <a:xfrm>
            <a:off x="771754" y="2926080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93" name="t"/>
          <p:cNvSpPr txBox="1"/>
          <p:nvPr/>
        </p:nvSpPr>
        <p:spPr>
          <a:xfrm>
            <a:off x="881482" y="2990088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94" name="t"/>
          <p:cNvSpPr txBox="1"/>
          <p:nvPr/>
        </p:nvSpPr>
        <p:spPr>
          <a:xfrm>
            <a:off x="881482" y="3136392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95" name="btn"/>
          <p:cNvSpPr/>
          <p:nvPr/>
        </p:nvSpPr>
        <p:spPr>
          <a:xfrm>
            <a:off x="2487168" y="3026664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96" name="t"/>
          <p:cNvSpPr txBox="1"/>
          <p:nvPr/>
        </p:nvSpPr>
        <p:spPr>
          <a:xfrm>
            <a:off x="2487168" y="3076956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언어변경</a:t>
            </a:r>
          </a:p>
        </p:txBody>
      </p:sp>
      <p:sp>
        <p:nvSpPr>
          <p:cNvPr id="97" name="사각형: 둥근 모서리 46"/>
          <p:cNvSpPr/>
          <p:nvPr/>
        </p:nvSpPr>
        <p:spPr>
          <a:xfrm>
            <a:off x="6348897" y="4227002"/>
            <a:ext cx="2266177" cy="2180890"/>
          </a:xfrm>
          <a:prstGeom prst="roundRect">
            <a:avLst>
              <a:gd name="adj" fmla="val 683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98" name="TextBox 48"/>
          <p:cNvSpPr/>
          <p:nvPr/>
        </p:nvSpPr>
        <p:spPr>
          <a:xfrm>
            <a:off x="6405070" y="4437973"/>
            <a:ext cx="2210004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언어 변경</a:t>
            </a:r>
          </a:p>
        </p:txBody>
      </p:sp>
      <p:sp>
        <p:nvSpPr>
          <p:cNvPr id="99" name="TextBox 50"/>
          <p:cNvSpPr/>
          <p:nvPr/>
        </p:nvSpPr>
        <p:spPr>
          <a:xfrm>
            <a:off x="6801278" y="4741448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한국어</a:t>
            </a:r>
          </a:p>
        </p:txBody>
      </p:sp>
      <p:sp>
        <p:nvSpPr>
          <p:cNvPr id="100" name="TextBox 51"/>
          <p:cNvSpPr/>
          <p:nvPr/>
        </p:nvSpPr>
        <p:spPr>
          <a:xfrm>
            <a:off x="6801278" y="4983197"/>
            <a:ext cx="110107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English</a:t>
            </a:r>
          </a:p>
        </p:txBody>
      </p:sp>
      <p:sp>
        <p:nvSpPr>
          <p:cNvPr id="101" name="TextBox 52"/>
          <p:cNvSpPr/>
          <p:nvPr/>
        </p:nvSpPr>
        <p:spPr>
          <a:xfrm>
            <a:off x="6801278" y="5209988"/>
            <a:ext cx="1703231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日本語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2" name="Circle"/>
          <p:cNvSpPr/>
          <p:nvPr/>
        </p:nvSpPr>
        <p:spPr>
          <a:xfrm>
            <a:off x="6644911" y="4800922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3" name="Circle"/>
          <p:cNvSpPr/>
          <p:nvPr/>
        </p:nvSpPr>
        <p:spPr>
          <a:xfrm>
            <a:off x="6644911" y="5042696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04" name="Circle"/>
          <p:cNvSpPr/>
          <p:nvPr/>
        </p:nvSpPr>
        <p:spPr>
          <a:xfrm>
            <a:off x="6644911" y="5266257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pic>
        <p:nvPicPr>
          <p:cNvPr id="105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915" y="4304264"/>
            <a:ext cx="156653" cy="156653"/>
          </a:xfrm>
          <a:prstGeom prst="rect">
            <a:avLst/>
          </a:prstGeom>
        </p:spPr>
      </p:pic>
      <p:sp>
        <p:nvSpPr>
          <p:cNvPr id="106" name="사각형: 둥근 모서리 58"/>
          <p:cNvSpPr/>
          <p:nvPr/>
        </p:nvSpPr>
        <p:spPr>
          <a:xfrm>
            <a:off x="6795981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취소</a:t>
            </a:r>
          </a:p>
        </p:txBody>
      </p:sp>
      <p:sp>
        <p:nvSpPr>
          <p:cNvPr id="107" name="사각형: 둥근 모서리 60"/>
          <p:cNvSpPr/>
          <p:nvPr/>
        </p:nvSpPr>
        <p:spPr>
          <a:xfrm>
            <a:off x="7555319" y="6047818"/>
            <a:ext cx="663406" cy="282626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선택</a:t>
            </a:r>
          </a:p>
        </p:txBody>
      </p:sp>
      <p:sp>
        <p:nvSpPr>
          <p:cNvPr id="108" name="TextBox 35"/>
          <p:cNvSpPr/>
          <p:nvPr/>
        </p:nvSpPr>
        <p:spPr>
          <a:xfrm>
            <a:off x="6801278" y="54437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简体中文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9" name="Circle"/>
          <p:cNvSpPr/>
          <p:nvPr/>
        </p:nvSpPr>
        <p:spPr>
          <a:xfrm>
            <a:off x="6644911" y="55000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0" name="Circle"/>
          <p:cNvSpPr/>
          <p:nvPr/>
        </p:nvSpPr>
        <p:spPr>
          <a:xfrm>
            <a:off x="6660427" y="4818790"/>
            <a:ext cx="74644" cy="74644"/>
          </a:xfrm>
          <a:prstGeom prst="ellipse">
            <a:avLst/>
          </a:prstGeom>
          <a:solidFill>
            <a:srgbClr val="0070C0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1" name="TextBox 35"/>
          <p:cNvSpPr/>
          <p:nvPr/>
        </p:nvSpPr>
        <p:spPr>
          <a:xfrm>
            <a:off x="6801278" y="5672352"/>
            <a:ext cx="1589637" cy="22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74" dirty="0" err="1">
                <a:solidFill>
                  <a:srgbClr val="14181F"/>
                </a:solidFill>
                <a:latin typeface="Pretendard"/>
              </a:rPr>
              <a:t>繁體中文</a:t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</a:rPr>
              <a:t/>
            </a:r>
            <a:r>
              <a:rPr lang="en-US" altLang="ko-KR" sz="974" dirty="0">
                <a:solidFill>
                  <a:srgbClr val="14181F"/>
                </a:solidFill>
              </a:rPr>
              <a:t/>
            </a:r>
            <a:r>
              <a:rPr lang="ko-KR" altLang="en-US" sz="974" dirty="0">
                <a:solidFill>
                  <a:srgbClr val="14181F"/>
                </a:solidFill>
                <a:latin typeface="Pretendard"/>
              </a:rPr>
              <a:t/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12" name="Circle"/>
          <p:cNvSpPr/>
          <p:nvPr/>
        </p:nvSpPr>
        <p:spPr>
          <a:xfrm>
            <a:off x="6644911" y="5728621"/>
            <a:ext cx="110421" cy="110421"/>
          </a:xfrm>
          <a:prstGeom prst="ellipse">
            <a:avLst/>
          </a:prstGeom>
          <a:solidFill>
            <a:srgbClr val="FFFFFF"/>
          </a:solidFill>
          <a:ln w="7143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113" name="숫자배지 1"/>
          <p:cNvSpPr/>
          <p:nvPr/>
        </p:nvSpPr>
        <p:spPr>
          <a:xfrm>
            <a:off x="384048" y="15910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4" name="숫자배지 2"/>
          <p:cNvSpPr/>
          <p:nvPr/>
        </p:nvSpPr>
        <p:spPr>
          <a:xfrm>
            <a:off x="384048" y="17739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5" name="숫자배지 3"/>
          <p:cNvSpPr/>
          <p:nvPr/>
        </p:nvSpPr>
        <p:spPr>
          <a:xfrm>
            <a:off x="3639312" y="2157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116" name="숫자배지 4"/>
          <p:cNvSpPr/>
          <p:nvPr/>
        </p:nvSpPr>
        <p:spPr>
          <a:xfrm>
            <a:off x="384048" y="20665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117" name="숫자배지 5"/>
          <p:cNvSpPr/>
          <p:nvPr/>
        </p:nvSpPr>
        <p:spPr>
          <a:xfrm>
            <a:off x="6382512" y="2103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118" name="숫자배지 6"/>
          <p:cNvSpPr/>
          <p:nvPr/>
        </p:nvSpPr>
        <p:spPr>
          <a:xfrm>
            <a:off x="384048" y="250545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119" name="숫자배지 9"/>
          <p:cNvSpPr/>
          <p:nvPr/>
        </p:nvSpPr>
        <p:spPr>
          <a:xfrm>
            <a:off x="384048" y="332841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9</a:t>
            </a:r>
          </a:p>
        </p:txBody>
      </p:sp>
      <p:sp>
        <p:nvSpPr>
          <p:cNvPr id="120" name="숫자배지 10"/>
          <p:cNvSpPr/>
          <p:nvPr/>
        </p:nvSpPr>
        <p:spPr>
          <a:xfrm>
            <a:off x="384048" y="3785616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10</a:t>
            </a:r>
          </a:p>
        </p:txBody>
      </p:sp>
      <p:sp>
        <p:nvSpPr>
          <p:cNvPr id="121" name="숫자배지 11"/>
          <p:cNvSpPr/>
          <p:nvPr/>
        </p:nvSpPr>
        <p:spPr>
          <a:xfrm>
            <a:off x="384048" y="4151376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11</a:t>
            </a:r>
          </a:p>
        </p:txBody>
      </p:sp>
      <p:sp>
        <p:nvSpPr>
          <p:cNvPr id="122" name="숫자배지 12"/>
          <p:cNvSpPr/>
          <p:nvPr/>
        </p:nvSpPr>
        <p:spPr>
          <a:xfrm>
            <a:off x="384048" y="5010912"/>
            <a:ext cx="27432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12</a:t>
            </a:r>
          </a:p>
        </p:txBody>
      </p:sp>
      <p:sp>
        <p:nvSpPr>
          <p:cNvPr id="123" name="숫자배지 7"/>
          <p:cNvSpPr/>
          <p:nvPr/>
        </p:nvSpPr>
        <p:spPr>
          <a:xfrm>
            <a:off x="384048" y="29260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7</a:t>
            </a:r>
          </a:p>
        </p:txBody>
      </p:sp>
      <p:sp>
        <p:nvSpPr>
          <p:cNvPr id="124" name="숫자배지 8"/>
          <p:cNvSpPr/>
          <p:nvPr/>
        </p:nvSpPr>
        <p:spPr>
          <a:xfrm>
            <a:off x="6382512" y="416966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8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3-0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비회원 표출 규칙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190500" y="952500"/>
            <a:ext cx="8494776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61902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탑바 구분선"/>
          <p:cNvSpPr/>
          <p:nvPr/>
        </p:nvSpPr>
        <p:spPr>
          <a:xfrm>
            <a:off x="62854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타이틀"/>
          <p:cNvSpPr txBox="1"/>
          <p:nvPr/>
        </p:nvSpPr>
        <p:spPr>
          <a:xfrm>
            <a:off x="103812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11" name="하단 Nav 구분선"/>
          <p:cNvSpPr/>
          <p:nvPr/>
        </p:nvSpPr>
        <p:spPr>
          <a:xfrm>
            <a:off x="62854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아이콘 nav"/>
          <p:cNvSpPr/>
          <p:nvPr/>
        </p:nvSpPr>
        <p:spPr>
          <a:xfrm>
            <a:off x="191785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av 길안내"/>
          <p:cNvSpPr txBox="1"/>
          <p:nvPr/>
        </p:nvSpPr>
        <p:spPr>
          <a:xfrm>
            <a:off x="153024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14" name="아이콘 home"/>
          <p:cNvSpPr/>
          <p:nvPr/>
        </p:nvSpPr>
        <p:spPr>
          <a:xfrm>
            <a:off x="99062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아이콘 home"/>
          <p:cNvSpPr/>
          <p:nvPr/>
        </p:nvSpPr>
        <p:spPr>
          <a:xfrm>
            <a:off x="101862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Nav 홈"/>
          <p:cNvSpPr txBox="1"/>
          <p:nvPr/>
        </p:nvSpPr>
        <p:spPr>
          <a:xfrm>
            <a:off x="61902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17" name="아이콘 user"/>
          <p:cNvSpPr/>
          <p:nvPr/>
        </p:nvSpPr>
        <p:spPr>
          <a:xfrm>
            <a:off x="286108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아이콘 user"/>
          <p:cNvSpPr/>
          <p:nvPr/>
        </p:nvSpPr>
        <p:spPr>
          <a:xfrm>
            <a:off x="282507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Nav 마이페이지"/>
          <p:cNvSpPr txBox="1"/>
          <p:nvPr/>
        </p:nvSpPr>
        <p:spPr>
          <a:xfrm>
            <a:off x="244147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20" name="Description 패널"/>
          <p:cNvSpPr/>
          <p:nvPr/>
        </p:nvSpPr>
        <p:spPr>
          <a:xfrm>
            <a:off x="8739835" y="952500"/>
            <a:ext cx="3257092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Description 제목"/>
          <p:cNvSpPr txBox="1"/>
          <p:nvPr/>
        </p:nvSpPr>
        <p:spPr>
          <a:xfrm>
            <a:off x="8951976" y="1114425"/>
            <a:ext cx="19046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2" name="Description 밑줄"/>
          <p:cNvSpPr/>
          <p:nvPr/>
        </p:nvSpPr>
        <p:spPr>
          <a:xfrm>
            <a:off x="8951976" y="1352550"/>
            <a:ext cx="288036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사각형: 둥근 모서리 46">
            <a:extLst>
              <a:ext uri="{FF2B5EF4-FFF2-40B4-BE49-F238E27FC236}">
                <a16:creationId xmlns:a16="http://schemas.microsoft.com/office/drawing/2014/main" id="{21401DA3-5DDC-C666-119F-899310541C75}"/>
              </a:ext>
            </a:extLst>
          </p:cNvPr>
          <p:cNvSpPr/>
          <p:nvPr/>
        </p:nvSpPr>
        <p:spPr>
          <a:xfrm>
            <a:off x="3935063" y="2154288"/>
            <a:ext cx="2266177" cy="1074878"/>
          </a:xfrm>
          <a:prstGeom prst="roundRect">
            <a:avLst>
              <a:gd name="adj" fmla="val 1240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4" name="TextBox 48">
            <a:extLst>
              <a:ext uri="{FF2B5EF4-FFF2-40B4-BE49-F238E27FC236}">
                <a16:creationId xmlns:a16="http://schemas.microsoft.com/office/drawing/2014/main" id="{A4F14DC1-5FD5-05CE-FE5A-65B469C8F494}"/>
              </a:ext>
            </a:extLst>
          </p:cNvPr>
          <p:cNvSpPr/>
          <p:nvPr/>
        </p:nvSpPr>
        <p:spPr>
          <a:xfrm>
            <a:off x="4041648" y="2359152"/>
            <a:ext cx="2048256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 dirty="0" err="1">
                <a:solidFill>
                  <a:srgbClr val="14181F"/>
                </a:solidFill>
                <a:latin typeface="Pretendard"/>
              </a:rPr>
              <a:t>즐겨찾기는 로그인 후 이용 가능합니다.</a:t>
            </a:r>
            <a:endParaRPr sz="974" dirty="0">
              <a:solidFill>
                <a:srgbClr val="14181F"/>
              </a:solidFill>
              <a:latin typeface="Pretendard"/>
            </a:endParaRPr>
          </a:p>
        </p:txBody>
      </p:sp>
      <p:pic>
        <p:nvPicPr>
          <p:cNvPr id="25" name="Picture 51" descr="image.png">
            <a:extLst>
              <a:ext uri="{FF2B5EF4-FFF2-40B4-BE49-F238E27FC236}">
                <a16:creationId xmlns:a16="http://schemas.microsoft.com/office/drawing/2014/main" id="{5EDB3668-2663-1687-F154-2CCE5E5A2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840" y="2260564"/>
            <a:ext cx="156653" cy="156653"/>
          </a:xfrm>
          <a:prstGeom prst="rect">
            <a:avLst/>
          </a:prstGeom>
        </p:spPr>
      </p:pic>
      <p:sp>
        <p:nvSpPr>
          <p:cNvPr id="26" name="사각형: 둥근 모서리 58">
            <a:extLst>
              <a:ext uri="{FF2B5EF4-FFF2-40B4-BE49-F238E27FC236}">
                <a16:creationId xmlns:a16="http://schemas.microsoft.com/office/drawing/2014/main" id="{11067E40-318D-307F-6C96-12BEB7DF1220}"/>
              </a:ext>
            </a:extLst>
          </p:cNvPr>
          <p:cNvSpPr/>
          <p:nvPr/>
        </p:nvSpPr>
        <p:spPr>
          <a:xfrm>
            <a:off x="4379348" y="2795079"/>
            <a:ext cx="663407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4203" tIns="37102" rIns="74203" bIns="37102" rtlCol="0" anchor="ctr">
            <a:noAutofit/>
          </a:bodyPr>
          <a:lstStyle/>
          <a:p>
            <a:pPr algn="ctr">
              <a:lnSpc>
                <a:spcPct val="125000"/>
              </a:lnSpc>
            </a:pPr>
            <a:endParaRPr/>
          </a:p>
        </p:txBody>
      </p:sp>
      <p:sp>
        <p:nvSpPr>
          <p:cNvPr id="27" name="사각형: 둥근 모서리 60">
            <a:extLst>
              <a:ext uri="{FF2B5EF4-FFF2-40B4-BE49-F238E27FC236}">
                <a16:creationId xmlns:a16="http://schemas.microsoft.com/office/drawing/2014/main" id="{55E37EA5-BAE0-046B-03B9-54FBF0E6FD5B}"/>
              </a:ext>
            </a:extLst>
          </p:cNvPr>
          <p:cNvSpPr/>
          <p:nvPr/>
        </p:nvSpPr>
        <p:spPr>
          <a:xfrm>
            <a:off x="5138684" y="2795076"/>
            <a:ext cx="663406" cy="282627"/>
          </a:xfrm>
          <a:prstGeom prst="roundRect">
            <a:avLst>
              <a:gd name="adj" fmla="val 2696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로그인</a:t>
            </a:r>
          </a:p>
        </p:txBody>
      </p:sp>
      <p:sp>
        <p:nvSpPr>
          <p:cNvPr id="28" name="TextBox 62">
            <a:extLst>
              <a:ext uri="{FF2B5EF4-FFF2-40B4-BE49-F238E27FC236}">
                <a16:creationId xmlns:a16="http://schemas.microsoft.com/office/drawing/2014/main" id="{51A67F1A-BDBC-B1DF-6FCC-EAF88601D922}"/>
              </a:ext>
            </a:extLst>
          </p:cNvPr>
          <p:cNvSpPr/>
          <p:nvPr/>
        </p:nvSpPr>
        <p:spPr>
          <a:xfrm>
            <a:off x="4526619" y="2819118"/>
            <a:ext cx="373258" cy="2293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4203" tIns="37102" rIns="74203" bIns="37102" rtlCol="0" anchor="ctr">
            <a:noAutofit/>
          </a:bodyPr>
          <a:lstStyle/>
          <a:p>
            <a:pPr>
              <a:lnSpc>
                <a:spcPct val="125000"/>
              </a:lnSpc>
            </a:pPr>
            <a:r>
              <a:rPr sz="974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2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graphicFrame>
        <p:nvGraphicFramePr>
          <p:cNvPr id="30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392683"/>
              </p:ext>
            </p:extLst>
          </p:nvPr>
        </p:nvGraphicFramePr>
        <p:xfrm>
          <a:off x="8913571" y="1447801"/>
          <a:ext cx="2919069" cy="496239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비회원도 마이페이지에 들어옴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항목별 처리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닉네임 — 자동 부여값 표출 · 수정 아이콘 · 메뉴 · 팝업 모두 미노출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「로그인 / 회원가입」 행 — 비회원 전용 · 닉네임 아래 · 글자 크기 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교통약자 유형 · 글자 크기 · 언어 — 회원과 같이 정상 동작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서비스 정보 3항목 · 앱 버전 — 회원과 완전히 동일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카드 2개 — 값 자리에 「로그인 필요」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로그인 팝업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04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「계정」 섹션 · 저상버스 예약 내역 미노출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로그아웃 · 회원 탈퇴는 컨트롤 자체가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섹션 제목 「계정」까지 통째로 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저상버스 예약 내역 행도 미노출 (회원 전용)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비회원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비회원이 바꾼 유형 · 글자 크기는 기기 로컬에 남음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DECEE"/>
          </a:solidFill>
          <a:ln w="9525">
            <a:solidFill>
              <a:srgbClr val="F3C2C7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B02A37"/>
                </a:solidFill>
                <a:latin typeface="Pretendard"/>
              </a:rPr>
              <a:t>비회원</a:t>
            </a:r>
          </a:p>
        </p:txBody>
      </p:sp>
      <p:sp>
        <p:nvSpPr>
          <p:cNvPr id="32" name="팝업 캡션"/>
          <p:cNvSpPr txBox="1"/>
          <p:nvPr/>
        </p:nvSpPr>
        <p:spPr>
          <a:xfrm>
            <a:off x="3931920" y="1938528"/>
            <a:ext cx="2267712" cy="1828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spc="-19">
                <a:solidFill>
                  <a:srgbClr val="8A94A3"/>
                </a:solidFill>
                <a:latin typeface="Pretendard"/>
              </a:rPr>
              <a:t>3 — 내 마일리지 · 즐겨찾기 선택 시</a:t>
            </a:r>
          </a:p>
        </p:txBody>
      </p:sp>
      <p:sp>
        <p:nvSpPr>
          <p:cNvPr id="33" name="t"/>
          <p:cNvSpPr txBox="1"/>
          <p:nvPr/>
        </p:nvSpPr>
        <p:spPr>
          <a:xfrm>
            <a:off x="771754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34" name="card"/>
          <p:cNvSpPr/>
          <p:nvPr/>
        </p:nvSpPr>
        <p:spPr>
          <a:xfrm>
            <a:off x="771754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35" name="t"/>
          <p:cNvSpPr txBox="1"/>
          <p:nvPr/>
        </p:nvSpPr>
        <p:spPr>
          <a:xfrm>
            <a:off x="881482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36" name="card"/>
          <p:cNvSpPr/>
          <p:nvPr/>
        </p:nvSpPr>
        <p:spPr>
          <a:xfrm>
            <a:off x="771754" y="215798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37" name="t"/>
          <p:cNvSpPr txBox="1"/>
          <p:nvPr/>
        </p:nvSpPr>
        <p:spPr>
          <a:xfrm>
            <a:off x="881482" y="22082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로그인 / 회원가입</a:t>
            </a:r>
          </a:p>
        </p:txBody>
      </p:sp>
      <p:sp>
        <p:nvSpPr>
          <p:cNvPr id="38" name="t"/>
          <p:cNvSpPr txBox="1"/>
          <p:nvPr/>
        </p:nvSpPr>
        <p:spPr>
          <a:xfrm>
            <a:off x="2962656" y="219913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39" name="card"/>
          <p:cNvSpPr/>
          <p:nvPr/>
        </p:nvSpPr>
        <p:spPr>
          <a:xfrm>
            <a:off x="771754" y="243230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0" name="t"/>
          <p:cNvSpPr txBox="1"/>
          <p:nvPr/>
        </p:nvSpPr>
        <p:spPr>
          <a:xfrm>
            <a:off x="881482" y="249631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41" name="t"/>
          <p:cNvSpPr txBox="1"/>
          <p:nvPr/>
        </p:nvSpPr>
        <p:spPr>
          <a:xfrm>
            <a:off x="881482" y="264261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42" name="btn"/>
          <p:cNvSpPr/>
          <p:nvPr/>
        </p:nvSpPr>
        <p:spPr>
          <a:xfrm>
            <a:off x="2487168" y="253288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43" name="t"/>
          <p:cNvSpPr txBox="1"/>
          <p:nvPr/>
        </p:nvSpPr>
        <p:spPr>
          <a:xfrm>
            <a:off x="2487168" y="258318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44" name="card"/>
          <p:cNvSpPr/>
          <p:nvPr/>
        </p:nvSpPr>
        <p:spPr>
          <a:xfrm>
            <a:off x="771754" y="287121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5" name="t"/>
          <p:cNvSpPr txBox="1"/>
          <p:nvPr/>
        </p:nvSpPr>
        <p:spPr>
          <a:xfrm>
            <a:off x="881482" y="291693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46" name="seg"/>
          <p:cNvSpPr/>
          <p:nvPr/>
        </p:nvSpPr>
        <p:spPr>
          <a:xfrm>
            <a:off x="881482" y="304952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"/>
          <p:cNvSpPr txBox="1"/>
          <p:nvPr/>
        </p:nvSpPr>
        <p:spPr>
          <a:xfrm>
            <a:off x="881482" y="307238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48" name="seg"/>
          <p:cNvSpPr/>
          <p:nvPr/>
        </p:nvSpPr>
        <p:spPr>
          <a:xfrm>
            <a:off x="1539850" y="304952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1539850" y="307238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50" name="card2"/>
          <p:cNvSpPr/>
          <p:nvPr/>
        </p:nvSpPr>
        <p:spPr>
          <a:xfrm>
            <a:off x="771754" y="374904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771754" y="381304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52" name="t"/>
          <p:cNvSpPr txBox="1"/>
          <p:nvPr/>
        </p:nvSpPr>
        <p:spPr>
          <a:xfrm>
            <a:off x="771754" y="395935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9AA4B0"/>
                </a:solidFill>
                <a:latin typeface="Pretendard"/>
                <a:ea typeface="Pretendard"/>
              </a:rPr>
              <a:t>로그인 필요</a:t>
            </a:r>
          </a:p>
        </p:txBody>
      </p:sp>
      <p:sp>
        <p:nvSpPr>
          <p:cNvPr id="53" name="card2"/>
          <p:cNvSpPr/>
          <p:nvPr/>
        </p:nvSpPr>
        <p:spPr>
          <a:xfrm>
            <a:off x="2022653" y="3749040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2022653" y="3813048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55" name="t"/>
          <p:cNvSpPr txBox="1"/>
          <p:nvPr/>
        </p:nvSpPr>
        <p:spPr>
          <a:xfrm>
            <a:off x="2022653" y="3959352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9AA4B0"/>
                </a:solidFill>
                <a:latin typeface="Pretendard"/>
                <a:ea typeface="Pretendard"/>
              </a:rPr>
              <a:t>로그인 필요</a:t>
            </a:r>
          </a:p>
        </p:txBody>
      </p:sp>
      <p:sp>
        <p:nvSpPr>
          <p:cNvPr id="56" name="t"/>
          <p:cNvSpPr txBox="1"/>
          <p:nvPr/>
        </p:nvSpPr>
        <p:spPr>
          <a:xfrm>
            <a:off x="771754" y="4187951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57" name="card"/>
          <p:cNvSpPr/>
          <p:nvPr/>
        </p:nvSpPr>
        <p:spPr>
          <a:xfrm>
            <a:off x="771754" y="4352544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881482" y="443484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59" name="t"/>
          <p:cNvSpPr txBox="1"/>
          <p:nvPr/>
        </p:nvSpPr>
        <p:spPr>
          <a:xfrm>
            <a:off x="2962656" y="442569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60" name="ln"/>
          <p:cNvCxnSpPr/>
          <p:nvPr/>
        </p:nvCxnSpPr>
        <p:spPr>
          <a:xfrm>
            <a:off x="863194" y="4608575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61" name="t"/>
          <p:cNvSpPr txBox="1"/>
          <p:nvPr/>
        </p:nvSpPr>
        <p:spPr>
          <a:xfrm>
            <a:off x="881482" y="4690872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62" name="t"/>
          <p:cNvSpPr txBox="1"/>
          <p:nvPr/>
        </p:nvSpPr>
        <p:spPr>
          <a:xfrm>
            <a:off x="2962656" y="468172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63" name="ln"/>
          <p:cNvCxnSpPr/>
          <p:nvPr/>
        </p:nvCxnSpPr>
        <p:spPr>
          <a:xfrm>
            <a:off x="863194" y="486460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64" name="t"/>
          <p:cNvSpPr txBox="1"/>
          <p:nvPr/>
        </p:nvSpPr>
        <p:spPr>
          <a:xfrm>
            <a:off x="881482" y="494690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65" name="t"/>
          <p:cNvSpPr txBox="1"/>
          <p:nvPr/>
        </p:nvSpPr>
        <p:spPr>
          <a:xfrm>
            <a:off x="2962656" y="493776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66" name="t"/>
          <p:cNvSpPr txBox="1"/>
          <p:nvPr/>
        </p:nvSpPr>
        <p:spPr>
          <a:xfrm>
            <a:off x="771754" y="5157216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67" name="card"/>
          <p:cNvSpPr/>
          <p:nvPr/>
        </p:nvSpPr>
        <p:spPr>
          <a:xfrm>
            <a:off x="771754" y="3291840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8" name="t"/>
          <p:cNvSpPr txBox="1"/>
          <p:nvPr/>
        </p:nvSpPr>
        <p:spPr>
          <a:xfrm>
            <a:off x="881482" y="3355848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언어 · Language</a:t>
            </a:r>
          </a:p>
        </p:txBody>
      </p:sp>
      <p:sp>
        <p:nvSpPr>
          <p:cNvPr id="69" name="t"/>
          <p:cNvSpPr txBox="1"/>
          <p:nvPr/>
        </p:nvSpPr>
        <p:spPr>
          <a:xfrm>
            <a:off x="881482" y="3502152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한국어</a:t>
            </a:r>
          </a:p>
        </p:txBody>
      </p:sp>
      <p:sp>
        <p:nvSpPr>
          <p:cNvPr id="70" name="btn"/>
          <p:cNvSpPr/>
          <p:nvPr/>
        </p:nvSpPr>
        <p:spPr>
          <a:xfrm>
            <a:off x="2487168" y="3392424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2487168" y="3442716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언어변경</a:t>
            </a:r>
          </a:p>
        </p:txBody>
      </p:sp>
      <p:sp>
        <p:nvSpPr>
          <p:cNvPr id="72" name="숫자배지 1"/>
          <p:cNvSpPr/>
          <p:nvPr/>
        </p:nvSpPr>
        <p:spPr>
          <a:xfrm>
            <a:off x="2825496" y="10972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3" name="숫자배지 2"/>
          <p:cNvSpPr/>
          <p:nvPr/>
        </p:nvSpPr>
        <p:spPr>
          <a:xfrm>
            <a:off x="384048" y="1810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4" name="숫자배지 3"/>
          <p:cNvSpPr/>
          <p:nvPr/>
        </p:nvSpPr>
        <p:spPr>
          <a:xfrm>
            <a:off x="384048" y="36393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5" name="숫자배지 4"/>
          <p:cNvSpPr/>
          <p:nvPr/>
        </p:nvSpPr>
        <p:spPr>
          <a:xfrm>
            <a:off x="384048" y="499262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01443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05418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총액 · 마일리지 내역 (1/2)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456780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9" name="리스트 행"/>
          <p:cNvSpPr/>
          <p:nvPr/>
        </p:nvSpPr>
        <p:spPr>
          <a:xfrm>
            <a:off x="4720209" y="203525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4853558" y="2239185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spc="-18">
                <a:solidFill>
                  <a:srgbClr val="14181F"/>
                </a:solidFill>
                <a:latin typeface="Pretendard"/>
              </a:rPr>
              <a:t>254M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4720209" y="3364992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리스트 행"/>
          <p:cNvSpPr/>
          <p:nvPr/>
        </p:nvSpPr>
        <p:spPr>
          <a:xfrm>
            <a:off x="4720209" y="4059936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리스트 행"/>
          <p:cNvSpPr/>
          <p:nvPr/>
        </p:nvSpPr>
        <p:spPr>
          <a:xfrm>
            <a:off x="4720209" y="4754880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/>
          <p:cNvSpPr/>
          <p:nvPr/>
        </p:nvSpPr>
        <p:spPr>
          <a:xfrm>
            <a:off x="457733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/>
          <p:cNvSpPr txBox="1"/>
          <p:nvPr/>
        </p:nvSpPr>
        <p:spPr>
          <a:xfrm>
            <a:off x="498690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내</a:t>
            </a:r>
            <a:r>
              <a:rPr sz="1012" b="1" spc="-2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마일리지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6" name="뒤로가기"/>
          <p:cNvCxnSpPr/>
          <p:nvPr/>
        </p:nvCxnSpPr>
        <p:spPr>
          <a:xfrm flipH="1">
            <a:off x="472020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/>
          <p:cNvCxnSpPr/>
          <p:nvPr/>
        </p:nvCxnSpPr>
        <p:spPr>
          <a:xfrm flipH="1" flipV="1">
            <a:off x="472020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347934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보유 총액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라벨 「나의 총 마일리지」 1행 ＋ 값 1행 (254M · 1,250M)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숫자와 단위를 붙여 쓰고 세 자리마다 쉼표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구분 머리 · 내역 구분 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「마일리지 내역」 1행 — 적립 · 사용을 함께 담음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3분할 탭 「전체」 / 「적립」 / 「사용」 · 기본 「전체」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탭을 바꾸면 목록을 처음부터 다시 받음 · 총액은 탭을 따르지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내역 행 — 3줄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1줄째 사유 「불편신고」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2줄째 「2026년 1월 3일 · +20M · 적립」 — 일자는 「YYYY년 M월 D일」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목업 프레임">
            <a:extLst>
              <a:ext uri="{FF2B5EF4-FFF2-40B4-BE49-F238E27FC236}">
                <a16:creationId xmlns:a16="http://schemas.microsoft.com/office/drawing/2014/main" id="{0DA6432B-2573-37D4-CBD3-89E5829FA814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구분선">
            <a:extLst>
              <a:ext uri="{FF2B5EF4-FFF2-40B4-BE49-F238E27FC236}">
                <a16:creationId xmlns:a16="http://schemas.microsoft.com/office/drawing/2014/main" id="{125344C3-5473-BDBC-DE7E-58F765330EEE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>
            <a:extLst>
              <a:ext uri="{FF2B5EF4-FFF2-40B4-BE49-F238E27FC236}">
                <a16:creationId xmlns:a16="http://schemas.microsoft.com/office/drawing/2014/main" id="{B9D29DC4-36C1-5560-F0A7-4F8DC58E329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5" name="하단 Nav 구분선">
            <a:extLst>
              <a:ext uri="{FF2B5EF4-FFF2-40B4-BE49-F238E27FC236}">
                <a16:creationId xmlns:a16="http://schemas.microsoft.com/office/drawing/2014/main" id="{BA26A477-6041-7DC3-E9BF-45034B6E924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아이콘 nav">
            <a:extLst>
              <a:ext uri="{FF2B5EF4-FFF2-40B4-BE49-F238E27FC236}">
                <a16:creationId xmlns:a16="http://schemas.microsoft.com/office/drawing/2014/main" id="{F62AD192-A5A0-2F6D-77BE-63FA7484A292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Nav 길안내">
            <a:extLst>
              <a:ext uri="{FF2B5EF4-FFF2-40B4-BE49-F238E27FC236}">
                <a16:creationId xmlns:a16="http://schemas.microsoft.com/office/drawing/2014/main" id="{33226980-9221-6505-62E5-17FF5733765F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8" name="아이콘 home">
            <a:extLst>
              <a:ext uri="{FF2B5EF4-FFF2-40B4-BE49-F238E27FC236}">
                <a16:creationId xmlns:a16="http://schemas.microsoft.com/office/drawing/2014/main" id="{32F4FEB2-BD18-A44C-A902-E1DFDFC19C8B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home">
            <a:extLst>
              <a:ext uri="{FF2B5EF4-FFF2-40B4-BE49-F238E27FC236}">
                <a16:creationId xmlns:a16="http://schemas.microsoft.com/office/drawing/2014/main" id="{BF6D0021-B229-7B1E-CFE1-C313226DE409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Nav 홈">
            <a:extLst>
              <a:ext uri="{FF2B5EF4-FFF2-40B4-BE49-F238E27FC236}">
                <a16:creationId xmlns:a16="http://schemas.microsoft.com/office/drawing/2014/main" id="{54DC0AC7-75EB-6272-B185-6FF58A49AB82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1" name="아이콘 user">
            <a:extLst>
              <a:ext uri="{FF2B5EF4-FFF2-40B4-BE49-F238E27FC236}">
                <a16:creationId xmlns:a16="http://schemas.microsoft.com/office/drawing/2014/main" id="{B4222F65-9765-0FE7-F836-E9988645EEC2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아이콘 user">
            <a:extLst>
              <a:ext uri="{FF2B5EF4-FFF2-40B4-BE49-F238E27FC236}">
                <a16:creationId xmlns:a16="http://schemas.microsoft.com/office/drawing/2014/main" id="{3BE34B44-73ED-0BE0-331E-1433715183C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av 마이페이지">
            <a:extLst>
              <a:ext uri="{FF2B5EF4-FFF2-40B4-BE49-F238E27FC236}">
                <a16:creationId xmlns:a16="http://schemas.microsoft.com/office/drawing/2014/main" id="{484140FC-C1D4-8D08-6650-AAA9A8ADBB63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4" name="행 제목">
            <a:extLst>
              <a:ext uri="{FF2B5EF4-FFF2-40B4-BE49-F238E27FC236}">
                <a16:creationId xmlns:a16="http://schemas.microsoft.com/office/drawing/2014/main" id="{ADC44049-1A6B-3B27-9E2D-C29F36098B8B}"/>
              </a:ext>
            </a:extLst>
          </p:cNvPr>
          <p:cNvSpPr txBox="1"/>
          <p:nvPr/>
        </p:nvSpPr>
        <p:spPr>
          <a:xfrm>
            <a:off x="4758309" y="1785247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나의 총 마일리지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7" name="구분 머리"/>
          <p:cNvSpPr txBox="1"/>
          <p:nvPr/>
        </p:nvSpPr>
        <p:spPr>
          <a:xfrm>
            <a:off x="4855464" y="2889504"/>
            <a:ext cx="20482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마일리지 내역</a:t>
            </a:r>
          </a:p>
        </p:txBody>
      </p:sp>
      <p:sp>
        <p:nvSpPr>
          <p:cNvPr id="38" name="내역 사유"/>
          <p:cNvSpPr txBox="1"/>
          <p:nvPr/>
        </p:nvSpPr>
        <p:spPr>
          <a:xfrm>
            <a:off x="4855464" y="3419856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39" name="내역 값"/>
          <p:cNvSpPr txBox="1"/>
          <p:nvPr/>
        </p:nvSpPr>
        <p:spPr>
          <a:xfrm>
            <a:off x="4855464" y="3639312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2026년 1월 3일 · +20M · 적립</a:t>
            </a:r>
          </a:p>
        </p:txBody>
      </p:sp>
      <p:sp>
        <p:nvSpPr>
          <p:cNvPr id="40" name="내역 유효기간"/>
          <p:cNvSpPr txBox="1"/>
          <p:nvPr/>
        </p:nvSpPr>
        <p:spPr>
          <a:xfrm>
            <a:off x="4855464" y="3803904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2027년 1월 3일</a:t>
            </a:r>
          </a:p>
        </p:txBody>
      </p:sp>
      <p:sp>
        <p:nvSpPr>
          <p:cNvPr id="41" name="내역 사유"/>
          <p:cNvSpPr txBox="1"/>
          <p:nvPr/>
        </p:nvSpPr>
        <p:spPr>
          <a:xfrm>
            <a:off x="4855464" y="4114800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내역 값"/>
          <p:cNvSpPr txBox="1"/>
          <p:nvPr/>
        </p:nvSpPr>
        <p:spPr>
          <a:xfrm>
            <a:off x="4855464" y="4334256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2026년 1월 2일 · +10M · 적립</a:t>
            </a:r>
          </a:p>
        </p:txBody>
      </p:sp>
      <p:sp>
        <p:nvSpPr>
          <p:cNvPr id="43" name="내역 유효기간"/>
          <p:cNvSpPr txBox="1"/>
          <p:nvPr/>
        </p:nvSpPr>
        <p:spPr>
          <a:xfrm>
            <a:off x="4855464" y="4498848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2027년 1월 2일</a:t>
            </a:r>
          </a:p>
        </p:txBody>
      </p:sp>
      <p:sp>
        <p:nvSpPr>
          <p:cNvPr id="44" name="내역 사유"/>
          <p:cNvSpPr txBox="1"/>
          <p:nvPr/>
        </p:nvSpPr>
        <p:spPr>
          <a:xfrm>
            <a:off x="4855464" y="4809744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5" name="내역 값"/>
          <p:cNvSpPr txBox="1"/>
          <p:nvPr/>
        </p:nvSpPr>
        <p:spPr>
          <a:xfrm>
            <a:off x="4855464" y="5029200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2025년 12월 28일 · +23M · 적립</a:t>
            </a:r>
          </a:p>
        </p:txBody>
      </p:sp>
      <p:sp>
        <p:nvSpPr>
          <p:cNvPr id="46" name="내역 유효기간"/>
          <p:cNvSpPr txBox="1"/>
          <p:nvPr/>
        </p:nvSpPr>
        <p:spPr>
          <a:xfrm>
            <a:off x="4855464" y="5193792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2026년 12월 28일</a:t>
            </a:r>
          </a:p>
        </p:txBody>
      </p:sp>
      <p:sp>
        <p:nvSpPr>
          <p:cNvPr id="47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8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0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1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3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4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56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7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8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0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2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4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5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7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8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0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2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3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5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6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7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8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9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0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1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2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3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4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5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6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7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8" name="tab"/>
          <p:cNvSpPr/>
          <p:nvPr/>
        </p:nvSpPr>
        <p:spPr>
          <a:xfrm>
            <a:off x="48554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t"/>
          <p:cNvSpPr txBox="1"/>
          <p:nvPr/>
        </p:nvSpPr>
        <p:spPr>
          <a:xfrm>
            <a:off x="48554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전체</a:t>
            </a:r>
          </a:p>
        </p:txBody>
      </p:sp>
      <p:sp>
        <p:nvSpPr>
          <p:cNvPr id="90" name="tab"/>
          <p:cNvSpPr/>
          <p:nvPr/>
        </p:nvSpPr>
        <p:spPr>
          <a:xfrm>
            <a:off x="55412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91" name="t"/>
          <p:cNvSpPr txBox="1"/>
          <p:nvPr/>
        </p:nvSpPr>
        <p:spPr>
          <a:xfrm>
            <a:off x="55412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적립</a:t>
            </a:r>
          </a:p>
        </p:txBody>
      </p:sp>
      <p:sp>
        <p:nvSpPr>
          <p:cNvPr id="92" name="tab"/>
          <p:cNvSpPr/>
          <p:nvPr/>
        </p:nvSpPr>
        <p:spPr>
          <a:xfrm>
            <a:off x="62270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93" name="t"/>
          <p:cNvSpPr txBox="1"/>
          <p:nvPr/>
        </p:nvSpPr>
        <p:spPr>
          <a:xfrm>
            <a:off x="62270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사용</a:t>
            </a:r>
          </a:p>
        </p:txBody>
      </p:sp>
      <p:sp>
        <p:nvSpPr>
          <p:cNvPr id="94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5" name="숫자배지 1"/>
          <p:cNvSpPr/>
          <p:nvPr/>
        </p:nvSpPr>
        <p:spPr>
          <a:xfrm>
            <a:off x="4389120" y="2157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6" name="숫자배지 2"/>
          <p:cNvSpPr/>
          <p:nvPr/>
        </p:nvSpPr>
        <p:spPr>
          <a:xfrm>
            <a:off x="4389120" y="28895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7" name="숫자배지 3"/>
          <p:cNvSpPr/>
          <p:nvPr/>
        </p:nvSpPr>
        <p:spPr>
          <a:xfrm>
            <a:off x="4389120" y="33832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8" name="숫자배지 4"/>
          <p:cNvSpPr/>
          <p:nvPr/>
        </p:nvSpPr>
        <p:spPr>
          <a:xfrm>
            <a:off x="4389120" y="37673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3-2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1014435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내 마일리지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2054184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총액 · 마일리지 내역 (2/2)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목업 프레임"/>
          <p:cNvSpPr/>
          <p:nvPr/>
        </p:nvSpPr>
        <p:spPr>
          <a:xfrm>
            <a:off x="456780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9" name="리스트 행"/>
          <p:cNvSpPr/>
          <p:nvPr/>
        </p:nvSpPr>
        <p:spPr>
          <a:xfrm>
            <a:off x="4720209" y="2035257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행 제목"/>
          <p:cNvSpPr txBox="1"/>
          <p:nvPr/>
        </p:nvSpPr>
        <p:spPr>
          <a:xfrm>
            <a:off x="4853558" y="2239185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0" spc="-18">
                <a:solidFill>
                  <a:srgbClr val="14181F"/>
                </a:solidFill>
                <a:latin typeface="Pretendard"/>
              </a:rPr>
              <a:t>254M</a:t>
            </a:r>
          </a:p>
        </p:txBody>
      </p:sp>
      <p:sp>
        <p:nvSpPr>
          <p:cNvPr id="11" name="리스트 행"/>
          <p:cNvSpPr/>
          <p:nvPr/>
        </p:nvSpPr>
        <p:spPr>
          <a:xfrm>
            <a:off x="4720209" y="3364992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리스트 행"/>
          <p:cNvSpPr/>
          <p:nvPr/>
        </p:nvSpPr>
        <p:spPr>
          <a:xfrm>
            <a:off x="4720209" y="4059936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리스트 행"/>
          <p:cNvSpPr/>
          <p:nvPr/>
        </p:nvSpPr>
        <p:spPr>
          <a:xfrm>
            <a:off x="4720209" y="4754880"/>
            <a:ext cx="2428875" cy="6400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/>
          <p:cNvSpPr/>
          <p:nvPr/>
        </p:nvSpPr>
        <p:spPr>
          <a:xfrm>
            <a:off x="457733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/>
          <p:cNvSpPr txBox="1"/>
          <p:nvPr/>
        </p:nvSpPr>
        <p:spPr>
          <a:xfrm>
            <a:off x="498690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내</a:t>
            </a:r>
            <a:r>
              <a:rPr sz="1012" b="1" spc="-20" dirty="0">
                <a:solidFill>
                  <a:srgbClr val="14181F"/>
                </a:solidFill>
                <a:latin typeface="Pretendard"/>
              </a:rPr>
              <a:t> </a:t>
            </a:r>
            <a:r>
              <a:rPr sz="1012" b="1" spc="-20" dirty="0" err="1">
                <a:solidFill>
                  <a:srgbClr val="14181F"/>
                </a:solidFill>
                <a:latin typeface="Pretendard"/>
              </a:rPr>
              <a:t>마일리지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16" name="뒤로가기"/>
          <p:cNvCxnSpPr/>
          <p:nvPr/>
        </p:nvCxnSpPr>
        <p:spPr>
          <a:xfrm flipH="1">
            <a:off x="472020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/>
          <p:cNvCxnSpPr/>
          <p:nvPr/>
        </p:nvCxnSpPr>
        <p:spPr>
          <a:xfrm flipH="1" flipV="1">
            <a:off x="472020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50210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유효기간 — 3줄째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「유효기간 2027년 1월 3일」 · 항목별 필수 요건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임박 · 만료는 말로 병기 — 「만료 임박」 / 「만료됨」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만료된 항목도 내역에 남김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유효기간이 없으면 3줄째를 두지 않음 · 사용 행에는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진입할 때마다 다시 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스크롤로 이어 받음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목업 프레임">
            <a:extLst>
              <a:ext uri="{FF2B5EF4-FFF2-40B4-BE49-F238E27FC236}">
                <a16:creationId xmlns:a16="http://schemas.microsoft.com/office/drawing/2014/main" id="{0DA6432B-2573-37D4-CBD3-89E5829FA814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탑바 구분선">
            <a:extLst>
              <a:ext uri="{FF2B5EF4-FFF2-40B4-BE49-F238E27FC236}">
                <a16:creationId xmlns:a16="http://schemas.microsoft.com/office/drawing/2014/main" id="{125344C3-5473-BDBC-DE7E-58F765330EEE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>
            <a:extLst>
              <a:ext uri="{FF2B5EF4-FFF2-40B4-BE49-F238E27FC236}">
                <a16:creationId xmlns:a16="http://schemas.microsoft.com/office/drawing/2014/main" id="{B9D29DC4-36C1-5560-F0A7-4F8DC58E329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25" name="하단 Nav 구분선">
            <a:extLst>
              <a:ext uri="{FF2B5EF4-FFF2-40B4-BE49-F238E27FC236}">
                <a16:creationId xmlns:a16="http://schemas.microsoft.com/office/drawing/2014/main" id="{BA26A477-6041-7DC3-E9BF-45034B6E924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6" name="아이콘 nav">
            <a:extLst>
              <a:ext uri="{FF2B5EF4-FFF2-40B4-BE49-F238E27FC236}">
                <a16:creationId xmlns:a16="http://schemas.microsoft.com/office/drawing/2014/main" id="{F62AD192-A5A0-2F6D-77BE-63FA7484A292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Nav 길안내">
            <a:extLst>
              <a:ext uri="{FF2B5EF4-FFF2-40B4-BE49-F238E27FC236}">
                <a16:creationId xmlns:a16="http://schemas.microsoft.com/office/drawing/2014/main" id="{33226980-9221-6505-62E5-17FF5733765F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28" name="아이콘 home">
            <a:extLst>
              <a:ext uri="{FF2B5EF4-FFF2-40B4-BE49-F238E27FC236}">
                <a16:creationId xmlns:a16="http://schemas.microsoft.com/office/drawing/2014/main" id="{32F4FEB2-BD18-A44C-A902-E1DFDFC19C8B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아이콘 home">
            <a:extLst>
              <a:ext uri="{FF2B5EF4-FFF2-40B4-BE49-F238E27FC236}">
                <a16:creationId xmlns:a16="http://schemas.microsoft.com/office/drawing/2014/main" id="{BF6D0021-B229-7B1E-CFE1-C313226DE409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Nav 홈">
            <a:extLst>
              <a:ext uri="{FF2B5EF4-FFF2-40B4-BE49-F238E27FC236}">
                <a16:creationId xmlns:a16="http://schemas.microsoft.com/office/drawing/2014/main" id="{54DC0AC7-75EB-6272-B185-6FF58A49AB82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1" name="아이콘 user">
            <a:extLst>
              <a:ext uri="{FF2B5EF4-FFF2-40B4-BE49-F238E27FC236}">
                <a16:creationId xmlns:a16="http://schemas.microsoft.com/office/drawing/2014/main" id="{B4222F65-9765-0FE7-F836-E9988645EEC2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아이콘 user">
            <a:extLst>
              <a:ext uri="{FF2B5EF4-FFF2-40B4-BE49-F238E27FC236}">
                <a16:creationId xmlns:a16="http://schemas.microsoft.com/office/drawing/2014/main" id="{3BE34B44-73ED-0BE0-331E-1433715183C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Nav 마이페이지">
            <a:extLst>
              <a:ext uri="{FF2B5EF4-FFF2-40B4-BE49-F238E27FC236}">
                <a16:creationId xmlns:a16="http://schemas.microsoft.com/office/drawing/2014/main" id="{484140FC-C1D4-8D08-6650-AAA9A8ADBB63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4" name="행 제목">
            <a:extLst>
              <a:ext uri="{FF2B5EF4-FFF2-40B4-BE49-F238E27FC236}">
                <a16:creationId xmlns:a16="http://schemas.microsoft.com/office/drawing/2014/main" id="{ADC44049-1A6B-3B27-9E2D-C29F36098B8B}"/>
              </a:ext>
            </a:extLst>
          </p:cNvPr>
          <p:cNvSpPr txBox="1"/>
          <p:nvPr/>
        </p:nvSpPr>
        <p:spPr>
          <a:xfrm>
            <a:off x="4758309" y="1785247"/>
            <a:ext cx="1990725" cy="1714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ko-KR" altLang="en-US" sz="900" b="0" spc="-18" dirty="0">
                <a:solidFill>
                  <a:srgbClr val="14181F"/>
                </a:solidFill>
                <a:latin typeface="Pretendard"/>
              </a:rPr>
              <a:t>나의 총 마일리지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7" name="구분 머리"/>
          <p:cNvSpPr txBox="1"/>
          <p:nvPr/>
        </p:nvSpPr>
        <p:spPr>
          <a:xfrm>
            <a:off x="4855464" y="2889504"/>
            <a:ext cx="2048256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마일리지 내역</a:t>
            </a:r>
          </a:p>
        </p:txBody>
      </p:sp>
      <p:sp>
        <p:nvSpPr>
          <p:cNvPr id="38" name="내역 사유"/>
          <p:cNvSpPr txBox="1"/>
          <p:nvPr/>
        </p:nvSpPr>
        <p:spPr>
          <a:xfrm>
            <a:off x="4855464" y="3419856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39" name="내역 값"/>
          <p:cNvSpPr txBox="1"/>
          <p:nvPr/>
        </p:nvSpPr>
        <p:spPr>
          <a:xfrm>
            <a:off x="4855464" y="3639312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2026년 1월 3일 · +20M · 적립</a:t>
            </a:r>
          </a:p>
        </p:txBody>
      </p:sp>
      <p:sp>
        <p:nvSpPr>
          <p:cNvPr id="40" name="내역 유효기간"/>
          <p:cNvSpPr txBox="1"/>
          <p:nvPr/>
        </p:nvSpPr>
        <p:spPr>
          <a:xfrm>
            <a:off x="4855464" y="3803904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2027년 1월 3일</a:t>
            </a:r>
          </a:p>
        </p:txBody>
      </p:sp>
      <p:sp>
        <p:nvSpPr>
          <p:cNvPr id="41" name="내역 사유"/>
          <p:cNvSpPr txBox="1"/>
          <p:nvPr/>
        </p:nvSpPr>
        <p:spPr>
          <a:xfrm>
            <a:off x="4855464" y="4114800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2" name="내역 값"/>
          <p:cNvSpPr txBox="1"/>
          <p:nvPr/>
        </p:nvSpPr>
        <p:spPr>
          <a:xfrm>
            <a:off x="4855464" y="4334256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2026년 1월 2일 · +10M · 적립</a:t>
            </a:r>
          </a:p>
        </p:txBody>
      </p:sp>
      <p:sp>
        <p:nvSpPr>
          <p:cNvPr id="43" name="내역 유효기간"/>
          <p:cNvSpPr txBox="1"/>
          <p:nvPr/>
        </p:nvSpPr>
        <p:spPr>
          <a:xfrm>
            <a:off x="4855464" y="4498848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2027년 1월 2일</a:t>
            </a:r>
          </a:p>
        </p:txBody>
      </p:sp>
      <p:sp>
        <p:nvSpPr>
          <p:cNvPr id="44" name="내역 사유"/>
          <p:cNvSpPr txBox="1"/>
          <p:nvPr/>
        </p:nvSpPr>
        <p:spPr>
          <a:xfrm>
            <a:off x="4855464" y="4809744"/>
            <a:ext cx="1993392" cy="20116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불편신고</a:t>
            </a:r>
          </a:p>
        </p:txBody>
      </p:sp>
      <p:sp>
        <p:nvSpPr>
          <p:cNvPr id="45" name="내역 값"/>
          <p:cNvSpPr txBox="1"/>
          <p:nvPr/>
        </p:nvSpPr>
        <p:spPr>
          <a:xfrm>
            <a:off x="4855464" y="5029200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2025년 12월 28일 · +23M · 적립</a:t>
            </a:r>
          </a:p>
        </p:txBody>
      </p:sp>
      <p:sp>
        <p:nvSpPr>
          <p:cNvPr id="46" name="내역 유효기간"/>
          <p:cNvSpPr txBox="1"/>
          <p:nvPr/>
        </p:nvSpPr>
        <p:spPr>
          <a:xfrm>
            <a:off x="4855464" y="5193792"/>
            <a:ext cx="210312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60" b="0" spc="-15">
                <a:solidFill>
                  <a:srgbClr val="8A94A3"/>
                </a:solidFill>
                <a:latin typeface="Pretendard"/>
              </a:rPr>
              <a:t>유효기간 2026년 12월 28일</a:t>
            </a:r>
          </a:p>
        </p:txBody>
      </p:sp>
      <p:sp>
        <p:nvSpPr>
          <p:cNvPr id="47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8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9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50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1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2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3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4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5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56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7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8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60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1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2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3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4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5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6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7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8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70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2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3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4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5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6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7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8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9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0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1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2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3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4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5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6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7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8" name="tab"/>
          <p:cNvSpPr/>
          <p:nvPr/>
        </p:nvSpPr>
        <p:spPr>
          <a:xfrm>
            <a:off x="48554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t"/>
          <p:cNvSpPr txBox="1"/>
          <p:nvPr/>
        </p:nvSpPr>
        <p:spPr>
          <a:xfrm>
            <a:off x="48554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FFFFFF"/>
                </a:solidFill>
                <a:latin typeface="Pretendard"/>
                <a:ea typeface="Pretendard"/>
              </a:rPr>
              <a:t>전체</a:t>
            </a:r>
          </a:p>
        </p:txBody>
      </p:sp>
      <p:sp>
        <p:nvSpPr>
          <p:cNvPr id="90" name="tab"/>
          <p:cNvSpPr/>
          <p:nvPr/>
        </p:nvSpPr>
        <p:spPr>
          <a:xfrm>
            <a:off x="55412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91" name="t"/>
          <p:cNvSpPr txBox="1"/>
          <p:nvPr/>
        </p:nvSpPr>
        <p:spPr>
          <a:xfrm>
            <a:off x="55412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적립</a:t>
            </a:r>
          </a:p>
        </p:txBody>
      </p:sp>
      <p:sp>
        <p:nvSpPr>
          <p:cNvPr id="92" name="tab"/>
          <p:cNvSpPr/>
          <p:nvPr/>
        </p:nvSpPr>
        <p:spPr>
          <a:xfrm>
            <a:off x="6227064" y="3054096"/>
            <a:ext cx="64922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93" name="t"/>
          <p:cNvSpPr txBox="1"/>
          <p:nvPr/>
        </p:nvSpPr>
        <p:spPr>
          <a:xfrm>
            <a:off x="6227064" y="3104388"/>
            <a:ext cx="64922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사용</a:t>
            </a:r>
          </a:p>
        </p:txBody>
      </p:sp>
      <p:sp>
        <p:nvSpPr>
          <p:cNvPr id="94" name="숫자배지 1"/>
          <p:cNvSpPr/>
          <p:nvPr/>
        </p:nvSpPr>
        <p:spPr>
          <a:xfrm>
            <a:off x="4389120" y="215798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5" name="숫자배지 2"/>
          <p:cNvSpPr/>
          <p:nvPr/>
        </p:nvSpPr>
        <p:spPr>
          <a:xfrm>
            <a:off x="4389120" y="28895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6" name="숫자배지 3"/>
          <p:cNvSpPr/>
          <p:nvPr/>
        </p:nvSpPr>
        <p:spPr>
          <a:xfrm>
            <a:off x="4389120" y="338328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7" name="숫자배지 4"/>
          <p:cNvSpPr/>
          <p:nvPr/>
        </p:nvSpPr>
        <p:spPr>
          <a:xfrm>
            <a:off x="4389120" y="376732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0002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160621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967579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워크플로우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워크플로우 스테이지"/>
          <p:cNvSpPr/>
          <p:nvPr/>
        </p:nvSpPr>
        <p:spPr>
          <a:xfrm>
            <a:off x="419100" y="933450"/>
            <a:ext cx="11353800" cy="5219700"/>
          </a:xfrm>
          <a:prstGeom prst="roundRect">
            <a:avLst>
              <a:gd name="adj" fmla="val 2554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흐름 3-0 마이페이지"/>
          <p:cNvSpPr/>
          <p:nvPr/>
        </p:nvSpPr>
        <p:spPr>
          <a:xfrm>
            <a:off x="1046312" y="2650000"/>
            <a:ext cx="1630392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흐름 제목"/>
          <p:cNvSpPr txBox="1"/>
          <p:nvPr/>
        </p:nvSpPr>
        <p:spPr>
          <a:xfrm>
            <a:off x="1160612" y="2650000"/>
            <a:ext cx="1401792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3-0 마이페이지</a:t>
            </a:r>
          </a:p>
        </p:txBody>
      </p:sp>
      <p:sp>
        <p:nvSpPr>
          <p:cNvPr id="12" name="흐름 3-3 즐겨찾기"/>
          <p:cNvSpPr/>
          <p:nvPr/>
        </p:nvSpPr>
        <p:spPr>
          <a:xfrm>
            <a:off x="3084303" y="2650000"/>
            <a:ext cx="1811547" cy="561580"/>
          </a:xfrm>
          <a:prstGeom prst="roundRect">
            <a:avLst>
              <a:gd name="adj" fmla="val 20353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흐름 제목"/>
          <p:cNvSpPr txBox="1"/>
          <p:nvPr/>
        </p:nvSpPr>
        <p:spPr>
          <a:xfrm>
            <a:off x="3198603" y="2650000"/>
            <a:ext cx="1582947" cy="5615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9A6410"/>
                </a:solidFill>
                <a:latin typeface="Pretendard"/>
              </a:rPr>
              <a:t>3-3 즐겨찾기</a:t>
            </a:r>
          </a:p>
        </p:txBody>
      </p:sp>
      <p:cxnSp>
        <p:nvCxnSpPr>
          <p:cNvPr id="14" name="연결선"/>
          <p:cNvCxnSpPr>
            <a:stCxn id="10" idx="3"/>
            <a:endCxn id="12" idx="1"/>
          </p:cNvCxnSpPr>
          <p:nvPr/>
        </p:nvCxnSpPr>
        <p:spPr>
          <a:xfrm>
            <a:off x="2676704" y="2930790"/>
            <a:ext cx="407599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5" name="흐름 2-1 장소 검색"/>
          <p:cNvSpPr/>
          <p:nvPr/>
        </p:nvSpPr>
        <p:spPr>
          <a:xfrm>
            <a:off x="5801624" y="11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흐름 제목"/>
          <p:cNvSpPr txBox="1"/>
          <p:nvPr/>
        </p:nvSpPr>
        <p:spPr>
          <a:xfrm>
            <a:off x="5915924" y="11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2-1 장소 검색 (추가 모드)</a:t>
            </a:r>
          </a:p>
        </p:txBody>
      </p:sp>
      <p:cxnSp>
        <p:nvCxnSpPr>
          <p:cNvPr id="17" name="연결선"/>
          <p:cNvCxnSpPr>
            <a:stCxn id="12" idx="3"/>
            <a:endCxn id="15" idx="1"/>
          </p:cNvCxnSpPr>
          <p:nvPr/>
        </p:nvCxnSpPr>
        <p:spPr>
          <a:xfrm flipV="1">
            <a:off x="4895850" y="1399087"/>
            <a:ext cx="905774" cy="153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18" name="연결선 라벨 [＋ 즐겨찾기 추가]"/>
          <p:cNvSpPr txBox="1"/>
          <p:nvPr/>
        </p:nvSpPr>
        <p:spPr>
          <a:xfrm>
            <a:off x="5034542" y="12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[＋ 즐겨찾기 추가]</a:t>
            </a:r>
          </a:p>
        </p:txBody>
      </p:sp>
      <p:sp>
        <p:nvSpPr>
          <p:cNvPr id="19" name="흐름 2-2 장소 상세"/>
          <p:cNvSpPr/>
          <p:nvPr/>
        </p:nvSpPr>
        <p:spPr>
          <a:xfrm>
            <a:off x="8518944" y="11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흐름 제목"/>
          <p:cNvSpPr txBox="1"/>
          <p:nvPr/>
        </p:nvSpPr>
        <p:spPr>
          <a:xfrm>
            <a:off x="8633244" y="11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(추가 모드)</a:t>
            </a:r>
          </a:p>
        </p:txBody>
      </p:sp>
      <p:cxnSp>
        <p:nvCxnSpPr>
          <p:cNvPr id="21" name="연결선"/>
          <p:cNvCxnSpPr>
            <a:stCxn id="15" idx="3"/>
            <a:endCxn id="19" idx="1"/>
          </p:cNvCxnSpPr>
          <p:nvPr/>
        </p:nvCxnSpPr>
        <p:spPr>
          <a:xfrm>
            <a:off x="7884903" y="13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2" name="흐름 자주 가는 곳 유형 선택"/>
          <p:cNvSpPr/>
          <p:nvPr/>
        </p:nvSpPr>
        <p:spPr>
          <a:xfrm>
            <a:off x="5801624" y="20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흐름 제목"/>
          <p:cNvSpPr txBox="1"/>
          <p:nvPr/>
        </p:nvSpPr>
        <p:spPr>
          <a:xfrm>
            <a:off x="5915924" y="20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자주 가는 곳 유형 선택</a:t>
            </a:r>
          </a:p>
        </p:txBody>
      </p:sp>
      <p:cxnSp>
        <p:nvCxnSpPr>
          <p:cNvPr id="24" name="연결선"/>
          <p:cNvCxnSpPr>
            <a:stCxn id="12" idx="3"/>
            <a:endCxn id="22" idx="1"/>
          </p:cNvCxnSpPr>
          <p:nvPr/>
        </p:nvCxnSpPr>
        <p:spPr>
          <a:xfrm flipV="1">
            <a:off x="4895850" y="2249087"/>
            <a:ext cx="905774" cy="681703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5" name="연결선 라벨 빈 슬롯 선택"/>
          <p:cNvSpPr txBox="1"/>
          <p:nvPr/>
        </p:nvSpPr>
        <p:spPr>
          <a:xfrm>
            <a:off x="5034542" y="20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빈 슬롯 선택</a:t>
            </a:r>
          </a:p>
        </p:txBody>
      </p:sp>
      <p:sp>
        <p:nvSpPr>
          <p:cNvPr id="26" name="흐름 이름 변경 바텀시트"/>
          <p:cNvSpPr/>
          <p:nvPr/>
        </p:nvSpPr>
        <p:spPr>
          <a:xfrm>
            <a:off x="8518944" y="202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흐름 제목"/>
          <p:cNvSpPr txBox="1"/>
          <p:nvPr/>
        </p:nvSpPr>
        <p:spPr>
          <a:xfrm>
            <a:off x="8633244" y="202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(추가)</a:t>
            </a:r>
          </a:p>
        </p:txBody>
      </p:sp>
      <p:cxnSp>
        <p:nvCxnSpPr>
          <p:cNvPr id="28" name="연결선"/>
          <p:cNvCxnSpPr>
            <a:stCxn id="22" idx="3"/>
            <a:endCxn id="26" idx="1"/>
          </p:cNvCxnSpPr>
          <p:nvPr/>
        </p:nvCxnSpPr>
        <p:spPr>
          <a:xfrm>
            <a:off x="7884903" y="224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29" name="흐름 편집 모드 — 행 선택"/>
          <p:cNvSpPr/>
          <p:nvPr/>
        </p:nvSpPr>
        <p:spPr>
          <a:xfrm>
            <a:off x="5801624" y="27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흐름 제목"/>
          <p:cNvSpPr txBox="1"/>
          <p:nvPr/>
        </p:nvSpPr>
        <p:spPr>
          <a:xfrm>
            <a:off x="5915924" y="27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[이름수정]</a:t>
            </a:r>
          </a:p>
        </p:txBody>
      </p:sp>
      <p:cxnSp>
        <p:nvCxnSpPr>
          <p:cNvPr id="31" name="연결선"/>
          <p:cNvCxnSpPr>
            <a:stCxn id="12" idx="3"/>
            <a:endCxn id="29" idx="1"/>
          </p:cNvCxnSpPr>
          <p:nvPr/>
        </p:nvCxnSpPr>
        <p:spPr>
          <a:xfrm>
            <a:off x="4895850" y="2930790"/>
            <a:ext cx="905774" cy="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2" name="연결선 라벨 [편집] → [이름수정]"/>
          <p:cNvSpPr txBox="1"/>
          <p:nvPr/>
        </p:nvSpPr>
        <p:spPr>
          <a:xfrm>
            <a:off x="5034542" y="28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[이름수정]</a:t>
            </a:r>
          </a:p>
        </p:txBody>
      </p:sp>
      <p:sp>
        <p:nvSpPr>
          <p:cNvPr id="33" name="흐름 이름 변경 바텀시트"/>
          <p:cNvSpPr/>
          <p:nvPr/>
        </p:nvSpPr>
        <p:spPr>
          <a:xfrm>
            <a:off x="8518944" y="27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흐름 제목"/>
          <p:cNvSpPr txBox="1"/>
          <p:nvPr/>
        </p:nvSpPr>
        <p:spPr>
          <a:xfrm>
            <a:off x="8633244" y="27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이름 변경 바텀시트 (이름 수정)</a:t>
            </a:r>
          </a:p>
        </p:txBody>
      </p:sp>
      <p:cxnSp>
        <p:nvCxnSpPr>
          <p:cNvPr id="35" name="연결선"/>
          <p:cNvCxnSpPr>
            <a:stCxn id="29" idx="3"/>
            <a:endCxn id="33" idx="1"/>
          </p:cNvCxnSpPr>
          <p:nvPr/>
        </p:nvCxnSpPr>
        <p:spPr>
          <a:xfrm>
            <a:off x="7884903" y="29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6" name="흐름 편집 모드 — [삭제]"/>
          <p:cNvSpPr/>
          <p:nvPr/>
        </p:nvSpPr>
        <p:spPr>
          <a:xfrm>
            <a:off x="5801624" y="345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흐름 제목"/>
          <p:cNvSpPr txBox="1"/>
          <p:nvPr/>
        </p:nvSpPr>
        <p:spPr>
          <a:xfrm>
            <a:off x="5915924" y="345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편집 모드 — [삭제]</a:t>
            </a:r>
          </a:p>
        </p:txBody>
      </p:sp>
      <p:cxnSp>
        <p:nvCxnSpPr>
          <p:cNvPr id="38" name="연결선"/>
          <p:cNvCxnSpPr>
            <a:stCxn id="12" idx="3"/>
            <a:endCxn id="36" idx="1"/>
          </p:cNvCxnSpPr>
          <p:nvPr/>
        </p:nvCxnSpPr>
        <p:spPr>
          <a:xfrm>
            <a:off x="4895850" y="2930790"/>
            <a:ext cx="905774" cy="76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39" name="연결선 라벨 [편집] → [삭제]"/>
          <p:cNvSpPr txBox="1"/>
          <p:nvPr/>
        </p:nvSpPr>
        <p:spPr>
          <a:xfrm>
            <a:off x="5034542" y="350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[편집] → [삭제]</a:t>
            </a:r>
          </a:p>
        </p:txBody>
      </p:sp>
      <p:sp>
        <p:nvSpPr>
          <p:cNvPr id="40" name="흐름 삭제 확인 팝업"/>
          <p:cNvSpPr/>
          <p:nvPr/>
        </p:nvSpPr>
        <p:spPr>
          <a:xfrm>
            <a:off x="8518944" y="3472644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흐름 제목"/>
          <p:cNvSpPr txBox="1"/>
          <p:nvPr/>
        </p:nvSpPr>
        <p:spPr>
          <a:xfrm>
            <a:off x="8633244" y="3472644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삭제 확인 팝업</a:t>
            </a:r>
          </a:p>
        </p:txBody>
      </p:sp>
      <p:cxnSp>
        <p:nvCxnSpPr>
          <p:cNvPr id="42" name="연결선"/>
          <p:cNvCxnSpPr>
            <a:stCxn id="36" idx="3"/>
            <a:endCxn id="40" idx="1"/>
          </p:cNvCxnSpPr>
          <p:nvPr/>
        </p:nvCxnSpPr>
        <p:spPr>
          <a:xfrm>
            <a:off x="7884903" y="3699087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3" name="흐름 2-0 길안내"/>
          <p:cNvSpPr/>
          <p:nvPr/>
        </p:nvSpPr>
        <p:spPr>
          <a:xfrm>
            <a:off x="5801624" y="4300000"/>
            <a:ext cx="2083279" cy="498175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흐름 제목"/>
          <p:cNvSpPr txBox="1"/>
          <p:nvPr/>
        </p:nvSpPr>
        <p:spPr>
          <a:xfrm>
            <a:off x="5915924" y="4300000"/>
            <a:ext cx="1854679" cy="498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2-0 길안내 (도착지 설정)</a:t>
            </a:r>
          </a:p>
        </p:txBody>
      </p:sp>
      <p:cxnSp>
        <p:nvCxnSpPr>
          <p:cNvPr id="45" name="연결선"/>
          <p:cNvCxnSpPr>
            <a:stCxn id="12" idx="3"/>
            <a:endCxn id="43" idx="1"/>
          </p:cNvCxnSpPr>
          <p:nvPr/>
        </p:nvCxnSpPr>
        <p:spPr>
          <a:xfrm>
            <a:off x="4895850" y="2930790"/>
            <a:ext cx="905774" cy="1618297"/>
          </a:xfrm>
          <a:prstGeom prst="bentConnector3">
            <a:avLst>
              <a:gd name="adj1" fmla="val 12000"/>
            </a:avLst>
          </a:prstGeom>
          <a:ln w="11906">
            <a:solidFill>
              <a:srgbClr val="9AA4B0"/>
            </a:solidFill>
            <a:tailEnd type="triangle"/>
          </a:ln>
        </p:spPr>
      </p:cxnSp>
      <p:sp>
        <p:nvSpPr>
          <p:cNvPr id="46" name="연결선 라벨 일반 항목 선택"/>
          <p:cNvSpPr txBox="1"/>
          <p:nvPr/>
        </p:nvSpPr>
        <p:spPr>
          <a:xfrm>
            <a:off x="5034542" y="4359087"/>
            <a:ext cx="737082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12" b="0">
                <a:solidFill>
                  <a:srgbClr val="8A94A3"/>
                </a:solidFill>
                <a:latin typeface="Pretendard"/>
              </a:rPr>
              <a:t>일반 항목 선택</a:t>
            </a:r>
          </a:p>
        </p:txBody>
      </p:sp>
      <p:sp>
        <p:nvSpPr>
          <p:cNvPr id="47" name="흐름 2-2 장소 상세"/>
          <p:cNvSpPr/>
          <p:nvPr/>
        </p:nvSpPr>
        <p:spPr>
          <a:xfrm>
            <a:off x="3084303" y="5150000"/>
            <a:ext cx="1811547" cy="452887"/>
          </a:xfrm>
          <a:prstGeom prst="roundRect">
            <a:avLst>
              <a:gd name="adj" fmla="val 20353"/>
            </a:avLst>
          </a:prstGeom>
          <a:solidFill>
            <a:srgbClr val="E6F4F3"/>
          </a:solidFill>
          <a:ln w="9525">
            <a:solidFill>
              <a:srgbClr val="B9DEDB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흐름 제목"/>
          <p:cNvSpPr txBox="1"/>
          <p:nvPr/>
        </p:nvSpPr>
        <p:spPr>
          <a:xfrm>
            <a:off x="3198603" y="5150000"/>
            <a:ext cx="1582947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0B7D77"/>
                </a:solidFill>
                <a:latin typeface="Pretendard"/>
              </a:rPr>
              <a:t>2-2 장소 상세 (★ 상태)</a:t>
            </a:r>
          </a:p>
        </p:txBody>
      </p:sp>
      <p:sp>
        <p:nvSpPr>
          <p:cNvPr id="49" name="흐름 ★ 탭"/>
          <p:cNvSpPr/>
          <p:nvPr/>
        </p:nvSpPr>
        <p:spPr>
          <a:xfrm>
            <a:off x="5801624" y="5150000"/>
            <a:ext cx="2083279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흐름 제목"/>
          <p:cNvSpPr txBox="1"/>
          <p:nvPr/>
        </p:nvSpPr>
        <p:spPr>
          <a:xfrm>
            <a:off x="5915924" y="5150000"/>
            <a:ext cx="1854679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★ 탭 (확인 없음)</a:t>
            </a:r>
          </a:p>
        </p:txBody>
      </p:sp>
      <p:sp>
        <p:nvSpPr>
          <p:cNvPr id="51" name="흐름 즉시 해제 · 토스트"/>
          <p:cNvSpPr/>
          <p:nvPr/>
        </p:nvSpPr>
        <p:spPr>
          <a:xfrm>
            <a:off x="8518944" y="5150000"/>
            <a:ext cx="2626743" cy="452887"/>
          </a:xfrm>
          <a:prstGeom prst="roundRect">
            <a:avLst>
              <a:gd name="adj" fmla="val 2035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177800" dist="38100" dir="5400000" rotWithShape="0">
              <a:srgbClr val="1A233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흐름 제목"/>
          <p:cNvSpPr txBox="1"/>
          <p:nvPr/>
        </p:nvSpPr>
        <p:spPr>
          <a:xfrm>
            <a:off x="8633244" y="5150000"/>
            <a:ext cx="2398143" cy="452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2" b="1" spc="-17">
                <a:solidFill>
                  <a:srgbClr val="14181F"/>
                </a:solidFill>
                <a:latin typeface="Pretendard"/>
              </a:rPr>
              <a:t>즉시 해제 · 토스트</a:t>
            </a:r>
          </a:p>
        </p:txBody>
      </p:sp>
      <p:cxnSp>
        <p:nvCxnSpPr>
          <p:cNvPr id="53" name="연결선"/>
          <p:cNvCxnSpPr>
            <a:stCxn id="47" idx="3"/>
            <a:endCxn id="50" idx="1"/>
          </p:cNvCxnSpPr>
          <p:nvPr/>
        </p:nvCxnSpPr>
        <p:spPr>
          <a:xfrm>
            <a:off x="4895850" y="5376443"/>
            <a:ext cx="905774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  <p:cxnSp>
        <p:nvCxnSpPr>
          <p:cNvPr id="54" name="연결선"/>
          <p:cNvCxnSpPr>
            <a:stCxn id="50" idx="3"/>
            <a:endCxn id="53" idx="1"/>
          </p:cNvCxnSpPr>
          <p:nvPr/>
        </p:nvCxnSpPr>
        <p:spPr>
          <a:xfrm>
            <a:off x="7884903" y="5376443"/>
            <a:ext cx="634041" cy="1"/>
          </a:xfrm>
          <a:prstGeom prst="line">
            <a:avLst/>
          </a:prstGeom>
          <a:ln w="11906">
            <a:solidFill>
              <a:srgbClr val="9AA4B0"/>
            </a:solidFill>
            <a:tailEnd type="triangle"/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251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 (1/3)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405236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이용 조건 · 뒤로가기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 전용 — 비회원은 마이페이지 경로에서 로그인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들어온 화면으로 복귀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길안내 시트 경로의 비회원은 섹션을 통째로 미노출 — 팝업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목록 2영역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고정 슬롯 영역(3행 고정) ＋ 일반 목록 영역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 대상은 도착지(POI) 1건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항목 선택 → 2-0 길안내 도착지로 설정 (출발지는 현재 위치)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고정 슬롯 — 집 1 ＋ 사용자 지정 2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「집」은 라벨 영구 고정 · 추가 · 삭제 불가 (총 3행)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미등록 슬롯도 행을 유지 — 「주소를 등록해 주세요.」 (회색)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미등록 사용자 지정 슬롯의 라벨은 「추가」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 이름은 프리셋 선택 시점에 정해짐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8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1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2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4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5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6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7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2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8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41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4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6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7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8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49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0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2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3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55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7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59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1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3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4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6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7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8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69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1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2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4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5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6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7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8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9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0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1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2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3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4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5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6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7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8" name="숫자배지 1"/>
          <p:cNvSpPr/>
          <p:nvPr/>
        </p:nvSpPr>
        <p:spPr>
          <a:xfrm>
            <a:off x="1115568" y="29809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2"/>
          <p:cNvSpPr/>
          <p:nvPr/>
        </p:nvSpPr>
        <p:spPr>
          <a:xfrm>
            <a:off x="4389120" y="16824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0" name="숫자배지 3"/>
          <p:cNvSpPr/>
          <p:nvPr/>
        </p:nvSpPr>
        <p:spPr>
          <a:xfrm>
            <a:off x="4389120" y="19751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1" name="숫자배지 4"/>
          <p:cNvSpPr/>
          <p:nvPr/>
        </p:nvSpPr>
        <p:spPr>
          <a:xfrm>
            <a:off x="4389120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2" name="숫자배지 5"/>
          <p:cNvSpPr/>
          <p:nvPr/>
        </p:nvSpPr>
        <p:spPr>
          <a:xfrm>
            <a:off x="4389120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3" name="숫자배지 6"/>
          <p:cNvSpPr/>
          <p:nvPr/>
        </p:nvSpPr>
        <p:spPr>
          <a:xfrm>
            <a:off x="7205472" y="12801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251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 (2/3)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326613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일반 목록 · 카운터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카운터 n / 10 상시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카운터는 일반 목록만 집계 — 고정 슬롯 3행 제외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슬롯으로 지정해도 일반 목록에서 빼지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같은 장소가 두 자리에 있어도 카운터에는 1건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3227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행 2번째 줄 — 자동 파생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검색 결과에서 파생되는 값 · 라벨과 별개 · 사용자가 입력하지 않음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고정 슬롯 — POI명 검색이면 도로명 풀주소 · 주소 검색이면 그 주소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일반 목록 — 1줄 POI명 / 2줄 도로명 풀주소 (주소 검색이면 하위주소)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도로명 · 지번이 둘 다 없는 POI는 동 단위 대표 주소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8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1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2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4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5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6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7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2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8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41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4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6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7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8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49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0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2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3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55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7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59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1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3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4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6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7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8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69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1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2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4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5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6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7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8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9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0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1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2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3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4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5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6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7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8" name="숫자배지 1"/>
          <p:cNvSpPr/>
          <p:nvPr/>
        </p:nvSpPr>
        <p:spPr>
          <a:xfrm>
            <a:off x="1115568" y="29809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2"/>
          <p:cNvSpPr/>
          <p:nvPr/>
        </p:nvSpPr>
        <p:spPr>
          <a:xfrm>
            <a:off x="4389120" y="16824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0" name="숫자배지 3"/>
          <p:cNvSpPr/>
          <p:nvPr/>
        </p:nvSpPr>
        <p:spPr>
          <a:xfrm>
            <a:off x="4389120" y="19751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1" name="숫자배지 4"/>
          <p:cNvSpPr/>
          <p:nvPr/>
        </p:nvSpPr>
        <p:spPr>
          <a:xfrm>
            <a:off x="4389120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2" name="숫자배지 5"/>
          <p:cNvSpPr/>
          <p:nvPr/>
        </p:nvSpPr>
        <p:spPr>
          <a:xfrm>
            <a:off x="4389120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3" name="숫자배지 6"/>
          <p:cNvSpPr/>
          <p:nvPr/>
        </p:nvSpPr>
        <p:spPr>
          <a:xfrm>
            <a:off x="7205472" y="12801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5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" name="부제"/>
          <p:cNvSpPr txBox="1"/>
          <p:nvPr/>
        </p:nvSpPr>
        <p:spPr>
          <a:xfrm>
            <a:off x="1781251" y="228600"/>
            <a:ext cx="4379976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진입 · 목록 구성 (3/3)</a:t>
            </a:r>
          </a:p>
        </p:txBody>
      </p:sp>
      <p:sp>
        <p:nvSpPr>
          <p:cNvPr id="7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/>
          <p:cNvGraphicFramePr>
            <a:graphicFrameLocks noGrp="1"/>
          </p:cNvGraphicFramePr>
          <p:nvPr/>
        </p:nvGraphicFramePr>
        <p:xfrm>
          <a:off x="8629192" y="1447800"/>
          <a:ext cx="2972409" cy="2502102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38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6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 · [＋ 즐겨찾기 추가]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[편집] → 편집 모드 · 라벨 [완료]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편집 모드에서는 행 우측 버튼으로만 조작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[＋ 즐겨찾기 추가]는 최하단 고정 행 → 2-1 장소 검색 (추가 모드)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10개 도달 시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토스트 3종 · 저장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「즐겨찾기에 추가되었습니다.」 / 「〈슬롯명〉으로 설정되었습니다.」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「즐겨찾기에서 해제되었습니다.」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재설치 · 기기 변경에도 유지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목업 프레임"/>
          <p:cNvSpPr/>
          <p:nvPr/>
        </p:nvSpPr>
        <p:spPr>
          <a:xfrm>
            <a:off x="4568139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탑바 구분선"/>
          <p:cNvSpPr/>
          <p:nvPr/>
        </p:nvSpPr>
        <p:spPr>
          <a:xfrm>
            <a:off x="4577664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타이틀"/>
          <p:cNvSpPr txBox="1"/>
          <p:nvPr/>
        </p:nvSpPr>
        <p:spPr>
          <a:xfrm>
            <a:off x="4987239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5" name="뒤로가기"/>
          <p:cNvCxnSpPr/>
          <p:nvPr/>
        </p:nvCxnSpPr>
        <p:spPr>
          <a:xfrm flipH="1">
            <a:off x="4720539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뒤로가기"/>
          <p:cNvCxnSpPr/>
          <p:nvPr/>
        </p:nvCxnSpPr>
        <p:spPr>
          <a:xfrm flipH="1" flipV="1">
            <a:off x="4720539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탑바 액션 편집"/>
          <p:cNvSpPr txBox="1"/>
          <p:nvPr/>
        </p:nvSpPr>
        <p:spPr>
          <a:xfrm>
            <a:off x="6711264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8" name="섹션 제목"/>
          <p:cNvSpPr txBox="1"/>
          <p:nvPr/>
        </p:nvSpPr>
        <p:spPr>
          <a:xfrm>
            <a:off x="4720539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9" name="리스트 행"/>
          <p:cNvSpPr/>
          <p:nvPr/>
        </p:nvSpPr>
        <p:spPr>
          <a:xfrm>
            <a:off x="4720539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4853889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1" name="행 설명"/>
          <p:cNvSpPr txBox="1"/>
          <p:nvPr/>
        </p:nvSpPr>
        <p:spPr>
          <a:xfrm>
            <a:off x="4853889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2" name="리스트 행"/>
          <p:cNvSpPr/>
          <p:nvPr/>
        </p:nvSpPr>
        <p:spPr>
          <a:xfrm>
            <a:off x="4720539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행 제목"/>
          <p:cNvSpPr txBox="1"/>
          <p:nvPr/>
        </p:nvSpPr>
        <p:spPr>
          <a:xfrm>
            <a:off x="4853889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추가</a:t>
            </a:r>
          </a:p>
        </p:txBody>
      </p:sp>
      <p:sp>
        <p:nvSpPr>
          <p:cNvPr id="24" name="행 설명"/>
          <p:cNvSpPr txBox="1"/>
          <p:nvPr/>
        </p:nvSpPr>
        <p:spPr>
          <a:xfrm>
            <a:off x="4853889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712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spc="-14" dirty="0">
                <a:solidFill>
                  <a:srgbClr val="8A94A3"/>
                </a:solidFill>
                <a:latin typeface="Pretendard"/>
              </a:rPr>
              <a:t>.</a:t>
            </a:r>
            <a:endParaRPr lang="ko-KR" altLang="en-US" sz="712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25" name="섹션 제목"/>
          <p:cNvSpPr txBox="1"/>
          <p:nvPr/>
        </p:nvSpPr>
        <p:spPr>
          <a:xfrm>
            <a:off x="4720539" y="395287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6" name="섹션 우측"/>
          <p:cNvSpPr txBox="1"/>
          <p:nvPr/>
        </p:nvSpPr>
        <p:spPr>
          <a:xfrm>
            <a:off x="6292164" y="395287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en-US" altLang="ko-KR" sz="787" spc="-15" dirty="0">
                <a:solidFill>
                  <a:srgbClr val="8A94A3"/>
                </a:solidFill>
                <a:latin typeface="Pretendard"/>
              </a:rPr>
              <a:t>0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7" name="리스트 행">
            <a:extLst>
              <a:ext uri="{FF2B5EF4-FFF2-40B4-BE49-F238E27FC236}">
                <a16:creationId xmlns:a16="http://schemas.microsoft.com/office/drawing/2014/main" id="{EC2D2B64-C522-EB1F-01A3-A38F9760B030}"/>
              </a:ext>
            </a:extLst>
          </p:cNvPr>
          <p:cNvSpPr/>
          <p:nvPr/>
        </p:nvSpPr>
        <p:spPr>
          <a:xfrm>
            <a:off x="4725302" y="420731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행 제목">
            <a:extLst>
              <a:ext uri="{FF2B5EF4-FFF2-40B4-BE49-F238E27FC236}">
                <a16:creationId xmlns:a16="http://schemas.microsoft.com/office/drawing/2014/main" id="{15AE3073-463E-F183-5C80-86E4C1F44D44}"/>
              </a:ext>
            </a:extLst>
          </p:cNvPr>
          <p:cNvSpPr txBox="1"/>
          <p:nvPr/>
        </p:nvSpPr>
        <p:spPr>
          <a:xfrm>
            <a:off x="4858652" y="420731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9" name="리스트 행">
            <a:extLst>
              <a:ext uri="{FF2B5EF4-FFF2-40B4-BE49-F238E27FC236}">
                <a16:creationId xmlns:a16="http://schemas.microsoft.com/office/drawing/2014/main" id="{436CCFF3-75EA-3A8E-219E-198598253C2A}"/>
              </a:ext>
            </a:extLst>
          </p:cNvPr>
          <p:cNvSpPr/>
          <p:nvPr/>
        </p:nvSpPr>
        <p:spPr>
          <a:xfrm>
            <a:off x="4720539" y="315613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>
            <a:extLst>
              <a:ext uri="{FF2B5EF4-FFF2-40B4-BE49-F238E27FC236}">
                <a16:creationId xmlns:a16="http://schemas.microsoft.com/office/drawing/2014/main" id="{1D7CFF01-5F73-D458-A7B2-EE844183268C}"/>
              </a:ext>
            </a:extLst>
          </p:cNvPr>
          <p:cNvSpPr txBox="1"/>
          <p:nvPr/>
        </p:nvSpPr>
        <p:spPr>
          <a:xfrm>
            <a:off x="4853889" y="324186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1" name="행 설명">
            <a:extLst>
              <a:ext uri="{FF2B5EF4-FFF2-40B4-BE49-F238E27FC236}">
                <a16:creationId xmlns:a16="http://schemas.microsoft.com/office/drawing/2014/main" id="{BF2D25CF-FD87-6FD0-D1CA-17D11F447AD0}"/>
              </a:ext>
            </a:extLst>
          </p:cNvPr>
          <p:cNvSpPr txBox="1"/>
          <p:nvPr/>
        </p:nvSpPr>
        <p:spPr>
          <a:xfrm>
            <a:off x="4853889" y="342283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32" name="목업 프레임">
            <a:extLst>
              <a:ext uri="{FF2B5EF4-FFF2-40B4-BE49-F238E27FC236}">
                <a16:creationId xmlns:a16="http://schemas.microsoft.com/office/drawing/2014/main" id="{3C488BD2-BD78-13C7-6514-93C8CF719BEF}"/>
              </a:ext>
            </a:extLst>
          </p:cNvPr>
          <p:cNvSpPr/>
          <p:nvPr/>
        </p:nvSpPr>
        <p:spPr>
          <a:xfrm>
            <a:off x="128958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탑바 구분선">
            <a:extLst>
              <a:ext uri="{FF2B5EF4-FFF2-40B4-BE49-F238E27FC236}">
                <a16:creationId xmlns:a16="http://schemas.microsoft.com/office/drawing/2014/main" id="{69182B2C-7B84-BAE6-E962-9A4C054EF9E6}"/>
              </a:ext>
            </a:extLst>
          </p:cNvPr>
          <p:cNvSpPr/>
          <p:nvPr/>
        </p:nvSpPr>
        <p:spPr>
          <a:xfrm>
            <a:off x="1299107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탑바 타이틀">
            <a:extLst>
              <a:ext uri="{FF2B5EF4-FFF2-40B4-BE49-F238E27FC236}">
                <a16:creationId xmlns:a16="http://schemas.microsoft.com/office/drawing/2014/main" id="{07CD6878-1408-443C-62B4-C79431803EF9}"/>
              </a:ext>
            </a:extLst>
          </p:cNvPr>
          <p:cNvSpPr txBox="1"/>
          <p:nvPr/>
        </p:nvSpPr>
        <p:spPr>
          <a:xfrm>
            <a:off x="1708683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마이페이지</a:t>
            </a:r>
          </a:p>
        </p:txBody>
      </p:sp>
      <p:sp>
        <p:nvSpPr>
          <p:cNvPr id="35" name="하단 Nav 구분선">
            <a:extLst>
              <a:ext uri="{FF2B5EF4-FFF2-40B4-BE49-F238E27FC236}">
                <a16:creationId xmlns:a16="http://schemas.microsoft.com/office/drawing/2014/main" id="{79B8A2F9-F565-3EE8-B1BC-E4DE0F04FA35}"/>
              </a:ext>
            </a:extLst>
          </p:cNvPr>
          <p:cNvSpPr/>
          <p:nvPr/>
        </p:nvSpPr>
        <p:spPr>
          <a:xfrm>
            <a:off x="1299107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아이콘 nav">
            <a:extLst>
              <a:ext uri="{FF2B5EF4-FFF2-40B4-BE49-F238E27FC236}">
                <a16:creationId xmlns:a16="http://schemas.microsoft.com/office/drawing/2014/main" id="{DBBAF97F-B0A9-802C-8AD7-BF349A521695}"/>
              </a:ext>
            </a:extLst>
          </p:cNvPr>
          <p:cNvSpPr/>
          <p:nvPr/>
        </p:nvSpPr>
        <p:spPr>
          <a:xfrm>
            <a:off x="2588411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Nav 길안내">
            <a:extLst>
              <a:ext uri="{FF2B5EF4-FFF2-40B4-BE49-F238E27FC236}">
                <a16:creationId xmlns:a16="http://schemas.microsoft.com/office/drawing/2014/main" id="{C0696C0D-4B26-191D-F764-D9ED28F369EB}"/>
              </a:ext>
            </a:extLst>
          </p:cNvPr>
          <p:cNvSpPr txBox="1"/>
          <p:nvPr/>
        </p:nvSpPr>
        <p:spPr>
          <a:xfrm>
            <a:off x="2200807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8" name="아이콘 home">
            <a:extLst>
              <a:ext uri="{FF2B5EF4-FFF2-40B4-BE49-F238E27FC236}">
                <a16:creationId xmlns:a16="http://schemas.microsoft.com/office/drawing/2014/main" id="{E3F175B5-A8AE-8E65-AF89-268505F32EFA}"/>
              </a:ext>
            </a:extLst>
          </p:cNvPr>
          <p:cNvSpPr/>
          <p:nvPr/>
        </p:nvSpPr>
        <p:spPr>
          <a:xfrm>
            <a:off x="1661185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아이콘 home">
            <a:extLst>
              <a:ext uri="{FF2B5EF4-FFF2-40B4-BE49-F238E27FC236}">
                <a16:creationId xmlns:a16="http://schemas.microsoft.com/office/drawing/2014/main" id="{3BEDF38B-C3F2-E872-30FD-EFDA13CD2101}"/>
              </a:ext>
            </a:extLst>
          </p:cNvPr>
          <p:cNvSpPr/>
          <p:nvPr/>
        </p:nvSpPr>
        <p:spPr>
          <a:xfrm>
            <a:off x="1689189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Nav 홈">
            <a:extLst>
              <a:ext uri="{FF2B5EF4-FFF2-40B4-BE49-F238E27FC236}">
                <a16:creationId xmlns:a16="http://schemas.microsoft.com/office/drawing/2014/main" id="{043D0413-9966-D872-88BD-CC22E113FFF5}"/>
              </a:ext>
            </a:extLst>
          </p:cNvPr>
          <p:cNvSpPr txBox="1"/>
          <p:nvPr/>
        </p:nvSpPr>
        <p:spPr>
          <a:xfrm>
            <a:off x="128958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41" name="아이콘 user">
            <a:extLst>
              <a:ext uri="{FF2B5EF4-FFF2-40B4-BE49-F238E27FC236}">
                <a16:creationId xmlns:a16="http://schemas.microsoft.com/office/drawing/2014/main" id="{1FE56AEE-B52F-560B-FE6F-ED60B2EA8090}"/>
              </a:ext>
            </a:extLst>
          </p:cNvPr>
          <p:cNvSpPr/>
          <p:nvPr/>
        </p:nvSpPr>
        <p:spPr>
          <a:xfrm>
            <a:off x="3531641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아이콘 user">
            <a:extLst>
              <a:ext uri="{FF2B5EF4-FFF2-40B4-BE49-F238E27FC236}">
                <a16:creationId xmlns:a16="http://schemas.microsoft.com/office/drawing/2014/main" id="{46109030-3562-15C8-B8C4-F9FFEDC0EDAD}"/>
              </a:ext>
            </a:extLst>
          </p:cNvPr>
          <p:cNvSpPr/>
          <p:nvPr/>
        </p:nvSpPr>
        <p:spPr>
          <a:xfrm>
            <a:off x="3495636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Nav 마이페이지">
            <a:extLst>
              <a:ext uri="{FF2B5EF4-FFF2-40B4-BE49-F238E27FC236}">
                <a16:creationId xmlns:a16="http://schemas.microsoft.com/office/drawing/2014/main" id="{B65BF09D-2B51-EC8D-1134-9738555B13BE}"/>
              </a:ext>
            </a:extLst>
          </p:cNvPr>
          <p:cNvSpPr txBox="1"/>
          <p:nvPr/>
        </p:nvSpPr>
        <p:spPr>
          <a:xfrm>
            <a:off x="3112033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44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6" name="t"/>
          <p:cNvSpPr txBox="1"/>
          <p:nvPr/>
        </p:nvSpPr>
        <p:spPr>
          <a:xfrm>
            <a:off x="1442009" y="170078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개인 설정</a:t>
            </a:r>
          </a:p>
        </p:txBody>
      </p:sp>
      <p:sp>
        <p:nvSpPr>
          <p:cNvPr id="47" name="card"/>
          <p:cNvSpPr/>
          <p:nvPr/>
        </p:nvSpPr>
        <p:spPr>
          <a:xfrm>
            <a:off x="1442009" y="1883664"/>
            <a:ext cx="2428646" cy="2377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48" name="t"/>
          <p:cNvSpPr txBox="1"/>
          <p:nvPr/>
        </p:nvSpPr>
        <p:spPr>
          <a:xfrm>
            <a:off x="1551737" y="1933956"/>
            <a:ext cx="164592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0000 님 반갑습니다.</a:t>
            </a:r>
          </a:p>
        </p:txBody>
      </p:sp>
      <p:sp>
        <p:nvSpPr>
          <p:cNvPr id="49" name="t"/>
          <p:cNvSpPr txBox="1"/>
          <p:nvPr/>
        </p:nvSpPr>
        <p:spPr>
          <a:xfrm>
            <a:off x="3614623" y="1924812"/>
            <a:ext cx="1645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0" dirty="0">
                <a:solidFill>
                  <a:srgbClr val="2D4CC8"/>
                </a:solidFill>
                <a:latin typeface="Pretendard"/>
                <a:ea typeface="Pretendard"/>
              </a:rPr>
              <a:t>✎</a:t>
            </a:r>
          </a:p>
        </p:txBody>
      </p:sp>
      <p:sp>
        <p:nvSpPr>
          <p:cNvPr id="50" name="card"/>
          <p:cNvSpPr/>
          <p:nvPr/>
        </p:nvSpPr>
        <p:spPr>
          <a:xfrm>
            <a:off x="1442009" y="2157984"/>
            <a:ext cx="2428646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1" name="t"/>
          <p:cNvSpPr txBox="1"/>
          <p:nvPr/>
        </p:nvSpPr>
        <p:spPr>
          <a:xfrm>
            <a:off x="1551737" y="2221992"/>
            <a:ext cx="12801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교통약자 유형</a:t>
            </a:r>
          </a:p>
        </p:txBody>
      </p:sp>
      <p:sp>
        <p:nvSpPr>
          <p:cNvPr id="52" name="t"/>
          <p:cNvSpPr txBox="1"/>
          <p:nvPr/>
        </p:nvSpPr>
        <p:spPr>
          <a:xfrm>
            <a:off x="1551737" y="2368296"/>
            <a:ext cx="128016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휠체어 · 유모차</a:t>
            </a:r>
          </a:p>
        </p:txBody>
      </p:sp>
      <p:sp>
        <p:nvSpPr>
          <p:cNvPr id="53" name="btn"/>
          <p:cNvSpPr/>
          <p:nvPr/>
        </p:nvSpPr>
        <p:spPr>
          <a:xfrm>
            <a:off x="3157423" y="2258568"/>
            <a:ext cx="603504" cy="2011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54" name="t"/>
          <p:cNvSpPr txBox="1"/>
          <p:nvPr/>
        </p:nvSpPr>
        <p:spPr>
          <a:xfrm>
            <a:off x="3157423" y="2308860"/>
            <a:ext cx="6035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2D4CC8"/>
                </a:solidFill>
                <a:latin typeface="Pretendard"/>
                <a:ea typeface="Pretendard"/>
              </a:rPr>
              <a:t>유형변경</a:t>
            </a:r>
          </a:p>
        </p:txBody>
      </p:sp>
      <p:sp>
        <p:nvSpPr>
          <p:cNvPr id="55" name="card"/>
          <p:cNvSpPr/>
          <p:nvPr/>
        </p:nvSpPr>
        <p:spPr>
          <a:xfrm>
            <a:off x="1442009" y="2596896"/>
            <a:ext cx="2428646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56" name="t"/>
          <p:cNvSpPr txBox="1"/>
          <p:nvPr/>
        </p:nvSpPr>
        <p:spPr>
          <a:xfrm>
            <a:off x="1551737" y="2642616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글자 크기</a:t>
            </a:r>
          </a:p>
        </p:txBody>
      </p:sp>
      <p:sp>
        <p:nvSpPr>
          <p:cNvPr id="57" name="seg"/>
          <p:cNvSpPr/>
          <p:nvPr/>
        </p:nvSpPr>
        <p:spPr>
          <a:xfrm>
            <a:off x="1551737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2D4CC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t"/>
          <p:cNvSpPr txBox="1"/>
          <p:nvPr/>
        </p:nvSpPr>
        <p:spPr>
          <a:xfrm>
            <a:off x="1551737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1" dirty="0">
                <a:solidFill>
                  <a:srgbClr val="FFFFFF"/>
                </a:solidFill>
                <a:latin typeface="Pretendard"/>
                <a:ea typeface="Pretendard"/>
              </a:rPr>
              <a:t>기본</a:t>
            </a:r>
          </a:p>
        </p:txBody>
      </p:sp>
      <p:sp>
        <p:nvSpPr>
          <p:cNvPr id="59" name="seg"/>
          <p:cNvSpPr/>
          <p:nvPr/>
        </p:nvSpPr>
        <p:spPr>
          <a:xfrm>
            <a:off x="2210105" y="2775204"/>
            <a:ext cx="621792" cy="15544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0" name="t"/>
          <p:cNvSpPr txBox="1"/>
          <p:nvPr/>
        </p:nvSpPr>
        <p:spPr>
          <a:xfrm>
            <a:off x="2210105" y="2798064"/>
            <a:ext cx="621792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3E4652"/>
                </a:solidFill>
                <a:latin typeface="Pretendard"/>
                <a:ea typeface="Pretendard"/>
              </a:rPr>
              <a:t>크게</a:t>
            </a:r>
          </a:p>
        </p:txBody>
      </p:sp>
      <p:sp>
        <p:nvSpPr>
          <p:cNvPr id="61" name="card2"/>
          <p:cNvSpPr/>
          <p:nvPr/>
        </p:nvSpPr>
        <p:spPr>
          <a:xfrm>
            <a:off x="1442009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2" name="t"/>
          <p:cNvSpPr txBox="1"/>
          <p:nvPr/>
        </p:nvSpPr>
        <p:spPr>
          <a:xfrm>
            <a:off x="1442009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내 마일리지</a:t>
            </a:r>
          </a:p>
        </p:txBody>
      </p:sp>
      <p:sp>
        <p:nvSpPr>
          <p:cNvPr id="63" name="t"/>
          <p:cNvSpPr txBox="1"/>
          <p:nvPr/>
        </p:nvSpPr>
        <p:spPr>
          <a:xfrm>
            <a:off x="1442009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254M</a:t>
            </a:r>
          </a:p>
        </p:txBody>
      </p:sp>
      <p:sp>
        <p:nvSpPr>
          <p:cNvPr id="64" name="card2"/>
          <p:cNvSpPr/>
          <p:nvPr/>
        </p:nvSpPr>
        <p:spPr>
          <a:xfrm>
            <a:off x="2692908" y="3035808"/>
            <a:ext cx="1177747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5" name="t"/>
          <p:cNvSpPr txBox="1"/>
          <p:nvPr/>
        </p:nvSpPr>
        <p:spPr>
          <a:xfrm>
            <a:off x="2692908" y="3099816"/>
            <a:ext cx="1177747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50" b="0" dirty="0">
                <a:solidFill>
                  <a:srgbClr val="5B6573"/>
                </a:solidFill>
                <a:latin typeface="Pretendard"/>
                <a:ea typeface="Pretendard"/>
              </a:rPr>
              <a:t>즐겨찾기</a:t>
            </a:r>
          </a:p>
        </p:txBody>
      </p:sp>
      <p:sp>
        <p:nvSpPr>
          <p:cNvPr id="66" name="t"/>
          <p:cNvSpPr txBox="1"/>
          <p:nvPr/>
        </p:nvSpPr>
        <p:spPr>
          <a:xfrm>
            <a:off x="2692908" y="3246120"/>
            <a:ext cx="117774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50" b="1" dirty="0">
                <a:solidFill>
                  <a:srgbClr val="2D4CC8"/>
                </a:solidFill>
                <a:latin typeface="Pretendard"/>
                <a:ea typeface="Pretendard"/>
              </a:rPr>
              <a:t>5곳 저장됨</a:t>
            </a:r>
          </a:p>
        </p:txBody>
      </p:sp>
      <p:sp>
        <p:nvSpPr>
          <p:cNvPr id="67" name="card"/>
          <p:cNvSpPr/>
          <p:nvPr/>
        </p:nvSpPr>
        <p:spPr>
          <a:xfrm>
            <a:off x="1442009" y="3474720"/>
            <a:ext cx="2428646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68" name="t"/>
          <p:cNvSpPr txBox="1"/>
          <p:nvPr/>
        </p:nvSpPr>
        <p:spPr>
          <a:xfrm>
            <a:off x="1551737" y="3543300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저상버스 예약 내역</a:t>
            </a:r>
          </a:p>
        </p:txBody>
      </p:sp>
      <p:sp>
        <p:nvSpPr>
          <p:cNvPr id="69" name="badge"/>
          <p:cNvSpPr/>
          <p:nvPr/>
        </p:nvSpPr>
        <p:spPr>
          <a:xfrm>
            <a:off x="2831897" y="3543300"/>
            <a:ext cx="155448" cy="155448"/>
          </a:xfrm>
          <a:prstGeom prst="ellipse">
            <a:avLst/>
          </a:prstGeom>
          <a:solidFill>
            <a:srgbClr val="E01B24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"/>
          <p:cNvSpPr txBox="1"/>
          <p:nvPr/>
        </p:nvSpPr>
        <p:spPr>
          <a:xfrm>
            <a:off x="3632911" y="3534156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71" name="t"/>
          <p:cNvSpPr txBox="1"/>
          <p:nvPr/>
        </p:nvSpPr>
        <p:spPr>
          <a:xfrm>
            <a:off x="1442009" y="3803904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서비스 정보</a:t>
            </a:r>
          </a:p>
        </p:txBody>
      </p:sp>
      <p:sp>
        <p:nvSpPr>
          <p:cNvPr id="72" name="card"/>
          <p:cNvSpPr/>
          <p:nvPr/>
        </p:nvSpPr>
        <p:spPr>
          <a:xfrm>
            <a:off x="1442009" y="3968496"/>
            <a:ext cx="242864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73" name="t"/>
          <p:cNvSpPr txBox="1"/>
          <p:nvPr/>
        </p:nvSpPr>
        <p:spPr>
          <a:xfrm>
            <a:off x="1551737" y="4050791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공지사항</a:t>
            </a:r>
          </a:p>
        </p:txBody>
      </p:sp>
      <p:sp>
        <p:nvSpPr>
          <p:cNvPr id="74" name="t"/>
          <p:cNvSpPr txBox="1"/>
          <p:nvPr/>
        </p:nvSpPr>
        <p:spPr>
          <a:xfrm>
            <a:off x="3632911" y="404164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5" name="ln"/>
          <p:cNvCxnSpPr/>
          <p:nvPr/>
        </p:nvCxnSpPr>
        <p:spPr>
          <a:xfrm>
            <a:off x="1533449" y="4224528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6" name="t"/>
          <p:cNvSpPr txBox="1"/>
          <p:nvPr/>
        </p:nvSpPr>
        <p:spPr>
          <a:xfrm>
            <a:off x="1551737" y="430682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이용약관 및 정책</a:t>
            </a:r>
          </a:p>
        </p:txBody>
      </p:sp>
      <p:sp>
        <p:nvSpPr>
          <p:cNvPr id="77" name="t"/>
          <p:cNvSpPr txBox="1"/>
          <p:nvPr/>
        </p:nvSpPr>
        <p:spPr>
          <a:xfrm>
            <a:off x="3632911" y="4297680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78" name="ln"/>
          <p:cNvCxnSpPr/>
          <p:nvPr/>
        </p:nvCxnSpPr>
        <p:spPr>
          <a:xfrm>
            <a:off x="1533449" y="448056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79" name="t"/>
          <p:cNvSpPr txBox="1"/>
          <p:nvPr/>
        </p:nvSpPr>
        <p:spPr>
          <a:xfrm>
            <a:off x="1551737" y="456285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오픈소스 라이선스</a:t>
            </a:r>
          </a:p>
        </p:txBody>
      </p:sp>
      <p:sp>
        <p:nvSpPr>
          <p:cNvPr id="80" name="t"/>
          <p:cNvSpPr txBox="1"/>
          <p:nvPr/>
        </p:nvSpPr>
        <p:spPr>
          <a:xfrm>
            <a:off x="3632911" y="4553712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81" name="t"/>
          <p:cNvSpPr txBox="1"/>
          <p:nvPr/>
        </p:nvSpPr>
        <p:spPr>
          <a:xfrm>
            <a:off x="1442009" y="4791456"/>
            <a:ext cx="242864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5B6573"/>
                </a:solidFill>
                <a:latin typeface="Pretendard"/>
                <a:ea typeface="Pretendard"/>
              </a:rPr>
              <a:t>계정</a:t>
            </a:r>
          </a:p>
        </p:txBody>
      </p:sp>
      <p:sp>
        <p:nvSpPr>
          <p:cNvPr id="82" name="card"/>
          <p:cNvSpPr/>
          <p:nvPr/>
        </p:nvSpPr>
        <p:spPr>
          <a:xfrm>
            <a:off x="1442009" y="4956048"/>
            <a:ext cx="2428646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83" name="t"/>
          <p:cNvSpPr txBox="1"/>
          <p:nvPr/>
        </p:nvSpPr>
        <p:spPr>
          <a:xfrm>
            <a:off x="1551737" y="5038344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로그아웃</a:t>
            </a:r>
          </a:p>
        </p:txBody>
      </p:sp>
      <p:cxnSp>
        <p:nvCxnSpPr>
          <p:cNvPr id="84" name="ln"/>
          <p:cNvCxnSpPr/>
          <p:nvPr/>
        </p:nvCxnSpPr>
        <p:spPr>
          <a:xfrm>
            <a:off x="1533449" y="521208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85" name="t"/>
          <p:cNvSpPr txBox="1"/>
          <p:nvPr/>
        </p:nvSpPr>
        <p:spPr>
          <a:xfrm>
            <a:off x="1551737" y="529437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14181F"/>
                </a:solidFill>
                <a:latin typeface="Pretendard"/>
                <a:ea typeface="Pretendard"/>
              </a:rPr>
              <a:t>회원 탈퇴</a:t>
            </a:r>
          </a:p>
        </p:txBody>
      </p:sp>
      <p:sp>
        <p:nvSpPr>
          <p:cNvPr id="86" name="t"/>
          <p:cNvSpPr txBox="1"/>
          <p:nvPr/>
        </p:nvSpPr>
        <p:spPr>
          <a:xfrm>
            <a:off x="1442009" y="5504688"/>
            <a:ext cx="242864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650" b="0" dirty="0">
                <a:solidFill>
                  <a:srgbClr val="9AA4B0"/>
                </a:solidFill>
                <a:latin typeface="Pretendard"/>
                <a:ea typeface="Pretendard"/>
              </a:rPr>
              <a:t>앱 버전 1.0.0</a:t>
            </a:r>
          </a:p>
        </p:txBody>
      </p:sp>
      <p:sp>
        <p:nvSpPr>
          <p:cNvPr id="87" name="badge-num"/>
          <p:cNvSpPr txBox="1"/>
          <p:nvPr/>
        </p:nvSpPr>
        <p:spPr>
          <a:xfrm>
            <a:off x="2831897" y="3570732"/>
            <a:ext cx="1554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6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88" name="숫자배지 1"/>
          <p:cNvSpPr/>
          <p:nvPr/>
        </p:nvSpPr>
        <p:spPr>
          <a:xfrm>
            <a:off x="1115568" y="298094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9" name="숫자배지 2"/>
          <p:cNvSpPr/>
          <p:nvPr/>
        </p:nvSpPr>
        <p:spPr>
          <a:xfrm>
            <a:off x="4389120" y="168249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0" name="숫자배지 3"/>
          <p:cNvSpPr/>
          <p:nvPr/>
        </p:nvSpPr>
        <p:spPr>
          <a:xfrm>
            <a:off x="4389120" y="1975104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91" name="숫자배지 4"/>
          <p:cNvSpPr/>
          <p:nvPr/>
        </p:nvSpPr>
        <p:spPr>
          <a:xfrm>
            <a:off x="4389120" y="39319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92" name="숫자배지 5"/>
          <p:cNvSpPr/>
          <p:nvPr/>
        </p:nvSpPr>
        <p:spPr>
          <a:xfrm>
            <a:off x="4389120" y="22128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93" name="숫자배지 6"/>
          <p:cNvSpPr/>
          <p:nvPr/>
        </p:nvSpPr>
        <p:spPr>
          <a:xfrm>
            <a:off x="7205472" y="12801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① — 장소 검색으로 찾기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04302"/>
              </p:ext>
            </p:extLst>
          </p:nvPr>
        </p:nvGraphicFramePr>
        <p:xfrm>
          <a:off x="9277502" y="1447800"/>
          <a:ext cx="2553309" cy="430946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[＋ 즐겨찾기 추가]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즐겨찾기 목록 최하단 고정 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44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· 지도 ＋ 바텀시트 — 2-1 ③ 검색 결과와 같음 · 정렬 드롭다운 「정확도순」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결과</a:t>
                      </a:r>
                      <a:endParaRPr 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900" b="0" dirty="0" err="1">
                          <a:solidFill>
                            <a:srgbClr val="14181F"/>
                          </a:solidFill>
                          <a:latin typeface="Pretendard"/>
                        </a:rPr>
                        <a:t>· 즐겨찾기에</a:t>
                      </a:r>
                      <a:r>
                        <a:rPr lang="ko-KR" altLang="en-US" sz="900" b="0" dirty="0">
                          <a:solidFill>
                            <a:srgbClr val="14181F"/>
                          </a:solidFill>
                          <a:latin typeface="Pretendard"/>
                        </a:rPr>
                        <a:t> 추가 버튼만 표출</a:t>
                      </a:r>
                      <a:endParaRPr sz="900" b="0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7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89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저장된 항목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01416"/>
                  </a:ext>
                </a:extLst>
              </a:tr>
              <a:tr h="116519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서 삭제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lang="en-US" altLang="ko-KR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버튼</a:t>
                      </a:r>
                      <a:r>
                        <a:rPr lang="en-US" altLang="ko-KR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, 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즐겨찾기 </a:t>
                      </a:r>
                      <a:r>
                        <a:rPr lang="ko-KR" altLang="en-US"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전환 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토스트 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lang="ko-KR" alt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03311"/>
                  </a:ext>
                </a:extLst>
              </a:tr>
              <a:tr h="60284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1000" b="1" dirty="0">
                          <a:solidFill>
                            <a:srgbClr val="3E4652"/>
                          </a:solidFill>
                          <a:latin typeface="Pretendard"/>
                        </a:rPr>
                        <a:t>이미 저장된 장소는 ★ 상태로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중복 저장 불가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611547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D893BD6F-B2B7-F09C-9D87-21A0DE70BEAC}"/>
              </a:ext>
            </a:extLst>
          </p:cNvPr>
          <p:cNvSpPr/>
          <p:nvPr/>
        </p:nvSpPr>
        <p:spPr>
          <a:xfrm>
            <a:off x="355279" y="119628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604D1815-2952-BFC8-06E7-136B279997B9}"/>
              </a:ext>
            </a:extLst>
          </p:cNvPr>
          <p:cNvSpPr/>
          <p:nvPr/>
        </p:nvSpPr>
        <p:spPr>
          <a:xfrm>
            <a:off x="364804" y="1653489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E74F7B45-9CF2-C239-8F17-7ADC9F49EC2F}"/>
              </a:ext>
            </a:extLst>
          </p:cNvPr>
          <p:cNvSpPr txBox="1"/>
          <p:nvPr/>
        </p:nvSpPr>
        <p:spPr>
          <a:xfrm>
            <a:off x="774379" y="1310589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3C187045-5521-AE75-6D7C-57F852071343}"/>
              </a:ext>
            </a:extLst>
          </p:cNvPr>
          <p:cNvCxnSpPr/>
          <p:nvPr/>
        </p:nvCxnSpPr>
        <p:spPr>
          <a:xfrm flipH="1">
            <a:off x="507679" y="13776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10635518-1736-CF52-9016-2A028CA14672}"/>
              </a:ext>
            </a:extLst>
          </p:cNvPr>
          <p:cNvCxnSpPr/>
          <p:nvPr/>
        </p:nvCxnSpPr>
        <p:spPr>
          <a:xfrm flipH="1" flipV="1">
            <a:off x="507679" y="142488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액션 편집">
            <a:extLst>
              <a:ext uri="{FF2B5EF4-FFF2-40B4-BE49-F238E27FC236}">
                <a16:creationId xmlns:a16="http://schemas.microsoft.com/office/drawing/2014/main" id="{9782A2BE-7270-EBFE-252E-419BDEADDF4E}"/>
              </a:ext>
            </a:extLst>
          </p:cNvPr>
          <p:cNvSpPr txBox="1"/>
          <p:nvPr/>
        </p:nvSpPr>
        <p:spPr>
          <a:xfrm>
            <a:off x="2498404" y="1310589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9" name="섹션 제목">
            <a:extLst>
              <a:ext uri="{FF2B5EF4-FFF2-40B4-BE49-F238E27FC236}">
                <a16:creationId xmlns:a16="http://schemas.microsoft.com/office/drawing/2014/main" id="{28AA8DB7-FA78-24B8-3BAF-68AB10C7A4B0}"/>
              </a:ext>
            </a:extLst>
          </p:cNvPr>
          <p:cNvSpPr txBox="1"/>
          <p:nvPr/>
        </p:nvSpPr>
        <p:spPr>
          <a:xfrm>
            <a:off x="507679" y="1729689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리스트 행">
            <a:extLst>
              <a:ext uri="{FF2B5EF4-FFF2-40B4-BE49-F238E27FC236}">
                <a16:creationId xmlns:a16="http://schemas.microsoft.com/office/drawing/2014/main" id="{E9296A3E-320E-3ED7-1B34-C16EB0F21E7B}"/>
              </a:ext>
            </a:extLst>
          </p:cNvPr>
          <p:cNvSpPr/>
          <p:nvPr/>
        </p:nvSpPr>
        <p:spPr>
          <a:xfrm>
            <a:off x="507679" y="195828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>
            <a:extLst>
              <a:ext uri="{FF2B5EF4-FFF2-40B4-BE49-F238E27FC236}">
                <a16:creationId xmlns:a16="http://schemas.microsoft.com/office/drawing/2014/main" id="{172828F3-6030-0CFD-1CCD-E0D8F2A9A136}"/>
              </a:ext>
            </a:extLst>
          </p:cNvPr>
          <p:cNvSpPr txBox="1"/>
          <p:nvPr/>
        </p:nvSpPr>
        <p:spPr>
          <a:xfrm>
            <a:off x="641029" y="20440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2" name="행 설명">
            <a:extLst>
              <a:ext uri="{FF2B5EF4-FFF2-40B4-BE49-F238E27FC236}">
                <a16:creationId xmlns:a16="http://schemas.microsoft.com/office/drawing/2014/main" id="{4932CF18-4A18-BD9D-F76C-1A6F708D2941}"/>
              </a:ext>
            </a:extLst>
          </p:cNvPr>
          <p:cNvSpPr txBox="1"/>
          <p:nvPr/>
        </p:nvSpPr>
        <p:spPr>
          <a:xfrm>
            <a:off x="641029" y="22249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9AE4B8BF-6DE4-C990-0011-6CFAA08C4BB3}"/>
              </a:ext>
            </a:extLst>
          </p:cNvPr>
          <p:cNvSpPr/>
          <p:nvPr/>
        </p:nvSpPr>
        <p:spPr>
          <a:xfrm>
            <a:off x="507679" y="2558364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제목">
            <a:extLst>
              <a:ext uri="{FF2B5EF4-FFF2-40B4-BE49-F238E27FC236}">
                <a16:creationId xmlns:a16="http://schemas.microsoft.com/office/drawing/2014/main" id="{A50D6A09-AB68-7537-E687-63801F1B6A7C}"/>
              </a:ext>
            </a:extLst>
          </p:cNvPr>
          <p:cNvSpPr txBox="1"/>
          <p:nvPr/>
        </p:nvSpPr>
        <p:spPr>
          <a:xfrm>
            <a:off x="641029" y="26440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5" name="행 설명">
            <a:extLst>
              <a:ext uri="{FF2B5EF4-FFF2-40B4-BE49-F238E27FC236}">
                <a16:creationId xmlns:a16="http://schemas.microsoft.com/office/drawing/2014/main" id="{204871E5-F674-F140-F12A-1E2D0A01E9A0}"/>
              </a:ext>
            </a:extLst>
          </p:cNvPr>
          <p:cNvSpPr txBox="1"/>
          <p:nvPr/>
        </p:nvSpPr>
        <p:spPr>
          <a:xfrm>
            <a:off x="641029" y="282506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D56FDEB6-9D6E-9E2E-6EDE-D08EF28CC03B}"/>
              </a:ext>
            </a:extLst>
          </p:cNvPr>
          <p:cNvSpPr txBox="1"/>
          <p:nvPr/>
        </p:nvSpPr>
        <p:spPr>
          <a:xfrm>
            <a:off x="507679" y="3958542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7" name="섹션 우측">
            <a:extLst>
              <a:ext uri="{FF2B5EF4-FFF2-40B4-BE49-F238E27FC236}">
                <a16:creationId xmlns:a16="http://schemas.microsoft.com/office/drawing/2014/main" id="{2FCF3920-7615-32C9-BE00-0731021DEBD7}"/>
              </a:ext>
            </a:extLst>
          </p:cNvPr>
          <p:cNvSpPr txBox="1"/>
          <p:nvPr/>
        </p:nvSpPr>
        <p:spPr>
          <a:xfrm>
            <a:off x="2079304" y="3958542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7C0A628C-684D-5F08-80D4-A9EFDB1C2308}"/>
              </a:ext>
            </a:extLst>
          </p:cNvPr>
          <p:cNvSpPr/>
          <p:nvPr/>
        </p:nvSpPr>
        <p:spPr>
          <a:xfrm>
            <a:off x="507679" y="4742952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>
            <a:extLst>
              <a:ext uri="{FF2B5EF4-FFF2-40B4-BE49-F238E27FC236}">
                <a16:creationId xmlns:a16="http://schemas.microsoft.com/office/drawing/2014/main" id="{D97DA766-F696-7D51-0E06-001E595706C1}"/>
              </a:ext>
            </a:extLst>
          </p:cNvPr>
          <p:cNvSpPr txBox="1"/>
          <p:nvPr/>
        </p:nvSpPr>
        <p:spPr>
          <a:xfrm>
            <a:off x="641029" y="4794952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0" name="행 설명"/>
          <p:cNvSpPr txBox="1"/>
          <p:nvPr/>
        </p:nvSpPr>
        <p:spPr>
          <a:xfrm>
            <a:off x="641029" y="497595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1" name="리스트 행">
            <a:extLst>
              <a:ext uri="{FF2B5EF4-FFF2-40B4-BE49-F238E27FC236}">
                <a16:creationId xmlns:a16="http://schemas.microsoft.com/office/drawing/2014/main" id="{AC9C5060-F458-38A1-4C7A-F6FCB992D117}"/>
              </a:ext>
            </a:extLst>
          </p:cNvPr>
          <p:cNvSpPr/>
          <p:nvPr/>
        </p:nvSpPr>
        <p:spPr>
          <a:xfrm>
            <a:off x="507679" y="526682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제목">
            <a:extLst>
              <a:ext uri="{FF2B5EF4-FFF2-40B4-BE49-F238E27FC236}">
                <a16:creationId xmlns:a16="http://schemas.microsoft.com/office/drawing/2014/main" id="{D93217BB-84A3-79B1-1686-A3AB8A03E2ED}"/>
              </a:ext>
            </a:extLst>
          </p:cNvPr>
          <p:cNvSpPr txBox="1"/>
          <p:nvPr/>
        </p:nvSpPr>
        <p:spPr>
          <a:xfrm>
            <a:off x="641029" y="531882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33" name="행 설명"/>
          <p:cNvSpPr txBox="1"/>
          <p:nvPr/>
        </p:nvSpPr>
        <p:spPr>
          <a:xfrm>
            <a:off x="641029" y="5499827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34" name="리스트 행">
            <a:extLst>
              <a:ext uri="{FF2B5EF4-FFF2-40B4-BE49-F238E27FC236}">
                <a16:creationId xmlns:a16="http://schemas.microsoft.com/office/drawing/2014/main" id="{CBBE4050-FA03-6F5A-B3DE-B5BD62ECF5F6}"/>
              </a:ext>
            </a:extLst>
          </p:cNvPr>
          <p:cNvSpPr/>
          <p:nvPr/>
        </p:nvSpPr>
        <p:spPr>
          <a:xfrm>
            <a:off x="507679" y="3161799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행 제목">
            <a:extLst>
              <a:ext uri="{FF2B5EF4-FFF2-40B4-BE49-F238E27FC236}">
                <a16:creationId xmlns:a16="http://schemas.microsoft.com/office/drawing/2014/main" id="{BB322754-A120-7412-4D89-67E9838D9223}"/>
              </a:ext>
            </a:extLst>
          </p:cNvPr>
          <p:cNvSpPr txBox="1"/>
          <p:nvPr/>
        </p:nvSpPr>
        <p:spPr>
          <a:xfrm>
            <a:off x="641029" y="324752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36" name="행 설명">
            <a:extLst>
              <a:ext uri="{FF2B5EF4-FFF2-40B4-BE49-F238E27FC236}">
                <a16:creationId xmlns:a16="http://schemas.microsoft.com/office/drawing/2014/main" id="{EB6A2289-317D-5C82-35C7-169FED60F816}"/>
              </a:ext>
            </a:extLst>
          </p:cNvPr>
          <p:cNvSpPr txBox="1"/>
          <p:nvPr/>
        </p:nvSpPr>
        <p:spPr>
          <a:xfrm>
            <a:off x="641029" y="342849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grpSp>
        <p:nvGrpSpPr>
          <p:cNvPr id="37" name="그룹 226">
            <a:extLst>
              <a:ext uri="{FF2B5EF4-FFF2-40B4-BE49-F238E27FC236}">
                <a16:creationId xmlns:a16="http://schemas.microsoft.com/office/drawing/2014/main" id="{D4A3B08E-AD4C-4DF5-5E68-E71260F50ABA}"/>
              </a:ext>
            </a:extLst>
          </p:cNvPr>
          <p:cNvGrpSpPr/>
          <p:nvPr/>
        </p:nvGrpSpPr>
        <p:grpSpPr>
          <a:xfrm>
            <a:off x="6281928" y="5760720"/>
            <a:ext cx="2381250" cy="419100"/>
            <a:chOff x="6296475" y="5527501"/>
            <a:chExt cx="2381250" cy="419100"/>
          </a:xfrm>
        </p:grpSpPr>
        <p:sp>
          <p:nvSpPr>
            <p:cNvPr id="38" name="토스트">
              <a:extLst>
                <a:ext uri="{FF2B5EF4-FFF2-40B4-BE49-F238E27FC236}">
                  <a16:creationId xmlns:a16="http://schemas.microsoft.com/office/drawing/2014/main" id="{0ABE57CA-C51A-F7F0-C2FC-C465CA9828E2}"/>
                </a:ext>
              </a:extLst>
            </p:cNvPr>
            <p:cNvSpPr/>
            <p:nvPr/>
          </p:nvSpPr>
          <p:spPr>
            <a:xfrm>
              <a:off x="6296475" y="5527501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9" name="토스트 문구">
              <a:extLst>
                <a:ext uri="{FF2B5EF4-FFF2-40B4-BE49-F238E27FC236}">
                  <a16:creationId xmlns:a16="http://schemas.microsoft.com/office/drawing/2014/main" id="{8D489155-AE02-3F7E-EF03-B81D860F2703}"/>
                </a:ext>
              </a:extLst>
            </p:cNvPr>
            <p:cNvSpPr txBox="1"/>
            <p:nvPr/>
          </p:nvSpPr>
          <p:spPr>
            <a:xfrm>
              <a:off x="6706050" y="5527501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40" name="리스트 행">
            <a:extLst>
              <a:ext uri="{FF2B5EF4-FFF2-40B4-BE49-F238E27FC236}">
                <a16:creationId xmlns:a16="http://schemas.microsoft.com/office/drawing/2014/main" id="{32CF511C-F803-0DC5-73B1-199D14906D84}"/>
              </a:ext>
            </a:extLst>
          </p:cNvPr>
          <p:cNvSpPr/>
          <p:nvPr/>
        </p:nvSpPr>
        <p:spPr>
          <a:xfrm>
            <a:off x="505276" y="4224294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행 제목">
            <a:extLst>
              <a:ext uri="{FF2B5EF4-FFF2-40B4-BE49-F238E27FC236}">
                <a16:creationId xmlns:a16="http://schemas.microsoft.com/office/drawing/2014/main" id="{2B5AADBA-395A-1E5A-5108-3E2C410F65A7}"/>
              </a:ext>
            </a:extLst>
          </p:cNvPr>
          <p:cNvSpPr txBox="1"/>
          <p:nvPr/>
        </p:nvSpPr>
        <p:spPr>
          <a:xfrm>
            <a:off x="638626" y="4224294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2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3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4" name="목업 프레임"/>
          <p:cNvSpPr/>
          <p:nvPr/>
        </p:nvSpPr>
        <p:spPr>
          <a:xfrm>
            <a:off x="324886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지도"/>
          <p:cNvSpPr/>
          <p:nvPr/>
        </p:nvSpPr>
        <p:spPr>
          <a:xfrm>
            <a:off x="3258007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지도 안내"/>
          <p:cNvSpPr txBox="1"/>
          <p:nvPr/>
        </p:nvSpPr>
        <p:spPr>
          <a:xfrm>
            <a:off x="3815791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47" name="검색창"/>
          <p:cNvSpPr/>
          <p:nvPr/>
        </p:nvSpPr>
        <p:spPr>
          <a:xfrm>
            <a:off x="3596335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검색창 문구"/>
          <p:cNvSpPr txBox="1"/>
          <p:nvPr/>
        </p:nvSpPr>
        <p:spPr>
          <a:xfrm>
            <a:off x="3742639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49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5534863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5534863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1" name="지도 컨트롤"/>
          <p:cNvSpPr/>
          <p:nvPr/>
        </p:nvSpPr>
        <p:spPr>
          <a:xfrm>
            <a:off x="5534863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2" name="지도 컨트롤 라벨"/>
          <p:cNvSpPr txBox="1"/>
          <p:nvPr/>
        </p:nvSpPr>
        <p:spPr>
          <a:xfrm>
            <a:off x="5534863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3" name="바텀시트"/>
          <p:cNvSpPr/>
          <p:nvPr/>
        </p:nvSpPr>
        <p:spPr>
          <a:xfrm>
            <a:off x="3258007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시트 손잡이"/>
          <p:cNvSpPr/>
          <p:nvPr/>
        </p:nvSpPr>
        <p:spPr>
          <a:xfrm>
            <a:off x="4437583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정렬 드롭다운"/>
          <p:cNvSpPr/>
          <p:nvPr/>
        </p:nvSpPr>
        <p:spPr>
          <a:xfrm>
            <a:off x="4967935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6" name="정렬 드롭다운 라벨"/>
          <p:cNvSpPr txBox="1"/>
          <p:nvPr/>
        </p:nvSpPr>
        <p:spPr>
          <a:xfrm>
            <a:off x="4967935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57" name="행 제목"/>
          <p:cNvSpPr txBox="1"/>
          <p:nvPr/>
        </p:nvSpPr>
        <p:spPr>
          <a:xfrm>
            <a:off x="3431743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58" name="행 메타"/>
          <p:cNvSpPr txBox="1"/>
          <p:nvPr/>
        </p:nvSpPr>
        <p:spPr>
          <a:xfrm>
            <a:off x="3431743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1.2km · 공원</a:t>
            </a:r>
          </a:p>
        </p:txBody>
      </p:sp>
      <p:sp>
        <p:nvSpPr>
          <p:cNvPr id="59" name="행 주소"/>
          <p:cNvSpPr txBox="1"/>
          <p:nvPr/>
        </p:nvSpPr>
        <p:spPr>
          <a:xfrm>
            <a:off x="3431743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당산동 1</a:t>
            </a:r>
          </a:p>
        </p:txBody>
      </p:sp>
      <p:sp>
        <p:nvSpPr>
          <p:cNvPr id="60" name="주소 펼침"/>
          <p:cNvSpPr txBox="1"/>
          <p:nvPr/>
        </p:nvSpPr>
        <p:spPr>
          <a:xfrm>
            <a:off x="4446727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61" name="즐겨찾기 토글"/>
          <p:cNvSpPr txBox="1"/>
          <p:nvPr/>
        </p:nvSpPr>
        <p:spPr>
          <a:xfrm>
            <a:off x="3431743" y="39867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62" name="모드 1버튼"/>
          <p:cNvSpPr/>
          <p:nvPr/>
        </p:nvSpPr>
        <p:spPr>
          <a:xfrm>
            <a:off x="3724351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3" name="모드 1버튼 라벨"/>
          <p:cNvSpPr txBox="1"/>
          <p:nvPr/>
        </p:nvSpPr>
        <p:spPr>
          <a:xfrm>
            <a:off x="3724351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즐겨찾기에 추가</a:t>
            </a:r>
          </a:p>
        </p:txBody>
      </p:sp>
      <p:sp>
        <p:nvSpPr>
          <p:cNvPr id="64" name="행 구분선"/>
          <p:cNvSpPr/>
          <p:nvPr/>
        </p:nvSpPr>
        <p:spPr>
          <a:xfrm>
            <a:off x="3258007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행 제목"/>
          <p:cNvSpPr txBox="1"/>
          <p:nvPr/>
        </p:nvSpPr>
        <p:spPr>
          <a:xfrm>
            <a:off x="3431743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66" name="행 메타"/>
          <p:cNvSpPr txBox="1"/>
          <p:nvPr/>
        </p:nvSpPr>
        <p:spPr>
          <a:xfrm>
            <a:off x="3431743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1.4km · 지명</a:t>
            </a:r>
          </a:p>
        </p:txBody>
      </p:sp>
      <p:sp>
        <p:nvSpPr>
          <p:cNvPr id="67" name="행 주소"/>
          <p:cNvSpPr txBox="1"/>
          <p:nvPr/>
        </p:nvSpPr>
        <p:spPr>
          <a:xfrm>
            <a:off x="3431743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양평동 4가</a:t>
            </a:r>
          </a:p>
        </p:txBody>
      </p:sp>
      <p:sp>
        <p:nvSpPr>
          <p:cNvPr id="68" name="주소 펼침"/>
          <p:cNvSpPr txBox="1"/>
          <p:nvPr/>
        </p:nvSpPr>
        <p:spPr>
          <a:xfrm>
            <a:off x="4305909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69" name="즐겨찾기 토글"/>
          <p:cNvSpPr txBox="1"/>
          <p:nvPr/>
        </p:nvSpPr>
        <p:spPr>
          <a:xfrm>
            <a:off x="3431743" y="506577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70" name="모드 1버튼"/>
          <p:cNvSpPr/>
          <p:nvPr/>
        </p:nvSpPr>
        <p:spPr>
          <a:xfrm>
            <a:off x="3724351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1" name="모드 1버튼 라벨"/>
          <p:cNvSpPr txBox="1"/>
          <p:nvPr/>
        </p:nvSpPr>
        <p:spPr>
          <a:xfrm>
            <a:off x="3724351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즐겨찾기에 추가</a:t>
            </a:r>
          </a:p>
        </p:txBody>
      </p:sp>
      <p:sp>
        <p:nvSpPr>
          <p:cNvPr id="72" name="행 구분선"/>
          <p:cNvSpPr/>
          <p:nvPr/>
        </p:nvSpPr>
        <p:spPr>
          <a:xfrm>
            <a:off x="3258007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3" name="뒤로가기 플로팅"/>
          <p:cNvSpPr/>
          <p:nvPr/>
        </p:nvSpPr>
        <p:spPr>
          <a:xfrm>
            <a:off x="3296412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목업 프레임"/>
          <p:cNvSpPr/>
          <p:nvPr/>
        </p:nvSpPr>
        <p:spPr>
          <a:xfrm>
            <a:off x="6108192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지도"/>
          <p:cNvSpPr/>
          <p:nvPr/>
        </p:nvSpPr>
        <p:spPr>
          <a:xfrm>
            <a:off x="6117336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지도 안내"/>
          <p:cNvSpPr txBox="1"/>
          <p:nvPr/>
        </p:nvSpPr>
        <p:spPr>
          <a:xfrm>
            <a:off x="6675120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77" name="검색창"/>
          <p:cNvSpPr/>
          <p:nvPr/>
        </p:nvSpPr>
        <p:spPr>
          <a:xfrm>
            <a:off x="6455664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검색창 문구"/>
          <p:cNvSpPr txBox="1"/>
          <p:nvPr/>
        </p:nvSpPr>
        <p:spPr>
          <a:xfrm>
            <a:off x="6601968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79" name="지도 컨트롤"/>
          <p:cNvSpPr/>
          <p:nvPr/>
        </p:nvSpPr>
        <p:spPr>
          <a:xfrm>
            <a:off x="8394192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지도 컨트롤 라벨"/>
          <p:cNvSpPr txBox="1"/>
          <p:nvPr/>
        </p:nvSpPr>
        <p:spPr>
          <a:xfrm>
            <a:off x="8394192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1" name="지도 컨트롤"/>
          <p:cNvSpPr/>
          <p:nvPr/>
        </p:nvSpPr>
        <p:spPr>
          <a:xfrm>
            <a:off x="8394192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지도 컨트롤 라벨"/>
          <p:cNvSpPr txBox="1"/>
          <p:nvPr/>
        </p:nvSpPr>
        <p:spPr>
          <a:xfrm>
            <a:off x="8394192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3" name="바텀시트"/>
          <p:cNvSpPr/>
          <p:nvPr/>
        </p:nvSpPr>
        <p:spPr>
          <a:xfrm>
            <a:off x="6117336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시트 손잡이"/>
          <p:cNvSpPr/>
          <p:nvPr/>
        </p:nvSpPr>
        <p:spPr>
          <a:xfrm>
            <a:off x="7296912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정렬 드롭다운"/>
          <p:cNvSpPr/>
          <p:nvPr/>
        </p:nvSpPr>
        <p:spPr>
          <a:xfrm>
            <a:off x="7827264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정렬 드롭다운 라벨"/>
          <p:cNvSpPr txBox="1"/>
          <p:nvPr/>
        </p:nvSpPr>
        <p:spPr>
          <a:xfrm>
            <a:off x="7827264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87" name="행 제목"/>
          <p:cNvSpPr txBox="1"/>
          <p:nvPr/>
        </p:nvSpPr>
        <p:spPr>
          <a:xfrm>
            <a:off x="6291072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88" name="행 메타"/>
          <p:cNvSpPr txBox="1"/>
          <p:nvPr/>
        </p:nvSpPr>
        <p:spPr>
          <a:xfrm>
            <a:off x="6291072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1.2km · 공원</a:t>
            </a:r>
          </a:p>
        </p:txBody>
      </p:sp>
      <p:sp>
        <p:nvSpPr>
          <p:cNvPr id="89" name="행 주소"/>
          <p:cNvSpPr txBox="1"/>
          <p:nvPr/>
        </p:nvSpPr>
        <p:spPr>
          <a:xfrm>
            <a:off x="6291072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당산동 1</a:t>
            </a:r>
          </a:p>
        </p:txBody>
      </p:sp>
      <p:sp>
        <p:nvSpPr>
          <p:cNvPr id="90" name="주소 펼침"/>
          <p:cNvSpPr txBox="1"/>
          <p:nvPr/>
        </p:nvSpPr>
        <p:spPr>
          <a:xfrm>
            <a:off x="7306056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91" name="즐겨찾기 토글"/>
          <p:cNvSpPr txBox="1"/>
          <p:nvPr/>
        </p:nvSpPr>
        <p:spPr>
          <a:xfrm>
            <a:off x="6291072" y="3986784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F5A524"/>
                </a:solidFill>
                <a:latin typeface="Pretendard"/>
              </a:rPr>
              <a:t>★</a:t>
            </a:r>
          </a:p>
        </p:txBody>
      </p:sp>
      <p:sp>
        <p:nvSpPr>
          <p:cNvPr id="92" name="모드 1버튼"/>
          <p:cNvSpPr/>
          <p:nvPr/>
        </p:nvSpPr>
        <p:spPr>
          <a:xfrm>
            <a:off x="6583680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3" name="모드 1버튼 라벨"/>
          <p:cNvSpPr txBox="1"/>
          <p:nvPr/>
        </p:nvSpPr>
        <p:spPr>
          <a:xfrm>
            <a:off x="6583680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즐겨찾기에서 삭제</a:t>
            </a:r>
          </a:p>
        </p:txBody>
      </p:sp>
      <p:sp>
        <p:nvSpPr>
          <p:cNvPr id="94" name="행 구분선"/>
          <p:cNvSpPr/>
          <p:nvPr/>
        </p:nvSpPr>
        <p:spPr>
          <a:xfrm>
            <a:off x="6117336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행 제목"/>
          <p:cNvSpPr txBox="1"/>
          <p:nvPr/>
        </p:nvSpPr>
        <p:spPr>
          <a:xfrm>
            <a:off x="6291072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96" name="행 메타"/>
          <p:cNvSpPr txBox="1"/>
          <p:nvPr/>
        </p:nvSpPr>
        <p:spPr>
          <a:xfrm>
            <a:off x="6291072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1.4km · 지명</a:t>
            </a:r>
          </a:p>
        </p:txBody>
      </p:sp>
      <p:sp>
        <p:nvSpPr>
          <p:cNvPr id="97" name="행 주소"/>
          <p:cNvSpPr txBox="1"/>
          <p:nvPr/>
        </p:nvSpPr>
        <p:spPr>
          <a:xfrm>
            <a:off x="6291072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양평동 4가</a:t>
            </a:r>
          </a:p>
        </p:txBody>
      </p:sp>
      <p:sp>
        <p:nvSpPr>
          <p:cNvPr id="98" name="주소 펼침"/>
          <p:cNvSpPr txBox="1"/>
          <p:nvPr/>
        </p:nvSpPr>
        <p:spPr>
          <a:xfrm>
            <a:off x="7165238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99" name="즐겨찾기 토글"/>
          <p:cNvSpPr txBox="1"/>
          <p:nvPr/>
        </p:nvSpPr>
        <p:spPr>
          <a:xfrm>
            <a:off x="6291072" y="5065776"/>
            <a:ext cx="237744" cy="19202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spc="-15">
                <a:solidFill>
                  <a:srgbClr val="5B6573"/>
                </a:solidFill>
                <a:latin typeface="Pretendard"/>
              </a:rPr>
              <a:t>☆</a:t>
            </a:r>
          </a:p>
        </p:txBody>
      </p:sp>
      <p:sp>
        <p:nvSpPr>
          <p:cNvPr id="100" name="모드 1버튼"/>
          <p:cNvSpPr/>
          <p:nvPr/>
        </p:nvSpPr>
        <p:spPr>
          <a:xfrm>
            <a:off x="6583680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1" name="모드 1버튼 라벨"/>
          <p:cNvSpPr txBox="1"/>
          <p:nvPr/>
        </p:nvSpPr>
        <p:spPr>
          <a:xfrm>
            <a:off x="6583680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즐겨찾기에 추가</a:t>
            </a:r>
          </a:p>
        </p:txBody>
      </p:sp>
      <p:sp>
        <p:nvSpPr>
          <p:cNvPr id="102" name="행 구분선"/>
          <p:cNvSpPr/>
          <p:nvPr/>
        </p:nvSpPr>
        <p:spPr>
          <a:xfrm>
            <a:off x="6117336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3" name="뒤로가기 플로팅"/>
          <p:cNvSpPr/>
          <p:nvPr/>
        </p:nvSpPr>
        <p:spPr>
          <a:xfrm>
            <a:off x="6155740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04" name="뒤로가기"/>
          <p:cNvCxnSpPr/>
          <p:nvPr/>
        </p:nvCxnSpPr>
        <p:spPr>
          <a:xfrm flipH="1">
            <a:off x="3404082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뒤로가기"/>
          <p:cNvCxnSpPr/>
          <p:nvPr/>
        </p:nvCxnSpPr>
        <p:spPr>
          <a:xfrm flipH="1" flipV="1">
            <a:off x="3404082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뒤로가기"/>
          <p:cNvCxnSpPr/>
          <p:nvPr/>
        </p:nvCxnSpPr>
        <p:spPr>
          <a:xfrm flipH="1">
            <a:off x="6263411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뒤로가기"/>
          <p:cNvCxnSpPr/>
          <p:nvPr/>
        </p:nvCxnSpPr>
        <p:spPr>
          <a:xfrm flipH="1" flipV="1">
            <a:off x="6263411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결과 건수"/>
          <p:cNvSpPr txBox="1"/>
          <p:nvPr/>
        </p:nvSpPr>
        <p:spPr>
          <a:xfrm>
            <a:off x="3431743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109" name="결과 건수"/>
          <p:cNvSpPr txBox="1"/>
          <p:nvPr/>
        </p:nvSpPr>
        <p:spPr>
          <a:xfrm>
            <a:off x="6291072" y="2980944"/>
            <a:ext cx="1490471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110" name="숫자배지 2-1">
            <a:extLst>
              <a:ext uri="{FF2B5EF4-FFF2-40B4-BE49-F238E27FC236}">
                <a16:creationId xmlns:a16="http://schemas.microsoft.com/office/drawing/2014/main" id="{729D561A-186E-CBB8-1193-C9A39BBAFDB0}"/>
              </a:ext>
            </a:extLst>
          </p:cNvPr>
          <p:cNvSpPr/>
          <p:nvPr/>
        </p:nvSpPr>
        <p:spPr>
          <a:xfrm>
            <a:off x="3280867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1" name="숫자배지 2">
            <a:extLst>
              <a:ext uri="{FF2B5EF4-FFF2-40B4-BE49-F238E27FC236}">
                <a16:creationId xmlns:a16="http://schemas.microsoft.com/office/drawing/2014/main" id="{07D3935C-D9F6-2638-8AC6-C505EB6ACF4B}"/>
              </a:ext>
            </a:extLst>
          </p:cNvPr>
          <p:cNvSpPr/>
          <p:nvPr/>
        </p:nvSpPr>
        <p:spPr>
          <a:xfrm>
            <a:off x="3280867" y="3364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12" name="숫자배지 2-1">
            <a:extLst>
              <a:ext uri="{FF2B5EF4-FFF2-40B4-BE49-F238E27FC236}">
                <a16:creationId xmlns:a16="http://schemas.microsoft.com/office/drawing/2014/main" id="{CFB54D30-0B94-4874-4701-FE1C500B7756}"/>
              </a:ext>
            </a:extLst>
          </p:cNvPr>
          <p:cNvSpPr/>
          <p:nvPr/>
        </p:nvSpPr>
        <p:spPr>
          <a:xfrm>
            <a:off x="6140196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13" name="숫자배지 2">
            <a:extLst>
              <a:ext uri="{FF2B5EF4-FFF2-40B4-BE49-F238E27FC236}">
                <a16:creationId xmlns:a16="http://schemas.microsoft.com/office/drawing/2014/main" id="{3E525916-2859-FD28-FAA4-99F117F3D719}"/>
              </a:ext>
            </a:extLst>
          </p:cNvPr>
          <p:cNvSpPr/>
          <p:nvPr/>
        </p:nvSpPr>
        <p:spPr>
          <a:xfrm>
            <a:off x="6140196" y="3364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14" name="숫자배지 2-1">
            <a:extLst>
              <a:ext uri="{FF2B5EF4-FFF2-40B4-BE49-F238E27FC236}">
                <a16:creationId xmlns:a16="http://schemas.microsoft.com/office/drawing/2014/main" id="{DF3F9B83-4DFC-DDB7-077A-FF4427E10A86}"/>
              </a:ext>
            </a:extLst>
          </p:cNvPr>
          <p:cNvSpPr/>
          <p:nvPr/>
        </p:nvSpPr>
        <p:spPr>
          <a:xfrm>
            <a:off x="3280867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15" name="숫자배지 2-1">
            <a:extLst>
              <a:ext uri="{FF2B5EF4-FFF2-40B4-BE49-F238E27FC236}">
                <a16:creationId xmlns:a16="http://schemas.microsoft.com/office/drawing/2014/main" id="{DF53A8A0-DE3A-7460-B335-2862A278DAD5}"/>
              </a:ext>
            </a:extLst>
          </p:cNvPr>
          <p:cNvSpPr/>
          <p:nvPr/>
        </p:nvSpPr>
        <p:spPr>
          <a:xfrm>
            <a:off x="6140196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r>
              <a:rPr sz="750" b="1" dirty="0">
                <a:solidFill>
                  <a:srgbClr val="FFFFFF"/>
                </a:solidFill>
                <a:latin typeface="Pretendard"/>
              </a:rPr>
              <a:t>-1</a:t>
            </a:r>
          </a:p>
        </p:txBody>
      </p:sp>
      <p:sp>
        <p:nvSpPr>
          <p:cNvPr id="116" name="숫자배지 2">
            <a:extLst>
              <a:ext uri="{FF2B5EF4-FFF2-40B4-BE49-F238E27FC236}">
                <a16:creationId xmlns:a16="http://schemas.microsoft.com/office/drawing/2014/main" id="{09B24E58-206B-C807-0696-C045E6B69937}"/>
              </a:ext>
            </a:extLst>
          </p:cNvPr>
          <p:cNvSpPr/>
          <p:nvPr/>
        </p:nvSpPr>
        <p:spPr>
          <a:xfrm>
            <a:off x="393379" y="436138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>
                <a:solidFill>
                  <a:srgbClr val="FFFFFF"/>
                </a:solidFill>
                <a:latin typeface="Pretendard"/>
              </a:rPr>
              <a:t>1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추가 ② — 장소 상세에서 저장 · 목록 반영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697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/>
          <p:cNvCxnSpPr/>
          <p:nvPr/>
        </p:nvCxnSpPr>
        <p:spPr>
          <a:xfrm flipH="1">
            <a:off x="1453461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/>
          <p:cNvCxnSpPr/>
          <p:nvPr/>
        </p:nvCxnSpPr>
        <p:spPr>
          <a:xfrm flipH="1" flipV="1">
            <a:off x="1453461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탑바 구분선"/>
          <p:cNvSpPr/>
          <p:nvPr/>
        </p:nvSpPr>
        <p:spPr>
          <a:xfrm>
            <a:off x="1310586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지도 안내"/>
          <p:cNvSpPr txBox="1"/>
          <p:nvPr/>
        </p:nvSpPr>
        <p:spPr>
          <a:xfrm>
            <a:off x="1453461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15" name="바텀시트"/>
          <p:cNvSpPr/>
          <p:nvPr/>
        </p:nvSpPr>
        <p:spPr>
          <a:xfrm>
            <a:off x="1310586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시트 손잡이"/>
          <p:cNvSpPr/>
          <p:nvPr/>
        </p:nvSpPr>
        <p:spPr>
          <a:xfrm>
            <a:off x="2496449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섹션 제목"/>
          <p:cNvSpPr txBox="1"/>
          <p:nvPr/>
        </p:nvSpPr>
        <p:spPr>
          <a:xfrm>
            <a:off x="1453461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즐겨찾기 별 OFF"/>
          <p:cNvSpPr/>
          <p:nvPr/>
        </p:nvSpPr>
        <p:spPr>
          <a:xfrm>
            <a:off x="3672786" y="4873625"/>
            <a:ext cx="171450" cy="171450"/>
          </a:xfrm>
          <a:prstGeom prst="star5">
            <a:avLst/>
          </a:prstGeom>
          <a:noFill/>
          <a:ln w="13334">
            <a:solidFill>
              <a:srgbClr val="B9C1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본문"/>
          <p:cNvSpPr txBox="1"/>
          <p:nvPr/>
        </p:nvSpPr>
        <p:spPr>
          <a:xfrm>
            <a:off x="1453461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20" name="버튼 즐겨찾기에 추가"/>
          <p:cNvSpPr/>
          <p:nvPr/>
        </p:nvSpPr>
        <p:spPr>
          <a:xfrm>
            <a:off x="1453461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버튼 라벨"/>
          <p:cNvSpPr txBox="1"/>
          <p:nvPr/>
        </p:nvSpPr>
        <p:spPr>
          <a:xfrm>
            <a:off x="1453461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 추가</a:t>
            </a:r>
          </a:p>
        </p:txBody>
      </p:sp>
      <p:cxnSp>
        <p:nvCxnSpPr>
          <p:cNvPr id="22" name="뒤로가기"/>
          <p:cNvCxnSpPr/>
          <p:nvPr/>
        </p:nvCxnSpPr>
        <p:spPr>
          <a:xfrm flipH="1">
            <a:off x="4726458" y="137833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뒤로가기"/>
          <p:cNvCxnSpPr/>
          <p:nvPr/>
        </p:nvCxnSpPr>
        <p:spPr>
          <a:xfrm flipH="1" flipV="1">
            <a:off x="4726458" y="142557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탑바 구분선"/>
          <p:cNvSpPr/>
          <p:nvPr/>
        </p:nvSpPr>
        <p:spPr>
          <a:xfrm>
            <a:off x="4583583" y="16541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지도 안내"/>
          <p:cNvSpPr txBox="1"/>
          <p:nvPr/>
        </p:nvSpPr>
        <p:spPr>
          <a:xfrm>
            <a:off x="4726458" y="1787525"/>
            <a:ext cx="2428875" cy="2533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45000"/>
              </a:lnSpc>
            </a:pPr>
            <a:r>
              <a:rPr sz="787" b="0" spc="-16">
                <a:solidFill>
                  <a:srgbClr val="8A94A3"/>
                </a:solidFill>
                <a:latin typeface="Pretendard"/>
              </a:rPr>
              <a:t>지도 이미지</a:t>
            </a:r>
          </a:p>
        </p:txBody>
      </p:sp>
      <p:sp>
        <p:nvSpPr>
          <p:cNvPr id="26" name="바텀시트"/>
          <p:cNvSpPr/>
          <p:nvPr/>
        </p:nvSpPr>
        <p:spPr>
          <a:xfrm>
            <a:off x="4583583" y="4397375"/>
            <a:ext cx="2714625" cy="1933575"/>
          </a:xfrm>
          <a:prstGeom prst="roundRect">
            <a:avLst>
              <a:gd name="adj" fmla="val 8866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63500" dir="162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시트 손잡이"/>
          <p:cNvSpPr/>
          <p:nvPr/>
        </p:nvSpPr>
        <p:spPr>
          <a:xfrm>
            <a:off x="5769446" y="4483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섹션 제목"/>
          <p:cNvSpPr txBox="1"/>
          <p:nvPr/>
        </p:nvSpPr>
        <p:spPr>
          <a:xfrm>
            <a:off x="4726458" y="4864100"/>
            <a:ext cx="18097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b="1" spc="-18" dirty="0" err="1">
                <a:solidFill>
                  <a:srgbClr val="14181F"/>
                </a:solidFill>
                <a:latin typeface="Pretendard"/>
              </a:rPr>
              <a:t>선유도</a:t>
            </a:r>
            <a:r>
              <a:rPr lang="ko-KR" altLang="en-US" sz="900" b="1" spc="-18" dirty="0">
                <a:solidFill>
                  <a:srgbClr val="14181F"/>
                </a:solidFill>
                <a:latin typeface="Pretendard"/>
              </a:rPr>
              <a:t> 공원</a:t>
            </a:r>
          </a:p>
        </p:txBody>
      </p:sp>
      <p:sp>
        <p:nvSpPr>
          <p:cNvPr id="29" name="즐겨찾기 별 ON"/>
          <p:cNvSpPr/>
          <p:nvPr/>
        </p:nvSpPr>
        <p:spPr>
          <a:xfrm>
            <a:off x="6945783" y="4873625"/>
            <a:ext cx="171450" cy="171450"/>
          </a:xfrm>
          <a:prstGeom prst="star5">
            <a:avLst/>
          </a:prstGeom>
          <a:solidFill>
            <a:srgbClr val="F0A32B"/>
          </a:solidFill>
          <a:ln w="7143">
            <a:solidFill>
              <a:srgbClr val="F0A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본문"/>
          <p:cNvSpPr txBox="1"/>
          <p:nvPr/>
        </p:nvSpPr>
        <p:spPr>
          <a:xfrm>
            <a:off x="4726458" y="5092700"/>
            <a:ext cx="2428875" cy="419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서울특별시청 04524 서울특별시 중구 세종대로 110</a:t>
            </a:r>
          </a:p>
          <a:p>
            <a:pPr algn="l">
              <a:lnSpc>
                <a:spcPct val="145000"/>
              </a:lnSpc>
            </a:pPr>
            <a:r>
              <a:rPr sz="825" b="0" spc="-16">
                <a:solidFill>
                  <a:srgbClr val="5B6573"/>
                </a:solidFill>
                <a:latin typeface="Pretendard"/>
              </a:rPr>
              <a:t>도로명: 서울 중구 세종대로 110</a:t>
            </a:r>
          </a:p>
        </p:txBody>
      </p:sp>
      <p:sp>
        <p:nvSpPr>
          <p:cNvPr id="31" name="버튼 즐겨찾기에서 삭제"/>
          <p:cNvSpPr/>
          <p:nvPr/>
        </p:nvSpPr>
        <p:spPr>
          <a:xfrm>
            <a:off x="4726458" y="5683250"/>
            <a:ext cx="2428875" cy="342900"/>
          </a:xfrm>
          <a:prstGeom prst="roundRect">
            <a:avLst>
              <a:gd name="adj" fmla="val 30555"/>
            </a:avLst>
          </a:prstGeom>
          <a:solidFill>
            <a:srgbClr val="2D4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버튼 라벨"/>
          <p:cNvSpPr txBox="1"/>
          <p:nvPr/>
        </p:nvSpPr>
        <p:spPr>
          <a:xfrm>
            <a:off x="4726458" y="5683250"/>
            <a:ext cx="2428875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1" spc="-19">
                <a:solidFill>
                  <a:srgbClr val="FFFFFF"/>
                </a:solidFill>
                <a:latin typeface="Pretendard"/>
              </a:rPr>
              <a:t>즐겨찾기에서 삭제</a:t>
            </a:r>
          </a:p>
        </p:txBody>
      </p:sp>
      <p:grpSp>
        <p:nvGrpSpPr>
          <p:cNvPr id="33" name="그룹 10">
            <a:extLst>
              <a:ext uri="{FF2B5EF4-FFF2-40B4-BE49-F238E27FC236}">
                <a16:creationId xmlns:a16="http://schemas.microsoft.com/office/drawing/2014/main" id="{416B25E0-DC08-E593-9890-DF81B94B412E}"/>
              </a:ext>
            </a:extLst>
          </p:cNvPr>
          <p:cNvGrpSpPr/>
          <p:nvPr/>
        </p:nvGrpSpPr>
        <p:grpSpPr>
          <a:xfrm>
            <a:off x="4764558" y="5402263"/>
            <a:ext cx="2381250" cy="419100"/>
            <a:chOff x="4750270" y="3873500"/>
            <a:chExt cx="2381250" cy="419100"/>
          </a:xfrm>
        </p:grpSpPr>
        <p:sp>
          <p:nvSpPr>
            <p:cNvPr id="34" name="토스트"/>
            <p:cNvSpPr/>
            <p:nvPr/>
          </p:nvSpPr>
          <p:spPr>
            <a:xfrm>
              <a:off x="4750270" y="387350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/>
            <p:cNvSpPr txBox="1"/>
            <p:nvPr/>
          </p:nvSpPr>
          <p:spPr>
            <a:xfrm>
              <a:off x="5159845" y="387350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즐겨찾기에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추가되었습니다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36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38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39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390431"/>
              </p:ext>
            </p:extLst>
          </p:nvPr>
        </p:nvGraphicFramePr>
        <p:xfrm>
          <a:off x="9277502" y="1447800"/>
          <a:ext cx="2553309" cy="417108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장소 상세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검색 결과 행 선택 시 진입 · 공용 화면을 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☆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토글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검색 결과 행의 ☆와 같은 동작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즐겨찾기에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추가</a:t>
                      </a:r>
                      <a:r>
                        <a:rPr lang="ko-KR" altLang="en-US"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버튼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추가 모드로 진입했을 때만 역할 2버튼 대신 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73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저장</a:t>
                      </a: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완료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★(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채움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)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으로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전환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·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토스트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표출</a:t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(2-1)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라벨은 ‘즐겨찾기에서 삭제’ 버튼으로 변경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이미 저장된 장소는 ★ 상태로 진입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· 중복</a:t>
                      </a: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>저장</a:t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 불가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즐겨찾기 페이지 &gt; 목록 반영</a:t>
                      </a:r>
                      <a:endParaRPr lang="en-US" altLang="ko-KR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3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추가된 즐겨찾기는 재설치·기기 변경에도 유지</a:t>
                      </a:r>
                      <a:r>
                        <a:rPr lang="ko-KR" altLang="en-US" sz="900" b="0" dirty="0" err="1">
                          <a:solidFill>
                            <a:srgbClr val="3E4652"/>
                          </a:solidFill>
                          <a:latin typeface="Pretendard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/>
                      </a: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/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1" name="숫자배지 1"/>
          <p:cNvSpPr/>
          <p:nvPr/>
        </p:nvSpPr>
        <p:spPr>
          <a:xfrm>
            <a:off x="1072461" y="4445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42" name="숫자배지 1-1"/>
          <p:cNvSpPr/>
          <p:nvPr/>
        </p:nvSpPr>
        <p:spPr>
          <a:xfrm>
            <a:off x="3263211" y="48831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43" name="숫자배지 1-2"/>
          <p:cNvSpPr/>
          <p:nvPr/>
        </p:nvSpPr>
        <p:spPr>
          <a:xfrm>
            <a:off x="1072461" y="57594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1-2</a:t>
            </a:r>
          </a:p>
        </p:txBody>
      </p:sp>
      <p:sp>
        <p:nvSpPr>
          <p:cNvPr id="44" name="숫자배지 2"/>
          <p:cNvSpPr/>
          <p:nvPr/>
        </p:nvSpPr>
        <p:spPr>
          <a:xfrm>
            <a:off x="4707408" y="455656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45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자주 가는 곳 유형 선택 — 프리셋 시트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0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2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3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9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3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55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58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2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4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5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7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69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1" name="프리셋 시트 패널"/>
          <p:cNvSpPr/>
          <p:nvPr/>
        </p:nvSpPr>
        <p:spPr>
          <a:xfrm>
            <a:off x="4582440" y="3090672"/>
            <a:ext cx="2715768" cy="3236976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72" name="시트 제목"/>
          <p:cNvSpPr txBox="1"/>
          <p:nvPr/>
        </p:nvSpPr>
        <p:spPr>
          <a:xfrm>
            <a:off x="4728744" y="3218688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가는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곳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유형</a:t>
            </a:r>
            <a:r>
              <a:rPr sz="900" b="1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선택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프리셋 행 병원"/>
          <p:cNvSpPr/>
          <p:nvPr/>
        </p:nvSpPr>
        <p:spPr>
          <a:xfrm>
            <a:off x="4728744" y="352958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4856760" y="362102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병원</a:t>
            </a:r>
          </a:p>
        </p:txBody>
      </p:sp>
      <p:sp>
        <p:nvSpPr>
          <p:cNvPr id="75" name="프리셋 행 복지관"/>
          <p:cNvSpPr/>
          <p:nvPr/>
        </p:nvSpPr>
        <p:spPr>
          <a:xfrm>
            <a:off x="4728744" y="389534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행 제목"/>
          <p:cNvSpPr txBox="1"/>
          <p:nvPr/>
        </p:nvSpPr>
        <p:spPr>
          <a:xfrm>
            <a:off x="4856760" y="398678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77" name="프리셋 행 주민센터"/>
          <p:cNvSpPr/>
          <p:nvPr/>
        </p:nvSpPr>
        <p:spPr>
          <a:xfrm>
            <a:off x="4728744" y="426110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/>
          <p:cNvSpPr txBox="1"/>
          <p:nvPr/>
        </p:nvSpPr>
        <p:spPr>
          <a:xfrm>
            <a:off x="4856760" y="435254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주민센터</a:t>
            </a:r>
          </a:p>
        </p:txBody>
      </p:sp>
      <p:sp>
        <p:nvSpPr>
          <p:cNvPr id="79" name="프리셋 행 회사"/>
          <p:cNvSpPr/>
          <p:nvPr/>
        </p:nvSpPr>
        <p:spPr>
          <a:xfrm>
            <a:off x="4728744" y="462686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0" name="행 제목"/>
          <p:cNvSpPr txBox="1"/>
          <p:nvPr/>
        </p:nvSpPr>
        <p:spPr>
          <a:xfrm>
            <a:off x="4856760" y="471830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81" name="프리셋 행 학교"/>
          <p:cNvSpPr/>
          <p:nvPr/>
        </p:nvSpPr>
        <p:spPr>
          <a:xfrm>
            <a:off x="4728744" y="4992624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2" name="행 제목"/>
          <p:cNvSpPr txBox="1"/>
          <p:nvPr/>
        </p:nvSpPr>
        <p:spPr>
          <a:xfrm>
            <a:off x="4856760" y="5084064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학교</a:t>
            </a:r>
          </a:p>
        </p:txBody>
      </p:sp>
      <p:sp>
        <p:nvSpPr>
          <p:cNvPr id="83" name="프리셋 행 직접 입력"/>
          <p:cNvSpPr/>
          <p:nvPr/>
        </p:nvSpPr>
        <p:spPr>
          <a:xfrm>
            <a:off x="4728744" y="5358383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4" name="행 제목"/>
          <p:cNvSpPr txBox="1"/>
          <p:nvPr/>
        </p:nvSpPr>
        <p:spPr>
          <a:xfrm>
            <a:off x="4856760" y="5449823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직접 입력</a:t>
            </a:r>
          </a:p>
        </p:txBody>
      </p:sp>
      <p:sp>
        <p:nvSpPr>
          <p:cNvPr id="85" name="시트 닫기 버튼"/>
          <p:cNvSpPr/>
          <p:nvPr/>
        </p:nvSpPr>
        <p:spPr>
          <a:xfrm>
            <a:off x="4728744" y="585216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버튼 라벨"/>
          <p:cNvSpPr txBox="1"/>
          <p:nvPr/>
        </p:nvSpPr>
        <p:spPr>
          <a:xfrm>
            <a:off x="4856760" y="5943600"/>
            <a:ext cx="1911095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닫기</a:t>
            </a:r>
          </a:p>
        </p:txBody>
      </p:sp>
      <p:sp>
        <p:nvSpPr>
          <p:cNvPr id="87" name="시트 버튼 구분선"/>
          <p:cNvSpPr/>
          <p:nvPr/>
        </p:nvSpPr>
        <p:spPr>
          <a:xfrm>
            <a:off x="4728744" y="5779008"/>
            <a:ext cx="2432304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88" name="Description 표"/>
          <p:cNvGraphicFramePr>
            <a:graphicFrameLocks noGrp="1"/>
          </p:cNvGraphicFramePr>
          <p:nvPr/>
        </p:nvGraphicFramePr>
        <p:xfrm>
          <a:off x="9277502" y="1447800"/>
          <a:ext cx="2553309" cy="4516371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빈 슬롯 선택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빈 슬롯 선택 시 시트 표출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‘집’은 유형을 고르지 않음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자주 가는 곳 유형 선택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아래에서 올라오는 시트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손잡이 없음 · 바깥 눌러도 안 닫힘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배경 목록 미노출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6종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병원 〉 복지관 〉 주민센터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회사 〉 학교 〉 직접 입력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라벨은 이름 변경 시트에서 입력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[닫기]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닫는 유일한 버튼 · 맨 아래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닫으면 빈 슬롯 자리로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유형 선택 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고른 유형이 슬롯 라벨 기본값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이어서 장소 검색으로 이동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0" name="숫자배지 1"/>
          <p:cNvSpPr/>
          <p:nvPr/>
        </p:nvSpPr>
        <p:spPr>
          <a:xfrm>
            <a:off x="3439166" y="324612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1" name="숫자배지 2"/>
          <p:cNvSpPr/>
          <p:nvPr/>
        </p:nvSpPr>
        <p:spPr>
          <a:xfrm>
            <a:off x="6804432" y="32004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2" name="숫자배지 2-1"/>
          <p:cNvSpPr/>
          <p:nvPr/>
        </p:nvSpPr>
        <p:spPr>
          <a:xfrm>
            <a:off x="6804432" y="358444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3" name="숫자배지 2-2"/>
          <p:cNvSpPr/>
          <p:nvPr/>
        </p:nvSpPr>
        <p:spPr>
          <a:xfrm>
            <a:off x="6804432" y="590702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고정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슬롯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지정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—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검색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결과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→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이름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변경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시트</a:t>
            </a:r>
            <a:r>
              <a:rPr sz="900" b="0" dirty="0">
                <a:solidFill>
                  <a:srgbClr val="8A94A3"/>
                </a:solidFill>
                <a:latin typeface="Pretendard"/>
              </a:rPr>
              <a:t> → </a:t>
            </a:r>
            <a:r>
              <a:rPr sz="900" b="0" dirty="0" err="1">
                <a:solidFill>
                  <a:srgbClr val="8A94A3"/>
                </a:solidFill>
                <a:latin typeface="Pretendard"/>
              </a:rPr>
              <a:t>저장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58870"/>
              </p:ext>
            </p:extLst>
          </p:nvPr>
        </p:nvGraphicFramePr>
        <p:xfrm>
          <a:off x="9277502" y="1447800"/>
          <a:ext cx="2553309" cy="468385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952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지도 ＋ 바텀시트 — 2-1 ③ 검색 결과와 같음 · 정렬 드롭다운 「정확도순」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검색 결과 (슬롯 지정 모드)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유형을 고른 뒤 이 화면으로 이동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버튼은 고른 유형으로 표시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[〈유형〉으로 설정]</a:t>
                      </a:r>
                      <a:endParaRPr lang="ko-KR" altLang="en-US"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이름 변경 시트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추가’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기본값은 고른 유형명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최대 10자 · 수정은 선택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80517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저장 시 슬롯에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설정 완료 토스트 표출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197606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지정 완료</a:t>
                      </a:r>
                      <a:endParaRPr sz="1000" b="1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슬롯에 선택한 장소의 주소가 채워짐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15251"/>
                  </a:ext>
                </a:extLst>
              </a:tr>
            </a:tbl>
          </a:graphicData>
        </a:graphic>
      </p:graphicFrame>
      <p:sp>
        <p:nvSpPr>
          <p:cNvPr id="13" name="목업 프레임">
            <a:extLst>
              <a:ext uri="{FF2B5EF4-FFF2-40B4-BE49-F238E27FC236}">
                <a16:creationId xmlns:a16="http://schemas.microsoft.com/office/drawing/2014/main" id="{66D081AA-6161-74DF-0391-C52C3788927B}"/>
              </a:ext>
            </a:extLst>
          </p:cNvPr>
          <p:cNvSpPr/>
          <p:nvPr/>
        </p:nvSpPr>
        <p:spPr>
          <a:xfrm>
            <a:off x="6154051" y="1203151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탑바 구분선">
            <a:extLst>
              <a:ext uri="{FF2B5EF4-FFF2-40B4-BE49-F238E27FC236}">
                <a16:creationId xmlns:a16="http://schemas.microsoft.com/office/drawing/2014/main" id="{318E02C5-F6D7-F6E7-02D3-9ED688171EE0}"/>
              </a:ext>
            </a:extLst>
          </p:cNvPr>
          <p:cNvSpPr/>
          <p:nvPr/>
        </p:nvSpPr>
        <p:spPr>
          <a:xfrm>
            <a:off x="6163576" y="1660351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탑바 타이틀">
            <a:extLst>
              <a:ext uri="{FF2B5EF4-FFF2-40B4-BE49-F238E27FC236}">
                <a16:creationId xmlns:a16="http://schemas.microsoft.com/office/drawing/2014/main" id="{0A8202FA-979E-08BF-0272-77E751B1E958}"/>
              </a:ext>
            </a:extLst>
          </p:cNvPr>
          <p:cNvSpPr txBox="1"/>
          <p:nvPr/>
        </p:nvSpPr>
        <p:spPr>
          <a:xfrm>
            <a:off x="6573151" y="1317451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6" name="뒤로가기">
            <a:extLst>
              <a:ext uri="{FF2B5EF4-FFF2-40B4-BE49-F238E27FC236}">
                <a16:creationId xmlns:a16="http://schemas.microsoft.com/office/drawing/2014/main" id="{E8292C89-A689-EC4F-3004-686314025F78}"/>
              </a:ext>
            </a:extLst>
          </p:cNvPr>
          <p:cNvCxnSpPr/>
          <p:nvPr/>
        </p:nvCxnSpPr>
        <p:spPr>
          <a:xfrm flipH="1">
            <a:off x="6306451" y="1384507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뒤로가기">
            <a:extLst>
              <a:ext uri="{FF2B5EF4-FFF2-40B4-BE49-F238E27FC236}">
                <a16:creationId xmlns:a16="http://schemas.microsoft.com/office/drawing/2014/main" id="{1DD138A6-BCE8-84CD-5294-9ECD40DD876D}"/>
              </a:ext>
            </a:extLst>
          </p:cNvPr>
          <p:cNvCxnSpPr/>
          <p:nvPr/>
        </p:nvCxnSpPr>
        <p:spPr>
          <a:xfrm flipH="1" flipV="1">
            <a:off x="6306451" y="143175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탑바 액션 편집">
            <a:extLst>
              <a:ext uri="{FF2B5EF4-FFF2-40B4-BE49-F238E27FC236}">
                <a16:creationId xmlns:a16="http://schemas.microsoft.com/office/drawing/2014/main" id="{AFB36AED-DA39-74AD-83B6-B4E25ED90A39}"/>
              </a:ext>
            </a:extLst>
          </p:cNvPr>
          <p:cNvSpPr txBox="1"/>
          <p:nvPr/>
        </p:nvSpPr>
        <p:spPr>
          <a:xfrm>
            <a:off x="8297176" y="1317451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9" name="섹션 제목">
            <a:extLst>
              <a:ext uri="{FF2B5EF4-FFF2-40B4-BE49-F238E27FC236}">
                <a16:creationId xmlns:a16="http://schemas.microsoft.com/office/drawing/2014/main" id="{D9424037-E78A-B865-933F-2A96B5A2C48B}"/>
              </a:ext>
            </a:extLst>
          </p:cNvPr>
          <p:cNvSpPr txBox="1"/>
          <p:nvPr/>
        </p:nvSpPr>
        <p:spPr>
          <a:xfrm>
            <a:off x="6306451" y="1736551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집 · 자주 가는 곳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20" name="리스트 행">
            <a:extLst>
              <a:ext uri="{FF2B5EF4-FFF2-40B4-BE49-F238E27FC236}">
                <a16:creationId xmlns:a16="http://schemas.microsoft.com/office/drawing/2014/main" id="{FF89DC69-5EC7-2C47-9AC2-C4F6859A0702}"/>
              </a:ext>
            </a:extLst>
          </p:cNvPr>
          <p:cNvSpPr/>
          <p:nvPr/>
        </p:nvSpPr>
        <p:spPr>
          <a:xfrm>
            <a:off x="6306451" y="196515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>
            <a:extLst>
              <a:ext uri="{FF2B5EF4-FFF2-40B4-BE49-F238E27FC236}">
                <a16:creationId xmlns:a16="http://schemas.microsoft.com/office/drawing/2014/main" id="{0C7CA454-1D5E-34E9-A1C0-8BFC6482AF23}"/>
              </a:ext>
            </a:extLst>
          </p:cNvPr>
          <p:cNvSpPr txBox="1"/>
          <p:nvPr/>
        </p:nvSpPr>
        <p:spPr>
          <a:xfrm>
            <a:off x="6439801" y="205087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22" name="행 설명">
            <a:extLst>
              <a:ext uri="{FF2B5EF4-FFF2-40B4-BE49-F238E27FC236}">
                <a16:creationId xmlns:a16="http://schemas.microsoft.com/office/drawing/2014/main" id="{0EDBC620-B288-069D-DB25-017A62AF6CB0}"/>
              </a:ext>
            </a:extLst>
          </p:cNvPr>
          <p:cNvSpPr txBox="1"/>
          <p:nvPr/>
        </p:nvSpPr>
        <p:spPr>
          <a:xfrm>
            <a:off x="6439801" y="223185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3" name="리스트 행">
            <a:extLst>
              <a:ext uri="{FF2B5EF4-FFF2-40B4-BE49-F238E27FC236}">
                <a16:creationId xmlns:a16="http://schemas.microsoft.com/office/drawing/2014/main" id="{094795F9-D7B2-C87B-0FB0-C6E31C458F00}"/>
              </a:ext>
            </a:extLst>
          </p:cNvPr>
          <p:cNvSpPr/>
          <p:nvPr/>
        </p:nvSpPr>
        <p:spPr>
          <a:xfrm>
            <a:off x="6306451" y="2565226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제목">
            <a:extLst>
              <a:ext uri="{FF2B5EF4-FFF2-40B4-BE49-F238E27FC236}">
                <a16:creationId xmlns:a16="http://schemas.microsoft.com/office/drawing/2014/main" id="{63792D06-0BD4-9FFD-E633-FEA570F0D794}"/>
              </a:ext>
            </a:extLst>
          </p:cNvPr>
          <p:cNvSpPr txBox="1"/>
          <p:nvPr/>
        </p:nvSpPr>
        <p:spPr>
          <a:xfrm>
            <a:off x="6439801" y="2650951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5" name="행 설명">
            <a:extLst>
              <a:ext uri="{FF2B5EF4-FFF2-40B4-BE49-F238E27FC236}">
                <a16:creationId xmlns:a16="http://schemas.microsoft.com/office/drawing/2014/main" id="{198E8BA4-2D4E-D6A3-492B-91372DE4D788}"/>
              </a:ext>
            </a:extLst>
          </p:cNvPr>
          <p:cNvSpPr txBox="1"/>
          <p:nvPr/>
        </p:nvSpPr>
        <p:spPr>
          <a:xfrm>
            <a:off x="6439801" y="2831926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서울특별시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</a:t>
            </a:r>
            <a:r>
              <a:rPr sz="712" b="0" spc="-14" dirty="0" err="1">
                <a:solidFill>
                  <a:srgbClr val="8A94A3"/>
                </a:solidFill>
                <a:latin typeface="Pretendard"/>
              </a:rPr>
              <a:t>영등포구</a:t>
            </a:r>
            <a:r>
              <a:rPr sz="712" b="0" spc="-14" dirty="0">
                <a:solidFill>
                  <a:srgbClr val="8A94A3"/>
                </a:solidFill>
                <a:latin typeface="Pretendard"/>
              </a:rPr>
              <a:t> 당산동3가 82-3</a:t>
            </a:r>
          </a:p>
        </p:txBody>
      </p:sp>
      <p:sp>
        <p:nvSpPr>
          <p:cNvPr id="26" name="섹션 제목">
            <a:extLst>
              <a:ext uri="{FF2B5EF4-FFF2-40B4-BE49-F238E27FC236}">
                <a16:creationId xmlns:a16="http://schemas.microsoft.com/office/drawing/2014/main" id="{FDE6F27D-243B-D725-4F45-AAA78DC69E97}"/>
              </a:ext>
            </a:extLst>
          </p:cNvPr>
          <p:cNvSpPr txBox="1"/>
          <p:nvPr/>
        </p:nvSpPr>
        <p:spPr>
          <a:xfrm>
            <a:off x="6306451" y="396540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27" name="섹션 우측">
            <a:extLst>
              <a:ext uri="{FF2B5EF4-FFF2-40B4-BE49-F238E27FC236}">
                <a16:creationId xmlns:a16="http://schemas.microsoft.com/office/drawing/2014/main" id="{FE3CF143-A963-2E63-EBEE-667F29F30FA0}"/>
              </a:ext>
            </a:extLst>
          </p:cNvPr>
          <p:cNvSpPr txBox="1"/>
          <p:nvPr/>
        </p:nvSpPr>
        <p:spPr>
          <a:xfrm>
            <a:off x="7878076" y="396540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28" name="리스트 행">
            <a:extLst>
              <a:ext uri="{FF2B5EF4-FFF2-40B4-BE49-F238E27FC236}">
                <a16:creationId xmlns:a16="http://schemas.microsoft.com/office/drawing/2014/main" id="{A768084D-59F9-2A8D-5885-CEB21AF278AF}"/>
              </a:ext>
            </a:extLst>
          </p:cNvPr>
          <p:cNvSpPr/>
          <p:nvPr/>
        </p:nvSpPr>
        <p:spPr>
          <a:xfrm>
            <a:off x="6306451" y="4749814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행 제목">
            <a:extLst>
              <a:ext uri="{FF2B5EF4-FFF2-40B4-BE49-F238E27FC236}">
                <a16:creationId xmlns:a16="http://schemas.microsoft.com/office/drawing/2014/main" id="{0B8792E1-BB17-D0F4-5DDC-C1F62B490755}"/>
              </a:ext>
            </a:extLst>
          </p:cNvPr>
          <p:cNvSpPr txBox="1"/>
          <p:nvPr/>
        </p:nvSpPr>
        <p:spPr>
          <a:xfrm>
            <a:off x="6439801" y="4801814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0" spc="-18" dirty="0" err="1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선유도</a:t>
            </a:r>
            <a:r>
              <a:rPr lang="ko-KR" altLang="en-US" sz="900" b="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공원</a:t>
            </a:r>
            <a:endParaRPr sz="900" b="0" spc="-18" dirty="0">
              <a:solidFill>
                <a:srgbClr val="14181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행 설명"/>
          <p:cNvSpPr txBox="1"/>
          <p:nvPr/>
        </p:nvSpPr>
        <p:spPr>
          <a:xfrm>
            <a:off x="6439801" y="4982814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선유로 343</a:t>
            </a:r>
          </a:p>
        </p:txBody>
      </p:sp>
      <p:sp>
        <p:nvSpPr>
          <p:cNvPr id="31" name="리스트 행">
            <a:extLst>
              <a:ext uri="{FF2B5EF4-FFF2-40B4-BE49-F238E27FC236}">
                <a16:creationId xmlns:a16="http://schemas.microsoft.com/office/drawing/2014/main" id="{8CD7C5D1-35BC-78D7-E693-8A56E177A6D5}"/>
              </a:ext>
            </a:extLst>
          </p:cNvPr>
          <p:cNvSpPr/>
          <p:nvPr/>
        </p:nvSpPr>
        <p:spPr>
          <a:xfrm>
            <a:off x="6306451" y="5273689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제목">
            <a:extLst>
              <a:ext uri="{FF2B5EF4-FFF2-40B4-BE49-F238E27FC236}">
                <a16:creationId xmlns:a16="http://schemas.microsoft.com/office/drawing/2014/main" id="{B57AF27C-BFA2-9C2A-7B44-FA0205C6A19D}"/>
              </a:ext>
            </a:extLst>
          </p:cNvPr>
          <p:cNvSpPr txBox="1"/>
          <p:nvPr/>
        </p:nvSpPr>
        <p:spPr>
          <a:xfrm>
            <a:off x="6439801" y="532568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ko-KR" altLang="en-US" sz="900" spc="-18" dirty="0">
                <a:solidFill>
                  <a:srgbClr val="14181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서울특별시청</a:t>
            </a:r>
          </a:p>
        </p:txBody>
      </p:sp>
      <p:sp>
        <p:nvSpPr>
          <p:cNvPr id="33" name="행 설명"/>
          <p:cNvSpPr txBox="1"/>
          <p:nvPr/>
        </p:nvSpPr>
        <p:spPr>
          <a:xfrm>
            <a:off x="6439801" y="550668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34" name="리스트 행">
            <a:extLst>
              <a:ext uri="{FF2B5EF4-FFF2-40B4-BE49-F238E27FC236}">
                <a16:creationId xmlns:a16="http://schemas.microsoft.com/office/drawing/2014/main" id="{06689970-E1F9-3DD4-5903-A5697D17FB99}"/>
              </a:ext>
            </a:extLst>
          </p:cNvPr>
          <p:cNvSpPr/>
          <p:nvPr/>
        </p:nvSpPr>
        <p:spPr>
          <a:xfrm>
            <a:off x="6311214" y="421984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5" name="행 제목">
            <a:extLst>
              <a:ext uri="{FF2B5EF4-FFF2-40B4-BE49-F238E27FC236}">
                <a16:creationId xmlns:a16="http://schemas.microsoft.com/office/drawing/2014/main" id="{DFA4E694-C42C-C715-A963-456F18207828}"/>
              </a:ext>
            </a:extLst>
          </p:cNvPr>
          <p:cNvSpPr txBox="1"/>
          <p:nvPr/>
        </p:nvSpPr>
        <p:spPr>
          <a:xfrm>
            <a:off x="6444564" y="4219843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＋  즐겨찾기 추가</a:t>
            </a:r>
          </a:p>
        </p:txBody>
      </p:sp>
      <p:cxnSp>
        <p:nvCxnSpPr>
          <p:cNvPr id="36" name="더보기">
            <a:extLst>
              <a:ext uri="{FF2B5EF4-FFF2-40B4-BE49-F238E27FC236}">
                <a16:creationId xmlns:a16="http://schemas.microsoft.com/office/drawing/2014/main" id="{0AC847E1-E5C0-47DE-B383-2D89A39E96B5}"/>
              </a:ext>
            </a:extLst>
          </p:cNvPr>
          <p:cNvCxnSpPr/>
          <p:nvPr/>
        </p:nvCxnSpPr>
        <p:spPr>
          <a:xfrm>
            <a:off x="8540064" y="440348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더보기">
            <a:extLst>
              <a:ext uri="{FF2B5EF4-FFF2-40B4-BE49-F238E27FC236}">
                <a16:creationId xmlns:a16="http://schemas.microsoft.com/office/drawing/2014/main" id="{611B6098-041F-8E74-89A2-FA04FB96CDBF}"/>
              </a:ext>
            </a:extLst>
          </p:cNvPr>
          <p:cNvCxnSpPr/>
          <p:nvPr/>
        </p:nvCxnSpPr>
        <p:spPr>
          <a:xfrm flipV="1">
            <a:off x="8540064" y="4438918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리스트 행">
            <a:extLst>
              <a:ext uri="{FF2B5EF4-FFF2-40B4-BE49-F238E27FC236}">
                <a16:creationId xmlns:a16="http://schemas.microsoft.com/office/drawing/2014/main" id="{52CDF7CC-E8C5-11F2-2B37-B49893C81C3E}"/>
              </a:ext>
            </a:extLst>
          </p:cNvPr>
          <p:cNvSpPr/>
          <p:nvPr/>
        </p:nvSpPr>
        <p:spPr>
          <a:xfrm>
            <a:off x="6306451" y="3168661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행 제목">
            <a:extLst>
              <a:ext uri="{FF2B5EF4-FFF2-40B4-BE49-F238E27FC236}">
                <a16:creationId xmlns:a16="http://schemas.microsoft.com/office/drawing/2014/main" id="{6A317EE9-3F4A-5156-E4EF-C8B4BFF75205}"/>
              </a:ext>
            </a:extLst>
          </p:cNvPr>
          <p:cNvSpPr txBox="1"/>
          <p:nvPr/>
        </p:nvSpPr>
        <p:spPr>
          <a:xfrm>
            <a:off x="6439801" y="3254386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0" name="행 설명">
            <a:extLst>
              <a:ext uri="{FF2B5EF4-FFF2-40B4-BE49-F238E27FC236}">
                <a16:creationId xmlns:a16="http://schemas.microsoft.com/office/drawing/2014/main" id="{95D31BB6-B1E6-F849-E543-E928AFAC4D92}"/>
              </a:ext>
            </a:extLst>
          </p:cNvPr>
          <p:cNvSpPr txBox="1"/>
          <p:nvPr/>
        </p:nvSpPr>
        <p:spPr>
          <a:xfrm>
            <a:off x="6439801" y="3435361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>
              <a:lnSpc>
                <a:spcPct val="145000"/>
              </a:lnSpc>
            </a:pP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서울 영등포구 양평동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710" spc="-16" dirty="0">
                <a:solidFill>
                  <a:srgbClr val="5B657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66-1</a:t>
            </a:r>
            <a:endParaRPr lang="ko-KR" altLang="en-US" sz="710" spc="-16" dirty="0">
              <a:solidFill>
                <a:srgbClr val="5B6573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리스트 행">
            <a:extLst>
              <a:ext uri="{FF2B5EF4-FFF2-40B4-BE49-F238E27FC236}">
                <a16:creationId xmlns:a16="http://schemas.microsoft.com/office/drawing/2014/main" id="{4FAA9719-F333-DC2B-2C8C-2C16B8C2C1D7}"/>
              </a:ext>
            </a:extLst>
          </p:cNvPr>
          <p:cNvSpPr/>
          <p:nvPr/>
        </p:nvSpPr>
        <p:spPr>
          <a:xfrm>
            <a:off x="6309734" y="578081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행 제목">
            <a:extLst>
              <a:ext uri="{FF2B5EF4-FFF2-40B4-BE49-F238E27FC236}">
                <a16:creationId xmlns:a16="http://schemas.microsoft.com/office/drawing/2014/main" id="{422205B1-701C-73BC-5E29-F2FEB8A723AF}"/>
              </a:ext>
            </a:extLst>
          </p:cNvPr>
          <p:cNvSpPr txBox="1"/>
          <p:nvPr/>
        </p:nvSpPr>
        <p:spPr>
          <a:xfrm>
            <a:off x="6443084" y="583281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3" name="행 설명"/>
          <p:cNvSpPr txBox="1"/>
          <p:nvPr/>
        </p:nvSpPr>
        <p:spPr>
          <a:xfrm>
            <a:off x="6443084" y="601381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grpSp>
        <p:nvGrpSpPr>
          <p:cNvPr id="44" name="그룹 106">
            <a:extLst>
              <a:ext uri="{FF2B5EF4-FFF2-40B4-BE49-F238E27FC236}">
                <a16:creationId xmlns:a16="http://schemas.microsoft.com/office/drawing/2014/main" id="{D0812E44-1331-872C-D7FE-FF2F6B4BDAFA}"/>
              </a:ext>
            </a:extLst>
          </p:cNvPr>
          <p:cNvGrpSpPr/>
          <p:nvPr/>
        </p:nvGrpSpPr>
        <p:grpSpPr>
          <a:xfrm>
            <a:off x="6321189" y="5470713"/>
            <a:ext cx="2381250" cy="419100"/>
            <a:chOff x="6321189" y="5470713"/>
            <a:chExt cx="2381250" cy="419100"/>
          </a:xfrm>
        </p:grpSpPr>
        <p:sp>
          <p:nvSpPr>
            <p:cNvPr id="45" name="토스트">
              <a:extLst>
                <a:ext uri="{FF2B5EF4-FFF2-40B4-BE49-F238E27FC236}">
                  <a16:creationId xmlns:a16="http://schemas.microsoft.com/office/drawing/2014/main" id="{1984E579-D3E2-2920-E1CD-B90848CBE3D3}"/>
                </a:ext>
              </a:extLst>
            </p:cNvPr>
            <p:cNvSpPr/>
            <p:nvPr/>
          </p:nvSpPr>
          <p:spPr>
            <a:xfrm>
              <a:off x="6321189" y="5470713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6" name="토스트 문구">
              <a:extLst>
                <a:ext uri="{FF2B5EF4-FFF2-40B4-BE49-F238E27FC236}">
                  <a16:creationId xmlns:a16="http://schemas.microsoft.com/office/drawing/2014/main" id="{8B5CB843-E6C9-2887-0047-EC18723DE0FC}"/>
                </a:ext>
              </a:extLst>
            </p:cNvPr>
            <p:cNvSpPr txBox="1"/>
            <p:nvPr/>
          </p:nvSpPr>
          <p:spPr>
            <a:xfrm>
              <a:off x="6730764" y="5470713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복지관으로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 </a:t>
              </a:r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설정</a:t>
              </a:r>
              <a:r>
                <a:rPr sz="787" b="0" spc="-16" dirty="0" err="1">
                  <a:solidFill>
                    <a:srgbClr val="F2F4F7"/>
                  </a:solidFill>
                  <a:latin typeface="Pretendard"/>
                </a:rPr>
                <a:t>되었습니다</a:t>
              </a:r>
              <a:r>
                <a:rPr sz="787" b="0" spc="-16" dirty="0">
                  <a:solidFill>
                    <a:srgbClr val="F2F4F7"/>
                  </a:solidFill>
                  <a:latin typeface="Pretendard"/>
                </a:rPr>
                <a:t>.</a:t>
              </a:r>
            </a:p>
          </p:txBody>
        </p:sp>
      </p:grpSp>
      <p:sp>
        <p:nvSpPr>
          <p:cNvPr id="4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8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49" name="목업 프레임"/>
          <p:cNvSpPr/>
          <p:nvPr/>
        </p:nvSpPr>
        <p:spPr>
          <a:xfrm>
            <a:off x="343814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지도"/>
          <p:cNvSpPr/>
          <p:nvPr/>
        </p:nvSpPr>
        <p:spPr>
          <a:xfrm>
            <a:off x="352958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지도 안내"/>
          <p:cNvSpPr txBox="1"/>
          <p:nvPr/>
        </p:nvSpPr>
        <p:spPr>
          <a:xfrm>
            <a:off x="910742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52" name="검색창"/>
          <p:cNvSpPr/>
          <p:nvPr/>
        </p:nvSpPr>
        <p:spPr>
          <a:xfrm>
            <a:off x="691286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3" name="검색창 문구"/>
          <p:cNvSpPr txBox="1"/>
          <p:nvPr/>
        </p:nvSpPr>
        <p:spPr>
          <a:xfrm>
            <a:off x="837590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54" name="지도 컨트롤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2629814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5" name="지도 컨트롤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2629814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56" name="지도 컨트롤"/>
          <p:cNvSpPr/>
          <p:nvPr/>
        </p:nvSpPr>
        <p:spPr>
          <a:xfrm>
            <a:off x="2629814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지도 컨트롤 라벨"/>
          <p:cNvSpPr txBox="1"/>
          <p:nvPr/>
        </p:nvSpPr>
        <p:spPr>
          <a:xfrm>
            <a:off x="2629814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58" name="바텀시트"/>
          <p:cNvSpPr/>
          <p:nvPr/>
        </p:nvSpPr>
        <p:spPr>
          <a:xfrm>
            <a:off x="352958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9" name="시트 손잡이"/>
          <p:cNvSpPr/>
          <p:nvPr/>
        </p:nvSpPr>
        <p:spPr>
          <a:xfrm>
            <a:off x="1532534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정렬 드롭다운"/>
          <p:cNvSpPr/>
          <p:nvPr/>
        </p:nvSpPr>
        <p:spPr>
          <a:xfrm>
            <a:off x="2062886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1" name="정렬 드롭다운 라벨"/>
          <p:cNvSpPr txBox="1"/>
          <p:nvPr/>
        </p:nvSpPr>
        <p:spPr>
          <a:xfrm>
            <a:off x="2062886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62" name="행 제목"/>
          <p:cNvSpPr txBox="1"/>
          <p:nvPr/>
        </p:nvSpPr>
        <p:spPr>
          <a:xfrm>
            <a:off x="526694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63" name="행 메타"/>
          <p:cNvSpPr txBox="1"/>
          <p:nvPr/>
        </p:nvSpPr>
        <p:spPr>
          <a:xfrm>
            <a:off x="526694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1.2km · 공원</a:t>
            </a:r>
          </a:p>
        </p:txBody>
      </p:sp>
      <p:sp>
        <p:nvSpPr>
          <p:cNvPr id="64" name="행 주소"/>
          <p:cNvSpPr txBox="1"/>
          <p:nvPr/>
        </p:nvSpPr>
        <p:spPr>
          <a:xfrm>
            <a:off x="526694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당산동 1</a:t>
            </a:r>
          </a:p>
        </p:txBody>
      </p:sp>
      <p:sp>
        <p:nvSpPr>
          <p:cNvPr id="65" name="주소 펼침"/>
          <p:cNvSpPr txBox="1"/>
          <p:nvPr/>
        </p:nvSpPr>
        <p:spPr>
          <a:xfrm>
            <a:off x="1541678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66" name="모드 1버튼"/>
          <p:cNvSpPr/>
          <p:nvPr/>
        </p:nvSpPr>
        <p:spPr>
          <a:xfrm>
            <a:off x="819302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7" name="모드 1버튼 라벨"/>
          <p:cNvSpPr txBox="1"/>
          <p:nvPr/>
        </p:nvSpPr>
        <p:spPr>
          <a:xfrm>
            <a:off x="819302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68" name="행 구분선"/>
          <p:cNvSpPr/>
          <p:nvPr/>
        </p:nvSpPr>
        <p:spPr>
          <a:xfrm>
            <a:off x="352958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행 제목"/>
          <p:cNvSpPr txBox="1"/>
          <p:nvPr/>
        </p:nvSpPr>
        <p:spPr>
          <a:xfrm>
            <a:off x="526694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70" name="행 메타"/>
          <p:cNvSpPr txBox="1"/>
          <p:nvPr/>
        </p:nvSpPr>
        <p:spPr>
          <a:xfrm>
            <a:off x="526694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1.4km · 지명</a:t>
            </a:r>
          </a:p>
        </p:txBody>
      </p:sp>
      <p:sp>
        <p:nvSpPr>
          <p:cNvPr id="71" name="행 주소"/>
          <p:cNvSpPr txBox="1"/>
          <p:nvPr/>
        </p:nvSpPr>
        <p:spPr>
          <a:xfrm>
            <a:off x="526694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양평동 4가</a:t>
            </a:r>
          </a:p>
        </p:txBody>
      </p:sp>
      <p:sp>
        <p:nvSpPr>
          <p:cNvPr id="72" name="주소 펼침"/>
          <p:cNvSpPr txBox="1"/>
          <p:nvPr/>
        </p:nvSpPr>
        <p:spPr>
          <a:xfrm>
            <a:off x="1400860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73" name="모드 1버튼"/>
          <p:cNvSpPr/>
          <p:nvPr/>
        </p:nvSpPr>
        <p:spPr>
          <a:xfrm>
            <a:off x="819302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모드 1버튼 라벨"/>
          <p:cNvSpPr txBox="1"/>
          <p:nvPr/>
        </p:nvSpPr>
        <p:spPr>
          <a:xfrm>
            <a:off x="819302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75" name="행 구분선"/>
          <p:cNvSpPr/>
          <p:nvPr/>
        </p:nvSpPr>
        <p:spPr>
          <a:xfrm>
            <a:off x="352958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뒤로가기 플로팅"/>
          <p:cNvSpPr/>
          <p:nvPr/>
        </p:nvSpPr>
        <p:spPr>
          <a:xfrm>
            <a:off x="391363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7" name="목업 프레임"/>
          <p:cNvSpPr/>
          <p:nvPr/>
        </p:nvSpPr>
        <p:spPr>
          <a:xfrm>
            <a:off x="3248863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지도"/>
          <p:cNvSpPr/>
          <p:nvPr/>
        </p:nvSpPr>
        <p:spPr>
          <a:xfrm>
            <a:off x="3258007" y="1207008"/>
            <a:ext cx="2715768" cy="5108829"/>
          </a:xfrm>
          <a:prstGeom prst="roundRect">
            <a:avLst>
              <a:gd name="adj" fmla="val 5976"/>
            </a:avLst>
          </a:prstGeom>
          <a:solidFill>
            <a:srgbClr val="F2F4F7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9" name="지도 안내"/>
          <p:cNvSpPr txBox="1"/>
          <p:nvPr/>
        </p:nvSpPr>
        <p:spPr>
          <a:xfrm>
            <a:off x="3815791" y="1828800"/>
            <a:ext cx="18288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결과 전량을 핀으로 표출</a:t>
            </a:r>
          </a:p>
        </p:txBody>
      </p:sp>
      <p:sp>
        <p:nvSpPr>
          <p:cNvPr id="80" name="검색창"/>
          <p:cNvSpPr/>
          <p:nvPr/>
        </p:nvSpPr>
        <p:spPr>
          <a:xfrm>
            <a:off x="3596335" y="1280160"/>
            <a:ext cx="223113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1" name="검색창 문구"/>
          <p:cNvSpPr txBox="1"/>
          <p:nvPr/>
        </p:nvSpPr>
        <p:spPr>
          <a:xfrm>
            <a:off x="3742639" y="1357884"/>
            <a:ext cx="1975104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82" name="지도 컨트롤"/>
          <p:cNvSpPr/>
          <p:nvPr/>
        </p:nvSpPr>
        <p:spPr>
          <a:xfrm>
            <a:off x="5534863" y="1847088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3" name="지도 컨트롤 라벨"/>
          <p:cNvSpPr txBox="1"/>
          <p:nvPr/>
        </p:nvSpPr>
        <p:spPr>
          <a:xfrm>
            <a:off x="5534863" y="1847088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＋</a:t>
            </a:r>
          </a:p>
        </p:txBody>
      </p:sp>
      <p:sp>
        <p:nvSpPr>
          <p:cNvPr id="84" name="지도 컨트롤"/>
          <p:cNvSpPr/>
          <p:nvPr/>
        </p:nvSpPr>
        <p:spPr>
          <a:xfrm>
            <a:off x="5534863" y="2194560"/>
            <a:ext cx="310896" cy="320040"/>
          </a:xfrm>
          <a:prstGeom prst="roundRect">
            <a:avLst>
              <a:gd name="adj" fmla="val 33497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5" name="지도 컨트롤 라벨"/>
          <p:cNvSpPr txBox="1"/>
          <p:nvPr/>
        </p:nvSpPr>
        <p:spPr>
          <a:xfrm>
            <a:off x="5534863" y="2194560"/>
            <a:ext cx="31089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spc="-17">
                <a:solidFill>
                  <a:srgbClr val="5B6573"/>
                </a:solidFill>
                <a:latin typeface="Pretendard"/>
              </a:rPr>
              <a:t>－</a:t>
            </a:r>
          </a:p>
        </p:txBody>
      </p:sp>
      <p:sp>
        <p:nvSpPr>
          <p:cNvPr id="86" name="바텀시트"/>
          <p:cNvSpPr/>
          <p:nvPr/>
        </p:nvSpPr>
        <p:spPr>
          <a:xfrm>
            <a:off x="3258007" y="2816352"/>
            <a:ext cx="2715768" cy="3520440"/>
          </a:xfrm>
          <a:prstGeom prst="round2SameRect">
            <a:avLst>
              <a:gd name="adj1" fmla="val 6313"/>
              <a:gd name="adj2" fmla="val 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7" name="시트 손잡이"/>
          <p:cNvSpPr/>
          <p:nvPr/>
        </p:nvSpPr>
        <p:spPr>
          <a:xfrm>
            <a:off x="4437583" y="2907792"/>
            <a:ext cx="347472" cy="36576"/>
          </a:xfrm>
          <a:prstGeom prst="roundRect">
            <a:avLst>
              <a:gd name="adj" fmla="val 26086"/>
            </a:avLst>
          </a:prstGeom>
          <a:solidFill>
            <a:srgbClr val="D7DDE5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8" name="정렬 드롭다운"/>
          <p:cNvSpPr/>
          <p:nvPr/>
        </p:nvSpPr>
        <p:spPr>
          <a:xfrm>
            <a:off x="4967935" y="2980944"/>
            <a:ext cx="877824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9" name="정렬 드롭다운 라벨"/>
          <p:cNvSpPr txBox="1"/>
          <p:nvPr/>
        </p:nvSpPr>
        <p:spPr>
          <a:xfrm>
            <a:off x="4967935" y="2980944"/>
            <a:ext cx="877824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정확도순 ⌄</a:t>
            </a:r>
          </a:p>
        </p:txBody>
      </p:sp>
      <p:sp>
        <p:nvSpPr>
          <p:cNvPr id="90" name="행 제목"/>
          <p:cNvSpPr txBox="1"/>
          <p:nvPr/>
        </p:nvSpPr>
        <p:spPr>
          <a:xfrm>
            <a:off x="3431743" y="3364992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선유도공원</a:t>
            </a:r>
          </a:p>
        </p:txBody>
      </p:sp>
      <p:sp>
        <p:nvSpPr>
          <p:cNvPr id="91" name="행 메타"/>
          <p:cNvSpPr txBox="1"/>
          <p:nvPr/>
        </p:nvSpPr>
        <p:spPr>
          <a:xfrm>
            <a:off x="3431743" y="3584448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1.2km · 공원</a:t>
            </a:r>
          </a:p>
        </p:txBody>
      </p:sp>
      <p:sp>
        <p:nvSpPr>
          <p:cNvPr id="92" name="행 주소"/>
          <p:cNvSpPr txBox="1"/>
          <p:nvPr/>
        </p:nvSpPr>
        <p:spPr>
          <a:xfrm>
            <a:off x="3431743" y="3749040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당산동 1</a:t>
            </a:r>
          </a:p>
        </p:txBody>
      </p:sp>
      <p:sp>
        <p:nvSpPr>
          <p:cNvPr id="93" name="주소 펼침"/>
          <p:cNvSpPr txBox="1"/>
          <p:nvPr/>
        </p:nvSpPr>
        <p:spPr>
          <a:xfrm>
            <a:off x="4446727" y="3739896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94" name="모드 1버튼"/>
          <p:cNvSpPr/>
          <p:nvPr/>
        </p:nvSpPr>
        <p:spPr>
          <a:xfrm>
            <a:off x="3724351" y="3950208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5" name="모드 1버튼 라벨"/>
          <p:cNvSpPr txBox="1"/>
          <p:nvPr/>
        </p:nvSpPr>
        <p:spPr>
          <a:xfrm>
            <a:off x="3724351" y="3950208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96" name="행 구분선"/>
          <p:cNvSpPr/>
          <p:nvPr/>
        </p:nvSpPr>
        <p:spPr>
          <a:xfrm>
            <a:off x="3258007" y="4370832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7" name="행 제목"/>
          <p:cNvSpPr txBox="1"/>
          <p:nvPr/>
        </p:nvSpPr>
        <p:spPr>
          <a:xfrm>
            <a:off x="3431743" y="4443984"/>
            <a:ext cx="2103120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선유도</a:t>
            </a:r>
          </a:p>
        </p:txBody>
      </p:sp>
      <p:sp>
        <p:nvSpPr>
          <p:cNvPr id="98" name="행 메타"/>
          <p:cNvSpPr txBox="1"/>
          <p:nvPr/>
        </p:nvSpPr>
        <p:spPr>
          <a:xfrm>
            <a:off x="3431743" y="4663440"/>
            <a:ext cx="228600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1.4km · 지명</a:t>
            </a:r>
          </a:p>
        </p:txBody>
      </p:sp>
      <p:sp>
        <p:nvSpPr>
          <p:cNvPr id="99" name="행 주소"/>
          <p:cNvSpPr txBox="1"/>
          <p:nvPr/>
        </p:nvSpPr>
        <p:spPr>
          <a:xfrm>
            <a:off x="3431743" y="4828032"/>
            <a:ext cx="201168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서울 영등포구 양평동 4가</a:t>
            </a:r>
          </a:p>
        </p:txBody>
      </p:sp>
      <p:sp>
        <p:nvSpPr>
          <p:cNvPr id="100" name="주소 펼침"/>
          <p:cNvSpPr txBox="1"/>
          <p:nvPr/>
        </p:nvSpPr>
        <p:spPr>
          <a:xfrm>
            <a:off x="4305909" y="4818888"/>
            <a:ext cx="182880" cy="1737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0" spc="-15">
                <a:solidFill>
                  <a:srgbClr val="5B6573"/>
                </a:solidFill>
                <a:latin typeface="Pretendard"/>
              </a:rPr>
              <a:t>∨</a:t>
            </a:r>
          </a:p>
        </p:txBody>
      </p:sp>
      <p:sp>
        <p:nvSpPr>
          <p:cNvPr id="101" name="모드 1버튼"/>
          <p:cNvSpPr/>
          <p:nvPr/>
        </p:nvSpPr>
        <p:spPr>
          <a:xfrm>
            <a:off x="3724351" y="5029200"/>
            <a:ext cx="2066543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2" name="모드 1버튼 라벨"/>
          <p:cNvSpPr txBox="1"/>
          <p:nvPr/>
        </p:nvSpPr>
        <p:spPr>
          <a:xfrm>
            <a:off x="3724351" y="5029200"/>
            <a:ext cx="2066543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복지관으로 설정</a:t>
            </a:r>
          </a:p>
        </p:txBody>
      </p:sp>
      <p:sp>
        <p:nvSpPr>
          <p:cNvPr id="103" name="행 구분선"/>
          <p:cNvSpPr/>
          <p:nvPr/>
        </p:nvSpPr>
        <p:spPr>
          <a:xfrm>
            <a:off x="3258007" y="5449824"/>
            <a:ext cx="2715768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4" name="뒤로가기 플로팅"/>
          <p:cNvSpPr/>
          <p:nvPr/>
        </p:nvSpPr>
        <p:spPr>
          <a:xfrm>
            <a:off x="3296412" y="1289303"/>
            <a:ext cx="292608" cy="29260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5" name="시트 패널"/>
          <p:cNvSpPr/>
          <p:nvPr/>
        </p:nvSpPr>
        <p:spPr>
          <a:xfrm>
            <a:off x="3257308" y="4450384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06" name="시트 제목"/>
          <p:cNvSpPr txBox="1"/>
          <p:nvPr/>
        </p:nvSpPr>
        <p:spPr>
          <a:xfrm>
            <a:off x="3403612" y="4570171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추가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07" name="입력란"/>
          <p:cNvSpPr/>
          <p:nvPr/>
        </p:nvSpPr>
        <p:spPr>
          <a:xfrm>
            <a:off x="3403612" y="482986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8" name="입력값"/>
          <p:cNvSpPr txBox="1"/>
          <p:nvPr/>
        </p:nvSpPr>
        <p:spPr>
          <a:xfrm>
            <a:off x="3531628" y="482986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109" name="글자수"/>
          <p:cNvSpPr txBox="1"/>
          <p:nvPr/>
        </p:nvSpPr>
        <p:spPr>
          <a:xfrm>
            <a:off x="3403612" y="5289804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sp>
        <p:nvSpPr>
          <p:cNvPr id="110" name="저장 버튼"/>
          <p:cNvSpPr/>
          <p:nvPr/>
        </p:nvSpPr>
        <p:spPr>
          <a:xfrm>
            <a:off x="3403612" y="5540349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1" name="저장 라벨"/>
          <p:cNvSpPr txBox="1"/>
          <p:nvPr/>
        </p:nvSpPr>
        <p:spPr>
          <a:xfrm>
            <a:off x="3403612" y="5540349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cxnSp>
        <p:nvCxnSpPr>
          <p:cNvPr id="112" name="뒤로가기"/>
          <p:cNvCxnSpPr/>
          <p:nvPr/>
        </p:nvCxnSpPr>
        <p:spPr>
          <a:xfrm flipH="1">
            <a:off x="499033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뒤로가기"/>
          <p:cNvCxnSpPr/>
          <p:nvPr/>
        </p:nvCxnSpPr>
        <p:spPr>
          <a:xfrm flipH="1" flipV="1">
            <a:off x="499033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뒤로가기"/>
          <p:cNvCxnSpPr/>
          <p:nvPr/>
        </p:nvCxnSpPr>
        <p:spPr>
          <a:xfrm flipH="1">
            <a:off x="3404082" y="13891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뒤로가기"/>
          <p:cNvCxnSpPr/>
          <p:nvPr/>
        </p:nvCxnSpPr>
        <p:spPr>
          <a:xfrm flipH="1" flipV="1">
            <a:off x="3404082" y="143484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결과 건수"/>
          <p:cNvSpPr txBox="1"/>
          <p:nvPr/>
        </p:nvSpPr>
        <p:spPr>
          <a:xfrm>
            <a:off x="526694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117" name="결과 건수"/>
          <p:cNvSpPr txBox="1"/>
          <p:nvPr/>
        </p:nvSpPr>
        <p:spPr>
          <a:xfrm>
            <a:off x="3431743" y="2980944"/>
            <a:ext cx="1490472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2" b="0" spc="-17">
                <a:solidFill>
                  <a:srgbClr val="14181F"/>
                </a:solidFill>
                <a:latin typeface="Pretendard"/>
              </a:rPr>
              <a:t>검색 결과 42건</a:t>
            </a:r>
          </a:p>
        </p:txBody>
      </p:sp>
      <p:sp>
        <p:nvSpPr>
          <p:cNvPr id="118" name="숫자배지 2">
            <a:extLst>
              <a:ext uri="{FF2B5EF4-FFF2-40B4-BE49-F238E27FC236}">
                <a16:creationId xmlns:a16="http://schemas.microsoft.com/office/drawing/2014/main" id="{68A4E43B-7025-7358-98E8-8493323DF272}"/>
              </a:ext>
            </a:extLst>
          </p:cNvPr>
          <p:cNvSpPr/>
          <p:nvPr/>
        </p:nvSpPr>
        <p:spPr>
          <a:xfrm>
            <a:off x="375818" y="336499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119" name="숫자배지 1">
            <a:extLst>
              <a:ext uri="{FF2B5EF4-FFF2-40B4-BE49-F238E27FC236}">
                <a16:creationId xmlns:a16="http://schemas.microsoft.com/office/drawing/2014/main" id="{6FD11ADD-6006-7CEC-E1B0-6403DCF88FA1}"/>
              </a:ext>
            </a:extLst>
          </p:cNvPr>
          <p:cNvSpPr/>
          <p:nvPr/>
        </p:nvSpPr>
        <p:spPr>
          <a:xfrm>
            <a:off x="6209401" y="336968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3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20" name="숫자배지 2-1">
            <a:extLst>
              <a:ext uri="{FF2B5EF4-FFF2-40B4-BE49-F238E27FC236}">
                <a16:creationId xmlns:a16="http://schemas.microsoft.com/office/drawing/2014/main" id="{3FACEA08-6007-4F39-EF96-72506DDC06EF}"/>
              </a:ext>
            </a:extLst>
          </p:cNvPr>
          <p:cNvSpPr/>
          <p:nvPr/>
        </p:nvSpPr>
        <p:spPr>
          <a:xfrm>
            <a:off x="5620000" y="45601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21" name="숫자배지 1">
            <a:extLst>
              <a:ext uri="{FF2B5EF4-FFF2-40B4-BE49-F238E27FC236}">
                <a16:creationId xmlns:a16="http://schemas.microsoft.com/office/drawing/2014/main" id="{C11CCFDB-0814-5BFB-7E06-5E83616C4697}"/>
              </a:ext>
            </a:extLst>
          </p:cNvPr>
          <p:cNvSpPr/>
          <p:nvPr/>
        </p:nvSpPr>
        <p:spPr>
          <a:xfrm>
            <a:off x="375818" y="395020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  <p:sp>
        <p:nvSpPr>
          <p:cNvPr id="122" name="숫자배지 2-1"/>
          <p:cNvSpPr/>
          <p:nvPr/>
        </p:nvSpPr>
        <p:spPr>
          <a:xfrm>
            <a:off x="5620000" y="4870094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123" name="숫자배지 2-2"/>
          <p:cNvSpPr/>
          <p:nvPr/>
        </p:nvSpPr>
        <p:spPr>
          <a:xfrm>
            <a:off x="5620000" y="5579668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목업 프레임"/>
          <p:cNvSpPr/>
          <p:nvPr/>
        </p:nvSpPr>
        <p:spPr>
          <a:xfrm>
            <a:off x="2966314" y="1190549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7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8" name="부제"/>
          <p:cNvSpPr txBox="1"/>
          <p:nvPr/>
        </p:nvSpPr>
        <p:spPr>
          <a:xfrm>
            <a:off x="1781251" y="228600"/>
            <a:ext cx="5907024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dirty="0" err="1">
                <a:solidFill>
                  <a:srgbClr val="8A94A3"/>
                </a:solidFill>
                <a:latin typeface="Pretendard"/>
              </a:rPr>
              <a:t>즐겨찾기에서 선택 — 슬롯 지정 모드</a:t>
            </a:r>
            <a:endParaRPr sz="900" b="0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9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Description 제목"/>
          <p:cNvSpPr txBox="1"/>
          <p:nvPr/>
        </p:nvSpPr>
        <p:spPr>
          <a:xfrm>
            <a:off x="8667598" y="1114425"/>
            <a:ext cx="2933395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1" name="Description 밑줄"/>
          <p:cNvSpPr/>
          <p:nvPr/>
        </p:nvSpPr>
        <p:spPr>
          <a:xfrm>
            <a:off x="8667598" y="1352550"/>
            <a:ext cx="2933395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2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58870"/>
              </p:ext>
            </p:extLst>
          </p:nvPr>
        </p:nvGraphicFramePr>
        <p:xfrm>
          <a:off x="8629192" y="1447800"/>
          <a:ext cx="2972713" cy="3046525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3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즐겨찾기 선택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「즐겨찾기」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→ 2-1 장소 검색 ① 빈 상태(슬롯 지정)로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담는 것 — 일반 목록만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0건이면 「저장한 즐겨찾기가 없습니다.」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행 구성 — 2줄 ＋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2줄 표시 규칙은 목록과 같음 (POI명 / 주소)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[〈슬롯명〉으로 설정] 1버튼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버튼 → 이름 변경 시트 → [저장]으로 슬롯 지정 확정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이미 다른 슬롯인 행은 [〈그 슬롯명〉으로 설정됨] 비활성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14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15" name="t"/>
          <p:cNvSpPr txBox="1"/>
          <p:nvPr/>
        </p:nvSpPr>
        <p:spPr>
          <a:xfrm>
            <a:off x="2966314" y="1316736"/>
            <a:ext cx="27340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900" b="1" dirty="0">
                <a:solidFill>
                  <a:srgbClr val="14181F"/>
                </a:solidFill>
                <a:latin typeface="Pretendard"/>
                <a:ea typeface="Pretendard"/>
              </a:rPr>
              <a:t>즐겨찾기</a:t>
            </a:r>
          </a:p>
        </p:txBody>
      </p:sp>
      <p:cxnSp>
        <p:nvCxnSpPr>
          <p:cNvPr id="16" name="ln"/>
          <p:cNvCxnSpPr/>
          <p:nvPr/>
        </p:nvCxnSpPr>
        <p:spPr>
          <a:xfrm>
            <a:off x="2975458" y="1645920"/>
            <a:ext cx="2715768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17" name="favrow"/>
          <p:cNvSpPr/>
          <p:nvPr/>
        </p:nvSpPr>
        <p:spPr>
          <a:xfrm>
            <a:off x="3121762" y="1755648"/>
            <a:ext cx="2423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8" name="t"/>
          <p:cNvSpPr txBox="1"/>
          <p:nvPr/>
        </p:nvSpPr>
        <p:spPr>
          <a:xfrm>
            <a:off x="3231490" y="1828800"/>
            <a:ext cx="22037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서울특별시청</a:t>
            </a:r>
          </a:p>
        </p:txBody>
      </p:sp>
      <p:sp>
        <p:nvSpPr>
          <p:cNvPr id="19" name="t"/>
          <p:cNvSpPr txBox="1"/>
          <p:nvPr/>
        </p:nvSpPr>
        <p:spPr>
          <a:xfrm>
            <a:off x="3231490" y="2002536"/>
            <a:ext cx="22037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 중구 세종대로 110</a:t>
            </a:r>
          </a:p>
        </p:txBody>
      </p:sp>
      <p:sp>
        <p:nvSpPr>
          <p:cNvPr id="20" name="setbtn"/>
          <p:cNvSpPr/>
          <p:nvPr/>
        </p:nvSpPr>
        <p:spPr>
          <a:xfrm>
            <a:off x="3231490" y="2185416"/>
            <a:ext cx="220370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21" name="t"/>
          <p:cNvSpPr txBox="1"/>
          <p:nvPr/>
        </p:nvSpPr>
        <p:spPr>
          <a:xfrm>
            <a:off x="3231490" y="2244852"/>
            <a:ext cx="22037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병원으로 설정</a:t>
            </a:r>
          </a:p>
        </p:txBody>
      </p:sp>
      <p:sp>
        <p:nvSpPr>
          <p:cNvPr id="22" name="favrow"/>
          <p:cNvSpPr/>
          <p:nvPr/>
        </p:nvSpPr>
        <p:spPr>
          <a:xfrm>
            <a:off x="3121762" y="2578608"/>
            <a:ext cx="2423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23" name="t"/>
          <p:cNvSpPr txBox="1"/>
          <p:nvPr/>
        </p:nvSpPr>
        <p:spPr>
          <a:xfrm>
            <a:off x="3231490" y="2651760"/>
            <a:ext cx="22037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당산역</a:t>
            </a:r>
          </a:p>
        </p:txBody>
      </p:sp>
      <p:sp>
        <p:nvSpPr>
          <p:cNvPr id="24" name="t"/>
          <p:cNvSpPr txBox="1"/>
          <p:nvPr/>
        </p:nvSpPr>
        <p:spPr>
          <a:xfrm>
            <a:off x="3231490" y="2825496"/>
            <a:ext cx="22037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 영등포구 양평로 지하 21</a:t>
            </a:r>
          </a:p>
        </p:txBody>
      </p:sp>
      <p:sp>
        <p:nvSpPr>
          <p:cNvPr id="25" name="setbtn"/>
          <p:cNvSpPr/>
          <p:nvPr/>
        </p:nvSpPr>
        <p:spPr>
          <a:xfrm>
            <a:off x="3231490" y="3008376"/>
            <a:ext cx="220370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26" name="t"/>
          <p:cNvSpPr txBox="1"/>
          <p:nvPr/>
        </p:nvSpPr>
        <p:spPr>
          <a:xfrm>
            <a:off x="3231490" y="3067812"/>
            <a:ext cx="22037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1" dirty="0">
                <a:solidFill>
                  <a:srgbClr val="2D4CC8"/>
                </a:solidFill>
                <a:latin typeface="Pretendard"/>
                <a:ea typeface="Pretendard"/>
              </a:rPr>
              <a:t>병원으로 설정</a:t>
            </a:r>
          </a:p>
        </p:txBody>
      </p:sp>
      <p:sp>
        <p:nvSpPr>
          <p:cNvPr id="27" name="favrow"/>
          <p:cNvSpPr/>
          <p:nvPr/>
        </p:nvSpPr>
        <p:spPr>
          <a:xfrm>
            <a:off x="3121762" y="3401568"/>
            <a:ext cx="2423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28" name="t"/>
          <p:cNvSpPr txBox="1"/>
          <p:nvPr/>
        </p:nvSpPr>
        <p:spPr>
          <a:xfrm>
            <a:off x="3231490" y="3474720"/>
            <a:ext cx="22037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50" b="1" dirty="0">
                <a:solidFill>
                  <a:srgbClr val="14181F"/>
                </a:solidFill>
                <a:latin typeface="Pretendard"/>
                <a:ea typeface="Pretendard"/>
              </a:rPr>
              <a:t>선유도공원</a:t>
            </a:r>
          </a:p>
        </p:txBody>
      </p:sp>
      <p:sp>
        <p:nvSpPr>
          <p:cNvPr id="29" name="t"/>
          <p:cNvSpPr txBox="1"/>
          <p:nvPr/>
        </p:nvSpPr>
        <p:spPr>
          <a:xfrm>
            <a:off x="3231490" y="3648456"/>
            <a:ext cx="2203704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서울 영등포구 선유로 343</a:t>
            </a:r>
          </a:p>
        </p:txBody>
      </p:sp>
      <p:sp>
        <p:nvSpPr>
          <p:cNvPr id="30" name="setbtn"/>
          <p:cNvSpPr/>
          <p:nvPr/>
        </p:nvSpPr>
        <p:spPr>
          <a:xfrm>
            <a:off x="3231490" y="3831336"/>
            <a:ext cx="220370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7DDE5"/>
            </a:solidFill>
          </a:ln>
        </p:spPr>
        <p:txBody>
          <a:bodyPr/>
          <a:lstStyle/>
          <a:p/>
        </p:txBody>
      </p:sp>
      <p:sp>
        <p:nvSpPr>
          <p:cNvPr id="31" name="t"/>
          <p:cNvSpPr txBox="1"/>
          <p:nvPr/>
        </p:nvSpPr>
        <p:spPr>
          <a:xfrm>
            <a:off x="3231490" y="3890772"/>
            <a:ext cx="220370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50" b="0" dirty="0">
                <a:solidFill>
                  <a:srgbClr val="9AA4B0"/>
                </a:solidFill>
                <a:latin typeface="Pretendard"/>
                <a:ea typeface="Pretendard"/>
              </a:rPr>
              <a:t>회사로 설정됨</a:t>
            </a:r>
          </a:p>
        </p:txBody>
      </p:sp>
      <p:sp>
        <p:nvSpPr>
          <p:cNvPr id="32" name="t"/>
          <p:cNvSpPr txBox="1"/>
          <p:nvPr/>
        </p:nvSpPr>
        <p:spPr>
          <a:xfrm>
            <a:off x="2966314" y="1024128"/>
            <a:ext cx="273405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800" b="1" dirty="0">
                <a:solidFill>
                  <a:srgbClr val="5B6573"/>
                </a:solidFill>
                <a:latin typeface="Pretendard"/>
                <a:ea typeface="Pretendard"/>
              </a:rPr>
              <a:t>즐겨찾기 선택 목록 — 슬롯 지정 모드</a:t>
            </a:r>
          </a:p>
        </p:txBody>
      </p:sp>
      <p:cxnSp>
        <p:nvCxnSpPr>
          <p:cNvPr id="33" name="뒤로가기"/>
          <p:cNvCxnSpPr/>
          <p:nvPr/>
        </p:nvCxnSpPr>
        <p:spPr>
          <a:xfrm flipH="1">
            <a:off x="3138526" y="136169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뒤로가기"/>
          <p:cNvCxnSpPr/>
          <p:nvPr/>
        </p:nvCxnSpPr>
        <p:spPr>
          <a:xfrm flipH="1" flipV="1">
            <a:off x="3138526" y="1407414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숫자배지 1"/>
          <p:cNvSpPr/>
          <p:nvPr/>
        </p:nvSpPr>
        <p:spPr>
          <a:xfrm>
            <a:off x="2719426" y="129844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6" name="숫자배지 2"/>
          <p:cNvSpPr/>
          <p:nvPr/>
        </p:nvSpPr>
        <p:spPr>
          <a:xfrm>
            <a:off x="2719426" y="17373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37" name="숫자배지 3"/>
          <p:cNvSpPr/>
          <p:nvPr/>
        </p:nvSpPr>
        <p:spPr>
          <a:xfrm>
            <a:off x="2719426" y="219456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사후 편집 — 자주 가는 곳 이름 수정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1301061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457405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1310586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1720161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1453461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1453461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3444186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1453461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1453461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1586811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1586811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1453461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1586811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1586811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458358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499315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472645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472645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6717183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4726458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4726458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4859808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4859808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리스트 행"/>
          <p:cNvSpPr/>
          <p:nvPr/>
        </p:nvSpPr>
        <p:spPr>
          <a:xfrm>
            <a:off x="4726458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행 제목"/>
          <p:cNvSpPr txBox="1"/>
          <p:nvPr/>
        </p:nvSpPr>
        <p:spPr>
          <a:xfrm>
            <a:off x="4859808" y="2642616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4" name="행 설명"/>
          <p:cNvSpPr txBox="1"/>
          <p:nvPr/>
        </p:nvSpPr>
        <p:spPr>
          <a:xfrm>
            <a:off x="4859808" y="2819400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35" name="섹션 제목"/>
          <p:cNvSpPr txBox="1"/>
          <p:nvPr/>
        </p:nvSpPr>
        <p:spPr>
          <a:xfrm>
            <a:off x="4726458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6" name="섹션 우측"/>
          <p:cNvSpPr txBox="1"/>
          <p:nvPr/>
        </p:nvSpPr>
        <p:spPr>
          <a:xfrm>
            <a:off x="6298083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7" name="리스트 행"/>
          <p:cNvSpPr/>
          <p:nvPr/>
        </p:nvSpPr>
        <p:spPr>
          <a:xfrm>
            <a:off x="4726458" y="469755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8" name="행 제목"/>
          <p:cNvSpPr txBox="1"/>
          <p:nvPr/>
        </p:nvSpPr>
        <p:spPr>
          <a:xfrm>
            <a:off x="4859808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39" name="행 설명"/>
          <p:cNvSpPr txBox="1"/>
          <p:nvPr/>
        </p:nvSpPr>
        <p:spPr>
          <a:xfrm>
            <a:off x="4859808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0" name="리스트 행"/>
          <p:cNvSpPr/>
          <p:nvPr/>
        </p:nvSpPr>
        <p:spPr>
          <a:xfrm>
            <a:off x="4726458" y="522143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1" name="행 제목"/>
          <p:cNvSpPr txBox="1"/>
          <p:nvPr/>
        </p:nvSpPr>
        <p:spPr>
          <a:xfrm>
            <a:off x="4859808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2" name="행 설명"/>
          <p:cNvSpPr txBox="1"/>
          <p:nvPr/>
        </p:nvSpPr>
        <p:spPr>
          <a:xfrm>
            <a:off x="4859808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3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5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6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4727600" y="4156036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4860950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48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1453461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49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3025086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50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1453461" y="473392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1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1586811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52" name="행 설명"/>
          <p:cNvSpPr txBox="1"/>
          <p:nvPr/>
        </p:nvSpPr>
        <p:spPr>
          <a:xfrm>
            <a:off x="1586811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53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1453461" y="525780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4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1586811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55" name="행 설명"/>
          <p:cNvSpPr txBox="1"/>
          <p:nvPr/>
        </p:nvSpPr>
        <p:spPr>
          <a:xfrm>
            <a:off x="1586811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56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1453461" y="578167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7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1586811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58" name="행 설명"/>
          <p:cNvSpPr txBox="1"/>
          <p:nvPr/>
        </p:nvSpPr>
        <p:spPr>
          <a:xfrm>
            <a:off x="1586811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59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1458224" y="420395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0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1591574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1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1453461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2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1586811" y="3238500"/>
            <a:ext cx="700000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3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1586811" y="3419475"/>
            <a:ext cx="70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양평동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4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4726458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65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4859808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복지관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4859808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서울 영등포구 양평동 5가 66-1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67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4726458" y="5777779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8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4859808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69" name="행 설명"/>
          <p:cNvSpPr txBox="1"/>
          <p:nvPr/>
        </p:nvSpPr>
        <p:spPr>
          <a:xfrm>
            <a:off x="4859808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0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71" name="프리셋 시트 패널"/>
          <p:cNvSpPr/>
          <p:nvPr/>
        </p:nvSpPr>
        <p:spPr>
          <a:xfrm>
            <a:off x="4582440" y="4450000"/>
            <a:ext cx="2715768" cy="1877648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72" name="시트 제목"/>
          <p:cNvSpPr txBox="1"/>
          <p:nvPr/>
        </p:nvSpPr>
        <p:spPr>
          <a:xfrm>
            <a:off x="4728744" y="4570000"/>
            <a:ext cx="2194560" cy="19202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 dirty="0" err="1">
                <a:solidFill>
                  <a:srgbClr val="14181F"/>
                </a:solidFill>
                <a:latin typeface="Pretendard"/>
              </a:rPr>
              <a:t>자주 가는 곳 이름 수정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3" name="프리셋 행 병원"/>
          <p:cNvSpPr/>
          <p:nvPr/>
        </p:nvSpPr>
        <p:spPr>
          <a:xfrm>
            <a:off x="4728744" y="4830000"/>
            <a:ext cx="2432304" cy="400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4" name="행 제목"/>
          <p:cNvSpPr txBox="1"/>
          <p:nvPr/>
        </p:nvSpPr>
        <p:spPr>
          <a:xfrm>
            <a:off x="4856760" y="4830000"/>
            <a:ext cx="1911095" cy="4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복지관</a:t>
            </a:r>
          </a:p>
        </p:txBody>
      </p:sp>
      <p:sp>
        <p:nvSpPr>
          <p:cNvPr id="75" name="저장 버튼"/>
          <p:cNvSpPr/>
          <p:nvPr/>
        </p:nvSpPr>
        <p:spPr>
          <a:xfrm>
            <a:off x="4728744" y="5540000"/>
            <a:ext cx="2432304" cy="347472"/>
          </a:xfrm>
          <a:prstGeom prst="roundRect">
            <a:avLst>
              <a:gd name="adj" fmla="val 22222"/>
            </a:avLst>
          </a:prstGeom>
          <a:solidFill>
            <a:srgbClr val="2D4CC8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6" name="저장 라벨"/>
          <p:cNvSpPr txBox="1"/>
          <p:nvPr/>
        </p:nvSpPr>
        <p:spPr>
          <a:xfrm>
            <a:off x="4728744" y="5540000"/>
            <a:ext cx="2432304" cy="3474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1" spc="-18">
                <a:solidFill>
                  <a:srgbClr val="FFFFFF"/>
                </a:solidFill>
                <a:latin typeface="Pretendard"/>
              </a:rPr>
              <a:t>저장</a:t>
            </a:r>
          </a:p>
        </p:txBody>
      </p:sp>
      <p:sp>
        <p:nvSpPr>
          <p:cNvPr id="77" name="행 제목"/>
          <p:cNvSpPr txBox="1"/>
          <p:nvPr/>
        </p:nvSpPr>
        <p:spPr>
          <a:xfrm>
            <a:off x="4728744" y="5290000"/>
            <a:ext cx="2304288" cy="19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1" spc="-18">
                <a:solidFill>
                  <a:srgbClr val="14181F"/>
                </a:solidFill>
                <a:latin typeface="Pretendard"/>
              </a:rPr>
              <a:t>3 / 10</a:t>
            </a:r>
          </a:p>
        </p:txBody>
      </p:sp>
      <p:graphicFrame>
        <p:nvGraphicFramePr>
          <p:cNvPr id="78" name="Description 표"/>
          <p:cNvGraphicFramePr>
            <a:graphicFrameLocks noGrp="1"/>
          </p:cNvGraphicFramePr>
          <p:nvPr/>
        </p:nvGraphicFramePr>
        <p:xfrm>
          <a:off x="9277502" y="1447800"/>
          <a:ext cx="2553309" cy="305043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[이름수정]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편집 모드에서 행 우측 버튼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「집」·미등록 슬롯에는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변경 바텀시트 (수정)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제목 ‘자주 가는 곳 이름 수정’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기본값은 현재 라벨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이름 입력란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최대 10자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[저장]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라벨만 갱신 (주소 불변)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배치는 [이름수정] → [삭제] 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9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80" name="행 버튼 삭제"/>
          <p:cNvSpPr/>
          <p:nvPr/>
        </p:nvSpPr>
        <p:spPr>
          <a:xfrm>
            <a:off x="3253686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1" name="행 버튼 삭제"/>
          <p:cNvSpPr/>
          <p:nvPr/>
        </p:nvSpPr>
        <p:spPr>
          <a:xfrm>
            <a:off x="3253686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2" name="행 버튼 이름수정"/>
          <p:cNvSpPr/>
          <p:nvPr/>
        </p:nvSpPr>
        <p:spPr>
          <a:xfrm>
            <a:off x="2533686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83" name="행 버튼 삭제"/>
          <p:cNvSpPr/>
          <p:nvPr/>
        </p:nvSpPr>
        <p:spPr>
          <a:xfrm>
            <a:off x="3253686" y="329565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4" name="행 버튼 이름수정"/>
          <p:cNvSpPr/>
          <p:nvPr/>
        </p:nvSpPr>
        <p:spPr>
          <a:xfrm>
            <a:off x="2533686" y="3295650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85" name="숫자배지 2"/>
          <p:cNvSpPr/>
          <p:nvPr/>
        </p:nvSpPr>
        <p:spPr>
          <a:xfrm>
            <a:off x="6804432" y="45600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6" name="숫자배지 2-1"/>
          <p:cNvSpPr/>
          <p:nvPr/>
        </p:nvSpPr>
        <p:spPr>
          <a:xfrm>
            <a:off x="6804432" y="487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87" name="숫자배지 1"/>
          <p:cNvSpPr/>
          <p:nvPr/>
        </p:nvSpPr>
        <p:spPr>
          <a:xfrm>
            <a:off x="2300000" y="33146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8" name="숫자배지 2-2"/>
          <p:cNvSpPr/>
          <p:nvPr/>
        </p:nvSpPr>
        <p:spPr>
          <a:xfrm>
            <a:off x="6804432" y="558000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3-3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974217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1781175" y="228600"/>
            <a:ext cx="5905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삭제 ① — 목록 편집</a:t>
            </a:r>
          </a:p>
        </p:txBody>
      </p:sp>
      <p:sp>
        <p:nvSpPr>
          <p:cNvPr id="8" name="목업 스테이지"/>
          <p:cNvSpPr/>
          <p:nvPr/>
        </p:nvSpPr>
        <p:spPr>
          <a:xfrm>
            <a:off x="190500" y="952500"/>
            <a:ext cx="880110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"/>
          <p:cNvSpPr/>
          <p:nvPr/>
        </p:nvSpPr>
        <p:spPr>
          <a:xfrm>
            <a:off x="30480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32194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11" name="탑바 구분선"/>
          <p:cNvSpPr/>
          <p:nvPr/>
        </p:nvSpPr>
        <p:spPr>
          <a:xfrm>
            <a:off x="31432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탑바 타이틀"/>
          <p:cNvSpPr txBox="1"/>
          <p:nvPr/>
        </p:nvSpPr>
        <p:spPr>
          <a:xfrm>
            <a:off x="72390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13" name="뒤로가기"/>
          <p:cNvCxnSpPr/>
          <p:nvPr/>
        </p:nvCxnSpPr>
        <p:spPr>
          <a:xfrm flipH="1">
            <a:off x="45720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뒤로가기"/>
          <p:cNvCxnSpPr/>
          <p:nvPr/>
        </p:nvCxnSpPr>
        <p:spPr>
          <a:xfrm flipH="1" flipV="1">
            <a:off x="45720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탑바 액션 편집"/>
          <p:cNvSpPr txBox="1"/>
          <p:nvPr/>
        </p:nvSpPr>
        <p:spPr>
          <a:xfrm>
            <a:off x="244792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편집</a:t>
            </a:r>
          </a:p>
        </p:txBody>
      </p:sp>
      <p:sp>
        <p:nvSpPr>
          <p:cNvPr id="16" name="섹션 제목"/>
          <p:cNvSpPr txBox="1"/>
          <p:nvPr/>
        </p:nvSpPr>
        <p:spPr>
          <a:xfrm>
            <a:off x="45720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17" name="리스트 행"/>
          <p:cNvSpPr/>
          <p:nvPr/>
        </p:nvSpPr>
        <p:spPr>
          <a:xfrm>
            <a:off x="45720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행 제목"/>
          <p:cNvSpPr txBox="1"/>
          <p:nvPr/>
        </p:nvSpPr>
        <p:spPr>
          <a:xfrm>
            <a:off x="590550" y="203835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19" name="행 설명"/>
          <p:cNvSpPr txBox="1"/>
          <p:nvPr/>
        </p:nvSpPr>
        <p:spPr>
          <a:xfrm>
            <a:off x="590550" y="221932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20" name="리스트 행"/>
          <p:cNvSpPr/>
          <p:nvPr/>
        </p:nvSpPr>
        <p:spPr>
          <a:xfrm>
            <a:off x="45720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행 제목"/>
          <p:cNvSpPr txBox="1"/>
          <p:nvPr/>
        </p:nvSpPr>
        <p:spPr>
          <a:xfrm>
            <a:off x="590550" y="2638425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22" name="행 설명"/>
          <p:cNvSpPr txBox="1"/>
          <p:nvPr/>
        </p:nvSpPr>
        <p:spPr>
          <a:xfrm>
            <a:off x="590550" y="2819400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영등포구 당산동3가 82-3</a:t>
            </a:r>
          </a:p>
        </p:txBody>
      </p:sp>
      <p:sp>
        <p:nvSpPr>
          <p:cNvPr id="23" name="탑바 구분선"/>
          <p:cNvSpPr/>
          <p:nvPr/>
        </p:nvSpPr>
        <p:spPr>
          <a:xfrm>
            <a:off x="32289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36385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33718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33718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탑바 액션 완료"/>
          <p:cNvSpPr txBox="1"/>
          <p:nvPr/>
        </p:nvSpPr>
        <p:spPr>
          <a:xfrm>
            <a:off x="5362575" y="1304925"/>
            <a:ext cx="43815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62" b="1" spc="-17">
                <a:solidFill>
                  <a:srgbClr val="2D4CC8"/>
                </a:solidFill>
                <a:latin typeface="Pretendard"/>
              </a:rPr>
              <a:t>완료</a:t>
            </a:r>
          </a:p>
        </p:txBody>
      </p:sp>
      <p:sp>
        <p:nvSpPr>
          <p:cNvPr id="28" name="섹션 제목"/>
          <p:cNvSpPr txBox="1"/>
          <p:nvPr/>
        </p:nvSpPr>
        <p:spPr>
          <a:xfrm>
            <a:off x="3371850" y="1724025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 · 자주 가는 곳</a:t>
            </a:r>
          </a:p>
        </p:txBody>
      </p:sp>
      <p:sp>
        <p:nvSpPr>
          <p:cNvPr id="29" name="리스트 행"/>
          <p:cNvSpPr/>
          <p:nvPr/>
        </p:nvSpPr>
        <p:spPr>
          <a:xfrm>
            <a:off x="3371850" y="195262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0" name="행 제목"/>
          <p:cNvSpPr txBox="1"/>
          <p:nvPr/>
        </p:nvSpPr>
        <p:spPr>
          <a:xfrm>
            <a:off x="3505200" y="2038350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집</a:t>
            </a:r>
          </a:p>
        </p:txBody>
      </p:sp>
      <p:sp>
        <p:nvSpPr>
          <p:cNvPr id="31" name="행 설명"/>
          <p:cNvSpPr txBox="1"/>
          <p:nvPr/>
        </p:nvSpPr>
        <p:spPr>
          <a:xfrm>
            <a:off x="3505200" y="2219325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서울특별시 중구 세종대로 110</a:t>
            </a:r>
          </a:p>
        </p:txBody>
      </p:sp>
      <p:sp>
        <p:nvSpPr>
          <p:cNvPr id="32" name="행 버튼 삭제"/>
          <p:cNvSpPr/>
          <p:nvPr/>
        </p:nvSpPr>
        <p:spPr>
          <a:xfrm>
            <a:off x="5172075" y="2095500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3" name="리스트 행"/>
          <p:cNvSpPr/>
          <p:nvPr/>
        </p:nvSpPr>
        <p:spPr>
          <a:xfrm>
            <a:off x="3371850" y="2552700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행 제목"/>
          <p:cNvSpPr txBox="1"/>
          <p:nvPr/>
        </p:nvSpPr>
        <p:spPr>
          <a:xfrm>
            <a:off x="3505200" y="2638425"/>
            <a:ext cx="89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회사</a:t>
            </a:r>
          </a:p>
        </p:txBody>
      </p:sp>
      <p:sp>
        <p:nvSpPr>
          <p:cNvPr id="35" name="행 설명"/>
          <p:cNvSpPr txBox="1"/>
          <p:nvPr/>
        </p:nvSpPr>
        <p:spPr>
          <a:xfrm>
            <a:off x="3505200" y="2819400"/>
            <a:ext cx="89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당산동3가 82-3</a:t>
            </a:r>
          </a:p>
        </p:txBody>
      </p:sp>
      <p:sp>
        <p:nvSpPr>
          <p:cNvPr id="36" name="행 버튼 삭제"/>
          <p:cNvSpPr/>
          <p:nvPr/>
        </p:nvSpPr>
        <p:spPr>
          <a:xfrm>
            <a:off x="5172075" y="2695575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37" name="섹션 제목"/>
          <p:cNvSpPr txBox="1"/>
          <p:nvPr/>
        </p:nvSpPr>
        <p:spPr>
          <a:xfrm>
            <a:off x="3371850" y="3862564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38" name="섹션 우측"/>
          <p:cNvSpPr txBox="1"/>
          <p:nvPr/>
        </p:nvSpPr>
        <p:spPr>
          <a:xfrm>
            <a:off x="4943475" y="3862564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39" name="리스트 행"/>
          <p:cNvSpPr/>
          <p:nvPr/>
        </p:nvSpPr>
        <p:spPr>
          <a:xfrm>
            <a:off x="3371850" y="469755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행 제목"/>
          <p:cNvSpPr txBox="1"/>
          <p:nvPr/>
        </p:nvSpPr>
        <p:spPr>
          <a:xfrm>
            <a:off x="3505200" y="4749558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41" name="행 설명"/>
          <p:cNvSpPr txBox="1"/>
          <p:nvPr/>
        </p:nvSpPr>
        <p:spPr>
          <a:xfrm>
            <a:off x="3505200" y="4930558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42" name="행 버튼 삭제"/>
          <p:cNvSpPr/>
          <p:nvPr/>
        </p:nvSpPr>
        <p:spPr>
          <a:xfrm>
            <a:off x="5172075" y="4802333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43" name="리스트 행"/>
          <p:cNvSpPr/>
          <p:nvPr/>
        </p:nvSpPr>
        <p:spPr>
          <a:xfrm>
            <a:off x="3371850" y="522143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4" name="행 제목"/>
          <p:cNvSpPr txBox="1"/>
          <p:nvPr/>
        </p:nvSpPr>
        <p:spPr>
          <a:xfrm>
            <a:off x="3505200" y="5273433"/>
            <a:ext cx="166687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45" name="행 설명"/>
          <p:cNvSpPr txBox="1"/>
          <p:nvPr/>
        </p:nvSpPr>
        <p:spPr>
          <a:xfrm>
            <a:off x="3505200" y="5454433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46" name="행 버튼 삭제"/>
          <p:cNvSpPr/>
          <p:nvPr/>
        </p:nvSpPr>
        <p:spPr>
          <a:xfrm>
            <a:off x="5172075" y="5326208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47" name="Description 패널"/>
          <p:cNvSpPr/>
          <p:nvPr/>
        </p:nvSpPr>
        <p:spPr>
          <a:xfrm>
            <a:off x="9105595" y="952500"/>
            <a:ext cx="2895904" cy="5619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8" name="Description 제목"/>
          <p:cNvSpPr txBox="1"/>
          <p:nvPr/>
        </p:nvSpPr>
        <p:spPr>
          <a:xfrm>
            <a:off x="93154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9" name="Description 밑줄"/>
          <p:cNvSpPr/>
          <p:nvPr/>
        </p:nvSpPr>
        <p:spPr>
          <a:xfrm>
            <a:off x="9315450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50" name="Description 표"/>
          <p:cNvGraphicFramePr>
            <a:graphicFrameLocks noGrp="1"/>
          </p:cNvGraphicFramePr>
          <p:nvPr/>
        </p:nvGraphicFramePr>
        <p:xfrm>
          <a:off x="9277502" y="1447800"/>
          <a:ext cx="2553309" cy="473277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[편집]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목록 상단 우측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편집 모드 · 라벨 [완료]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편집 모드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행 우측 [이름수정] · [삭제] 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[이름수정]은 등록된 자주 가는 곳에만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고정 슬롯 행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삭제해도 행 자체는 남음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‘주소를 등록해 주세요’ 로 복귀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미설정 슬롯은 [삭제] 미노출</a:t>
                      </a:r>
                      <a:endParaRPr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일반 항목 [삭제]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단건 삭제 · 행이 사라짐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전부 삭제 시 추가 버튼만 노출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 err="1">
                          <a:solidFill>
                            <a:srgbClr val="14181F"/>
                          </a:solidFill>
                          <a:latin typeface="Pretendard"/>
                        </a:rPr>
                        <a:t>삭제 확인 팝업</a:t>
                      </a:r>
                      <a:endParaRPr sz="1000" b="1" dirty="0">
                        <a:solidFill>
                          <a:srgbClr val="14181F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장소명을 넣어 대상 특정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[삭제]는 경고색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확정 시 즉시 제거 · 서버 반영</a:t>
                      </a:r>
                      <a:endParaRPr lang="en-US" sz="900" b="0" dirty="0">
                        <a:solidFill>
                          <a:srgbClr val="3E4652"/>
                        </a:solidFill>
                        <a:latin typeface="Pretendard"/>
                      </a:endParaRP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51" name="그룹 158">
            <a:extLst>
              <a:ext uri="{FF2B5EF4-FFF2-40B4-BE49-F238E27FC236}">
                <a16:creationId xmlns:a16="http://schemas.microsoft.com/office/drawing/2014/main" id="{590CE950-9066-FDAB-FB45-A91BD4F67436}"/>
              </a:ext>
            </a:extLst>
          </p:cNvPr>
          <p:cNvGrpSpPr/>
          <p:nvPr/>
        </p:nvGrpSpPr>
        <p:grpSpPr>
          <a:xfrm>
            <a:off x="6310312" y="2852685"/>
            <a:ext cx="2324100" cy="1352550"/>
            <a:chOff x="6348412" y="3727481"/>
            <a:chExt cx="2324100" cy="1352550"/>
          </a:xfrm>
        </p:grpSpPr>
        <p:sp>
          <p:nvSpPr>
            <p:cNvPr id="52" name="행 제목">
              <a:extLst>
                <a:ext uri="{FF2B5EF4-FFF2-40B4-BE49-F238E27FC236}">
                  <a16:creationId xmlns:a16="http://schemas.microsoft.com/office/drawing/2014/main" id="{1ED1031F-EC4D-72F7-1090-880E47029C3F}"/>
                </a:ext>
              </a:extLst>
            </p:cNvPr>
            <p:cNvSpPr txBox="1"/>
            <p:nvPr/>
          </p:nvSpPr>
          <p:spPr>
            <a:xfrm>
              <a:off x="6429375" y="3727481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국립중앙박물관</a:t>
              </a:r>
            </a:p>
          </p:txBody>
        </p:sp>
        <p:sp>
          <p:nvSpPr>
            <p:cNvPr id="53" name="행 버튼 삭제">
              <a:extLst>
                <a:ext uri="{FF2B5EF4-FFF2-40B4-BE49-F238E27FC236}">
                  <a16:creationId xmlns:a16="http://schemas.microsoft.com/office/drawing/2014/main" id="{8C297A73-24BE-0FFD-D101-18B36EE14B1F}"/>
                </a:ext>
              </a:extLst>
            </p:cNvPr>
            <p:cNvSpPr/>
            <p:nvPr/>
          </p:nvSpPr>
          <p:spPr>
            <a:xfrm>
              <a:off x="8096250" y="3832256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4" name="행 제목">
              <a:extLst>
                <a:ext uri="{FF2B5EF4-FFF2-40B4-BE49-F238E27FC236}">
                  <a16:creationId xmlns:a16="http://schemas.microsoft.com/office/drawing/2014/main" id="{7AF17C57-7FE4-644A-1228-7911DEAD2933}"/>
                </a:ext>
              </a:extLst>
            </p:cNvPr>
            <p:cNvSpPr txBox="1"/>
            <p:nvPr/>
          </p:nvSpPr>
          <p:spPr>
            <a:xfrm>
              <a:off x="6429375" y="4251356"/>
              <a:ext cx="1666875" cy="4381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900" b="0" spc="-18">
                  <a:solidFill>
                    <a:srgbClr val="14181F"/>
                  </a:solidFill>
                  <a:latin typeface="Pretendard"/>
                </a:rPr>
                <a:t>여의도 한강공원</a:t>
              </a:r>
            </a:p>
          </p:txBody>
        </p:sp>
        <p:sp>
          <p:nvSpPr>
            <p:cNvPr id="55" name="행 버튼 삭제">
              <a:extLst>
                <a:ext uri="{FF2B5EF4-FFF2-40B4-BE49-F238E27FC236}">
                  <a16:creationId xmlns:a16="http://schemas.microsoft.com/office/drawing/2014/main" id="{E54455B0-5BD0-B6B1-65CC-B5C3A8DA49F3}"/>
                </a:ext>
              </a:extLst>
            </p:cNvPr>
            <p:cNvSpPr/>
            <p:nvPr/>
          </p:nvSpPr>
          <p:spPr>
            <a:xfrm>
              <a:off x="8096250" y="4356131"/>
              <a:ext cx="495300" cy="228600"/>
            </a:xfrm>
            <a:prstGeom prst="roundRect">
              <a:avLst>
                <a:gd name="adj" fmla="val 33333"/>
              </a:avLst>
            </a:prstGeom>
            <a:solidFill>
              <a:srgbClr val="FDECEC"/>
            </a:solidFill>
            <a:ln w="9525">
              <a:solidFill>
                <a:srgbClr val="F6C9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sz="787" b="1">
                  <a:solidFill>
                    <a:srgbClr val="E01B24"/>
                  </a:solidFill>
                  <a:latin typeface="Pretendard"/>
                </a:rPr>
                <a:t>삭제</a:t>
              </a:r>
            </a:p>
          </p:txBody>
        </p:sp>
        <p:sp>
          <p:nvSpPr>
            <p:cNvPr id="56" name="팝업">
              <a:extLst>
                <a:ext uri="{FF2B5EF4-FFF2-40B4-BE49-F238E27FC236}">
                  <a16:creationId xmlns:a16="http://schemas.microsoft.com/office/drawing/2014/main" id="{656801FE-BF56-7160-0DAC-E7065C9706EF}"/>
                </a:ext>
              </a:extLst>
            </p:cNvPr>
            <p:cNvSpPr/>
            <p:nvPr/>
          </p:nvSpPr>
          <p:spPr>
            <a:xfrm>
              <a:off x="6348412" y="3765581"/>
              <a:ext cx="2324100" cy="131445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57" name="팝업 문구">
              <a:extLst>
                <a:ext uri="{FF2B5EF4-FFF2-40B4-BE49-F238E27FC236}">
                  <a16:creationId xmlns:a16="http://schemas.microsoft.com/office/drawing/2014/main" id="{248CF96E-1AF9-8C16-AA8B-EA695423122A}"/>
                </a:ext>
              </a:extLst>
            </p:cNvPr>
            <p:cNvSpPr txBox="1"/>
            <p:nvPr/>
          </p:nvSpPr>
          <p:spPr>
            <a:xfrm>
              <a:off x="6538912" y="3917981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1" spc="-18">
                  <a:solidFill>
                    <a:srgbClr val="14181F"/>
                  </a:solidFill>
                  <a:latin typeface="Pretendard"/>
                </a:rPr>
                <a:t>즐겨찾기 삭제</a:t>
              </a:r>
            </a:p>
          </p:txBody>
        </p:sp>
        <p:sp>
          <p:nvSpPr>
            <p:cNvPr id="58" name="팝업 문구">
              <a:extLst>
                <a:ext uri="{FF2B5EF4-FFF2-40B4-BE49-F238E27FC236}">
                  <a16:creationId xmlns:a16="http://schemas.microsoft.com/office/drawing/2014/main" id="{FE0EC6EE-3BEF-0314-78D8-245D848A74E3}"/>
                </a:ext>
              </a:extLst>
            </p:cNvPr>
            <p:cNvSpPr txBox="1"/>
            <p:nvPr/>
          </p:nvSpPr>
          <p:spPr>
            <a:xfrm>
              <a:off x="6538912" y="4146581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‘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서울특별시청</a:t>
              </a:r>
              <a:r>
                <a:rPr lang="en-US" altLang="ko-KR" sz="787" spc="-16" dirty="0">
                  <a:solidFill>
                    <a:srgbClr val="5B6573"/>
                  </a:solidFill>
                  <a:latin typeface="Pretendard"/>
                </a:rPr>
                <a:t>’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을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 </a:t>
              </a: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즐겨찾기에서</a:t>
              </a:r>
              <a:endParaRPr sz="787" b="0" spc="-16" dirty="0">
                <a:solidFill>
                  <a:srgbClr val="5B6573"/>
                </a:solidFill>
                <a:latin typeface="Pretendard"/>
              </a:endParaRPr>
            </a:p>
          </p:txBody>
        </p:sp>
        <p:sp>
          <p:nvSpPr>
            <p:cNvPr id="59" name="팝업 문구">
              <a:extLst>
                <a:ext uri="{FF2B5EF4-FFF2-40B4-BE49-F238E27FC236}">
                  <a16:creationId xmlns:a16="http://schemas.microsoft.com/office/drawing/2014/main" id="{0AF8D9AC-AC1B-4EF9-F321-20BD460B5761}"/>
                </a:ext>
              </a:extLst>
            </p:cNvPr>
            <p:cNvSpPr txBox="1"/>
            <p:nvPr/>
          </p:nvSpPr>
          <p:spPr>
            <a:xfrm>
              <a:off x="6538912" y="4327556"/>
              <a:ext cx="1943100" cy="180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45000"/>
                </a:lnSpc>
              </a:pPr>
              <a:r>
                <a:rPr sz="787" b="0" spc="-16" dirty="0" err="1">
                  <a:solidFill>
                    <a:srgbClr val="5B6573"/>
                  </a:solidFill>
                  <a:latin typeface="Pretendard"/>
                </a:rPr>
                <a:t>삭제할까요</a:t>
              </a:r>
              <a:r>
                <a:rPr sz="787" b="0" spc="-16" dirty="0">
                  <a:solidFill>
                    <a:srgbClr val="5B6573"/>
                  </a:solidFill>
                  <a:latin typeface="Pretendard"/>
                </a:rPr>
                <a:t>?</a:t>
              </a:r>
            </a:p>
          </p:txBody>
        </p:sp>
        <p:sp>
          <p:nvSpPr>
            <p:cNvPr id="60" name="팝업 버튼 취소">
              <a:extLst>
                <a:ext uri="{FF2B5EF4-FFF2-40B4-BE49-F238E27FC236}">
                  <a16:creationId xmlns:a16="http://schemas.microsoft.com/office/drawing/2014/main" id="{F387D878-A062-2156-96F2-0B97095B51FE}"/>
                </a:ext>
              </a:extLst>
            </p:cNvPr>
            <p:cNvSpPr/>
            <p:nvPr/>
          </p:nvSpPr>
          <p:spPr>
            <a:xfrm>
              <a:off x="653891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1" name="팝업 버튼 라벨">
              <a:extLst>
                <a:ext uri="{FF2B5EF4-FFF2-40B4-BE49-F238E27FC236}">
                  <a16:creationId xmlns:a16="http://schemas.microsoft.com/office/drawing/2014/main" id="{9A3FF3DD-9F14-2D66-5FB4-CF948F635504}"/>
                </a:ext>
              </a:extLst>
            </p:cNvPr>
            <p:cNvSpPr txBox="1"/>
            <p:nvPr/>
          </p:nvSpPr>
          <p:spPr>
            <a:xfrm>
              <a:off x="653891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62" name="팝업 버튼 삭제">
              <a:extLst>
                <a:ext uri="{FF2B5EF4-FFF2-40B4-BE49-F238E27FC236}">
                  <a16:creationId xmlns:a16="http://schemas.microsoft.com/office/drawing/2014/main" id="{AFE9E991-8870-8998-8533-222DC411FF30}"/>
                </a:ext>
              </a:extLst>
            </p:cNvPr>
            <p:cNvSpPr/>
            <p:nvPr/>
          </p:nvSpPr>
          <p:spPr>
            <a:xfrm>
              <a:off x="7548562" y="4622831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63" name="팝업 버튼 라벨">
              <a:extLst>
                <a:ext uri="{FF2B5EF4-FFF2-40B4-BE49-F238E27FC236}">
                  <a16:creationId xmlns:a16="http://schemas.microsoft.com/office/drawing/2014/main" id="{C55E9650-8D7C-B1D1-BCBA-12D52E0266DB}"/>
                </a:ext>
              </a:extLst>
            </p:cNvPr>
            <p:cNvSpPr txBox="1"/>
            <p:nvPr/>
          </p:nvSpPr>
          <p:spPr>
            <a:xfrm>
              <a:off x="7548562" y="4622831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1" spc="-17">
                  <a:solidFill>
                    <a:srgbClr val="FFFFFF"/>
                  </a:solidFill>
                  <a:latin typeface="Pretendard"/>
                </a:rPr>
                <a:t>삭제</a:t>
              </a:r>
            </a:p>
          </p:txBody>
        </p:sp>
      </p:grpSp>
      <p:sp>
        <p:nvSpPr>
          <p:cNvPr id="64" name="리스트 행">
            <a:extLst>
              <a:ext uri="{FF2B5EF4-FFF2-40B4-BE49-F238E27FC236}">
                <a16:creationId xmlns:a16="http://schemas.microsoft.com/office/drawing/2014/main" id="{822F31AD-CC32-4220-77EA-34E431FD32C0}"/>
              </a:ext>
            </a:extLst>
          </p:cNvPr>
          <p:cNvSpPr/>
          <p:nvPr/>
        </p:nvSpPr>
        <p:spPr>
          <a:xfrm>
            <a:off x="3372992" y="4156036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5" name="행 제목">
            <a:extLst>
              <a:ext uri="{FF2B5EF4-FFF2-40B4-BE49-F238E27FC236}">
                <a16:creationId xmlns:a16="http://schemas.microsoft.com/office/drawing/2014/main" id="{1047F34A-F3D0-DF95-6119-F71AD2CA8F0D}"/>
              </a:ext>
            </a:extLst>
          </p:cNvPr>
          <p:cNvSpPr txBox="1"/>
          <p:nvPr/>
        </p:nvSpPr>
        <p:spPr>
          <a:xfrm>
            <a:off x="3506342" y="4156036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66" name="섹션 제목">
            <a:extLst>
              <a:ext uri="{FF2B5EF4-FFF2-40B4-BE49-F238E27FC236}">
                <a16:creationId xmlns:a16="http://schemas.microsoft.com/office/drawing/2014/main" id="{D7FCF224-7674-D62D-0BA8-546FA516C947}"/>
              </a:ext>
            </a:extLst>
          </p:cNvPr>
          <p:cNvSpPr txBox="1"/>
          <p:nvPr/>
        </p:nvSpPr>
        <p:spPr>
          <a:xfrm>
            <a:off x="457200" y="3949518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즐겨찾기</a:t>
            </a:r>
          </a:p>
        </p:txBody>
      </p:sp>
      <p:sp>
        <p:nvSpPr>
          <p:cNvPr id="67" name="섹션 우측">
            <a:extLst>
              <a:ext uri="{FF2B5EF4-FFF2-40B4-BE49-F238E27FC236}">
                <a16:creationId xmlns:a16="http://schemas.microsoft.com/office/drawing/2014/main" id="{70BED898-0927-5431-4F90-3F6B1502CAD2}"/>
              </a:ext>
            </a:extLst>
          </p:cNvPr>
          <p:cNvSpPr txBox="1"/>
          <p:nvPr/>
        </p:nvSpPr>
        <p:spPr>
          <a:xfrm>
            <a:off x="2028825" y="3949518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87" b="0" spc="-15" dirty="0">
                <a:solidFill>
                  <a:srgbClr val="8A94A3"/>
                </a:solidFill>
                <a:latin typeface="Pretendard"/>
              </a:rPr>
              <a:t>3 / </a:t>
            </a:r>
            <a:r>
              <a:rPr lang="en-US" altLang="ko-KR" sz="787" b="0" spc="-15" dirty="0">
                <a:solidFill>
                  <a:srgbClr val="8A94A3"/>
                </a:solidFill>
                <a:latin typeface="Pretendard"/>
              </a:rPr>
              <a:t>1</a:t>
            </a:r>
            <a:r>
              <a:rPr sz="787" b="0" spc="-15" dirty="0">
                <a:solidFill>
                  <a:srgbClr val="8A94A3"/>
                </a:solidFill>
                <a:latin typeface="Pretendard"/>
              </a:rPr>
              <a:t>0</a:t>
            </a:r>
          </a:p>
        </p:txBody>
      </p:sp>
      <p:sp>
        <p:nvSpPr>
          <p:cNvPr id="68" name="리스트 행">
            <a:extLst>
              <a:ext uri="{FF2B5EF4-FFF2-40B4-BE49-F238E27FC236}">
                <a16:creationId xmlns:a16="http://schemas.microsoft.com/office/drawing/2014/main" id="{E5942A3C-2204-2B0F-DCAA-63348ADAC628}"/>
              </a:ext>
            </a:extLst>
          </p:cNvPr>
          <p:cNvSpPr/>
          <p:nvPr/>
        </p:nvSpPr>
        <p:spPr>
          <a:xfrm>
            <a:off x="457200" y="473392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9" name="행 제목">
            <a:extLst>
              <a:ext uri="{FF2B5EF4-FFF2-40B4-BE49-F238E27FC236}">
                <a16:creationId xmlns:a16="http://schemas.microsoft.com/office/drawing/2014/main" id="{D1E90C42-E68F-0E01-CA49-3A226548EDA1}"/>
              </a:ext>
            </a:extLst>
          </p:cNvPr>
          <p:cNvSpPr txBox="1"/>
          <p:nvPr/>
        </p:nvSpPr>
        <p:spPr>
          <a:xfrm>
            <a:off x="590550" y="478592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서울특별시청</a:t>
            </a:r>
          </a:p>
        </p:txBody>
      </p:sp>
      <p:sp>
        <p:nvSpPr>
          <p:cNvPr id="70" name="행 설명"/>
          <p:cNvSpPr txBox="1"/>
          <p:nvPr/>
        </p:nvSpPr>
        <p:spPr>
          <a:xfrm>
            <a:off x="590550" y="496692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중구 세종대로 110</a:t>
            </a:r>
          </a:p>
        </p:txBody>
      </p:sp>
      <p:sp>
        <p:nvSpPr>
          <p:cNvPr id="71" name="리스트 행">
            <a:extLst>
              <a:ext uri="{FF2B5EF4-FFF2-40B4-BE49-F238E27FC236}">
                <a16:creationId xmlns:a16="http://schemas.microsoft.com/office/drawing/2014/main" id="{E97F87D7-7821-8932-F650-7B2C69DA9E50}"/>
              </a:ext>
            </a:extLst>
          </p:cNvPr>
          <p:cNvSpPr/>
          <p:nvPr/>
        </p:nvSpPr>
        <p:spPr>
          <a:xfrm>
            <a:off x="457200" y="5257803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2" name="행 제목">
            <a:extLst>
              <a:ext uri="{FF2B5EF4-FFF2-40B4-BE49-F238E27FC236}">
                <a16:creationId xmlns:a16="http://schemas.microsoft.com/office/drawing/2014/main" id="{49770BB9-214A-57B6-B733-2FB0B2E45599}"/>
              </a:ext>
            </a:extLst>
          </p:cNvPr>
          <p:cNvSpPr txBox="1"/>
          <p:nvPr/>
        </p:nvSpPr>
        <p:spPr>
          <a:xfrm>
            <a:off x="590550" y="5309803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국립중앙박물관</a:t>
            </a:r>
          </a:p>
        </p:txBody>
      </p:sp>
      <p:sp>
        <p:nvSpPr>
          <p:cNvPr id="73" name="행 설명"/>
          <p:cNvSpPr txBox="1"/>
          <p:nvPr/>
        </p:nvSpPr>
        <p:spPr>
          <a:xfrm>
            <a:off x="590550" y="5490803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용산구 서빙고로 137</a:t>
            </a:r>
          </a:p>
        </p:txBody>
      </p:sp>
      <p:sp>
        <p:nvSpPr>
          <p:cNvPr id="74" name="리스트 행">
            <a:extLst>
              <a:ext uri="{FF2B5EF4-FFF2-40B4-BE49-F238E27FC236}">
                <a16:creationId xmlns:a16="http://schemas.microsoft.com/office/drawing/2014/main" id="{E418DB7D-2A20-FC54-01CD-90EA74EDF612}"/>
              </a:ext>
            </a:extLst>
          </p:cNvPr>
          <p:cNvSpPr/>
          <p:nvPr/>
        </p:nvSpPr>
        <p:spPr>
          <a:xfrm>
            <a:off x="457200" y="5781678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5" name="행 제목">
            <a:extLst>
              <a:ext uri="{FF2B5EF4-FFF2-40B4-BE49-F238E27FC236}">
                <a16:creationId xmlns:a16="http://schemas.microsoft.com/office/drawing/2014/main" id="{20D6CE8B-93F5-A2D7-AE48-40E8960AF7A4}"/>
              </a:ext>
            </a:extLst>
          </p:cNvPr>
          <p:cNvSpPr txBox="1"/>
          <p:nvPr/>
        </p:nvSpPr>
        <p:spPr>
          <a:xfrm>
            <a:off x="590550" y="5833678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76" name="행 설명"/>
          <p:cNvSpPr txBox="1"/>
          <p:nvPr/>
        </p:nvSpPr>
        <p:spPr>
          <a:xfrm>
            <a:off x="590550" y="6014678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77" name="리스트 행">
            <a:extLst>
              <a:ext uri="{FF2B5EF4-FFF2-40B4-BE49-F238E27FC236}">
                <a16:creationId xmlns:a16="http://schemas.microsoft.com/office/drawing/2014/main" id="{A07D0661-689E-6F27-C12F-6572C0E5664F}"/>
              </a:ext>
            </a:extLst>
          </p:cNvPr>
          <p:cNvSpPr/>
          <p:nvPr/>
        </p:nvSpPr>
        <p:spPr>
          <a:xfrm>
            <a:off x="461963" y="4203957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78" name="행 제목">
            <a:extLst>
              <a:ext uri="{FF2B5EF4-FFF2-40B4-BE49-F238E27FC236}">
                <a16:creationId xmlns:a16="http://schemas.microsoft.com/office/drawing/2014/main" id="{6F6CFEB4-D08A-B4E3-9721-DAC07E365B6D}"/>
              </a:ext>
            </a:extLst>
          </p:cNvPr>
          <p:cNvSpPr txBox="1"/>
          <p:nvPr/>
        </p:nvSpPr>
        <p:spPr>
          <a:xfrm>
            <a:off x="595313" y="4203957"/>
            <a:ext cx="204787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00" b="0" spc="-18" dirty="0">
                <a:solidFill>
                  <a:srgbClr val="14181F"/>
                </a:solidFill>
                <a:latin typeface="Pretendard"/>
              </a:rPr>
              <a:t>＋ 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즐겨찾기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추가</a:t>
            </a:r>
            <a:endParaRPr sz="900" b="0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9" name="리스트 행">
            <a:extLst>
              <a:ext uri="{FF2B5EF4-FFF2-40B4-BE49-F238E27FC236}">
                <a16:creationId xmlns:a16="http://schemas.microsoft.com/office/drawing/2014/main" id="{F05EEBAF-D345-D209-6B6A-53DD8BF8B9C5}"/>
              </a:ext>
            </a:extLst>
          </p:cNvPr>
          <p:cNvSpPr/>
          <p:nvPr/>
        </p:nvSpPr>
        <p:spPr>
          <a:xfrm>
            <a:off x="457200" y="3152775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0" name="행 제목">
            <a:extLst>
              <a:ext uri="{FF2B5EF4-FFF2-40B4-BE49-F238E27FC236}">
                <a16:creationId xmlns:a16="http://schemas.microsoft.com/office/drawing/2014/main" id="{5B7D1EAF-A64E-B8DA-3F4D-2C520EBB49E2}"/>
              </a:ext>
            </a:extLst>
          </p:cNvPr>
          <p:cNvSpPr txBox="1"/>
          <p:nvPr/>
        </p:nvSpPr>
        <p:spPr>
          <a:xfrm>
            <a:off x="590550" y="3238500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1" name="행 설명">
            <a:extLst>
              <a:ext uri="{FF2B5EF4-FFF2-40B4-BE49-F238E27FC236}">
                <a16:creationId xmlns:a16="http://schemas.microsoft.com/office/drawing/2014/main" id="{5D1E0911-CFE2-30DF-E38A-881400C7A69A}"/>
              </a:ext>
            </a:extLst>
          </p:cNvPr>
          <p:cNvSpPr txBox="1"/>
          <p:nvPr/>
        </p:nvSpPr>
        <p:spPr>
          <a:xfrm>
            <a:off x="590550" y="3419475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2" name="리스트 행">
            <a:extLst>
              <a:ext uri="{FF2B5EF4-FFF2-40B4-BE49-F238E27FC236}">
                <a16:creationId xmlns:a16="http://schemas.microsoft.com/office/drawing/2014/main" id="{B7E27CEE-8627-B817-C274-669FC509D4B2}"/>
              </a:ext>
            </a:extLst>
          </p:cNvPr>
          <p:cNvSpPr/>
          <p:nvPr/>
        </p:nvSpPr>
        <p:spPr>
          <a:xfrm>
            <a:off x="3371850" y="3146642"/>
            <a:ext cx="242887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3" name="행 제목">
            <a:extLst>
              <a:ext uri="{FF2B5EF4-FFF2-40B4-BE49-F238E27FC236}">
                <a16:creationId xmlns:a16="http://schemas.microsoft.com/office/drawing/2014/main" id="{20640B6C-8E64-6920-6354-977CD062F341}"/>
              </a:ext>
            </a:extLst>
          </p:cNvPr>
          <p:cNvSpPr txBox="1"/>
          <p:nvPr/>
        </p:nvSpPr>
        <p:spPr>
          <a:xfrm>
            <a:off x="3505200" y="3232367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900" b="1" spc="-18">
                <a:solidFill>
                  <a:srgbClr val="14181F"/>
                </a:solidFill>
                <a:latin typeface="Pretendard"/>
              </a:rPr>
              <a:t>자주 가는 곳 2</a:t>
            </a:r>
            <a:endParaRPr sz="900" b="1" spc="-18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84" name="행 설명">
            <a:extLst>
              <a:ext uri="{FF2B5EF4-FFF2-40B4-BE49-F238E27FC236}">
                <a16:creationId xmlns:a16="http://schemas.microsoft.com/office/drawing/2014/main" id="{C46144EF-E3A6-5C27-BD2C-4066E940DBF2}"/>
              </a:ext>
            </a:extLst>
          </p:cNvPr>
          <p:cNvSpPr txBox="1"/>
          <p:nvPr/>
        </p:nvSpPr>
        <p:spPr>
          <a:xfrm>
            <a:off x="3505200" y="3413342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712" b="0" spc="-14" dirty="0">
                <a:solidFill>
                  <a:srgbClr val="8A94A3"/>
                </a:solidFill>
                <a:latin typeface="Pretendard"/>
              </a:rPr>
              <a:t>주소를 등록해 주세요</a:t>
            </a:r>
            <a:r>
              <a:rPr lang="en-US" altLang="ko-KR" sz="712" b="0" spc="-14" dirty="0">
                <a:solidFill>
                  <a:srgbClr val="8A94A3"/>
                </a:solidFill>
                <a:latin typeface="Pretendard"/>
              </a:rPr>
              <a:t>.</a:t>
            </a:r>
            <a:endParaRPr sz="712" b="0" spc="-14" dirty="0">
              <a:solidFill>
                <a:srgbClr val="8A94A3"/>
              </a:solidFill>
              <a:latin typeface="Pretendard"/>
            </a:endParaRPr>
          </a:p>
        </p:txBody>
      </p:sp>
      <p:sp>
        <p:nvSpPr>
          <p:cNvPr id="85" name="리스트 행">
            <a:extLst>
              <a:ext uri="{FF2B5EF4-FFF2-40B4-BE49-F238E27FC236}">
                <a16:creationId xmlns:a16="http://schemas.microsoft.com/office/drawing/2014/main" id="{E0D40A8A-7064-40FC-4883-4E05010722FA}"/>
              </a:ext>
            </a:extLst>
          </p:cNvPr>
          <p:cNvSpPr/>
          <p:nvPr/>
        </p:nvSpPr>
        <p:spPr>
          <a:xfrm>
            <a:off x="3371850" y="5777779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6" name="행 제목">
            <a:extLst>
              <a:ext uri="{FF2B5EF4-FFF2-40B4-BE49-F238E27FC236}">
                <a16:creationId xmlns:a16="http://schemas.microsoft.com/office/drawing/2014/main" id="{B882EB47-AAE2-C111-DD95-9697458223AA}"/>
              </a:ext>
            </a:extLst>
          </p:cNvPr>
          <p:cNvSpPr txBox="1"/>
          <p:nvPr/>
        </p:nvSpPr>
        <p:spPr>
          <a:xfrm>
            <a:off x="3505200" y="5829779"/>
            <a:ext cx="1914525" cy="1619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여의도 한강공원</a:t>
            </a:r>
          </a:p>
        </p:txBody>
      </p:sp>
      <p:sp>
        <p:nvSpPr>
          <p:cNvPr id="87" name="행 설명"/>
          <p:cNvSpPr txBox="1"/>
          <p:nvPr/>
        </p:nvSpPr>
        <p:spPr>
          <a:xfrm>
            <a:off x="3505200" y="6010779"/>
            <a:ext cx="1914525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12" b="0" spc="-14">
                <a:solidFill>
                  <a:srgbClr val="8A94A3"/>
                </a:solidFill>
                <a:latin typeface="Pretendard"/>
              </a:rPr>
              <a:t>서울 영등포구 여의동로 330</a:t>
            </a:r>
          </a:p>
        </p:txBody>
      </p:sp>
      <p:sp>
        <p:nvSpPr>
          <p:cNvPr id="88" name="행 버튼 삭제">
            <a:extLst>
              <a:ext uri="{FF2B5EF4-FFF2-40B4-BE49-F238E27FC236}">
                <a16:creationId xmlns:a16="http://schemas.microsoft.com/office/drawing/2014/main" id="{8199AD0A-BDDC-2860-4654-CA9FC751A82D}"/>
              </a:ext>
            </a:extLst>
          </p:cNvPr>
          <p:cNvSpPr/>
          <p:nvPr/>
        </p:nvSpPr>
        <p:spPr>
          <a:xfrm>
            <a:off x="5172075" y="5882554"/>
            <a:ext cx="495300" cy="228600"/>
          </a:xfrm>
          <a:prstGeom prst="roundRect">
            <a:avLst>
              <a:gd name="adj" fmla="val 33333"/>
            </a:avLst>
          </a:prstGeom>
          <a:solidFill>
            <a:srgbClr val="FDECEC"/>
          </a:solidFill>
          <a:ln w="9525">
            <a:solidFill>
              <a:srgbClr val="F6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E01B24"/>
                </a:solidFill>
                <a:latin typeface="Pretendard"/>
              </a:rPr>
              <a:t>삭제</a:t>
            </a:r>
          </a:p>
        </p:txBody>
      </p:sp>
      <p:sp>
        <p:nvSpPr>
          <p:cNvPr id="8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dirty="0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0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91" name="행 버튼 이름수정"/>
          <p:cNvSpPr/>
          <p:nvPr/>
        </p:nvSpPr>
        <p:spPr>
          <a:xfrm>
            <a:off x="4452075" y="2695575"/>
            <a:ext cx="6600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87" b="1">
                <a:solidFill>
                  <a:srgbClr val="14181F"/>
                </a:solidFill>
                <a:latin typeface="Pretendard"/>
              </a:rPr>
              <a:t>이름수정</a:t>
            </a:r>
          </a:p>
        </p:txBody>
      </p:sp>
      <p:sp>
        <p:nvSpPr>
          <p:cNvPr id="92" name="숫자배지 1"/>
          <p:cNvSpPr/>
          <p:nvPr/>
        </p:nvSpPr>
        <p:spPr>
          <a:xfrm>
            <a:off x="2442905" y="13239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3" name="숫자배지 2"/>
          <p:cNvSpPr/>
          <p:nvPr/>
        </p:nvSpPr>
        <p:spPr>
          <a:xfrm>
            <a:off x="2971800" y="17240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94" name="숫자배지 2-1"/>
          <p:cNvSpPr/>
          <p:nvPr/>
        </p:nvSpPr>
        <p:spPr>
          <a:xfrm>
            <a:off x="4810125" y="2114550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95" name="숫자배지 2-2"/>
          <p:cNvSpPr/>
          <p:nvPr/>
        </p:nvSpPr>
        <p:spPr>
          <a:xfrm>
            <a:off x="4810125" y="4821383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96" name="숫자배지 3"/>
          <p:cNvSpPr/>
          <p:nvPr/>
        </p:nvSpPr>
        <p:spPr>
          <a:xfrm>
            <a:off x="5895975" y="5316683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50876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저상버스 예약 내역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9689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진행 중 · 지난 내역 (1/3)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192024" y="952500"/>
            <a:ext cx="8796528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300683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31020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45308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45308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9105595" y="952500"/>
            <a:ext cx="2891332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9317736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9317736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9279331" y="1447800"/>
          <a:ext cx="2553004" cy="4268773"/>
        </p:xfrm>
        <a:graphic>
          <a:graphicData uri="http://schemas.openxmlformats.org/drawingml/2006/table">
            <a:tbl>
              <a:tblPr/>
              <a:tblGrid>
                <a:gridCol w="422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72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탑바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 ＋ 타이틀 「저상버스 예약 내역」 · 회원 전용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뒤로가기는 들어온 화면으로 복귀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5502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필터 칩 2개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[진행 중] / [지난 내역] · 리스트 최상단 1행 · 열면 「진행 중」이 선택된 상태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단일 선택 — 항상 하나가 선택되어 있음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목록이 바뀌고 스크롤은 맨 위로 올라감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74127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진행 중 예약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유형 배지 + 노선번호 + 승차 정류장 + 상태 + 일시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 2단 — 예약 신청 완료 / 예약 확정됨 (텍스트 병기)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지정했을 때만 「하차: 〈정류장명〉」 1줄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 아래 안내 1줄 · 행 탭 이동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75760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512064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9" name="예약 노선·정류장"/>
          <p:cNvSpPr/>
          <p:nvPr/>
        </p:nvSpPr>
        <p:spPr>
          <a:xfrm>
            <a:off x="868680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20" name="예약 일시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1856232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14:48</a:t>
            </a:r>
          </a:p>
        </p:txBody>
      </p:sp>
      <p:sp>
        <p:nvSpPr>
          <p:cNvPr id="21" name="예약 상태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512064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 신청 완료</a:t>
            </a:r>
          </a:p>
        </p:txBody>
      </p:sp>
      <p:sp>
        <p:nvSpPr>
          <p:cNvPr id="22" name="상태 안내"/>
          <p:cNvSpPr/>
          <p:nvPr/>
        </p:nvSpPr>
        <p:spPr>
          <a:xfrm>
            <a:off x="512064" y="2633472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</p:txBody>
      </p:sp>
      <p:sp>
        <p:nvSpPr>
          <p:cNvPr id="23" name="행 버튼"/>
          <p:cNvSpPr/>
          <p:nvPr/>
        </p:nvSpPr>
        <p:spPr>
          <a:xfrm>
            <a:off x="1920240" y="2834640"/>
            <a:ext cx="86868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버튼 라벨"/>
          <p:cNvSpPr txBox="1"/>
          <p:nvPr/>
        </p:nvSpPr>
        <p:spPr>
          <a:xfrm>
            <a:off x="1920240" y="2834640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예약 취소</a:t>
            </a:r>
          </a:p>
        </p:txBody>
      </p:sp>
      <p:cxnSp>
        <p:nvCxnSpPr>
          <p:cNvPr id="25" name="리스트 구분선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301752" y="318211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노선 유형배지"/>
          <p:cNvSpPr/>
          <p:nvPr/>
        </p:nvSpPr>
        <p:spPr>
          <a:xfrm>
            <a:off x="512064" y="334670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7" name="예약 노선·정류장"/>
          <p:cNvSpPr/>
          <p:nvPr/>
        </p:nvSpPr>
        <p:spPr>
          <a:xfrm>
            <a:off x="868680" y="3291840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28" name="예약 일시"/>
          <p:cNvSpPr/>
          <p:nvPr/>
        </p:nvSpPr>
        <p:spPr>
          <a:xfrm>
            <a:off x="1856232" y="3310128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13:02</a:t>
            </a:r>
          </a:p>
        </p:txBody>
      </p:sp>
      <p:sp>
        <p:nvSpPr>
          <p:cNvPr id="29" name="예약 상태"/>
          <p:cNvSpPr/>
          <p:nvPr/>
        </p:nvSpPr>
        <p:spPr>
          <a:xfrm>
            <a:off x="512064" y="3529584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예약되지 않음</a:t>
            </a:r>
          </a:p>
        </p:txBody>
      </p:sp>
      <p:sp>
        <p:nvSpPr>
          <p:cNvPr id="30" name="상태 안내"/>
          <p:cNvSpPr/>
          <p:nvPr/>
        </p:nvSpPr>
        <p:spPr>
          <a:xfrm>
            <a:off x="512064" y="3712464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예약이 되지 않았습니다. 다시 시도해 주세요.</a:t>
            </a:r>
          </a:p>
        </p:txBody>
      </p:sp>
      <p:sp>
        <p:nvSpPr>
          <p:cNvPr id="31" name="행 버튼"/>
          <p:cNvSpPr/>
          <p:nvPr/>
        </p:nvSpPr>
        <p:spPr>
          <a:xfrm>
            <a:off x="1810512" y="3950208"/>
            <a:ext cx="100584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버튼 라벨"/>
          <p:cNvSpPr txBox="1"/>
          <p:nvPr/>
        </p:nvSpPr>
        <p:spPr>
          <a:xfrm>
            <a:off x="1810512" y="3950208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다시 예약하기</a:t>
            </a:r>
          </a:p>
        </p:txBody>
      </p:sp>
      <p:cxnSp>
        <p:nvCxnSpPr>
          <p:cNvPr id="33" name="리스트 구분선"/>
          <p:cNvCxnSpPr/>
          <p:nvPr/>
        </p:nvCxnSpPr>
        <p:spPr>
          <a:xfrm>
            <a:off x="301752" y="4297680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팝업 캡션"/>
          <p:cNvSpPr/>
          <p:nvPr/>
        </p:nvSpPr>
        <p:spPr>
          <a:xfrm>
            <a:off x="6135624" y="1883664"/>
            <a:ext cx="226771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5 — [예약 취소] 선택 시</a:t>
            </a:r>
          </a:p>
        </p:txBody>
      </p:sp>
      <p:sp>
        <p:nvSpPr>
          <p:cNvPr id="35" name="팝업 (예약 취소)"/>
          <p:cNvSpPr/>
          <p:nvPr/>
        </p:nvSpPr>
        <p:spPr>
          <a:xfrm>
            <a:off x="6135624" y="2103120"/>
            <a:ext cx="2322576" cy="144475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팝업 문구"/>
          <p:cNvSpPr txBox="1"/>
          <p:nvPr/>
        </p:nvSpPr>
        <p:spPr>
          <a:xfrm>
            <a:off x="6327648" y="2258568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 취소</a:t>
            </a:r>
          </a:p>
        </p:txBody>
      </p:sp>
      <p:sp>
        <p:nvSpPr>
          <p:cNvPr id="37" name="팝업 문구"/>
          <p:cNvSpPr txBox="1"/>
          <p:nvPr/>
        </p:nvSpPr>
        <p:spPr>
          <a:xfrm>
            <a:off x="6327648" y="256032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예약을 취소하시겠습니까?</a:t>
            </a:r>
          </a:p>
        </p:txBody>
      </p:sp>
      <p:sp>
        <p:nvSpPr>
          <p:cNvPr id="38" name="팝업 문구"/>
          <p:cNvSpPr txBox="1"/>
          <p:nvPr/>
        </p:nvSpPr>
        <p:spPr>
          <a:xfrm>
            <a:off x="6327648" y="274320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취소하면 다시 신청해야 합니다.</a:t>
            </a:r>
          </a:p>
        </p:txBody>
      </p:sp>
      <p:sp>
        <p:nvSpPr>
          <p:cNvPr id="39" name="팝업 버튼 닫기"/>
          <p:cNvSpPr/>
          <p:nvPr/>
        </p:nvSpPr>
        <p:spPr>
          <a:xfrm>
            <a:off x="634593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버튼 라벨"/>
          <p:cNvSpPr txBox="1"/>
          <p:nvPr/>
        </p:nvSpPr>
        <p:spPr>
          <a:xfrm>
            <a:off x="634593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닫기</a:t>
            </a:r>
          </a:p>
        </p:txBody>
      </p:sp>
      <p:sp>
        <p:nvSpPr>
          <p:cNvPr id="41" name="팝업 버튼 취소하기"/>
          <p:cNvSpPr/>
          <p:nvPr/>
        </p:nvSpPr>
        <p:spPr>
          <a:xfrm>
            <a:off x="730605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팝업 버튼 라벨"/>
          <p:cNvSpPr txBox="1"/>
          <p:nvPr/>
        </p:nvSpPr>
        <p:spPr>
          <a:xfrm>
            <a:off x="730605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취소하기</a:t>
            </a:r>
          </a:p>
        </p:txBody>
      </p:sp>
      <p:sp>
        <p:nvSpPr>
          <p:cNvPr id="43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4" name="필터 칩"/>
          <p:cNvSpPr/>
          <p:nvPr/>
        </p:nvSpPr>
        <p:spPr>
          <a:xfrm>
            <a:off x="512064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필터 칩 라벨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603504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진행 중</a:t>
            </a:r>
          </a:p>
        </p:txBody>
      </p:sp>
      <p:sp>
        <p:nvSpPr>
          <p:cNvPr id="46" name="필터 칩"/>
          <p:cNvSpPr/>
          <p:nvPr/>
        </p:nvSpPr>
        <p:spPr>
          <a:xfrm>
            <a:off x="1316736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필터 칩 라벨"/>
          <p:cNvSpPr/>
          <p:nvPr/>
        </p:nvSpPr>
        <p:spPr>
          <a:xfrm>
            <a:off x="1408176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지난 내역</a:t>
            </a:r>
          </a:p>
        </p:txBody>
      </p:sp>
      <p:sp>
        <p:nvSpPr>
          <p:cNvPr id="48" name="목업 프레임 2"/>
          <p:cNvSpPr/>
          <p:nvPr/>
        </p:nvSpPr>
        <p:spPr>
          <a:xfrm>
            <a:off x="3218688" y="118872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탑바 구분선"/>
          <p:cNvSpPr/>
          <p:nvPr/>
        </p:nvSpPr>
        <p:spPr>
          <a:xfrm>
            <a:off x="3227144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탑바 타이틀"/>
          <p:cNvSpPr txBox="1"/>
          <p:nvPr/>
        </p:nvSpPr>
        <p:spPr>
          <a:xfrm>
            <a:off x="3674540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1" name="뒤로가기"/>
          <p:cNvCxnSpPr/>
          <p:nvPr/>
        </p:nvCxnSpPr>
        <p:spPr>
          <a:xfrm flipH="1">
            <a:off x="3370019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370019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노선 유형배지"/>
          <p:cNvSpPr/>
          <p:nvPr/>
        </p:nvSpPr>
        <p:spPr>
          <a:xfrm>
            <a:off x="3428999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54" name="예약 노선·정류장"/>
          <p:cNvSpPr/>
          <p:nvPr/>
        </p:nvSpPr>
        <p:spPr>
          <a:xfrm>
            <a:off x="3785616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55" name="예약 일시"/>
          <p:cNvSpPr/>
          <p:nvPr/>
        </p:nvSpPr>
        <p:spPr>
          <a:xfrm>
            <a:off x="4773168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09/12 08:20</a:t>
            </a:r>
          </a:p>
        </p:txBody>
      </p:sp>
      <p:sp>
        <p:nvSpPr>
          <p:cNvPr id="56" name="예약 상태"/>
          <p:cNvSpPr/>
          <p:nvPr/>
        </p:nvSpPr>
        <p:spPr>
          <a:xfrm>
            <a:off x="3428999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탑승 완료</a:t>
            </a:r>
          </a:p>
        </p:txBody>
      </p:sp>
      <p:cxnSp>
        <p:nvCxnSpPr>
          <p:cNvPr id="57" name="리스트 구분선"/>
          <p:cNvCxnSpPr/>
          <p:nvPr/>
        </p:nvCxnSpPr>
        <p:spPr>
          <a:xfrm>
            <a:off x="3218688" y="2505456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노선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3428999" y="26700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59" name="예약 노선·정류장"/>
          <p:cNvSpPr/>
          <p:nvPr/>
        </p:nvSpPr>
        <p:spPr>
          <a:xfrm>
            <a:off x="3785616" y="2615184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2012  세종초교앞</a:t>
            </a:r>
          </a:p>
        </p:txBody>
      </p:sp>
      <p:sp>
        <p:nvSpPr>
          <p:cNvPr id="60" name="예약 일시"/>
          <p:cNvSpPr/>
          <p:nvPr/>
        </p:nvSpPr>
        <p:spPr>
          <a:xfrm>
            <a:off x="4773168" y="2633472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09/11 19:05</a:t>
            </a:r>
          </a:p>
        </p:txBody>
      </p:sp>
      <p:sp>
        <p:nvSpPr>
          <p:cNvPr id="61" name="예약 상태"/>
          <p:cNvSpPr/>
          <p:nvPr/>
        </p:nvSpPr>
        <p:spPr>
          <a:xfrm>
            <a:off x="3428999" y="285292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미탑승</a:t>
            </a:r>
          </a:p>
        </p:txBody>
      </p:sp>
      <p:cxnSp>
        <p:nvCxnSpPr>
          <p:cNvPr id="62" name="리스트 구분선"/>
          <p:cNvCxnSpPr/>
          <p:nvPr/>
        </p:nvCxnSpPr>
        <p:spPr>
          <a:xfrm>
            <a:off x="3218688" y="3072384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필터 칩"/>
          <p:cNvSpPr/>
          <p:nvPr/>
        </p:nvSpPr>
        <p:spPr>
          <a:xfrm>
            <a:off x="3428999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필터 칩 라벨"/>
          <p:cNvSpPr/>
          <p:nvPr/>
        </p:nvSpPr>
        <p:spPr>
          <a:xfrm>
            <a:off x="3520440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진행 중</a:t>
            </a:r>
          </a:p>
        </p:txBody>
      </p:sp>
      <p:sp>
        <p:nvSpPr>
          <p:cNvPr id="65" name="필터 칩"/>
          <p:cNvSpPr/>
          <p:nvPr/>
        </p:nvSpPr>
        <p:spPr>
          <a:xfrm>
            <a:off x="4233672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필터 칩 라벨"/>
          <p:cNvSpPr/>
          <p:nvPr/>
        </p:nvSpPr>
        <p:spPr>
          <a:xfrm>
            <a:off x="4325112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지난 내역</a:t>
            </a:r>
          </a:p>
        </p:txBody>
      </p:sp>
      <p:sp>
        <p:nvSpPr>
          <p:cNvPr id="67" name="alight"/>
          <p:cNvSpPr txBox="1"/>
          <p:nvPr/>
        </p:nvSpPr>
        <p:spPr>
          <a:xfrm>
            <a:off x="512064" y="2450592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하차: 어린이대공원후문</a:t>
            </a:r>
          </a:p>
        </p:txBody>
      </p:sp>
      <p:sp>
        <p:nvSpPr>
          <p:cNvPr id="68" name="alight-btn"/>
          <p:cNvSpPr/>
          <p:nvPr/>
        </p:nvSpPr>
        <p:spPr>
          <a:xfrm>
            <a:off x="868680" y="2834640"/>
            <a:ext cx="86868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69" name="t"/>
          <p:cNvSpPr txBox="1"/>
          <p:nvPr/>
        </p:nvSpPr>
        <p:spPr>
          <a:xfrm>
            <a:off x="868680" y="2894076"/>
            <a:ext cx="868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 정류장</a:t>
            </a:r>
          </a:p>
        </p:txBody>
      </p:sp>
      <p:sp>
        <p:nvSpPr>
          <p:cNvPr id="70" name="노선 유형배지"/>
          <p:cNvSpPr/>
          <p:nvPr/>
        </p:nvSpPr>
        <p:spPr>
          <a:xfrm>
            <a:off x="512064" y="448056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71" name="t"/>
          <p:cNvSpPr txBox="1"/>
          <p:nvPr/>
        </p:nvSpPr>
        <p:spPr>
          <a:xfrm>
            <a:off x="868680" y="442569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2413  청담역7번출구</a:t>
            </a:r>
          </a:p>
        </p:txBody>
      </p:sp>
      <p:sp>
        <p:nvSpPr>
          <p:cNvPr id="72" name="t"/>
          <p:cNvSpPr txBox="1"/>
          <p:nvPr/>
        </p:nvSpPr>
        <p:spPr>
          <a:xfrm>
            <a:off x="1856232" y="4443984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09/14 14:48</a:t>
            </a:r>
          </a:p>
        </p:txBody>
      </p:sp>
      <p:sp>
        <p:nvSpPr>
          <p:cNvPr id="73" name="t"/>
          <p:cNvSpPr txBox="1"/>
          <p:nvPr/>
        </p:nvSpPr>
        <p:spPr>
          <a:xfrm>
            <a:off x="512064" y="466344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탑승 확인 필요</a:t>
            </a:r>
          </a:p>
        </p:txBody>
      </p:sp>
      <p:sp>
        <p:nvSpPr>
          <p:cNvPr id="74" name="board-btn"/>
          <p:cNvSpPr/>
          <p:nvPr/>
        </p:nvSpPr>
        <p:spPr>
          <a:xfrm>
            <a:off x="1883664" y="4882896"/>
            <a:ext cx="93268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75" name="t"/>
          <p:cNvSpPr txBox="1"/>
          <p:nvPr/>
        </p:nvSpPr>
        <p:spPr>
          <a:xfrm>
            <a:off x="1883664" y="4942332"/>
            <a:ext cx="93268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2D4CC8"/>
                </a:solidFill>
                <a:latin typeface="Pretendard"/>
                <a:ea typeface="Pretendard"/>
              </a:rPr>
              <a:t>탑승 확인</a:t>
            </a:r>
          </a:p>
        </p:txBody>
      </p:sp>
      <p:cxnSp>
        <p:nvCxnSpPr>
          <p:cNvPr id="76" name="ln"/>
          <p:cNvCxnSpPr/>
          <p:nvPr/>
        </p:nvCxnSpPr>
        <p:spPr>
          <a:xfrm>
            <a:off x="301752" y="5266944"/>
            <a:ext cx="2724912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77" name="숫자배지 3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18871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78" name="숫자배지 3-3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8871" y="331012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79" name="숫자배지 1"/>
          <p:cNvSpPr/>
          <p:nvPr/>
        </p:nvSpPr>
        <p:spPr>
          <a:xfrm>
            <a:off x="256032" y="15819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80" name="숫자배지 2"/>
          <p:cNvSpPr/>
          <p:nvPr/>
        </p:nvSpPr>
        <p:spPr>
          <a:xfrm>
            <a:off x="118871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81" name="숫자배지 5"/>
          <p:cNvSpPr/>
          <p:nvPr/>
        </p:nvSpPr>
        <p:spPr>
          <a:xfrm>
            <a:off x="6345936" y="19933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82" name="숫자배지 3-2"/>
          <p:cNvSpPr/>
          <p:nvPr/>
        </p:nvSpPr>
        <p:spPr>
          <a:xfrm>
            <a:off x="1792224" y="2843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83" name="숫자배지 4"/>
          <p:cNvSpPr/>
          <p:nvPr/>
        </p:nvSpPr>
        <p:spPr>
          <a:xfrm>
            <a:off x="3035807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84" name="숫자배지 3-1"/>
          <p:cNvSpPr/>
          <p:nvPr/>
        </p:nvSpPr>
        <p:spPr>
          <a:xfrm>
            <a:off x="530352" y="2843784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85" name="숫자배지 3-4"/>
          <p:cNvSpPr/>
          <p:nvPr/>
        </p:nvSpPr>
        <p:spPr>
          <a:xfrm>
            <a:off x="1481328" y="4882896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50876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저상버스 예약 내역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9689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진행 중 · 지난 내역 (2/3)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192024" y="952500"/>
            <a:ext cx="8796528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300683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31020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45308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45308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9105595" y="952500"/>
            <a:ext cx="2891332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9317736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9317736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9279331" y="1447800"/>
          <a:ext cx="2553004" cy="4456580"/>
        </p:xfrm>
        <a:graphic>
          <a:graphicData uri="http://schemas.openxmlformats.org/drawingml/2006/table">
            <a:tbl>
              <a:tblPr/>
              <a:tblGrid>
                <a:gridCol w="422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[하차 정류장]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진행 중 행에만 노출 · 문구 「하차 정류장」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「예약 신청 완료」 활성 / 「예약 확정됨」 비활성 · 누르면 지정 시트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[예약 취소]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진행 중 행에만 노출 · 문구 「예약 취소」 고정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「예약 신청 완료」 활성 / 「예약 확정됨」 비활성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3-3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거절된 예약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「진행 중」 안에 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상태 「예약되지 않음」 + 사유 1줄 + [다시 예약하기] → 2-5-1 노선 상세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3-4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[탑승 확인]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「탑승 확인 필요」 상태의 진행 중 행에만 노출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누르면 탑승 확인 팝업 · 답하면 지난 내역으로 옮겨감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75760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512064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9" name="예약 노선·정류장"/>
          <p:cNvSpPr/>
          <p:nvPr/>
        </p:nvSpPr>
        <p:spPr>
          <a:xfrm>
            <a:off x="868680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20" name="예약 일시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1856232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14:48</a:t>
            </a:r>
          </a:p>
        </p:txBody>
      </p:sp>
      <p:sp>
        <p:nvSpPr>
          <p:cNvPr id="21" name="예약 상태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512064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 신청 완료</a:t>
            </a:r>
          </a:p>
        </p:txBody>
      </p:sp>
      <p:sp>
        <p:nvSpPr>
          <p:cNvPr id="22" name="상태 안내"/>
          <p:cNvSpPr/>
          <p:nvPr/>
        </p:nvSpPr>
        <p:spPr>
          <a:xfrm>
            <a:off x="512064" y="2633472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</p:txBody>
      </p:sp>
      <p:sp>
        <p:nvSpPr>
          <p:cNvPr id="23" name="행 버튼"/>
          <p:cNvSpPr/>
          <p:nvPr/>
        </p:nvSpPr>
        <p:spPr>
          <a:xfrm>
            <a:off x="1920240" y="2834640"/>
            <a:ext cx="86868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버튼 라벨"/>
          <p:cNvSpPr txBox="1"/>
          <p:nvPr/>
        </p:nvSpPr>
        <p:spPr>
          <a:xfrm>
            <a:off x="1920240" y="2834640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예약 취소</a:t>
            </a:r>
          </a:p>
        </p:txBody>
      </p:sp>
      <p:cxnSp>
        <p:nvCxnSpPr>
          <p:cNvPr id="25" name="리스트 구분선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301752" y="318211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노선 유형배지"/>
          <p:cNvSpPr/>
          <p:nvPr/>
        </p:nvSpPr>
        <p:spPr>
          <a:xfrm>
            <a:off x="512064" y="334670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7" name="예약 노선·정류장"/>
          <p:cNvSpPr/>
          <p:nvPr/>
        </p:nvSpPr>
        <p:spPr>
          <a:xfrm>
            <a:off x="868680" y="3291840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28" name="예약 일시"/>
          <p:cNvSpPr/>
          <p:nvPr/>
        </p:nvSpPr>
        <p:spPr>
          <a:xfrm>
            <a:off x="1856232" y="3310128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13:02</a:t>
            </a:r>
          </a:p>
        </p:txBody>
      </p:sp>
      <p:sp>
        <p:nvSpPr>
          <p:cNvPr id="29" name="예약 상태"/>
          <p:cNvSpPr/>
          <p:nvPr/>
        </p:nvSpPr>
        <p:spPr>
          <a:xfrm>
            <a:off x="512064" y="3529584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예약되지 않음</a:t>
            </a:r>
          </a:p>
        </p:txBody>
      </p:sp>
      <p:sp>
        <p:nvSpPr>
          <p:cNvPr id="30" name="상태 안내"/>
          <p:cNvSpPr/>
          <p:nvPr/>
        </p:nvSpPr>
        <p:spPr>
          <a:xfrm>
            <a:off x="512064" y="3712464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예약이 되지 않았습니다. 다시 시도해 주세요.</a:t>
            </a:r>
          </a:p>
        </p:txBody>
      </p:sp>
      <p:sp>
        <p:nvSpPr>
          <p:cNvPr id="31" name="행 버튼"/>
          <p:cNvSpPr/>
          <p:nvPr/>
        </p:nvSpPr>
        <p:spPr>
          <a:xfrm>
            <a:off x="1810512" y="3950208"/>
            <a:ext cx="100584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버튼 라벨"/>
          <p:cNvSpPr txBox="1"/>
          <p:nvPr/>
        </p:nvSpPr>
        <p:spPr>
          <a:xfrm>
            <a:off x="1810512" y="3950208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다시 예약하기</a:t>
            </a:r>
          </a:p>
        </p:txBody>
      </p:sp>
      <p:cxnSp>
        <p:nvCxnSpPr>
          <p:cNvPr id="33" name="리스트 구분선"/>
          <p:cNvCxnSpPr/>
          <p:nvPr/>
        </p:nvCxnSpPr>
        <p:spPr>
          <a:xfrm>
            <a:off x="301752" y="4297680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팝업 캡션"/>
          <p:cNvSpPr/>
          <p:nvPr/>
        </p:nvSpPr>
        <p:spPr>
          <a:xfrm>
            <a:off x="6135624" y="1883664"/>
            <a:ext cx="226771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5 — [예약 취소] 선택 시</a:t>
            </a:r>
          </a:p>
        </p:txBody>
      </p:sp>
      <p:sp>
        <p:nvSpPr>
          <p:cNvPr id="35" name="팝업 (예약 취소)"/>
          <p:cNvSpPr/>
          <p:nvPr/>
        </p:nvSpPr>
        <p:spPr>
          <a:xfrm>
            <a:off x="6135624" y="2103120"/>
            <a:ext cx="2322576" cy="144475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팝업 문구"/>
          <p:cNvSpPr txBox="1"/>
          <p:nvPr/>
        </p:nvSpPr>
        <p:spPr>
          <a:xfrm>
            <a:off x="6327648" y="2258568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 취소</a:t>
            </a:r>
          </a:p>
        </p:txBody>
      </p:sp>
      <p:sp>
        <p:nvSpPr>
          <p:cNvPr id="37" name="팝업 문구"/>
          <p:cNvSpPr txBox="1"/>
          <p:nvPr/>
        </p:nvSpPr>
        <p:spPr>
          <a:xfrm>
            <a:off x="6327648" y="256032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예약을 취소하시겠습니까?</a:t>
            </a:r>
          </a:p>
        </p:txBody>
      </p:sp>
      <p:sp>
        <p:nvSpPr>
          <p:cNvPr id="38" name="팝업 문구"/>
          <p:cNvSpPr txBox="1"/>
          <p:nvPr/>
        </p:nvSpPr>
        <p:spPr>
          <a:xfrm>
            <a:off x="6327648" y="274320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취소하면 다시 신청해야 합니다.</a:t>
            </a:r>
          </a:p>
        </p:txBody>
      </p:sp>
      <p:sp>
        <p:nvSpPr>
          <p:cNvPr id="39" name="팝업 버튼 닫기"/>
          <p:cNvSpPr/>
          <p:nvPr/>
        </p:nvSpPr>
        <p:spPr>
          <a:xfrm>
            <a:off x="634593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버튼 라벨"/>
          <p:cNvSpPr txBox="1"/>
          <p:nvPr/>
        </p:nvSpPr>
        <p:spPr>
          <a:xfrm>
            <a:off x="634593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닫기</a:t>
            </a:r>
          </a:p>
        </p:txBody>
      </p:sp>
      <p:sp>
        <p:nvSpPr>
          <p:cNvPr id="41" name="팝업 버튼 취소하기"/>
          <p:cNvSpPr/>
          <p:nvPr/>
        </p:nvSpPr>
        <p:spPr>
          <a:xfrm>
            <a:off x="730605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팝업 버튼 라벨"/>
          <p:cNvSpPr txBox="1"/>
          <p:nvPr/>
        </p:nvSpPr>
        <p:spPr>
          <a:xfrm>
            <a:off x="730605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취소하기</a:t>
            </a:r>
          </a:p>
        </p:txBody>
      </p:sp>
      <p:sp>
        <p:nvSpPr>
          <p:cNvPr id="43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4" name="필터 칩"/>
          <p:cNvSpPr/>
          <p:nvPr/>
        </p:nvSpPr>
        <p:spPr>
          <a:xfrm>
            <a:off x="512064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필터 칩 라벨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603504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진행 중</a:t>
            </a:r>
          </a:p>
        </p:txBody>
      </p:sp>
      <p:sp>
        <p:nvSpPr>
          <p:cNvPr id="46" name="필터 칩"/>
          <p:cNvSpPr/>
          <p:nvPr/>
        </p:nvSpPr>
        <p:spPr>
          <a:xfrm>
            <a:off x="1316736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필터 칩 라벨"/>
          <p:cNvSpPr/>
          <p:nvPr/>
        </p:nvSpPr>
        <p:spPr>
          <a:xfrm>
            <a:off x="1408176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지난 내역</a:t>
            </a:r>
          </a:p>
        </p:txBody>
      </p:sp>
      <p:sp>
        <p:nvSpPr>
          <p:cNvPr id="48" name="목업 프레임 2"/>
          <p:cNvSpPr/>
          <p:nvPr/>
        </p:nvSpPr>
        <p:spPr>
          <a:xfrm>
            <a:off x="3218688" y="118872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탑바 구분선"/>
          <p:cNvSpPr/>
          <p:nvPr/>
        </p:nvSpPr>
        <p:spPr>
          <a:xfrm>
            <a:off x="3227144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탑바 타이틀"/>
          <p:cNvSpPr txBox="1"/>
          <p:nvPr/>
        </p:nvSpPr>
        <p:spPr>
          <a:xfrm>
            <a:off x="3674540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1" name="뒤로가기"/>
          <p:cNvCxnSpPr/>
          <p:nvPr/>
        </p:nvCxnSpPr>
        <p:spPr>
          <a:xfrm flipH="1">
            <a:off x="3370019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370019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노선 유형배지"/>
          <p:cNvSpPr/>
          <p:nvPr/>
        </p:nvSpPr>
        <p:spPr>
          <a:xfrm>
            <a:off x="3428999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54" name="예약 노선·정류장"/>
          <p:cNvSpPr/>
          <p:nvPr/>
        </p:nvSpPr>
        <p:spPr>
          <a:xfrm>
            <a:off x="3785616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55" name="예약 일시"/>
          <p:cNvSpPr/>
          <p:nvPr/>
        </p:nvSpPr>
        <p:spPr>
          <a:xfrm>
            <a:off x="4773168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09/12 08:20</a:t>
            </a:r>
          </a:p>
        </p:txBody>
      </p:sp>
      <p:sp>
        <p:nvSpPr>
          <p:cNvPr id="56" name="예약 상태"/>
          <p:cNvSpPr/>
          <p:nvPr/>
        </p:nvSpPr>
        <p:spPr>
          <a:xfrm>
            <a:off x="3428999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탑승 완료</a:t>
            </a:r>
          </a:p>
        </p:txBody>
      </p:sp>
      <p:cxnSp>
        <p:nvCxnSpPr>
          <p:cNvPr id="57" name="리스트 구분선"/>
          <p:cNvCxnSpPr/>
          <p:nvPr/>
        </p:nvCxnSpPr>
        <p:spPr>
          <a:xfrm>
            <a:off x="3218688" y="2505456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노선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3428999" y="26700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59" name="예약 노선·정류장"/>
          <p:cNvSpPr/>
          <p:nvPr/>
        </p:nvSpPr>
        <p:spPr>
          <a:xfrm>
            <a:off x="3785616" y="2615184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2012  세종초교앞</a:t>
            </a:r>
          </a:p>
        </p:txBody>
      </p:sp>
      <p:sp>
        <p:nvSpPr>
          <p:cNvPr id="60" name="예약 일시"/>
          <p:cNvSpPr/>
          <p:nvPr/>
        </p:nvSpPr>
        <p:spPr>
          <a:xfrm>
            <a:off x="4773168" y="2633472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09/11 19:05</a:t>
            </a:r>
          </a:p>
        </p:txBody>
      </p:sp>
      <p:sp>
        <p:nvSpPr>
          <p:cNvPr id="61" name="예약 상태"/>
          <p:cNvSpPr/>
          <p:nvPr/>
        </p:nvSpPr>
        <p:spPr>
          <a:xfrm>
            <a:off x="3428999" y="285292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미탑승</a:t>
            </a:r>
          </a:p>
        </p:txBody>
      </p:sp>
      <p:cxnSp>
        <p:nvCxnSpPr>
          <p:cNvPr id="62" name="리스트 구분선"/>
          <p:cNvCxnSpPr/>
          <p:nvPr/>
        </p:nvCxnSpPr>
        <p:spPr>
          <a:xfrm>
            <a:off x="3218688" y="3072384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필터 칩"/>
          <p:cNvSpPr/>
          <p:nvPr/>
        </p:nvSpPr>
        <p:spPr>
          <a:xfrm>
            <a:off x="3428999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필터 칩 라벨"/>
          <p:cNvSpPr/>
          <p:nvPr/>
        </p:nvSpPr>
        <p:spPr>
          <a:xfrm>
            <a:off x="3520440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진행 중</a:t>
            </a:r>
          </a:p>
        </p:txBody>
      </p:sp>
      <p:sp>
        <p:nvSpPr>
          <p:cNvPr id="65" name="필터 칩"/>
          <p:cNvSpPr/>
          <p:nvPr/>
        </p:nvSpPr>
        <p:spPr>
          <a:xfrm>
            <a:off x="4233672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필터 칩 라벨"/>
          <p:cNvSpPr/>
          <p:nvPr/>
        </p:nvSpPr>
        <p:spPr>
          <a:xfrm>
            <a:off x="4325112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지난 내역</a:t>
            </a:r>
          </a:p>
        </p:txBody>
      </p:sp>
      <p:sp>
        <p:nvSpPr>
          <p:cNvPr id="67" name="숫자배지 3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18871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8" name="숫자배지 3-3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8871" y="331012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69" name="숫자배지 1"/>
          <p:cNvSpPr/>
          <p:nvPr/>
        </p:nvSpPr>
        <p:spPr>
          <a:xfrm>
            <a:off x="256032" y="15819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0" name="숫자배지 2"/>
          <p:cNvSpPr/>
          <p:nvPr/>
        </p:nvSpPr>
        <p:spPr>
          <a:xfrm>
            <a:off x="118871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1" name="숫자배지 5"/>
          <p:cNvSpPr/>
          <p:nvPr/>
        </p:nvSpPr>
        <p:spPr>
          <a:xfrm>
            <a:off x="6345936" y="19933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2" name="숫자배지 3-2"/>
          <p:cNvSpPr/>
          <p:nvPr/>
        </p:nvSpPr>
        <p:spPr>
          <a:xfrm>
            <a:off x="1792224" y="2843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73" name="숫자배지 4"/>
          <p:cNvSpPr/>
          <p:nvPr/>
        </p:nvSpPr>
        <p:spPr>
          <a:xfrm>
            <a:off x="3035807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4" name="alight"/>
          <p:cNvSpPr txBox="1"/>
          <p:nvPr/>
        </p:nvSpPr>
        <p:spPr>
          <a:xfrm>
            <a:off x="512064" y="2450592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하차: 어린이대공원후문</a:t>
            </a:r>
          </a:p>
        </p:txBody>
      </p:sp>
      <p:sp>
        <p:nvSpPr>
          <p:cNvPr id="75" name="alight-btn"/>
          <p:cNvSpPr/>
          <p:nvPr/>
        </p:nvSpPr>
        <p:spPr>
          <a:xfrm>
            <a:off x="868680" y="2834640"/>
            <a:ext cx="86868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868680" y="2894076"/>
            <a:ext cx="868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 정류장</a:t>
            </a:r>
          </a:p>
        </p:txBody>
      </p:sp>
      <p:sp>
        <p:nvSpPr>
          <p:cNvPr id="77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512064" y="448056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78" name="t"/>
          <p:cNvSpPr txBox="1"/>
          <p:nvPr/>
        </p:nvSpPr>
        <p:spPr>
          <a:xfrm>
            <a:off x="868680" y="442569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2413  청담역7번출구</a:t>
            </a:r>
          </a:p>
        </p:txBody>
      </p:sp>
      <p:sp>
        <p:nvSpPr>
          <p:cNvPr id="79" name="t"/>
          <p:cNvSpPr txBox="1"/>
          <p:nvPr/>
        </p:nvSpPr>
        <p:spPr>
          <a:xfrm>
            <a:off x="1856232" y="4443984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09/14 14:48</a:t>
            </a:r>
          </a:p>
        </p:txBody>
      </p:sp>
      <p:sp>
        <p:nvSpPr>
          <p:cNvPr id="80" name="t"/>
          <p:cNvSpPr txBox="1"/>
          <p:nvPr/>
        </p:nvSpPr>
        <p:spPr>
          <a:xfrm>
            <a:off x="512064" y="466344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탑승 확인 필요</a:t>
            </a:r>
          </a:p>
        </p:txBody>
      </p:sp>
      <p:sp>
        <p:nvSpPr>
          <p:cNvPr id="81" name="board-btn"/>
          <p:cNvSpPr/>
          <p:nvPr/>
        </p:nvSpPr>
        <p:spPr>
          <a:xfrm>
            <a:off x="1883664" y="4882896"/>
            <a:ext cx="93268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82" name="t"/>
          <p:cNvSpPr txBox="1"/>
          <p:nvPr/>
        </p:nvSpPr>
        <p:spPr>
          <a:xfrm>
            <a:off x="1883664" y="4942332"/>
            <a:ext cx="93268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2D4CC8"/>
                </a:solidFill>
                <a:latin typeface="Pretendard"/>
                <a:ea typeface="Pretendard"/>
              </a:rPr>
              <a:t>탑승 확인</a:t>
            </a:r>
          </a:p>
        </p:txBody>
      </p:sp>
      <p:cxnSp>
        <p:nvCxnSpPr>
          <p:cNvPr id="83" name="ln"/>
          <p:cNvCxnSpPr/>
          <p:nvPr/>
        </p:nvCxnSpPr>
        <p:spPr>
          <a:xfrm>
            <a:off x="301752" y="5266944"/>
            <a:ext cx="2724912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84" name="숫자배지 3-1"/>
          <p:cNvSpPr/>
          <p:nvPr/>
        </p:nvSpPr>
        <p:spPr>
          <a:xfrm>
            <a:off x="530352" y="2843784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85" name="숫자배지 3-4"/>
          <p:cNvSpPr/>
          <p:nvPr/>
        </p:nvSpPr>
        <p:spPr>
          <a:xfrm>
            <a:off x="1481328" y="4882896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3-4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50876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저상버스 예약 내역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596896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진행 중 · 지난 내역 (3/3)</a:t>
            </a:r>
          </a:p>
        </p:txBody>
      </p:sp>
      <p:sp>
        <p:nvSpPr>
          <p:cNvPr id="8" name="목업 스테이지">
            <a:extLst>
              <a:ext uri="{FF2B5EF4-FFF2-40B4-BE49-F238E27FC236}">
                <a16:creationId xmlns:a16="http://schemas.microsoft.com/office/drawing/2014/main" id="{6DF34B6B-79B1-7511-A1E0-39C922E6D826}"/>
              </a:ext>
            </a:extLst>
          </p:cNvPr>
          <p:cNvSpPr/>
          <p:nvPr/>
        </p:nvSpPr>
        <p:spPr>
          <a:xfrm>
            <a:off x="192024" y="952500"/>
            <a:ext cx="8796528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목업 프레임 1">
            <a:extLst>
              <a:ext uri="{FF2B5EF4-FFF2-40B4-BE49-F238E27FC236}">
                <a16:creationId xmlns:a16="http://schemas.microsoft.com/office/drawing/2014/main" id="{A644DC03-81D8-8080-558D-A951405382DA}"/>
              </a:ext>
            </a:extLst>
          </p:cNvPr>
          <p:cNvSpPr/>
          <p:nvPr/>
        </p:nvSpPr>
        <p:spPr>
          <a:xfrm>
            <a:off x="300683" y="1188339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탑바 구분선">
            <a:extLst>
              <a:ext uri="{FF2B5EF4-FFF2-40B4-BE49-F238E27FC236}">
                <a16:creationId xmlns:a16="http://schemas.microsoft.com/office/drawing/2014/main" id="{7DD8C08E-8835-3DAA-95D9-9C218FD760F1}"/>
              </a:ext>
            </a:extLst>
          </p:cNvPr>
          <p:cNvSpPr/>
          <p:nvPr/>
        </p:nvSpPr>
        <p:spPr>
          <a:xfrm>
            <a:off x="310209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cxnSp>
        <p:nvCxnSpPr>
          <p:cNvPr id="11" name="뒤로가기">
            <a:extLst>
              <a:ext uri="{FF2B5EF4-FFF2-40B4-BE49-F238E27FC236}">
                <a16:creationId xmlns:a16="http://schemas.microsoft.com/office/drawing/2014/main" id="{5094532D-2085-D78F-3516-0A9ABE3669E9}"/>
              </a:ext>
            </a:extLst>
          </p:cNvPr>
          <p:cNvCxnSpPr/>
          <p:nvPr/>
        </p:nvCxnSpPr>
        <p:spPr>
          <a:xfrm flipH="1">
            <a:off x="453084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뒤로가기">
            <a:extLst>
              <a:ext uri="{FF2B5EF4-FFF2-40B4-BE49-F238E27FC236}">
                <a16:creationId xmlns:a16="http://schemas.microsoft.com/office/drawing/2014/main" id="{06415444-EA87-5BDF-6B78-7675F41D34F9}"/>
              </a:ext>
            </a:extLst>
          </p:cNvPr>
          <p:cNvCxnSpPr/>
          <p:nvPr/>
        </p:nvCxnSpPr>
        <p:spPr>
          <a:xfrm flipH="1" flipV="1">
            <a:off x="453084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scription 패널">
            <a:extLst>
              <a:ext uri="{FF2B5EF4-FFF2-40B4-BE49-F238E27FC236}">
                <a16:creationId xmlns:a16="http://schemas.microsoft.com/office/drawing/2014/main" id="{28720DC8-04B4-C5E6-6C98-DA161A9DCC1E}"/>
              </a:ext>
            </a:extLst>
          </p:cNvPr>
          <p:cNvSpPr/>
          <p:nvPr/>
        </p:nvSpPr>
        <p:spPr>
          <a:xfrm>
            <a:off x="9105595" y="952500"/>
            <a:ext cx="2891332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4" name="Description 제목">
            <a:extLst>
              <a:ext uri="{FF2B5EF4-FFF2-40B4-BE49-F238E27FC236}">
                <a16:creationId xmlns:a16="http://schemas.microsoft.com/office/drawing/2014/main" id="{8C6F7B3D-8FD7-4DFA-D051-DD48926BA11F}"/>
              </a:ext>
            </a:extLst>
          </p:cNvPr>
          <p:cNvSpPr txBox="1"/>
          <p:nvPr/>
        </p:nvSpPr>
        <p:spPr>
          <a:xfrm>
            <a:off x="9317736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5" name="Description 밑줄">
            <a:extLst>
              <a:ext uri="{FF2B5EF4-FFF2-40B4-BE49-F238E27FC236}">
                <a16:creationId xmlns:a16="http://schemas.microsoft.com/office/drawing/2014/main" id="{53528BE7-76C0-A55A-C9E2-1D9DE5FE9964}"/>
              </a:ext>
            </a:extLst>
          </p:cNvPr>
          <p:cNvSpPr/>
          <p:nvPr/>
        </p:nvSpPr>
        <p:spPr>
          <a:xfrm>
            <a:off x="9317736" y="1352550"/>
            <a:ext cx="25146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6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939674"/>
              </p:ext>
            </p:extLst>
          </p:nvPr>
        </p:nvGraphicFramePr>
        <p:xfrm>
          <a:off x="9279331" y="1447800"/>
          <a:ext cx="2553004" cy="2282493"/>
        </p:xfrm>
        <a:graphic>
          <a:graphicData uri="http://schemas.openxmlformats.org/drawingml/2006/table">
            <a:tbl>
              <a:tblPr/>
              <a:tblGrid>
                <a:gridCol w="4224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8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지난 예약 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종결 상태 · 누를 수 없음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20건씩 스크롤로 이어 받음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9518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취소 확인 팝업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[예약 취소]를 누르면 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[닫기] / [취소하기] — 긍정 버튼을 오른쪽에 둠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56982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기타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자동 만료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30분이 지나면 자동 만료되고 알림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탑바 타이틀">
            <a:extLst>
              <a:ext uri="{FF2B5EF4-FFF2-40B4-BE49-F238E27FC236}">
                <a16:creationId xmlns:a16="http://schemas.microsoft.com/office/drawing/2014/main" id="{EF4614AD-81A4-BC56-39E3-92951C1E0EC9}"/>
              </a:ext>
            </a:extLst>
          </p:cNvPr>
          <p:cNvSpPr txBox="1"/>
          <p:nvPr/>
        </p:nvSpPr>
        <p:spPr>
          <a:xfrm>
            <a:off x="757604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18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512064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19" name="예약 노선·정류장"/>
          <p:cNvSpPr/>
          <p:nvPr/>
        </p:nvSpPr>
        <p:spPr>
          <a:xfrm>
            <a:off x="868680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2413  청담역7번출구</a:t>
            </a:r>
          </a:p>
        </p:txBody>
      </p:sp>
      <p:sp>
        <p:nvSpPr>
          <p:cNvPr id="20" name="예약 일시">
            <a:extLst>
              <a:ext uri="{FF2B5EF4-FFF2-40B4-BE49-F238E27FC236}">
                <a16:creationId xmlns:a16="http://schemas.microsoft.com/office/drawing/2014/main" id="{74D26BF5-D40E-D1C5-AA68-046E55251DB8}"/>
              </a:ext>
            </a:extLst>
          </p:cNvPr>
          <p:cNvSpPr/>
          <p:nvPr/>
        </p:nvSpPr>
        <p:spPr>
          <a:xfrm>
            <a:off x="1856232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14:48</a:t>
            </a:r>
          </a:p>
        </p:txBody>
      </p:sp>
      <p:sp>
        <p:nvSpPr>
          <p:cNvPr id="21" name="예약 상태">
            <a:extLst>
              <a:ext uri="{FF2B5EF4-FFF2-40B4-BE49-F238E27FC236}">
                <a16:creationId xmlns:a16="http://schemas.microsoft.com/office/drawing/2014/main" id="{1FB29054-EAB2-05B0-C577-629B3B54A3CB}"/>
              </a:ext>
            </a:extLst>
          </p:cNvPr>
          <p:cNvSpPr/>
          <p:nvPr/>
        </p:nvSpPr>
        <p:spPr>
          <a:xfrm>
            <a:off x="512064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 신청 완료</a:t>
            </a:r>
          </a:p>
        </p:txBody>
      </p:sp>
      <p:sp>
        <p:nvSpPr>
          <p:cNvPr id="22" name="상태 안내"/>
          <p:cNvSpPr/>
          <p:nvPr/>
        </p:nvSpPr>
        <p:spPr>
          <a:xfrm>
            <a:off x="512064" y="2633472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정류장에서 기다려 주세요.</a:t>
            </a:r>
          </a:p>
        </p:txBody>
      </p:sp>
      <p:sp>
        <p:nvSpPr>
          <p:cNvPr id="23" name="행 버튼"/>
          <p:cNvSpPr/>
          <p:nvPr/>
        </p:nvSpPr>
        <p:spPr>
          <a:xfrm>
            <a:off x="1920240" y="2834640"/>
            <a:ext cx="86868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행 버튼 라벨"/>
          <p:cNvSpPr txBox="1"/>
          <p:nvPr/>
        </p:nvSpPr>
        <p:spPr>
          <a:xfrm>
            <a:off x="1920240" y="2834640"/>
            <a:ext cx="86868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예약 취소</a:t>
            </a:r>
          </a:p>
        </p:txBody>
      </p:sp>
      <p:cxnSp>
        <p:nvCxnSpPr>
          <p:cNvPr id="25" name="리스트 구분선">
            <a:extLst>
              <a:ext uri="{FF2B5EF4-FFF2-40B4-BE49-F238E27FC236}">
                <a16:creationId xmlns:a16="http://schemas.microsoft.com/office/drawing/2014/main" id="{C98261D3-A9A4-C98A-179C-F02FF8D04B7C}"/>
              </a:ext>
            </a:extLst>
          </p:cNvPr>
          <p:cNvCxnSpPr/>
          <p:nvPr/>
        </p:nvCxnSpPr>
        <p:spPr>
          <a:xfrm>
            <a:off x="301752" y="3182112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노선 유형배지"/>
          <p:cNvSpPr/>
          <p:nvPr/>
        </p:nvSpPr>
        <p:spPr>
          <a:xfrm>
            <a:off x="512064" y="3346704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27" name="예약 노선·정류장"/>
          <p:cNvSpPr/>
          <p:nvPr/>
        </p:nvSpPr>
        <p:spPr>
          <a:xfrm>
            <a:off x="868680" y="3291840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28" name="예약 일시"/>
          <p:cNvSpPr/>
          <p:nvPr/>
        </p:nvSpPr>
        <p:spPr>
          <a:xfrm>
            <a:off x="1856232" y="3310128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09/14 13:02</a:t>
            </a:r>
          </a:p>
        </p:txBody>
      </p:sp>
      <p:sp>
        <p:nvSpPr>
          <p:cNvPr id="29" name="예약 상태"/>
          <p:cNvSpPr/>
          <p:nvPr/>
        </p:nvSpPr>
        <p:spPr>
          <a:xfrm>
            <a:off x="512064" y="3529584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예약되지 않음</a:t>
            </a:r>
          </a:p>
        </p:txBody>
      </p:sp>
      <p:sp>
        <p:nvSpPr>
          <p:cNvPr id="30" name="상태 안내"/>
          <p:cNvSpPr/>
          <p:nvPr/>
        </p:nvSpPr>
        <p:spPr>
          <a:xfrm>
            <a:off x="512064" y="3712464"/>
            <a:ext cx="210312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예약이 되지 않았습니다. 다시 시도해 주세요.</a:t>
            </a:r>
          </a:p>
        </p:txBody>
      </p:sp>
      <p:sp>
        <p:nvSpPr>
          <p:cNvPr id="31" name="행 버튼"/>
          <p:cNvSpPr/>
          <p:nvPr/>
        </p:nvSpPr>
        <p:spPr>
          <a:xfrm>
            <a:off x="1810512" y="3950208"/>
            <a:ext cx="1005840" cy="256032"/>
          </a:xfrm>
          <a:prstGeom prst="roundRect">
            <a:avLst>
              <a:gd name="adj" fmla="val 22321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행 버튼 라벨"/>
          <p:cNvSpPr txBox="1"/>
          <p:nvPr/>
        </p:nvSpPr>
        <p:spPr>
          <a:xfrm>
            <a:off x="1810512" y="3950208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다시 예약하기</a:t>
            </a:r>
          </a:p>
        </p:txBody>
      </p:sp>
      <p:cxnSp>
        <p:nvCxnSpPr>
          <p:cNvPr id="33" name="리스트 구분선"/>
          <p:cNvCxnSpPr/>
          <p:nvPr/>
        </p:nvCxnSpPr>
        <p:spPr>
          <a:xfrm>
            <a:off x="301752" y="4297680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팝업 캡션"/>
          <p:cNvSpPr/>
          <p:nvPr/>
        </p:nvSpPr>
        <p:spPr>
          <a:xfrm>
            <a:off x="6135624" y="1883664"/>
            <a:ext cx="2267712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5 — [예약 취소] 선택 시</a:t>
            </a:r>
          </a:p>
        </p:txBody>
      </p:sp>
      <p:sp>
        <p:nvSpPr>
          <p:cNvPr id="35" name="팝업 (예약 취소)"/>
          <p:cNvSpPr/>
          <p:nvPr/>
        </p:nvSpPr>
        <p:spPr>
          <a:xfrm>
            <a:off x="6135624" y="2103120"/>
            <a:ext cx="2322576" cy="1444752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6" name="팝업 문구"/>
          <p:cNvSpPr txBox="1"/>
          <p:nvPr/>
        </p:nvSpPr>
        <p:spPr>
          <a:xfrm>
            <a:off x="6327648" y="2258568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 취소</a:t>
            </a:r>
          </a:p>
        </p:txBody>
      </p:sp>
      <p:sp>
        <p:nvSpPr>
          <p:cNvPr id="37" name="팝업 문구"/>
          <p:cNvSpPr txBox="1"/>
          <p:nvPr/>
        </p:nvSpPr>
        <p:spPr>
          <a:xfrm>
            <a:off x="6327648" y="256032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예약을 취소하시겠습니까?</a:t>
            </a:r>
          </a:p>
        </p:txBody>
      </p:sp>
      <p:sp>
        <p:nvSpPr>
          <p:cNvPr id="38" name="팝업 문구"/>
          <p:cNvSpPr txBox="1"/>
          <p:nvPr/>
        </p:nvSpPr>
        <p:spPr>
          <a:xfrm>
            <a:off x="6327648" y="2743200"/>
            <a:ext cx="19476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lang="ko-KR" altLang="en-US" sz="862" b="1" spc="-16" dirty="0" err="1">
                <a:solidFill>
                  <a:srgbClr val="14181F"/>
                </a:solidFill>
                <a:latin typeface="Pretendard"/>
              </a:rPr>
              <a:t>취소하면 다시 신청해야 합니다.</a:t>
            </a:r>
          </a:p>
        </p:txBody>
      </p:sp>
      <p:sp>
        <p:nvSpPr>
          <p:cNvPr id="39" name="팝업 버튼 닫기"/>
          <p:cNvSpPr/>
          <p:nvPr/>
        </p:nvSpPr>
        <p:spPr>
          <a:xfrm>
            <a:off x="634593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0" name="팝업 버튼 라벨"/>
          <p:cNvSpPr txBox="1"/>
          <p:nvPr/>
        </p:nvSpPr>
        <p:spPr>
          <a:xfrm>
            <a:off x="634593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닫기</a:t>
            </a:r>
          </a:p>
        </p:txBody>
      </p:sp>
      <p:sp>
        <p:nvSpPr>
          <p:cNvPr id="41" name="팝업 버튼 취소하기"/>
          <p:cNvSpPr/>
          <p:nvPr/>
        </p:nvSpPr>
        <p:spPr>
          <a:xfrm>
            <a:off x="7306056" y="3127248"/>
            <a:ext cx="905256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2" name="팝업 버튼 라벨"/>
          <p:cNvSpPr txBox="1"/>
          <p:nvPr/>
        </p:nvSpPr>
        <p:spPr>
          <a:xfrm>
            <a:off x="7306056" y="3127248"/>
            <a:ext cx="905256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2" b="0" spc="-17">
                <a:solidFill>
                  <a:srgbClr val="5B6573"/>
                </a:solidFill>
                <a:latin typeface="Pretendard"/>
              </a:rPr>
              <a:t>취소하기</a:t>
            </a:r>
          </a:p>
        </p:txBody>
      </p:sp>
      <p:sp>
        <p:nvSpPr>
          <p:cNvPr id="43" name="버전 라벨"/>
          <p:cNvSpPr/>
          <p:nvPr/>
        </p:nvSpPr>
        <p:spPr>
          <a:xfrm>
            <a:off x="11256264" y="237744"/>
            <a:ext cx="512064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 lang="ko-KR" altLang="en-US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44" name="필터 칩"/>
          <p:cNvSpPr/>
          <p:nvPr/>
        </p:nvSpPr>
        <p:spPr>
          <a:xfrm>
            <a:off x="512064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5" name="필터 칩 라벨">
            <a:extLst>
              <a:ext uri="{FF2B5EF4-FFF2-40B4-BE49-F238E27FC236}">
                <a16:creationId xmlns:a16="http://schemas.microsoft.com/office/drawing/2014/main" id="{2141A0C9-B4FC-AA53-0606-0BD98DFAE079}"/>
              </a:ext>
            </a:extLst>
          </p:cNvPr>
          <p:cNvSpPr/>
          <p:nvPr/>
        </p:nvSpPr>
        <p:spPr>
          <a:xfrm>
            <a:off x="603504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진행 중</a:t>
            </a:r>
          </a:p>
        </p:txBody>
      </p:sp>
      <p:sp>
        <p:nvSpPr>
          <p:cNvPr id="46" name="필터 칩"/>
          <p:cNvSpPr/>
          <p:nvPr/>
        </p:nvSpPr>
        <p:spPr>
          <a:xfrm>
            <a:off x="1316736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7" name="필터 칩 라벨"/>
          <p:cNvSpPr/>
          <p:nvPr/>
        </p:nvSpPr>
        <p:spPr>
          <a:xfrm>
            <a:off x="1408176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지난 내역</a:t>
            </a:r>
          </a:p>
        </p:txBody>
      </p:sp>
      <p:sp>
        <p:nvSpPr>
          <p:cNvPr id="48" name="목업 프레임 2"/>
          <p:cNvSpPr/>
          <p:nvPr/>
        </p:nvSpPr>
        <p:spPr>
          <a:xfrm>
            <a:off x="3218688" y="1188720"/>
            <a:ext cx="2729071" cy="5148072"/>
          </a:xfrm>
          <a:prstGeom prst="roundRect">
            <a:avLst>
              <a:gd name="adj" fmla="val 6282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9" name="탑바 구분선"/>
          <p:cNvSpPr/>
          <p:nvPr/>
        </p:nvSpPr>
        <p:spPr>
          <a:xfrm>
            <a:off x="3227144" y="1645539"/>
            <a:ext cx="2710021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0" name="탑바 타이틀"/>
          <p:cNvSpPr txBox="1"/>
          <p:nvPr/>
        </p:nvSpPr>
        <p:spPr>
          <a:xfrm>
            <a:off x="3674540" y="1332532"/>
            <a:ext cx="1637183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ko-KR" altLang="en-US" sz="1012" b="1" spc="-20" dirty="0">
                <a:solidFill>
                  <a:srgbClr val="14181F"/>
                </a:solidFill>
                <a:latin typeface="Pretendard"/>
              </a:rPr>
              <a:t>저상버스 예약 내역</a:t>
            </a:r>
            <a:endParaRPr sz="1012" b="1" spc="-20" dirty="0">
              <a:solidFill>
                <a:srgbClr val="14181F"/>
              </a:solidFill>
              <a:latin typeface="Pretendard"/>
            </a:endParaRPr>
          </a:p>
        </p:txBody>
      </p:sp>
      <p:cxnSp>
        <p:nvCxnSpPr>
          <p:cNvPr id="51" name="뒤로가기"/>
          <p:cNvCxnSpPr/>
          <p:nvPr/>
        </p:nvCxnSpPr>
        <p:spPr>
          <a:xfrm flipH="1">
            <a:off x="3370019" y="136969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뒤로가기"/>
          <p:cNvCxnSpPr/>
          <p:nvPr/>
        </p:nvCxnSpPr>
        <p:spPr>
          <a:xfrm flipH="1" flipV="1">
            <a:off x="3370019" y="1416939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노선 유형배지"/>
          <p:cNvSpPr/>
          <p:nvPr/>
        </p:nvSpPr>
        <p:spPr>
          <a:xfrm>
            <a:off x="3428999" y="210312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54" name="예약 노선·정류장"/>
          <p:cNvSpPr/>
          <p:nvPr/>
        </p:nvSpPr>
        <p:spPr>
          <a:xfrm>
            <a:off x="3785616" y="2048256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240  군자동주민센터</a:t>
            </a:r>
          </a:p>
        </p:txBody>
      </p:sp>
      <p:sp>
        <p:nvSpPr>
          <p:cNvPr id="55" name="예약 일시"/>
          <p:cNvSpPr/>
          <p:nvPr/>
        </p:nvSpPr>
        <p:spPr>
          <a:xfrm>
            <a:off x="4773168" y="2066544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09/12 08:20</a:t>
            </a:r>
          </a:p>
        </p:txBody>
      </p:sp>
      <p:sp>
        <p:nvSpPr>
          <p:cNvPr id="56" name="예약 상태"/>
          <p:cNvSpPr/>
          <p:nvPr/>
        </p:nvSpPr>
        <p:spPr>
          <a:xfrm>
            <a:off x="3428999" y="2286000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탑승 완료</a:t>
            </a:r>
          </a:p>
        </p:txBody>
      </p:sp>
      <p:cxnSp>
        <p:nvCxnSpPr>
          <p:cNvPr id="57" name="리스트 구분선"/>
          <p:cNvCxnSpPr/>
          <p:nvPr/>
        </p:nvCxnSpPr>
        <p:spPr>
          <a:xfrm>
            <a:off x="3218688" y="2505456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노선 유형배지">
            <a:extLst>
              <a:ext uri="{FF2B5EF4-FFF2-40B4-BE49-F238E27FC236}">
                <a16:creationId xmlns:a16="http://schemas.microsoft.com/office/drawing/2014/main" id="{7EB2218C-FE93-7A9C-C943-A0E53677C9FB}"/>
              </a:ext>
            </a:extLst>
          </p:cNvPr>
          <p:cNvSpPr/>
          <p:nvPr/>
        </p:nvSpPr>
        <p:spPr>
          <a:xfrm>
            <a:off x="3428999" y="2670048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3E9B4F"/>
          </a:solidFill>
          <a:ln w="7143">
            <a:solidFill>
              <a:srgbClr val="3E9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55" b="1">
                <a:solidFill>
                  <a:srgbClr val="FFFFFF"/>
                </a:solidFill>
                <a:latin typeface="Pretendard"/>
              </a:rPr>
              <a:t>지선</a:t>
            </a:r>
          </a:p>
        </p:txBody>
      </p:sp>
      <p:sp>
        <p:nvSpPr>
          <p:cNvPr id="59" name="예약 노선·정류장"/>
          <p:cNvSpPr/>
          <p:nvPr/>
        </p:nvSpPr>
        <p:spPr>
          <a:xfrm>
            <a:off x="3785616" y="2615184"/>
            <a:ext cx="155448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976" b="0">
                <a:solidFill>
                  <a:srgbClr val="14181F"/>
                </a:solidFill>
                <a:latin typeface="Pretendard"/>
              </a:rPr>
              <a:t>2012  세종초교앞</a:t>
            </a:r>
          </a:p>
        </p:txBody>
      </p:sp>
      <p:sp>
        <p:nvSpPr>
          <p:cNvPr id="60" name="예약 일시"/>
          <p:cNvSpPr/>
          <p:nvPr/>
        </p:nvSpPr>
        <p:spPr>
          <a:xfrm>
            <a:off x="4773168" y="2633472"/>
            <a:ext cx="960120" cy="2011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r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09/11 19:05</a:t>
            </a:r>
          </a:p>
        </p:txBody>
      </p:sp>
      <p:sp>
        <p:nvSpPr>
          <p:cNvPr id="61" name="예약 상태"/>
          <p:cNvSpPr/>
          <p:nvPr/>
        </p:nvSpPr>
        <p:spPr>
          <a:xfrm>
            <a:off x="3428999" y="2852928"/>
            <a:ext cx="14630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13" b="0">
                <a:solidFill>
                  <a:srgbClr val="5B6573"/>
                </a:solidFill>
                <a:latin typeface="Pretendard"/>
              </a:rPr>
              <a:t>미탑승</a:t>
            </a:r>
          </a:p>
        </p:txBody>
      </p:sp>
      <p:cxnSp>
        <p:nvCxnSpPr>
          <p:cNvPr id="62" name="리스트 구분선"/>
          <p:cNvCxnSpPr/>
          <p:nvPr/>
        </p:nvCxnSpPr>
        <p:spPr>
          <a:xfrm>
            <a:off x="3218688" y="3072384"/>
            <a:ext cx="2724912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필터 칩"/>
          <p:cNvSpPr/>
          <p:nvPr/>
        </p:nvSpPr>
        <p:spPr>
          <a:xfrm>
            <a:off x="3428999" y="1773936"/>
            <a:ext cx="749808" cy="219456"/>
          </a:xfrm>
          <a:prstGeom prst="roundRect">
            <a:avLst>
              <a:gd name="adj" fmla="val 29619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4" name="필터 칩 라벨"/>
          <p:cNvSpPr/>
          <p:nvPr/>
        </p:nvSpPr>
        <p:spPr>
          <a:xfrm>
            <a:off x="3520440" y="1810512"/>
            <a:ext cx="603503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5B6573"/>
                </a:solidFill>
                <a:latin typeface="Pretendard"/>
              </a:rPr>
              <a:t>진행 중</a:t>
            </a:r>
          </a:p>
        </p:txBody>
      </p:sp>
      <p:sp>
        <p:nvSpPr>
          <p:cNvPr id="65" name="필터 칩"/>
          <p:cNvSpPr/>
          <p:nvPr/>
        </p:nvSpPr>
        <p:spPr>
          <a:xfrm>
            <a:off x="4233672" y="1773936"/>
            <a:ext cx="841248" cy="219456"/>
          </a:xfrm>
          <a:prstGeom prst="roundRect">
            <a:avLst>
              <a:gd name="adj" fmla="val 29619"/>
            </a:avLst>
          </a:prstGeom>
          <a:solidFill>
            <a:srgbClr val="F2F4F7"/>
          </a:solidFill>
          <a:ln w="9525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66" name="필터 칩 라벨"/>
          <p:cNvSpPr/>
          <p:nvPr/>
        </p:nvSpPr>
        <p:spPr>
          <a:xfrm>
            <a:off x="4325112" y="1810512"/>
            <a:ext cx="694944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>
                <a:solidFill>
                  <a:srgbClr val="2D4CC8"/>
                </a:solidFill>
                <a:latin typeface="Pretendard"/>
              </a:rPr>
              <a:t>✓ 지난 내역</a:t>
            </a:r>
          </a:p>
        </p:txBody>
      </p:sp>
      <p:sp>
        <p:nvSpPr>
          <p:cNvPr id="67" name="숫자배지 3">
            <a:extLst>
              <a:ext uri="{FF2B5EF4-FFF2-40B4-BE49-F238E27FC236}">
                <a16:creationId xmlns:a16="http://schemas.microsoft.com/office/drawing/2014/main" id="{139C1B46-38B1-F4BC-FBB6-69175AA6533A}"/>
              </a:ext>
            </a:extLst>
          </p:cNvPr>
          <p:cNvSpPr/>
          <p:nvPr/>
        </p:nvSpPr>
        <p:spPr>
          <a:xfrm>
            <a:off x="118871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68" name="숫자배지 3-3">
            <a:extLst>
              <a:ext uri="{FF2B5EF4-FFF2-40B4-BE49-F238E27FC236}">
                <a16:creationId xmlns:a16="http://schemas.microsoft.com/office/drawing/2014/main" id="{B6112D89-2D5D-75E9-AA66-D7A727EA9CB4}"/>
              </a:ext>
            </a:extLst>
          </p:cNvPr>
          <p:cNvSpPr/>
          <p:nvPr/>
        </p:nvSpPr>
        <p:spPr>
          <a:xfrm>
            <a:off x="118871" y="331012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3-3</a:t>
            </a:r>
          </a:p>
        </p:txBody>
      </p:sp>
      <p:sp>
        <p:nvSpPr>
          <p:cNvPr id="69" name="숫자배지 1"/>
          <p:cNvSpPr/>
          <p:nvPr/>
        </p:nvSpPr>
        <p:spPr>
          <a:xfrm>
            <a:off x="256032" y="158191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70" name="숫자배지 2"/>
          <p:cNvSpPr/>
          <p:nvPr/>
        </p:nvSpPr>
        <p:spPr>
          <a:xfrm>
            <a:off x="118871" y="179222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71" name="숫자배지 5"/>
          <p:cNvSpPr/>
          <p:nvPr/>
        </p:nvSpPr>
        <p:spPr>
          <a:xfrm>
            <a:off x="6345936" y="1993392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sp>
        <p:nvSpPr>
          <p:cNvPr id="72" name="숫자배지 3-2"/>
          <p:cNvSpPr/>
          <p:nvPr/>
        </p:nvSpPr>
        <p:spPr>
          <a:xfrm>
            <a:off x="1792224" y="2843784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3-2</a:t>
            </a:r>
          </a:p>
        </p:txBody>
      </p:sp>
      <p:sp>
        <p:nvSpPr>
          <p:cNvPr id="73" name="숫자배지 4"/>
          <p:cNvSpPr/>
          <p:nvPr/>
        </p:nvSpPr>
        <p:spPr>
          <a:xfrm>
            <a:off x="3035807" y="2066544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74" name="alight"/>
          <p:cNvSpPr txBox="1"/>
          <p:nvPr/>
        </p:nvSpPr>
        <p:spPr>
          <a:xfrm>
            <a:off x="512064" y="2450592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하차: 어린이대공원후문</a:t>
            </a:r>
          </a:p>
        </p:txBody>
      </p:sp>
      <p:sp>
        <p:nvSpPr>
          <p:cNvPr id="75" name="alight-btn"/>
          <p:cNvSpPr/>
          <p:nvPr/>
        </p:nvSpPr>
        <p:spPr>
          <a:xfrm>
            <a:off x="868680" y="2834640"/>
            <a:ext cx="86868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</p:spPr>
        <p:txBody>
          <a:bodyPr/>
          <a:lstStyle/>
          <a:p/>
        </p:txBody>
      </p:sp>
      <p:sp>
        <p:nvSpPr>
          <p:cNvPr id="76" name="t"/>
          <p:cNvSpPr txBox="1"/>
          <p:nvPr/>
        </p:nvSpPr>
        <p:spPr>
          <a:xfrm>
            <a:off x="868680" y="2894076"/>
            <a:ext cx="8686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0" dirty="0">
                <a:solidFill>
                  <a:srgbClr val="3E4652"/>
                </a:solidFill>
                <a:latin typeface="Pretendard"/>
                <a:ea typeface="Pretendard"/>
              </a:rPr>
              <a:t>하차 정류장</a:t>
            </a:r>
          </a:p>
        </p:txBody>
      </p:sp>
      <p:sp>
        <p:nvSpPr>
          <p:cNvPr id="77" name="노선 유형배지">
            <a:extLst>
              <a:ext uri="{FF2B5EF4-FFF2-40B4-BE49-F238E27FC236}">
                <a16:creationId xmlns:a16="http://schemas.microsoft.com/office/drawing/2014/main" id="{CA7A2D6B-E5D2-792A-BB78-A517A8DE1418}"/>
              </a:ext>
            </a:extLst>
          </p:cNvPr>
          <p:cNvSpPr/>
          <p:nvPr/>
        </p:nvSpPr>
        <p:spPr>
          <a:xfrm>
            <a:off x="512064" y="4480560"/>
            <a:ext cx="310896" cy="146304"/>
          </a:xfrm>
          <a:prstGeom prst="roundRect">
            <a:avLst>
              <a:gd name="adj" fmla="val 50000"/>
            </a:avLst>
          </a:prstGeom>
          <a:solidFill>
            <a:srgbClr val="2D4CC8"/>
          </a:solidFill>
          <a:ln w="7143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560" b="1">
                <a:solidFill>
                  <a:srgbClr val="FFFFFF"/>
                </a:solidFill>
                <a:latin typeface="Pretendard"/>
              </a:rPr>
              <a:t>간선</a:t>
            </a:r>
          </a:p>
        </p:txBody>
      </p:sp>
      <p:sp>
        <p:nvSpPr>
          <p:cNvPr id="78" name="t"/>
          <p:cNvSpPr txBox="1"/>
          <p:nvPr/>
        </p:nvSpPr>
        <p:spPr>
          <a:xfrm>
            <a:off x="868680" y="442569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800" b="1" dirty="0">
                <a:solidFill>
                  <a:srgbClr val="14181F"/>
                </a:solidFill>
                <a:latin typeface="Pretendard"/>
                <a:ea typeface="Pretendard"/>
              </a:rPr>
              <a:t>2413  청담역7번출구</a:t>
            </a:r>
          </a:p>
        </p:txBody>
      </p:sp>
      <p:sp>
        <p:nvSpPr>
          <p:cNvPr id="79" name="t"/>
          <p:cNvSpPr txBox="1"/>
          <p:nvPr/>
        </p:nvSpPr>
        <p:spPr>
          <a:xfrm>
            <a:off x="1856232" y="4443984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09/14 14:48</a:t>
            </a:r>
          </a:p>
        </p:txBody>
      </p:sp>
      <p:sp>
        <p:nvSpPr>
          <p:cNvPr id="80" name="t"/>
          <p:cNvSpPr txBox="1"/>
          <p:nvPr/>
        </p:nvSpPr>
        <p:spPr>
          <a:xfrm>
            <a:off x="512064" y="466344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1" dirty="0">
                <a:solidFill>
                  <a:srgbClr val="E01B24"/>
                </a:solidFill>
                <a:latin typeface="Pretendard"/>
                <a:ea typeface="Pretendard"/>
              </a:rPr>
              <a:t>탑승 확인 필요</a:t>
            </a:r>
          </a:p>
        </p:txBody>
      </p:sp>
      <p:sp>
        <p:nvSpPr>
          <p:cNvPr id="81" name="board-btn"/>
          <p:cNvSpPr/>
          <p:nvPr/>
        </p:nvSpPr>
        <p:spPr>
          <a:xfrm>
            <a:off x="1883664" y="4882896"/>
            <a:ext cx="932688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D4CC8"/>
            </a:solidFill>
          </a:ln>
        </p:spPr>
        <p:txBody>
          <a:bodyPr/>
          <a:lstStyle/>
          <a:p/>
        </p:txBody>
      </p:sp>
      <p:sp>
        <p:nvSpPr>
          <p:cNvPr id="82" name="t"/>
          <p:cNvSpPr txBox="1"/>
          <p:nvPr/>
        </p:nvSpPr>
        <p:spPr>
          <a:xfrm>
            <a:off x="1883664" y="4942332"/>
            <a:ext cx="93268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ko-KR" sz="700" b="1" dirty="0">
                <a:solidFill>
                  <a:srgbClr val="2D4CC8"/>
                </a:solidFill>
                <a:latin typeface="Pretendard"/>
                <a:ea typeface="Pretendard"/>
              </a:rPr>
              <a:t>탑승 확인</a:t>
            </a:r>
          </a:p>
        </p:txBody>
      </p:sp>
      <p:cxnSp>
        <p:nvCxnSpPr>
          <p:cNvPr id="83" name="ln"/>
          <p:cNvCxnSpPr/>
          <p:nvPr/>
        </p:nvCxnSpPr>
        <p:spPr>
          <a:xfrm>
            <a:off x="301752" y="5266944"/>
            <a:ext cx="2724912" cy="0"/>
          </a:xfrm>
          <a:prstGeom prst="line">
            <a:avLst/>
          </a:prstGeom>
          <a:ln w="12700">
            <a:solidFill>
              <a:srgbClr val="E3E7EC"/>
            </a:solidFill>
          </a:ln>
        </p:spPr>
      </p:cxnSp>
      <p:sp>
        <p:nvSpPr>
          <p:cNvPr id="84" name="숫자배지 3-1"/>
          <p:cNvSpPr/>
          <p:nvPr/>
        </p:nvSpPr>
        <p:spPr>
          <a:xfrm>
            <a:off x="530352" y="2843784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3-1</a:t>
            </a:r>
          </a:p>
        </p:txBody>
      </p:sp>
      <p:sp>
        <p:nvSpPr>
          <p:cNvPr id="85" name="숫자배지 3-4"/>
          <p:cNvSpPr/>
          <p:nvPr/>
        </p:nvSpPr>
        <p:spPr>
          <a:xfrm>
            <a:off x="1481328" y="4882896"/>
            <a:ext cx="365760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3-4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3-5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023501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공지사항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703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noticecard"/>
          <p:cNvSpPr/>
          <p:nvPr/>
        </p:nvSpPr>
        <p:spPr>
          <a:xfrm>
            <a:off x="3119018" y="1737360"/>
            <a:ext cx="2428646" cy="1261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C"/>
            </a:solidFill>
          </a:ln>
        </p:spPr>
        <p:txBody>
          <a:bodyPr/>
          <a:lstStyle/>
          <a:p/>
        </p:txBody>
      </p:sp>
      <p:sp>
        <p:nvSpPr>
          <p:cNvPr id="12" name="항목"/>
          <p:cNvSpPr txBox="1"/>
          <p:nvPr/>
        </p:nvSpPr>
        <p:spPr>
          <a:xfrm>
            <a:off x="3228746" y="1801368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13" name="값"/>
          <p:cNvSpPr txBox="1"/>
          <p:nvPr/>
        </p:nvSpPr>
        <p:spPr>
          <a:xfrm>
            <a:off x="3228746" y="1975104"/>
            <a:ext cx="1737360" cy="137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spc="-16">
                <a:solidFill>
                  <a:srgbClr val="5B6573"/>
                </a:solidFill>
                <a:latin typeface="Pretendard"/>
              </a:rPr>
              <a:t>2026년 1월 3일</a:t>
            </a:r>
          </a:p>
        </p:txBody>
      </p:sp>
      <p:sp>
        <p:nvSpPr>
          <p:cNvPr id="14" name="항목"/>
          <p:cNvSpPr txBox="1"/>
          <p:nvPr/>
        </p:nvSpPr>
        <p:spPr>
          <a:xfrm>
            <a:off x="3228746" y="2212848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15" name="값"/>
          <p:cNvSpPr txBox="1"/>
          <p:nvPr/>
        </p:nvSpPr>
        <p:spPr>
          <a:xfrm>
            <a:off x="3228746" y="2386584"/>
            <a:ext cx="1737360" cy="137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spc="-16">
                <a:solidFill>
                  <a:srgbClr val="5B6573"/>
                </a:solidFill>
                <a:latin typeface="Pretendard"/>
              </a:rPr>
              <a:t>2025년 12월 28일</a:t>
            </a:r>
          </a:p>
        </p:txBody>
      </p:sp>
      <p:sp>
        <p:nvSpPr>
          <p:cNvPr id="16" name="항목"/>
          <p:cNvSpPr txBox="1"/>
          <p:nvPr/>
        </p:nvSpPr>
        <p:spPr>
          <a:xfrm>
            <a:off x="3228746" y="2624328"/>
            <a:ext cx="173736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25" b="0" spc="-16">
                <a:solidFill>
                  <a:srgbClr val="5B6573"/>
                </a:solidFill>
                <a:latin typeface="Pretendard"/>
              </a:rPr>
              <a:t>공지 제목 표시</a:t>
            </a:r>
          </a:p>
        </p:txBody>
      </p:sp>
      <p:sp>
        <p:nvSpPr>
          <p:cNvPr id="17" name="값"/>
          <p:cNvSpPr txBox="1"/>
          <p:nvPr/>
        </p:nvSpPr>
        <p:spPr>
          <a:xfrm>
            <a:off x="3228746" y="2798064"/>
            <a:ext cx="1737360" cy="137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spc="-16">
                <a:solidFill>
                  <a:srgbClr val="5B6573"/>
                </a:solidFill>
                <a:latin typeface="Pretendard"/>
              </a:rPr>
              <a:t>2025년 12월 11일</a:t>
            </a:r>
          </a:p>
        </p:txBody>
      </p:sp>
      <p:sp>
        <p:nvSpPr>
          <p:cNvPr id="18" name="탑바 구분선"/>
          <p:cNvSpPr/>
          <p:nvPr/>
        </p:nvSpPr>
        <p:spPr>
          <a:xfrm>
            <a:off x="2976563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탑바 타이틀"/>
          <p:cNvSpPr txBox="1"/>
          <p:nvPr/>
        </p:nvSpPr>
        <p:spPr>
          <a:xfrm>
            <a:off x="3386138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20" name="뒤로가기"/>
          <p:cNvCxnSpPr/>
          <p:nvPr/>
        </p:nvCxnSpPr>
        <p:spPr>
          <a:xfrm flipH="1">
            <a:off x="3119438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뒤로가기"/>
          <p:cNvCxnSpPr/>
          <p:nvPr/>
        </p:nvCxnSpPr>
        <p:spPr>
          <a:xfrm flipH="1" flipV="1">
            <a:off x="3119438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2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2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152779"/>
              </p:ext>
            </p:extLst>
          </p:nvPr>
        </p:nvGraphicFramePr>
        <p:xfrm>
          <a:off x="8629192" y="1447800"/>
          <a:ext cx="2972409" cy="1524863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486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공지 항목 — 한 항목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리스트 전체가 카드 1개 · 행 사이는 구분선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 「공지 제목」 ＋ 우측 [&gt;] · 아래 「게시 일자」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일자는 「YYYY년 M월 D일」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최신순 정렬 — 게시 일자 내림차순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항목 선택 → 3-5-1 공지 상세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27" name="t"/>
          <p:cNvSpPr txBox="1"/>
          <p:nvPr/>
        </p:nvSpPr>
        <p:spPr>
          <a:xfrm>
            <a:off x="5291633" y="179222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sp>
        <p:nvSpPr>
          <p:cNvPr id="28" name="t"/>
          <p:cNvSpPr txBox="1"/>
          <p:nvPr/>
        </p:nvSpPr>
        <p:spPr>
          <a:xfrm>
            <a:off x="5291633" y="220370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29" name="ln"/>
          <p:cNvCxnSpPr/>
          <p:nvPr/>
        </p:nvCxnSpPr>
        <p:spPr>
          <a:xfrm>
            <a:off x="3210458" y="214884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0" name="t"/>
          <p:cNvSpPr txBox="1"/>
          <p:nvPr/>
        </p:nvSpPr>
        <p:spPr>
          <a:xfrm>
            <a:off x="5291633" y="2615184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ko-KR" sz="800" b="0" dirty="0">
                <a:solidFill>
                  <a:srgbClr val="9AA4B0"/>
                </a:solidFill>
                <a:latin typeface="Pretendard"/>
                <a:ea typeface="Pretendard"/>
              </a:rPr>
              <a:t>›</a:t>
            </a:r>
          </a:p>
        </p:txBody>
      </p:sp>
      <p:cxnSp>
        <p:nvCxnSpPr>
          <p:cNvPr id="31" name="ln"/>
          <p:cNvCxnSpPr/>
          <p:nvPr/>
        </p:nvCxnSpPr>
        <p:spPr>
          <a:xfrm>
            <a:off x="3210458" y="2560320"/>
            <a:ext cx="2245766" cy="0"/>
          </a:xfrm>
          <a:prstGeom prst="line">
            <a:avLst/>
          </a:prstGeom>
          <a:ln w="12700">
            <a:solidFill>
              <a:srgbClr val="F0F2F5"/>
            </a:solidFill>
          </a:ln>
        </p:spPr>
      </p:cxnSp>
      <p:sp>
        <p:nvSpPr>
          <p:cNvPr id="32" name="숫자배지 2"/>
          <p:cNvSpPr/>
          <p:nvPr/>
        </p:nvSpPr>
        <p:spPr>
          <a:xfrm>
            <a:off x="4948847" y="132110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3" name="숫자배지 2-1"/>
          <p:cNvSpPr/>
          <p:nvPr/>
        </p:nvSpPr>
        <p:spPr>
          <a:xfrm>
            <a:off x="2752726" y="1755267"/>
            <a:ext cx="314325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1-1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515493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3-5-1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1064132" y="228600"/>
            <a:ext cx="888248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공지 상세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116973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공지 본문 · 삭제된 공지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8988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목업 프레임"/>
          <p:cNvSpPr/>
          <p:nvPr/>
        </p:nvSpPr>
        <p:spPr>
          <a:xfrm>
            <a:off x="4544568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3774489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상단 제목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문자열은 「공지사항」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[&lt;] → 3-5 공지사항 목록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92465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본문 영역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2-1  공지 제목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전문 표출 · 말줄임 없음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2-2  게시 일자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「2026년 1월 3일」</a:t>
                      </a: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900"/>
                        </a:spcBef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2-3  본문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공지 본문 내용 표출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103311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3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삭제된 공지에 진입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본문을 비우고 팝업으로 고지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[확인] → 목록 복귀 ＋ 재조회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스크롤 유지 · 팝업 밖 닫힘 없음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7" name="탑바 구분선"/>
          <p:cNvSpPr/>
          <p:nvPr/>
        </p:nvSpPr>
        <p:spPr>
          <a:xfrm>
            <a:off x="1399032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8" name="탑바 타이틀"/>
          <p:cNvSpPr txBox="1"/>
          <p:nvPr/>
        </p:nvSpPr>
        <p:spPr>
          <a:xfrm>
            <a:off x="1810512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19" name="뒤로가기"/>
          <p:cNvCxnSpPr/>
          <p:nvPr/>
        </p:nvCxnSpPr>
        <p:spPr>
          <a:xfrm flipH="1">
            <a:off x="1545336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뒤로가기"/>
          <p:cNvCxnSpPr/>
          <p:nvPr/>
        </p:nvCxnSpPr>
        <p:spPr>
          <a:xfrm flipH="1" flipV="1">
            <a:off x="1545336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탑바 구분선"/>
          <p:cNvSpPr/>
          <p:nvPr/>
        </p:nvSpPr>
        <p:spPr>
          <a:xfrm>
            <a:off x="4553712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2" name="탑바 타이틀"/>
          <p:cNvSpPr txBox="1"/>
          <p:nvPr/>
        </p:nvSpPr>
        <p:spPr>
          <a:xfrm>
            <a:off x="4965192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공지사항</a:t>
            </a:r>
          </a:p>
        </p:txBody>
      </p:sp>
      <p:cxnSp>
        <p:nvCxnSpPr>
          <p:cNvPr id="23" name="뒤로가기"/>
          <p:cNvCxnSpPr/>
          <p:nvPr/>
        </p:nvCxnSpPr>
        <p:spPr>
          <a:xfrm flipH="1">
            <a:off x="4700016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뒤로가기"/>
          <p:cNvCxnSpPr/>
          <p:nvPr/>
        </p:nvCxnSpPr>
        <p:spPr>
          <a:xfrm flipH="1" flipV="1">
            <a:off x="4700016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공지 제목"/>
          <p:cNvSpPr txBox="1"/>
          <p:nvPr/>
        </p:nvSpPr>
        <p:spPr>
          <a:xfrm>
            <a:off x="1545336" y="1783080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서비스 점검 안내</a:t>
            </a:r>
          </a:p>
        </p:txBody>
      </p:sp>
      <p:sp>
        <p:nvSpPr>
          <p:cNvPr id="26" name="게시 일자"/>
          <p:cNvSpPr txBox="1"/>
          <p:nvPr/>
        </p:nvSpPr>
        <p:spPr>
          <a:xfrm>
            <a:off x="1545336" y="2103120"/>
            <a:ext cx="1993392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2026년 1월 3일</a:t>
            </a:r>
          </a:p>
        </p:txBody>
      </p:sp>
      <p:sp>
        <p:nvSpPr>
          <p:cNvPr id="27" name="본문 줄"/>
          <p:cNvSpPr txBox="1"/>
          <p:nvPr/>
        </p:nvSpPr>
        <p:spPr>
          <a:xfrm>
            <a:off x="1545336" y="246888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아래 일정으로 서버 점검을 진행합니다.</a:t>
            </a:r>
          </a:p>
        </p:txBody>
      </p:sp>
      <p:sp>
        <p:nvSpPr>
          <p:cNvPr id="28" name="본문 줄"/>
          <p:cNvSpPr txBox="1"/>
          <p:nvPr/>
        </p:nvSpPr>
        <p:spPr>
          <a:xfrm>
            <a:off x="1545336" y="267004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· 일시  2026년 1월 10일 02:00 ~ 05:00</a:t>
            </a:r>
          </a:p>
        </p:txBody>
      </p:sp>
      <p:sp>
        <p:nvSpPr>
          <p:cNvPr id="29" name="본문 줄"/>
          <p:cNvSpPr txBox="1"/>
          <p:nvPr/>
        </p:nvSpPr>
        <p:spPr>
          <a:xfrm>
            <a:off x="1545336" y="287121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· 대상  길안내 · 저상버스 예약</a:t>
            </a:r>
          </a:p>
        </p:txBody>
      </p:sp>
      <p:sp>
        <p:nvSpPr>
          <p:cNvPr id="30" name="본문 줄"/>
          <p:cNvSpPr txBox="1"/>
          <p:nvPr/>
        </p:nvSpPr>
        <p:spPr>
          <a:xfrm>
            <a:off x="1545336" y="327355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점검 중 이용 제한</a:t>
            </a:r>
          </a:p>
        </p:txBody>
      </p:sp>
      <p:sp>
        <p:nvSpPr>
          <p:cNvPr id="31" name="본문 줄"/>
          <p:cNvSpPr txBox="1"/>
          <p:nvPr/>
        </p:nvSpPr>
        <p:spPr>
          <a:xfrm>
            <a:off x="1545336" y="3474720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점검 시간에는 경로 탐색과 예약 신청이</a:t>
            </a:r>
          </a:p>
        </p:txBody>
      </p:sp>
      <p:sp>
        <p:nvSpPr>
          <p:cNvPr id="32" name="본문 줄"/>
          <p:cNvSpPr txBox="1"/>
          <p:nvPr/>
        </p:nvSpPr>
        <p:spPr>
          <a:xfrm>
            <a:off x="1545336" y="367588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일시적으로 중단됩니다.</a:t>
            </a:r>
          </a:p>
        </p:txBody>
      </p:sp>
      <p:sp>
        <p:nvSpPr>
          <p:cNvPr id="33" name="팝업">
            <a:extLst>
              <a:ext uri="{FF2B5EF4-FFF2-40B4-BE49-F238E27FC236}">
                <a16:creationId xmlns:a16="http://schemas.microsoft.com/office/drawing/2014/main" id="{4C1CA672-BB77-A5BF-6033-11CAD043BFEE}"/>
              </a:ext>
            </a:extLst>
          </p:cNvPr>
          <p:cNvSpPr/>
          <p:nvPr/>
        </p:nvSpPr>
        <p:spPr>
          <a:xfrm>
            <a:off x="4745736" y="2834640"/>
            <a:ext cx="2322576" cy="1188720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>
            <a:outerShdw blurRad="279400" dist="76200" dir="5400000" rotWithShape="0">
              <a:srgbClr val="1A23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4" name="팝업 문구">
            <a:extLst>
              <a:ext uri="{FF2B5EF4-FFF2-40B4-BE49-F238E27FC236}">
                <a16:creationId xmlns:a16="http://schemas.microsoft.com/office/drawing/2014/main" id="{F29CC1AF-908F-6875-6BF9-019717BCA90E}"/>
              </a:ext>
            </a:extLst>
          </p:cNvPr>
          <p:cNvSpPr txBox="1"/>
          <p:nvPr/>
        </p:nvSpPr>
        <p:spPr>
          <a:xfrm>
            <a:off x="4937759" y="3072384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spc="-16" err="1">
                <a:solidFill>
                  <a:srgbClr val="3E4652"/>
                </a:solidFill>
                <a:latin typeface="Pretendard"/>
              </a:rPr>
              <a:t>삭제된 공지입니다.</a:t>
            </a:r>
          </a:p>
        </p:txBody>
      </p:sp>
      <p:sp>
        <p:nvSpPr>
          <p:cNvPr id="35" name="팝업 문구"/>
          <p:cNvSpPr txBox="1"/>
          <p:nvPr/>
        </p:nvSpPr>
        <p:spPr>
          <a:xfrm>
            <a:off x="4937759" y="3273552"/>
            <a:ext cx="1938528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825" b="0" spc="-16" err="1">
                <a:solidFill>
                  <a:srgbClr val="3E4652"/>
                </a:solidFill>
                <a:latin typeface="Pretendard"/>
              </a:rPr>
              <a:t>목록으로 돌아갑니다.</a:t>
            </a:r>
          </a:p>
        </p:txBody>
      </p:sp>
      <p:sp>
        <p:nvSpPr>
          <p:cNvPr id="36" name="팝업 버튼">
            <a:extLst>
              <a:ext uri="{FF2B5EF4-FFF2-40B4-BE49-F238E27FC236}">
                <a16:creationId xmlns:a16="http://schemas.microsoft.com/office/drawing/2014/main" id="{D997B88C-AE3D-228E-10B1-62384710776A}"/>
              </a:ext>
            </a:extLst>
          </p:cNvPr>
          <p:cNvSpPr/>
          <p:nvPr/>
        </p:nvSpPr>
        <p:spPr>
          <a:xfrm>
            <a:off x="4937759" y="3547872"/>
            <a:ext cx="1938528" cy="320040"/>
          </a:xfrm>
          <a:prstGeom prst="roundRect">
            <a:avLst>
              <a:gd name="adj" fmla="val 3254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팝업 버튼 라벨">
            <a:extLst>
              <a:ext uri="{FF2B5EF4-FFF2-40B4-BE49-F238E27FC236}">
                <a16:creationId xmlns:a16="http://schemas.microsoft.com/office/drawing/2014/main" id="{6EBEFCEB-FF2D-1AFE-3992-35B15DFFFA21}"/>
              </a:ext>
            </a:extLst>
          </p:cNvPr>
          <p:cNvSpPr txBox="1"/>
          <p:nvPr/>
        </p:nvSpPr>
        <p:spPr>
          <a:xfrm>
            <a:off x="4937759" y="3547872"/>
            <a:ext cx="1938528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1" b="1" spc="-17">
                <a:solidFill>
                  <a:srgbClr val="14181F"/>
                </a:solidFill>
                <a:latin typeface="Pretendard"/>
              </a:rPr>
              <a:t>확인</a:t>
            </a:r>
          </a:p>
        </p:txBody>
      </p:sp>
      <p:sp>
        <p:nvSpPr>
          <p:cNvPr id="38" name="숫자배지 1"/>
          <p:cNvSpPr/>
          <p:nvPr/>
        </p:nvSpPr>
        <p:spPr>
          <a:xfrm>
            <a:off x="1161288" y="131673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2-1"/>
          <p:cNvSpPr/>
          <p:nvPr/>
        </p:nvSpPr>
        <p:spPr>
          <a:xfrm>
            <a:off x="3602736" y="1819656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2-1</a:t>
            </a:r>
          </a:p>
        </p:txBody>
      </p:sp>
      <p:sp>
        <p:nvSpPr>
          <p:cNvPr id="40" name="숫자배지 2-2"/>
          <p:cNvSpPr/>
          <p:nvPr/>
        </p:nvSpPr>
        <p:spPr>
          <a:xfrm>
            <a:off x="3602736" y="2084831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2-2</a:t>
            </a:r>
          </a:p>
        </p:txBody>
      </p:sp>
      <p:sp>
        <p:nvSpPr>
          <p:cNvPr id="41" name="숫자배지 2-3"/>
          <p:cNvSpPr/>
          <p:nvPr/>
        </p:nvSpPr>
        <p:spPr>
          <a:xfrm>
            <a:off x="3602736" y="2487168"/>
            <a:ext cx="310896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2-3</a:t>
            </a:r>
          </a:p>
        </p:txBody>
      </p:sp>
      <p:sp>
        <p:nvSpPr>
          <p:cNvPr id="42" name="숫자배지 3"/>
          <p:cNvSpPr/>
          <p:nvPr/>
        </p:nvSpPr>
        <p:spPr>
          <a:xfrm>
            <a:off x="7104888" y="305409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3-6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420000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약관 리스트 · 약관 전문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1390650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리스트 행"/>
          <p:cNvSpPr/>
          <p:nvPr/>
        </p:nvSpPr>
        <p:spPr>
          <a:xfrm>
            <a:off x="1543050" y="176212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행 제목"/>
          <p:cNvSpPr txBox="1"/>
          <p:nvPr/>
        </p:nvSpPr>
        <p:spPr>
          <a:xfrm>
            <a:off x="1676095" y="1807769"/>
            <a:ext cx="192024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13" name="더보기"/>
          <p:cNvCxnSpPr/>
          <p:nvPr/>
        </p:nvCxnSpPr>
        <p:spPr>
          <a:xfrm>
            <a:off x="3810000" y="194576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더보기"/>
          <p:cNvCxnSpPr/>
          <p:nvPr/>
        </p:nvCxnSpPr>
        <p:spPr>
          <a:xfrm flipV="1">
            <a:off x="3810000" y="198120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리스트 행"/>
          <p:cNvSpPr/>
          <p:nvPr/>
        </p:nvSpPr>
        <p:spPr>
          <a:xfrm>
            <a:off x="1543050" y="2286000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6" name="행 제목"/>
          <p:cNvSpPr txBox="1"/>
          <p:nvPr/>
        </p:nvSpPr>
        <p:spPr>
          <a:xfrm>
            <a:off x="1676095" y="2331720"/>
            <a:ext cx="192024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위치기반 서비스 이용약관</a:t>
            </a:r>
          </a:p>
        </p:txBody>
      </p:sp>
      <p:cxnSp>
        <p:nvCxnSpPr>
          <p:cNvPr id="17" name="더보기"/>
          <p:cNvCxnSpPr/>
          <p:nvPr/>
        </p:nvCxnSpPr>
        <p:spPr>
          <a:xfrm>
            <a:off x="3810000" y="2469642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더보기"/>
          <p:cNvCxnSpPr/>
          <p:nvPr/>
        </p:nvCxnSpPr>
        <p:spPr>
          <a:xfrm flipV="1">
            <a:off x="3810000" y="2505075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리스트 행"/>
          <p:cNvSpPr/>
          <p:nvPr/>
        </p:nvSpPr>
        <p:spPr>
          <a:xfrm>
            <a:off x="1543050" y="2809875"/>
            <a:ext cx="2428875" cy="438150"/>
          </a:xfrm>
          <a:prstGeom prst="roundRect">
            <a:avLst>
              <a:gd name="adj" fmla="val 2376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0" name="행 제목"/>
          <p:cNvSpPr txBox="1"/>
          <p:nvPr/>
        </p:nvSpPr>
        <p:spPr>
          <a:xfrm>
            <a:off x="1676095" y="2855671"/>
            <a:ext cx="1920240" cy="1645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>
                <a:solidFill>
                  <a:srgbClr val="14181F"/>
                </a:solidFill>
                <a:latin typeface="Pretendard"/>
              </a:rPr>
              <a:t>개인정보 처리방침</a:t>
            </a:r>
          </a:p>
        </p:txBody>
      </p:sp>
      <p:cxnSp>
        <p:nvCxnSpPr>
          <p:cNvPr id="21" name="더보기"/>
          <p:cNvCxnSpPr/>
          <p:nvPr/>
        </p:nvCxnSpPr>
        <p:spPr>
          <a:xfrm>
            <a:off x="3810000" y="2993517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더보기"/>
          <p:cNvCxnSpPr/>
          <p:nvPr/>
        </p:nvCxnSpPr>
        <p:spPr>
          <a:xfrm flipV="1">
            <a:off x="3810000" y="3028950"/>
            <a:ext cx="57150" cy="35433"/>
          </a:xfrm>
          <a:prstGeom prst="line">
            <a:avLst/>
          </a:prstGeom>
          <a:ln w="12382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탑바 구분선"/>
          <p:cNvSpPr/>
          <p:nvPr/>
        </p:nvSpPr>
        <p:spPr>
          <a:xfrm>
            <a:off x="1400175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탑바 타이틀"/>
          <p:cNvSpPr txBox="1"/>
          <p:nvPr/>
        </p:nvSpPr>
        <p:spPr>
          <a:xfrm>
            <a:off x="1809750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이용약관 및 정책</a:t>
            </a:r>
          </a:p>
        </p:txBody>
      </p:sp>
      <p:cxnSp>
        <p:nvCxnSpPr>
          <p:cNvPr id="25" name="뒤로가기"/>
          <p:cNvCxnSpPr/>
          <p:nvPr/>
        </p:nvCxnSpPr>
        <p:spPr>
          <a:xfrm flipH="1">
            <a:off x="1543050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뒤로가기"/>
          <p:cNvCxnSpPr/>
          <p:nvPr/>
        </p:nvCxnSpPr>
        <p:spPr>
          <a:xfrm flipH="1" flipV="1">
            <a:off x="1543050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하단 Nav 구분선"/>
          <p:cNvSpPr/>
          <p:nvPr/>
        </p:nvSpPr>
        <p:spPr>
          <a:xfrm>
            <a:off x="1400175" y="574357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8" name="아이콘 nav"/>
          <p:cNvSpPr/>
          <p:nvPr/>
        </p:nvSpPr>
        <p:spPr>
          <a:xfrm>
            <a:off x="2689479" y="5887402"/>
            <a:ext cx="136017" cy="160020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Nav 길안내"/>
          <p:cNvSpPr txBox="1"/>
          <p:nvPr/>
        </p:nvSpPr>
        <p:spPr>
          <a:xfrm>
            <a:off x="2301875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길안내</a:t>
            </a:r>
          </a:p>
        </p:txBody>
      </p:sp>
      <p:sp>
        <p:nvSpPr>
          <p:cNvPr id="30" name="아이콘 home"/>
          <p:cNvSpPr/>
          <p:nvPr/>
        </p:nvSpPr>
        <p:spPr>
          <a:xfrm>
            <a:off x="1762252" y="5891403"/>
            <a:ext cx="168021" cy="88011"/>
          </a:xfrm>
          <a:prstGeom prst="triangle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아이콘 home"/>
          <p:cNvSpPr/>
          <p:nvPr/>
        </p:nvSpPr>
        <p:spPr>
          <a:xfrm>
            <a:off x="1790255" y="5967412"/>
            <a:ext cx="112014" cy="80010"/>
          </a:xfrm>
          <a:prstGeom prst="rect">
            <a:avLst/>
          </a:prstGeom>
          <a:noFill/>
          <a:ln w="12382">
            <a:solidFill>
              <a:srgbClr val="8A94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Nav 홈"/>
          <p:cNvSpPr txBox="1"/>
          <p:nvPr/>
        </p:nvSpPr>
        <p:spPr>
          <a:xfrm>
            <a:off x="139065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spc="-15">
                <a:solidFill>
                  <a:srgbClr val="8A94A3"/>
                </a:solidFill>
                <a:latin typeface="Pretendard"/>
              </a:rPr>
              <a:t>홈</a:t>
            </a:r>
          </a:p>
        </p:txBody>
      </p:sp>
      <p:sp>
        <p:nvSpPr>
          <p:cNvPr id="33" name="아이콘 user"/>
          <p:cNvSpPr/>
          <p:nvPr/>
        </p:nvSpPr>
        <p:spPr>
          <a:xfrm>
            <a:off x="3632708" y="5887402"/>
            <a:ext cx="72009" cy="72009"/>
          </a:xfrm>
          <a:prstGeom prst="ellipse">
            <a:avLst/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아이콘 user"/>
          <p:cNvSpPr/>
          <p:nvPr/>
        </p:nvSpPr>
        <p:spPr>
          <a:xfrm>
            <a:off x="3596704" y="5975414"/>
            <a:ext cx="144018" cy="8001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382">
            <a:solidFill>
              <a:srgbClr val="2D4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av 마이페이지"/>
          <p:cNvSpPr txBox="1"/>
          <p:nvPr/>
        </p:nvSpPr>
        <p:spPr>
          <a:xfrm>
            <a:off x="3213100" y="6115050"/>
            <a:ext cx="911225" cy="1238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1" spc="-15">
                <a:solidFill>
                  <a:srgbClr val="2D4CC8"/>
                </a:solidFill>
                <a:latin typeface="Pretendard"/>
              </a:rPr>
              <a:t>마이페이지</a:t>
            </a:r>
          </a:p>
        </p:txBody>
      </p:sp>
      <p:sp>
        <p:nvSpPr>
          <p:cNvPr id="36" name="목업 프레임"/>
          <p:cNvSpPr/>
          <p:nvPr/>
        </p:nvSpPr>
        <p:spPr>
          <a:xfrm>
            <a:off x="4543425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7" name="행 제목"/>
          <p:cNvSpPr txBox="1"/>
          <p:nvPr/>
        </p:nvSpPr>
        <p:spPr>
          <a:xfrm>
            <a:off x="4914899" y="2643188"/>
            <a:ext cx="1990725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약관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전문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  <a:r>
              <a:rPr sz="900" b="0" spc="-18" dirty="0" err="1">
                <a:solidFill>
                  <a:srgbClr val="14181F"/>
                </a:solidFill>
                <a:latin typeface="Pretendard"/>
              </a:rPr>
              <a:t>표시</a:t>
            </a:r>
            <a:r>
              <a:rPr sz="900" b="0" spc="-18" dirty="0">
                <a:solidFill>
                  <a:srgbClr val="14181F"/>
                </a:solidFill>
                <a:latin typeface="Pretendard"/>
              </a:rPr>
              <a:t> </a:t>
            </a:r>
          </a:p>
        </p:txBody>
      </p:sp>
      <p:sp>
        <p:nvSpPr>
          <p:cNvPr id="38" name="탑바 구분선"/>
          <p:cNvSpPr/>
          <p:nvPr/>
        </p:nvSpPr>
        <p:spPr>
          <a:xfrm>
            <a:off x="4552950" y="1647825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9" name="탑바 타이틀"/>
          <p:cNvSpPr txBox="1"/>
          <p:nvPr/>
        </p:nvSpPr>
        <p:spPr>
          <a:xfrm>
            <a:off x="4962525" y="1304925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2" b="1" spc="-20">
                <a:solidFill>
                  <a:srgbClr val="14181F"/>
                </a:solidFill>
                <a:latin typeface="Pretendard"/>
              </a:rPr>
              <a:t>서비스 이용 약관</a:t>
            </a:r>
          </a:p>
        </p:txBody>
      </p:sp>
      <p:cxnSp>
        <p:nvCxnSpPr>
          <p:cNvPr id="40" name="뒤로가기"/>
          <p:cNvCxnSpPr/>
          <p:nvPr/>
        </p:nvCxnSpPr>
        <p:spPr>
          <a:xfrm flipH="1">
            <a:off x="4695825" y="1371981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뒤로가기"/>
          <p:cNvCxnSpPr/>
          <p:nvPr/>
        </p:nvCxnSpPr>
        <p:spPr>
          <a:xfrm flipH="1" flipV="1">
            <a:off x="4695825" y="1419225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3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44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45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1954478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682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약관 3종 리스트 — 한 항목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회원가입 약관 3종과 같은 문서 · 회원 · 비회원 동일 · 열람 전용(동의 · 철회 없음)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위 「약관명 ＋ [&gt;]」 · 아래 「시행 YYYY년 M월 D일」 보조줄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약관 전문 — 3화면 공통 레이아웃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제목 아래 「시행일 …」 1행 — 목록과 같은 날짜 · 형식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47" name="t"/>
          <p:cNvSpPr txBox="1"/>
          <p:nvPr/>
        </p:nvSpPr>
        <p:spPr>
          <a:xfrm>
            <a:off x="1676095" y="1990649"/>
            <a:ext cx="1920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시행 2026년 8월 1일</a:t>
            </a:r>
          </a:p>
        </p:txBody>
      </p:sp>
      <p:sp>
        <p:nvSpPr>
          <p:cNvPr id="48" name="t"/>
          <p:cNvSpPr txBox="1"/>
          <p:nvPr/>
        </p:nvSpPr>
        <p:spPr>
          <a:xfrm>
            <a:off x="1676095" y="2514600"/>
            <a:ext cx="1920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시행 2026년 8월 1일</a:t>
            </a:r>
          </a:p>
        </p:txBody>
      </p:sp>
      <p:sp>
        <p:nvSpPr>
          <p:cNvPr id="49" name="t"/>
          <p:cNvSpPr txBox="1"/>
          <p:nvPr/>
        </p:nvSpPr>
        <p:spPr>
          <a:xfrm>
            <a:off x="1676095" y="3038551"/>
            <a:ext cx="1920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00" b="0" dirty="0">
                <a:solidFill>
                  <a:srgbClr val="5B6573"/>
                </a:solidFill>
                <a:latin typeface="Pretendard"/>
                <a:ea typeface="Pretendard"/>
              </a:rPr>
              <a:t>시행 2026년 8월 1일</a:t>
            </a:r>
          </a:p>
        </p:txBody>
      </p:sp>
      <p:sp>
        <p:nvSpPr>
          <p:cNvPr id="50" name="t"/>
          <p:cNvSpPr txBox="1"/>
          <p:nvPr/>
        </p:nvSpPr>
        <p:spPr>
          <a:xfrm>
            <a:off x="4914900" y="1783080"/>
            <a:ext cx="19933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sz="750" b="0" dirty="0">
                <a:solidFill>
                  <a:srgbClr val="5B6573"/>
                </a:solidFill>
                <a:latin typeface="Pretendard"/>
                <a:ea typeface="Pretendard"/>
              </a:rPr>
              <a:t>시행일 2026년 8월 1일</a:t>
            </a:r>
          </a:p>
        </p:txBody>
      </p:sp>
      <p:sp>
        <p:nvSpPr>
          <p:cNvPr id="51" name="숫자배지 1"/>
          <p:cNvSpPr/>
          <p:nvPr/>
        </p:nvSpPr>
        <p:spPr>
          <a:xfrm>
            <a:off x="1161288" y="131673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52" name="숫자배지 2"/>
          <p:cNvSpPr/>
          <p:nvPr/>
        </p:nvSpPr>
        <p:spPr>
          <a:xfrm>
            <a:off x="4315968" y="181051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헤더 바탕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/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/>
          <p:cNvSpPr/>
          <p:nvPr/>
        </p:nvSpPr>
        <p:spPr>
          <a:xfrm>
            <a:off x="419100" y="228600"/>
            <a:ext cx="389763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>
                <a:solidFill>
                  <a:srgbClr val="9A6410"/>
                </a:solidFill>
                <a:latin typeface="Pretendard"/>
              </a:rPr>
              <a:t>3-7</a:t>
            </a:r>
          </a:p>
        </p:txBody>
      </p:sp>
      <p:sp>
        <p:nvSpPr>
          <p:cNvPr id="6" name="페이지명"/>
          <p:cNvSpPr txBox="1"/>
          <p:nvPr/>
        </p:nvSpPr>
        <p:spPr>
          <a:xfrm>
            <a:off x="938403" y="228600"/>
            <a:ext cx="1612452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25" b="1" spc="-29">
                <a:solidFill>
                  <a:srgbClr val="14181F"/>
                </a:solidFill>
                <a:latin typeface="Pretendard"/>
              </a:rPr>
              <a:t>오픈소스 라이선스</a:t>
            </a:r>
          </a:p>
        </p:txBody>
      </p:sp>
      <p:sp>
        <p:nvSpPr>
          <p:cNvPr id="7" name="부제"/>
          <p:cNvSpPr txBox="1"/>
          <p:nvPr/>
        </p:nvSpPr>
        <p:spPr>
          <a:xfrm>
            <a:off x="2715447" y="228600"/>
            <a:ext cx="4381500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Pretendard"/>
              </a:rPr>
              <a:t>목록 · 전문 일괄 표기</a:t>
            </a:r>
          </a:p>
        </p:txBody>
      </p:sp>
      <p:sp>
        <p:nvSpPr>
          <p:cNvPr id="8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9" name="목업 스테이지"/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0" name="목업 프레임"/>
          <p:cNvSpPr/>
          <p:nvPr/>
        </p:nvSpPr>
        <p:spPr>
          <a:xfrm>
            <a:off x="2962656" y="1190625"/>
            <a:ext cx="2733675" cy="5143500"/>
          </a:xfrm>
          <a:prstGeom prst="roundRect">
            <a:avLst>
              <a:gd name="adj" fmla="val 6271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>
            <a:outerShdw blurRad="330200" dist="76200" dir="5400000" rotWithShape="0">
              <a:srgbClr val="1A233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1" name="Description 패널"/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2" name="Description 제목"/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3" name="Description 밑줄"/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4" name="Description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9174353"/>
              </p:ext>
            </p:extLst>
          </p:nvPr>
        </p:nvGraphicFramePr>
        <p:xfrm>
          <a:off x="8629192" y="1447800"/>
          <a:ext cx="2972409" cy="1417014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671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오픈소스 목록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1열 리스트 · 한 항목 2행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라이브러리명(원문 표기) · 라이선스 종류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600303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19050" marR="1905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>
                          <a:solidFill>
                            <a:srgbClr val="14181F"/>
                          </a:solidFill>
                          <a:latin typeface="Pretendard"/>
                        </a:rPr>
                        <a:t>라이선스 전문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>
                          <a:solidFill>
                            <a:srgbClr val="3E4652"/>
                          </a:solidFill>
                          <a:latin typeface="Pretendard"/>
                        </a:rPr>
                        <a:t>· 라이선스 종류 바로 아래에 이어서 표기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F1F4F8"/>
          </a:solidFill>
          <a:ln w="9525">
            <a:solidFill>
              <a:srgbClr val="D7DDE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3E4652"/>
                </a:solidFill>
                <a:latin typeface="Pretendard"/>
              </a:rPr>
              <a:t>공통</a:t>
            </a:r>
          </a:p>
        </p:txBody>
      </p:sp>
      <p:sp>
        <p:nvSpPr>
          <p:cNvPr id="16" name="탑바 구분선"/>
          <p:cNvSpPr/>
          <p:nvPr/>
        </p:nvSpPr>
        <p:spPr>
          <a:xfrm>
            <a:off x="2971800" y="1645920"/>
            <a:ext cx="2714625" cy="9525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탑바 타이틀"/>
          <p:cNvSpPr txBox="1"/>
          <p:nvPr/>
        </p:nvSpPr>
        <p:spPr>
          <a:xfrm>
            <a:off x="3383280" y="1307592"/>
            <a:ext cx="1895475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11" b="1" spc="-20">
                <a:solidFill>
                  <a:srgbClr val="14181F"/>
                </a:solidFill>
                <a:latin typeface="Pretendard"/>
              </a:rPr>
              <a:t>오픈소스 라이선스</a:t>
            </a:r>
          </a:p>
        </p:txBody>
      </p:sp>
      <p:cxnSp>
        <p:nvCxnSpPr>
          <p:cNvPr id="18" name="뒤로가기"/>
          <p:cNvCxnSpPr/>
          <p:nvPr/>
        </p:nvCxnSpPr>
        <p:spPr>
          <a:xfrm flipH="1">
            <a:off x="3118104" y="137160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뒤로가기"/>
          <p:cNvCxnSpPr/>
          <p:nvPr/>
        </p:nvCxnSpPr>
        <p:spPr>
          <a:xfrm flipH="1" flipV="1">
            <a:off x="3118104" y="1417320"/>
            <a:ext cx="76200" cy="47244"/>
          </a:xfrm>
          <a:prstGeom prst="line">
            <a:avLst/>
          </a:prstGeom>
          <a:ln w="15240" cap="rnd">
            <a:solidFill>
              <a:srgbClr val="1418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라이브러리명"/>
          <p:cNvSpPr txBox="1"/>
          <p:nvPr/>
        </p:nvSpPr>
        <p:spPr>
          <a:xfrm>
            <a:off x="3118104" y="1783080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OkHttp</a:t>
            </a:r>
          </a:p>
        </p:txBody>
      </p:sp>
      <p:sp>
        <p:nvSpPr>
          <p:cNvPr id="21" name="라이선스 종류"/>
          <p:cNvSpPr txBox="1"/>
          <p:nvPr/>
        </p:nvSpPr>
        <p:spPr>
          <a:xfrm>
            <a:off x="3118104" y="203911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Apache License 2.0</a:t>
            </a:r>
          </a:p>
        </p:txBody>
      </p:sp>
      <p:sp>
        <p:nvSpPr>
          <p:cNvPr id="22" name="전문"/>
          <p:cNvSpPr txBox="1"/>
          <p:nvPr/>
        </p:nvSpPr>
        <p:spPr>
          <a:xfrm>
            <a:off x="3118104" y="227685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Licensed under the Apache License,</a:t>
            </a:r>
          </a:p>
        </p:txBody>
      </p:sp>
      <p:sp>
        <p:nvSpPr>
          <p:cNvPr id="23" name="전문"/>
          <p:cNvSpPr txBox="1"/>
          <p:nvPr/>
        </p:nvSpPr>
        <p:spPr>
          <a:xfrm>
            <a:off x="3118104" y="245973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Version 2.0 (the "License"); you may</a:t>
            </a:r>
          </a:p>
        </p:txBody>
      </p:sp>
      <p:sp>
        <p:nvSpPr>
          <p:cNvPr id="24" name="전문"/>
          <p:cNvSpPr txBox="1"/>
          <p:nvPr/>
        </p:nvSpPr>
        <p:spPr>
          <a:xfrm>
            <a:off x="3118104" y="264261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not use this file except in compliance</a:t>
            </a:r>
          </a:p>
        </p:txBody>
      </p:sp>
      <p:sp>
        <p:nvSpPr>
          <p:cNvPr id="25" name="전문"/>
          <p:cNvSpPr txBox="1"/>
          <p:nvPr/>
        </p:nvSpPr>
        <p:spPr>
          <a:xfrm>
            <a:off x="3118104" y="2825496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with the License. …</a:t>
            </a:r>
          </a:p>
        </p:txBody>
      </p:sp>
      <p:sp>
        <p:nvSpPr>
          <p:cNvPr id="26" name="항목 구분선"/>
          <p:cNvSpPr/>
          <p:nvPr/>
        </p:nvSpPr>
        <p:spPr>
          <a:xfrm>
            <a:off x="3118104" y="3099816"/>
            <a:ext cx="2432304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라이브러리명"/>
          <p:cNvSpPr txBox="1"/>
          <p:nvPr/>
        </p:nvSpPr>
        <p:spPr>
          <a:xfrm>
            <a:off x="3118104" y="3282696"/>
            <a:ext cx="1993392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-18">
                <a:solidFill>
                  <a:srgbClr val="14181F"/>
                </a:solidFill>
                <a:latin typeface="Pretendard"/>
              </a:rPr>
              <a:t>Glide</a:t>
            </a:r>
          </a:p>
        </p:txBody>
      </p:sp>
      <p:sp>
        <p:nvSpPr>
          <p:cNvPr id="28" name="라이선스 종류"/>
          <p:cNvSpPr txBox="1"/>
          <p:nvPr/>
        </p:nvSpPr>
        <p:spPr>
          <a:xfrm>
            <a:off x="3118104" y="3538728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BSD · MIT · Apache 2.0</a:t>
            </a:r>
          </a:p>
        </p:txBody>
      </p:sp>
      <p:sp>
        <p:nvSpPr>
          <p:cNvPr id="29" name="전문"/>
          <p:cNvSpPr txBox="1"/>
          <p:nvPr/>
        </p:nvSpPr>
        <p:spPr>
          <a:xfrm>
            <a:off x="3118104" y="377647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Permission is hereby granted, free of</a:t>
            </a:r>
          </a:p>
        </p:txBody>
      </p:sp>
      <p:sp>
        <p:nvSpPr>
          <p:cNvPr id="30" name="전문"/>
          <p:cNvSpPr txBox="1"/>
          <p:nvPr/>
        </p:nvSpPr>
        <p:spPr>
          <a:xfrm>
            <a:off x="3118104" y="395935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charge, to any person obtaining a copy</a:t>
            </a:r>
          </a:p>
        </p:txBody>
      </p:sp>
      <p:sp>
        <p:nvSpPr>
          <p:cNvPr id="31" name="전문"/>
          <p:cNvSpPr txBox="1"/>
          <p:nvPr/>
        </p:nvSpPr>
        <p:spPr>
          <a:xfrm>
            <a:off x="3118104" y="414223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of this software …</a:t>
            </a:r>
          </a:p>
        </p:txBody>
      </p:sp>
      <p:sp>
        <p:nvSpPr>
          <p:cNvPr id="32" name="항목 구분선"/>
          <p:cNvSpPr/>
          <p:nvPr/>
        </p:nvSpPr>
        <p:spPr>
          <a:xfrm>
            <a:off x="3118104" y="4416552"/>
            <a:ext cx="2432304" cy="9144"/>
          </a:xfrm>
          <a:prstGeom prst="roundRect">
            <a:avLst>
              <a:gd name="adj" fmla="val 26086"/>
            </a:avLst>
          </a:prstGeom>
          <a:solidFill>
            <a:srgbClr val="E3E7E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3" name="스크롤 표시"/>
          <p:cNvSpPr txBox="1"/>
          <p:nvPr/>
        </p:nvSpPr>
        <p:spPr>
          <a:xfrm>
            <a:off x="3118104" y="4599432"/>
            <a:ext cx="2377440" cy="15544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25" b="0" spc="-15">
                <a:solidFill>
                  <a:srgbClr val="3E4652"/>
                </a:solidFill>
                <a:latin typeface="Pretendard"/>
              </a:rPr>
              <a:t>(… 스크롤)</a:t>
            </a:r>
          </a:p>
        </p:txBody>
      </p:sp>
      <p:sp>
        <p:nvSpPr>
          <p:cNvPr id="34" name="숫자배지 1"/>
          <p:cNvSpPr/>
          <p:nvPr/>
        </p:nvSpPr>
        <p:spPr>
          <a:xfrm>
            <a:off x="2734056" y="1819656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5" name="숫자배지 2"/>
          <p:cNvSpPr/>
          <p:nvPr/>
        </p:nvSpPr>
        <p:spPr>
          <a:xfrm>
            <a:off x="2734056" y="2286000"/>
            <a:ext cx="192024" cy="192024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7DAFBB29-9E28-34EB-F3CE-DF45CA37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C4C20A1E-3801-C843-9B87-111E80C1E7DA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802854F7-9F70-EEFC-907B-4AC9252C7C99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B0030519-76CA-7B08-076E-E763AF07BF70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3-8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8B9332E4-1E11-6DED-DB8E-216F1419A33A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 dirty="0">
                <a:solidFill>
                  <a:srgbClr val="14181F"/>
                </a:solidFill>
                <a:latin typeface="Pretendard"/>
              </a:rPr>
              <a:t>로그아웃</a:t>
            </a:r>
            <a:endParaRPr sz="1425" b="1" spc="-29" dirty="0">
              <a:solidFill>
                <a:srgbClr val="14181F"/>
              </a:solidFill>
              <a:latin typeface="Pretendard"/>
            </a:endParaRP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0ADE94C1-6118-1B65-56D3-34AB366A263C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 dirty="0"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02A4762E-515A-D671-4426-49F77CF49EC5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1C8E1BAC-9C18-FEBB-2728-CC8F810FE8F8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F77068A2-48EC-D502-5B6E-92A00485632B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0AFC596-531D-7E87-39F1-E2841D863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189953"/>
              </p:ext>
            </p:extLst>
          </p:nvPr>
        </p:nvGraphicFramePr>
        <p:xfrm>
          <a:off x="8629192" y="1447800"/>
          <a:ext cx="2972409" cy="1142847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284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로그아웃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누르는 즉시 처리 중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토스트 「로그아웃되었습니다.」는 0-1 로그인 화면 위에서 뜸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비회원은 행 자체를 숨김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목업 프레임">
            <a:extLst>
              <a:ext uri="{FF2B5EF4-FFF2-40B4-BE49-F238E27FC236}">
                <a16:creationId xmlns:a16="http://schemas.microsoft.com/office/drawing/2014/main" id="{30C53EDF-7606-AD4D-093E-57E43E555B3F}"/>
              </a:ext>
            </a:extLst>
          </p:cNvPr>
          <p:cNvSpPr/>
          <p:nvPr/>
        </p:nvSpPr>
        <p:spPr>
          <a:xfrm>
            <a:off x="3092690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3" name="로고 타이틀">
            <a:extLst>
              <a:ext uri="{FF2B5EF4-FFF2-40B4-BE49-F238E27FC236}">
                <a16:creationId xmlns:a16="http://schemas.microsoft.com/office/drawing/2014/main" id="{1F4D4DBC-0502-C0C3-B5E3-F0F6149D220B}"/>
              </a:ext>
            </a:extLst>
          </p:cNvPr>
          <p:cNvSpPr txBox="1"/>
          <p:nvPr/>
        </p:nvSpPr>
        <p:spPr>
          <a:xfrm>
            <a:off x="3092690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14" name="SNS 버튼 카카오로 로그인">
            <a:extLst>
              <a:ext uri="{FF2B5EF4-FFF2-40B4-BE49-F238E27FC236}">
                <a16:creationId xmlns:a16="http://schemas.microsoft.com/office/drawing/2014/main" id="{7EE1A4A5-C008-67AC-0C24-E0A640BF4644}"/>
              </a:ext>
            </a:extLst>
          </p:cNvPr>
          <p:cNvSpPr/>
          <p:nvPr/>
        </p:nvSpPr>
        <p:spPr>
          <a:xfrm>
            <a:off x="3302240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5" name="SNS 라벨">
            <a:extLst>
              <a:ext uri="{FF2B5EF4-FFF2-40B4-BE49-F238E27FC236}">
                <a16:creationId xmlns:a16="http://schemas.microsoft.com/office/drawing/2014/main" id="{6B0B33AD-B2FB-97DA-898A-E567AF75A6EB}"/>
              </a:ext>
            </a:extLst>
          </p:cNvPr>
          <p:cNvSpPr txBox="1"/>
          <p:nvPr/>
        </p:nvSpPr>
        <p:spPr>
          <a:xfrm>
            <a:off x="3302240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로그인</a:t>
            </a:r>
          </a:p>
        </p:txBody>
      </p:sp>
      <p:sp>
        <p:nvSpPr>
          <p:cNvPr id="16" name="SNS 버튼 네이버로 로그인">
            <a:extLst>
              <a:ext uri="{FF2B5EF4-FFF2-40B4-BE49-F238E27FC236}">
                <a16:creationId xmlns:a16="http://schemas.microsoft.com/office/drawing/2014/main" id="{B6DA16AF-E800-3D56-4688-37AD07C21E08}"/>
              </a:ext>
            </a:extLst>
          </p:cNvPr>
          <p:cNvSpPr/>
          <p:nvPr/>
        </p:nvSpPr>
        <p:spPr>
          <a:xfrm>
            <a:off x="3302240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7" name="SNS 라벨">
            <a:extLst>
              <a:ext uri="{FF2B5EF4-FFF2-40B4-BE49-F238E27FC236}">
                <a16:creationId xmlns:a16="http://schemas.microsoft.com/office/drawing/2014/main" id="{6DD3E3F4-C9DD-0BBC-67CA-DF83D2B99DAA}"/>
              </a:ext>
            </a:extLst>
          </p:cNvPr>
          <p:cNvSpPr txBox="1"/>
          <p:nvPr/>
        </p:nvSpPr>
        <p:spPr>
          <a:xfrm>
            <a:off x="3302240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로그인</a:t>
            </a:r>
          </a:p>
        </p:txBody>
      </p:sp>
      <p:sp>
        <p:nvSpPr>
          <p:cNvPr id="18" name="SNS 버튼 구글로 로그인">
            <a:extLst>
              <a:ext uri="{FF2B5EF4-FFF2-40B4-BE49-F238E27FC236}">
                <a16:creationId xmlns:a16="http://schemas.microsoft.com/office/drawing/2014/main" id="{26B3B294-0EE5-FFE5-5786-F1555132D2B6}"/>
              </a:ext>
            </a:extLst>
          </p:cNvPr>
          <p:cNvSpPr/>
          <p:nvPr/>
        </p:nvSpPr>
        <p:spPr>
          <a:xfrm>
            <a:off x="3302240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19" name="SNS 라벨">
            <a:extLst>
              <a:ext uri="{FF2B5EF4-FFF2-40B4-BE49-F238E27FC236}">
                <a16:creationId xmlns:a16="http://schemas.microsoft.com/office/drawing/2014/main" id="{25B0319B-1CD5-B24F-E460-892BD86A09DB}"/>
              </a:ext>
            </a:extLst>
          </p:cNvPr>
          <p:cNvSpPr txBox="1"/>
          <p:nvPr/>
        </p:nvSpPr>
        <p:spPr>
          <a:xfrm>
            <a:off x="3302240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로그인</a:t>
            </a:r>
          </a:p>
        </p:txBody>
      </p:sp>
      <p:sp>
        <p:nvSpPr>
          <p:cNvPr id="20" name="SNS 버튼 애플로 로그인">
            <a:extLst>
              <a:ext uri="{FF2B5EF4-FFF2-40B4-BE49-F238E27FC236}">
                <a16:creationId xmlns:a16="http://schemas.microsoft.com/office/drawing/2014/main" id="{2F28DE81-1F63-FAE0-56E5-D5367F72FBEC}"/>
              </a:ext>
            </a:extLst>
          </p:cNvPr>
          <p:cNvSpPr/>
          <p:nvPr/>
        </p:nvSpPr>
        <p:spPr>
          <a:xfrm>
            <a:off x="3302240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SNS 라벨">
            <a:extLst>
              <a:ext uri="{FF2B5EF4-FFF2-40B4-BE49-F238E27FC236}">
                <a16:creationId xmlns:a16="http://schemas.microsoft.com/office/drawing/2014/main" id="{22FAD8C5-9959-8148-7A7E-50DECC60DB8E}"/>
              </a:ext>
            </a:extLst>
          </p:cNvPr>
          <p:cNvSpPr txBox="1"/>
          <p:nvPr/>
        </p:nvSpPr>
        <p:spPr>
          <a:xfrm>
            <a:off x="3302240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로그인</a:t>
            </a:r>
          </a:p>
        </p:txBody>
      </p:sp>
      <p:sp>
        <p:nvSpPr>
          <p:cNvPr id="22" name="구분선">
            <a:extLst>
              <a:ext uri="{FF2B5EF4-FFF2-40B4-BE49-F238E27FC236}">
                <a16:creationId xmlns:a16="http://schemas.microsoft.com/office/drawing/2014/main" id="{124152FF-CE24-2033-033E-A4176EFA82DF}"/>
              </a:ext>
            </a:extLst>
          </p:cNvPr>
          <p:cNvSpPr/>
          <p:nvPr/>
        </p:nvSpPr>
        <p:spPr>
          <a:xfrm>
            <a:off x="3302240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비회원 버튼">
            <a:extLst>
              <a:ext uri="{FF2B5EF4-FFF2-40B4-BE49-F238E27FC236}">
                <a16:creationId xmlns:a16="http://schemas.microsoft.com/office/drawing/2014/main" id="{6C00E1E1-6CF9-7A9F-F723-0733D67B857A}"/>
              </a:ext>
            </a:extLst>
          </p:cNvPr>
          <p:cNvSpPr/>
          <p:nvPr/>
        </p:nvSpPr>
        <p:spPr>
          <a:xfrm>
            <a:off x="3302240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4" name="비회원 라벨">
            <a:extLst>
              <a:ext uri="{FF2B5EF4-FFF2-40B4-BE49-F238E27FC236}">
                <a16:creationId xmlns:a16="http://schemas.microsoft.com/office/drawing/2014/main" id="{7140DF29-F173-A8C9-24B7-DB70748D3587}"/>
              </a:ext>
            </a:extLst>
          </p:cNvPr>
          <p:cNvSpPr txBox="1"/>
          <p:nvPr/>
        </p:nvSpPr>
        <p:spPr>
          <a:xfrm>
            <a:off x="3302240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시작하기</a:t>
            </a:r>
          </a:p>
        </p:txBody>
      </p:sp>
      <p:grpSp>
        <p:nvGrpSpPr>
          <p:cNvPr id="25" name="그룹 62">
            <a:extLst>
              <a:ext uri="{FF2B5EF4-FFF2-40B4-BE49-F238E27FC236}">
                <a16:creationId xmlns:a16="http://schemas.microsoft.com/office/drawing/2014/main" id="{D546ABF4-DCEF-2E2F-C650-52042D14815C}"/>
              </a:ext>
            </a:extLst>
          </p:cNvPr>
          <p:cNvGrpSpPr/>
          <p:nvPr/>
        </p:nvGrpSpPr>
        <p:grpSpPr>
          <a:xfrm>
            <a:off x="3197465" y="5661025"/>
            <a:ext cx="2381250" cy="419100"/>
            <a:chOff x="4719638" y="3867150"/>
            <a:chExt cx="2381250" cy="419100"/>
          </a:xfrm>
        </p:grpSpPr>
        <p:sp>
          <p:nvSpPr>
            <p:cNvPr id="26" name="토스트">
              <a:extLst>
                <a:ext uri="{FF2B5EF4-FFF2-40B4-BE49-F238E27FC236}">
                  <a16:creationId xmlns:a16="http://schemas.microsoft.com/office/drawing/2014/main" id="{1837D13A-2A40-3A23-E511-FEF63240FC71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27" name="토스트 문구">
              <a:extLst>
                <a:ext uri="{FF2B5EF4-FFF2-40B4-BE49-F238E27FC236}">
                  <a16:creationId xmlns:a16="http://schemas.microsoft.com/office/drawing/2014/main" id="{37C29CE6-37BD-0D0E-945F-049DC69E2AB3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spc="-16">
                  <a:solidFill>
                    <a:srgbClr val="F2F4F7"/>
                  </a:solidFill>
                  <a:latin typeface="Pretendard"/>
                </a:rPr>
                <a:t>로그아웃되었습니다.</a:t>
              </a:r>
            </a:p>
          </p:txBody>
        </p:sp>
      </p:grpSp>
      <p:sp>
        <p:nvSpPr>
          <p:cNvPr id="28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29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0" name="숫자배지 1">
            <a:extLst>
              <a:ext uri="{FF2B5EF4-FFF2-40B4-BE49-F238E27FC236}">
                <a16:creationId xmlns:a16="http://schemas.microsoft.com/office/drawing/2014/main" id="{6713D42C-B039-B914-F004-41A36F7A2710}"/>
              </a:ext>
            </a:extLst>
          </p:cNvPr>
          <p:cNvSpPr/>
          <p:nvPr/>
        </p:nvSpPr>
        <p:spPr>
          <a:xfrm>
            <a:off x="5180427" y="14001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1895335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7"/>
        </a:solidFill>
        <a:effectLst/>
      </p:bgPr>
    </p:bg>
    <p:spTree>
      <p:nvGrpSpPr>
        <p:cNvPr id="2" name="">
          <a:extLst>
            <a:ext uri="{FF2B5EF4-FFF2-40B4-BE49-F238E27FC236}">
              <a16:creationId xmlns:a16="http://schemas.microsoft.com/office/drawing/2014/main" id="{EC97AB25-04C2-348D-9D17-DC2D7868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헤더 바탕">
            <a:extLst>
              <a:ext uri="{FF2B5EF4-FFF2-40B4-BE49-F238E27FC236}">
                <a16:creationId xmlns:a16="http://schemas.microsoft.com/office/drawing/2014/main" id="{3B686A02-C645-D63E-3F8D-37DF7C8ABB22}"/>
              </a:ext>
            </a:extLst>
          </p:cNvPr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4" name="헤더 구분선">
            <a:extLst>
              <a:ext uri="{FF2B5EF4-FFF2-40B4-BE49-F238E27FC236}">
                <a16:creationId xmlns:a16="http://schemas.microsoft.com/office/drawing/2014/main" id="{4F89030C-FF21-F38D-C38B-80A1354EF1AC}"/>
              </a:ext>
            </a:extLst>
          </p:cNvPr>
          <p:cNvSpPr/>
          <p:nvPr/>
        </p:nvSpPr>
        <p:spPr>
          <a:xfrm>
            <a:off x="0" y="695325"/>
            <a:ext cx="121920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5" name="화면번호 칩">
            <a:extLst>
              <a:ext uri="{FF2B5EF4-FFF2-40B4-BE49-F238E27FC236}">
                <a16:creationId xmlns:a16="http://schemas.microsoft.com/office/drawing/2014/main" id="{043EB4DD-7DD6-65B6-DB4F-42314DC9CFD6}"/>
              </a:ext>
            </a:extLst>
          </p:cNvPr>
          <p:cNvSpPr/>
          <p:nvPr/>
        </p:nvSpPr>
        <p:spPr>
          <a:xfrm>
            <a:off x="419100" y="228600"/>
            <a:ext cx="368808" cy="247650"/>
          </a:xfrm>
          <a:prstGeom prst="roundRect">
            <a:avLst>
              <a:gd name="adj" fmla="val 23076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spc="45" dirty="0">
                <a:solidFill>
                  <a:srgbClr val="9A6410"/>
                </a:solidFill>
                <a:latin typeface="Pretendard"/>
              </a:rPr>
              <a:t>3-9</a:t>
            </a:r>
          </a:p>
        </p:txBody>
      </p:sp>
      <p:sp>
        <p:nvSpPr>
          <p:cNvPr id="6" name="페이지명">
            <a:extLst>
              <a:ext uri="{FF2B5EF4-FFF2-40B4-BE49-F238E27FC236}">
                <a16:creationId xmlns:a16="http://schemas.microsoft.com/office/drawing/2014/main" id="{A6DE54C1-ED73-EADD-743F-55C3CA114639}"/>
              </a:ext>
            </a:extLst>
          </p:cNvPr>
          <p:cNvSpPr txBox="1"/>
          <p:nvPr/>
        </p:nvSpPr>
        <p:spPr>
          <a:xfrm>
            <a:off x="911733" y="228600"/>
            <a:ext cx="1216543" cy="2476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ko-KR" altLang="en-US" sz="1425" b="1" spc="-29">
                <a:solidFill>
                  <a:srgbClr val="14181F"/>
                </a:solidFill>
                <a:latin typeface="Pretendard"/>
              </a:rPr>
              <a:t>회원 탈퇴</a:t>
            </a:r>
          </a:p>
        </p:txBody>
      </p:sp>
      <p:sp>
        <p:nvSpPr>
          <p:cNvPr id="7" name="목업 스테이지">
            <a:extLst>
              <a:ext uri="{FF2B5EF4-FFF2-40B4-BE49-F238E27FC236}">
                <a16:creationId xmlns:a16="http://schemas.microsoft.com/office/drawing/2014/main" id="{F542038D-4369-BEF4-91E3-BE18E52CEE6A}"/>
              </a:ext>
            </a:extLst>
          </p:cNvPr>
          <p:cNvSpPr/>
          <p:nvPr/>
        </p:nvSpPr>
        <p:spPr>
          <a:xfrm>
            <a:off x="419100" y="952500"/>
            <a:ext cx="7829550" cy="5619750"/>
          </a:xfrm>
          <a:prstGeom prst="roundRect">
            <a:avLst>
              <a:gd name="adj" fmla="val 2372"/>
            </a:avLst>
          </a:prstGeom>
          <a:solidFill>
            <a:srgbClr val="F8FAFC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8" name="Description 패널">
            <a:extLst>
              <a:ext uri="{FF2B5EF4-FFF2-40B4-BE49-F238E27FC236}">
                <a16:creationId xmlns:a16="http://schemas.microsoft.com/office/drawing/2014/main" id="{91044FAE-BDE5-BD4A-EFC7-7273EF1A4123}"/>
              </a:ext>
            </a:extLst>
          </p:cNvPr>
          <p:cNvSpPr/>
          <p:nvPr/>
        </p:nvSpPr>
        <p:spPr>
          <a:xfrm>
            <a:off x="8458200" y="952500"/>
            <a:ext cx="3314700" cy="561975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9" name="Description 제목">
            <a:extLst>
              <a:ext uri="{FF2B5EF4-FFF2-40B4-BE49-F238E27FC236}">
                <a16:creationId xmlns:a16="http://schemas.microsoft.com/office/drawing/2014/main" id="{2C383078-AD41-AD7C-FDDD-BAC8FBE8CFD4}"/>
              </a:ext>
            </a:extLst>
          </p:cNvPr>
          <p:cNvSpPr txBox="1"/>
          <p:nvPr/>
        </p:nvSpPr>
        <p:spPr>
          <a:xfrm>
            <a:off x="8667750" y="1114425"/>
            <a:ext cx="1905000" cy="142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2" b="1" spc="86">
                <a:solidFill>
                  <a:srgbClr val="14181F"/>
                </a:solidFill>
                <a:latin typeface="Pretendard"/>
              </a:rPr>
              <a:t>DESCRIPTION</a:t>
            </a:r>
          </a:p>
        </p:txBody>
      </p:sp>
      <p:sp>
        <p:nvSpPr>
          <p:cNvPr id="10" name="Description 밑줄">
            <a:extLst>
              <a:ext uri="{FF2B5EF4-FFF2-40B4-BE49-F238E27FC236}">
                <a16:creationId xmlns:a16="http://schemas.microsoft.com/office/drawing/2014/main" id="{54136DD0-831C-67D4-B208-0D991F1E6A33}"/>
              </a:ext>
            </a:extLst>
          </p:cNvPr>
          <p:cNvSpPr/>
          <p:nvPr/>
        </p:nvSpPr>
        <p:spPr>
          <a:xfrm>
            <a:off x="8667750" y="1352550"/>
            <a:ext cx="2933700" cy="14288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graphicFrame>
        <p:nvGraphicFramePr>
          <p:cNvPr id="11" name="Description 표">
            <a:extLst>
              <a:ext uri="{FF2B5EF4-FFF2-40B4-BE49-F238E27FC236}">
                <a16:creationId xmlns:a16="http://schemas.microsoft.com/office/drawing/2014/main" id="{67EA0F07-4866-AF2A-A49F-C8F801D97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27731"/>
              </p:ext>
            </p:extLst>
          </p:nvPr>
        </p:nvGraphicFramePr>
        <p:xfrm>
          <a:off x="8629192" y="1447800"/>
          <a:ext cx="2972409" cy="2145486"/>
        </p:xfrm>
        <a:graphic>
          <a:graphicData uri="http://schemas.openxmlformats.org/drawingml/2006/table">
            <a:tbl>
              <a:tblPr/>
              <a:tblGrid>
                <a:gridCol w="419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5925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1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 탈퇴 확인 팝업 — 1단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[취소] 좌 · [회원 탈퇴] 우 — 경고색 ＋ 텍스트 병기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[취소] · 팝업 바깥 탭 · 시스템 뒤로가기 셋 다 팝업만 닫히고 3-0에 남음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1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선택 시 즉시 진행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12700" cap="flat" cmpd="sng" algn="ctr">
                      <a:solidFill>
                        <a:srgbClr val="D7DDE5"/>
                      </a:solidFill>
                    </a:lnB>
                    <a:noFill/>
                  </a:tcPr>
                </a:tc>
              </a:tr>
              <a:tr h="786231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4181F"/>
                          </a:solidFill>
                          <a:latin typeface="Pretendard"/>
                        </a:rPr>
                        <a:t>회원 탈퇴 완료</a:t>
                      </a: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300"/>
                        </a:spcBef>
                      </a:pPr>
                      <a:r>
                        <a:rPr sz="900" b="0" dirty="0">
                          <a:solidFill>
                            <a:srgbClr val="3E4652"/>
                          </a:solidFill>
                          <a:latin typeface="Pretendard"/>
                        </a:rPr>
                        <a:t>· 0-1 로그인 화면으로 돌아오고 그 화면 위에 토스트 「회원 탈퇴되었습니다.」</a:t>
                      </a:r>
                    </a:p>
                  </a:txBody>
                  <a:tcPr marL="38100" marR="38100" marT="57150" marB="7620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12700" cap="flat" cmpd="sng" algn="ctr">
                      <a:solidFill>
                        <a:srgbClr val="D7DDE5"/>
                      </a:solidFill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그룹 20">
            <a:extLst>
              <a:ext uri="{FF2B5EF4-FFF2-40B4-BE49-F238E27FC236}">
                <a16:creationId xmlns:a16="http://schemas.microsoft.com/office/drawing/2014/main" id="{4703D0D2-011C-0485-D015-27A961C8B37F}"/>
              </a:ext>
            </a:extLst>
          </p:cNvPr>
          <p:cNvGrpSpPr/>
          <p:nvPr/>
        </p:nvGrpSpPr>
        <p:grpSpPr>
          <a:xfrm>
            <a:off x="1541901" y="2650920"/>
            <a:ext cx="2324100" cy="1740310"/>
            <a:chOff x="928126" y="2592794"/>
            <a:chExt cx="2324100" cy="1740310"/>
          </a:xfrm>
        </p:grpSpPr>
        <p:sp>
          <p:nvSpPr>
            <p:cNvPr id="13" name="팝업">
              <a:extLst>
                <a:ext uri="{FF2B5EF4-FFF2-40B4-BE49-F238E27FC236}">
                  <a16:creationId xmlns:a16="http://schemas.microsoft.com/office/drawing/2014/main" id="{FEFBEA64-742E-82C7-4ADE-67D2DD162180}"/>
                </a:ext>
              </a:extLst>
            </p:cNvPr>
            <p:cNvSpPr/>
            <p:nvPr/>
          </p:nvSpPr>
          <p:spPr>
            <a:xfrm>
              <a:off x="928126" y="2592794"/>
              <a:ext cx="2324100" cy="1740310"/>
            </a:xfrm>
            <a:prstGeom prst="roundRect">
              <a:avLst>
                <a:gd name="adj" fmla="val 10144"/>
              </a:avLst>
            </a:prstGeom>
            <a:solidFill>
              <a:srgbClr val="FFFFFF"/>
            </a:solidFill>
            <a:ln w="9525">
              <a:solidFill>
                <a:srgbClr val="E3E7EC"/>
              </a:solidFill>
            </a:ln>
            <a:effectLst>
              <a:outerShdw blurRad="279400" dist="76200" dir="5400000" rotWithShape="0">
                <a:srgbClr val="1A2330">
                  <a:alpha val="2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4" name="팝업 문구">
              <a:extLst>
                <a:ext uri="{FF2B5EF4-FFF2-40B4-BE49-F238E27FC236}">
                  <a16:creationId xmlns:a16="http://schemas.microsoft.com/office/drawing/2014/main" id="{3C90F06A-C86C-CDDF-57E2-7D20A11451C7}"/>
                </a:ext>
              </a:extLst>
            </p:cNvPr>
            <p:cNvSpPr txBox="1"/>
            <p:nvPr/>
          </p:nvSpPr>
          <p:spPr>
            <a:xfrm>
              <a:off x="1118626" y="2745194"/>
              <a:ext cx="1943100" cy="1809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lang="ko-KR" altLang="en-US" sz="900" b="1" spc="-18" dirty="0">
                  <a:solidFill>
                    <a:srgbClr val="14181F"/>
                  </a:solidFill>
                  <a:latin typeface="Pretendard"/>
                </a:rPr>
                <a:t>회원 탈퇴</a:t>
              </a:r>
              <a:endParaRPr sz="900" b="1" spc="-18" dirty="0">
                <a:solidFill>
                  <a:srgbClr val="14181F"/>
                </a:solidFill>
                <a:latin typeface="Pretendard"/>
              </a:endParaRPr>
            </a:p>
          </p:txBody>
        </p:sp>
        <p:sp>
          <p:nvSpPr>
            <p:cNvPr id="15" name="팝업 문구">
              <a:extLst>
                <a:ext uri="{FF2B5EF4-FFF2-40B4-BE49-F238E27FC236}">
                  <a16:creationId xmlns:a16="http://schemas.microsoft.com/office/drawing/2014/main" id="{A7B0F3D8-7E8B-9F17-7943-1FC35A5E938D}"/>
                </a:ext>
              </a:extLst>
            </p:cNvPr>
            <p:cNvSpPr txBox="1"/>
            <p:nvPr/>
          </p:nvSpPr>
          <p:spPr>
            <a:xfrm>
              <a:off x="1118626" y="3061476"/>
              <a:ext cx="1943100" cy="6936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회원 탈퇴 시 계정이 즉시 삭제되며,</a:t>
              </a:r>
            </a:p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마일리지와 계정 정보는 복구할 수 없습니다.</a:t>
              </a:r>
            </a:p>
            <a:p>
              <a:pPr algn="ctr">
                <a:lnSpc>
                  <a:spcPct val="145000"/>
                </a:lnSpc>
              </a:pPr>
              <a:r>
                <a:rPr lang="ko-KR" altLang="en-US" sz="787" spc="-16" dirty="0">
                  <a:solidFill>
                    <a:srgbClr val="5B6573"/>
                  </a:solidFill>
                  <a:latin typeface="Pretendard"/>
                </a:rPr>
                <a:t>회원 탈퇴하시겠습니까?</a:t>
              </a:r>
            </a:p>
          </p:txBody>
        </p:sp>
        <p:sp>
          <p:nvSpPr>
            <p:cNvPr id="16" name="팝업 버튼 취소">
              <a:extLst>
                <a:ext uri="{FF2B5EF4-FFF2-40B4-BE49-F238E27FC236}">
                  <a16:creationId xmlns:a16="http://schemas.microsoft.com/office/drawing/2014/main" id="{153DD887-227E-0635-9FC1-B291C321EB86}"/>
                </a:ext>
              </a:extLst>
            </p:cNvPr>
            <p:cNvSpPr/>
            <p:nvPr/>
          </p:nvSpPr>
          <p:spPr>
            <a:xfrm>
              <a:off x="111862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FFFFFF"/>
            </a:solidFill>
            <a:ln w="9525">
              <a:solidFill>
                <a:srgbClr val="DDE2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7" name="팝업 버튼 라벨">
              <a:extLst>
                <a:ext uri="{FF2B5EF4-FFF2-40B4-BE49-F238E27FC236}">
                  <a16:creationId xmlns:a16="http://schemas.microsoft.com/office/drawing/2014/main" id="{77D9EA68-D14C-485B-DDF7-A20AD74E41B0}"/>
                </a:ext>
              </a:extLst>
            </p:cNvPr>
            <p:cNvSpPr txBox="1"/>
            <p:nvPr/>
          </p:nvSpPr>
          <p:spPr>
            <a:xfrm>
              <a:off x="111862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62" b="0" spc="-17">
                  <a:solidFill>
                    <a:srgbClr val="5B6573"/>
                  </a:solidFill>
                  <a:latin typeface="Pretendard"/>
                </a:rPr>
                <a:t>취소</a:t>
              </a:r>
            </a:p>
          </p:txBody>
        </p:sp>
        <p:sp>
          <p:nvSpPr>
            <p:cNvPr id="18" name="팝업 버튼 삭제">
              <a:extLst>
                <a:ext uri="{FF2B5EF4-FFF2-40B4-BE49-F238E27FC236}">
                  <a16:creationId xmlns:a16="http://schemas.microsoft.com/office/drawing/2014/main" id="{E3A87BD2-F2A5-C75F-5A83-E12AB44F93D4}"/>
                </a:ext>
              </a:extLst>
            </p:cNvPr>
            <p:cNvSpPr/>
            <p:nvPr/>
          </p:nvSpPr>
          <p:spPr>
            <a:xfrm>
              <a:off x="2128276" y="3838350"/>
              <a:ext cx="933450" cy="323850"/>
            </a:xfrm>
            <a:prstGeom prst="roundRect">
              <a:avLst>
                <a:gd name="adj" fmla="val 26470"/>
              </a:avLst>
            </a:prstGeom>
            <a:solidFill>
              <a:srgbClr val="E01B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팝업 버튼 라벨">
              <a:extLst>
                <a:ext uri="{FF2B5EF4-FFF2-40B4-BE49-F238E27FC236}">
                  <a16:creationId xmlns:a16="http://schemas.microsoft.com/office/drawing/2014/main" id="{3E6E5BE8-444F-B25A-3D86-6154A64B7CF1}"/>
                </a:ext>
              </a:extLst>
            </p:cNvPr>
            <p:cNvSpPr txBox="1"/>
            <p:nvPr/>
          </p:nvSpPr>
          <p:spPr>
            <a:xfrm>
              <a:off x="2128276" y="3838350"/>
              <a:ext cx="933450" cy="32385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862" b="1" spc="-17">
                  <a:solidFill>
                    <a:srgbClr val="FFFFFF"/>
                  </a:solidFill>
                  <a:latin typeface="Pretendard"/>
                </a:rPr>
                <a:t>회원 탈퇴</a:t>
              </a:r>
            </a:p>
          </p:txBody>
        </p:sp>
      </p:grpSp>
      <p:sp>
        <p:nvSpPr>
          <p:cNvPr id="20" name="목업 프레임">
            <a:extLst>
              <a:ext uri="{FF2B5EF4-FFF2-40B4-BE49-F238E27FC236}">
                <a16:creationId xmlns:a16="http://schemas.microsoft.com/office/drawing/2014/main" id="{464F8070-480D-4975-0087-B01579C25BAA}"/>
              </a:ext>
            </a:extLst>
          </p:cNvPr>
          <p:cNvSpPr/>
          <p:nvPr/>
        </p:nvSpPr>
        <p:spPr>
          <a:xfrm>
            <a:off x="4595813" y="1196975"/>
            <a:ext cx="2590800" cy="5200650"/>
          </a:xfrm>
          <a:prstGeom prst="roundRect">
            <a:avLst>
              <a:gd name="adj" fmla="val 9558"/>
            </a:avLst>
          </a:prstGeom>
          <a:solidFill>
            <a:srgbClr val="FFFFFF"/>
          </a:solidFill>
          <a:ln w="9525">
            <a:solidFill>
              <a:srgbClr val="D7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1" name="로고 타이틀">
            <a:extLst>
              <a:ext uri="{FF2B5EF4-FFF2-40B4-BE49-F238E27FC236}">
                <a16:creationId xmlns:a16="http://schemas.microsoft.com/office/drawing/2014/main" id="{752DDDDF-87B7-B087-03FD-EAE0BB933E3B}"/>
              </a:ext>
            </a:extLst>
          </p:cNvPr>
          <p:cNvSpPr txBox="1"/>
          <p:nvPr/>
        </p:nvSpPr>
        <p:spPr>
          <a:xfrm>
            <a:off x="4595813" y="1901825"/>
            <a:ext cx="259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725" b="1" spc="-52">
                <a:solidFill>
                  <a:srgbClr val="14181F"/>
                </a:solidFill>
                <a:latin typeface="Pretendard"/>
              </a:rPr>
              <a:t>서울동행맵</a:t>
            </a:r>
          </a:p>
        </p:txBody>
      </p:sp>
      <p:sp>
        <p:nvSpPr>
          <p:cNvPr id="22" name="SNS 버튼 카카오로 로그인">
            <a:extLst>
              <a:ext uri="{FF2B5EF4-FFF2-40B4-BE49-F238E27FC236}">
                <a16:creationId xmlns:a16="http://schemas.microsoft.com/office/drawing/2014/main" id="{1D66EAAD-1A26-8496-B448-9CEFB6ED742B}"/>
              </a:ext>
            </a:extLst>
          </p:cNvPr>
          <p:cNvSpPr/>
          <p:nvPr/>
        </p:nvSpPr>
        <p:spPr>
          <a:xfrm>
            <a:off x="4805363" y="25495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EE500"/>
          </a:solidFill>
          <a:ln w="9525">
            <a:solidFill>
              <a:srgbClr val="F2D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3" name="SNS 라벨">
            <a:extLst>
              <a:ext uri="{FF2B5EF4-FFF2-40B4-BE49-F238E27FC236}">
                <a16:creationId xmlns:a16="http://schemas.microsoft.com/office/drawing/2014/main" id="{9709F3CD-545E-082B-2620-EE1949F5D66F}"/>
              </a:ext>
            </a:extLst>
          </p:cNvPr>
          <p:cNvSpPr txBox="1"/>
          <p:nvPr/>
        </p:nvSpPr>
        <p:spPr>
          <a:xfrm>
            <a:off x="4805363" y="25495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3C1E1E"/>
                </a:solidFill>
                <a:latin typeface="Pretendard"/>
              </a:rPr>
              <a:t>카카오로 로그인</a:t>
            </a:r>
          </a:p>
        </p:txBody>
      </p:sp>
      <p:sp>
        <p:nvSpPr>
          <p:cNvPr id="24" name="SNS 버튼 네이버로 로그인">
            <a:extLst>
              <a:ext uri="{FF2B5EF4-FFF2-40B4-BE49-F238E27FC236}">
                <a16:creationId xmlns:a16="http://schemas.microsoft.com/office/drawing/2014/main" id="{F058EBFD-22E7-47B7-6153-6939283FD657}"/>
              </a:ext>
            </a:extLst>
          </p:cNvPr>
          <p:cNvSpPr/>
          <p:nvPr/>
        </p:nvSpPr>
        <p:spPr>
          <a:xfrm>
            <a:off x="4805363" y="30829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03C75A"/>
          </a:solidFill>
          <a:ln w="9525">
            <a:solidFill>
              <a:srgbClr val="03B1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5" name="SNS 라벨">
            <a:extLst>
              <a:ext uri="{FF2B5EF4-FFF2-40B4-BE49-F238E27FC236}">
                <a16:creationId xmlns:a16="http://schemas.microsoft.com/office/drawing/2014/main" id="{2F5CD939-60A7-AA22-4A5E-7BF0D60CAD98}"/>
              </a:ext>
            </a:extLst>
          </p:cNvPr>
          <p:cNvSpPr txBox="1"/>
          <p:nvPr/>
        </p:nvSpPr>
        <p:spPr>
          <a:xfrm>
            <a:off x="4805363" y="30829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네이버로 로그인</a:t>
            </a:r>
          </a:p>
        </p:txBody>
      </p:sp>
      <p:sp>
        <p:nvSpPr>
          <p:cNvPr id="26" name="SNS 버튼 구글로 로그인">
            <a:extLst>
              <a:ext uri="{FF2B5EF4-FFF2-40B4-BE49-F238E27FC236}">
                <a16:creationId xmlns:a16="http://schemas.microsoft.com/office/drawing/2014/main" id="{2F0AC2CE-6F23-B5BB-539E-DE5CE00B8A99}"/>
              </a:ext>
            </a:extLst>
          </p:cNvPr>
          <p:cNvSpPr/>
          <p:nvPr/>
        </p:nvSpPr>
        <p:spPr>
          <a:xfrm>
            <a:off x="4805363" y="36163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7" name="SNS 라벨">
            <a:extLst>
              <a:ext uri="{FF2B5EF4-FFF2-40B4-BE49-F238E27FC236}">
                <a16:creationId xmlns:a16="http://schemas.microsoft.com/office/drawing/2014/main" id="{1E345729-73ED-2026-5C80-8971F7524D50}"/>
              </a:ext>
            </a:extLst>
          </p:cNvPr>
          <p:cNvSpPr txBox="1"/>
          <p:nvPr/>
        </p:nvSpPr>
        <p:spPr>
          <a:xfrm>
            <a:off x="4805363" y="36163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14181F"/>
                </a:solidFill>
                <a:latin typeface="Pretendard"/>
              </a:rPr>
              <a:t>구글로 로그인</a:t>
            </a:r>
          </a:p>
        </p:txBody>
      </p:sp>
      <p:sp>
        <p:nvSpPr>
          <p:cNvPr id="28" name="SNS 버튼 애플로 로그인">
            <a:extLst>
              <a:ext uri="{FF2B5EF4-FFF2-40B4-BE49-F238E27FC236}">
                <a16:creationId xmlns:a16="http://schemas.microsoft.com/office/drawing/2014/main" id="{AD77F73A-C2BD-4E51-4090-908FAB05F79D}"/>
              </a:ext>
            </a:extLst>
          </p:cNvPr>
          <p:cNvSpPr/>
          <p:nvPr/>
        </p:nvSpPr>
        <p:spPr>
          <a:xfrm>
            <a:off x="4805363" y="414972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111111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29" name="SNS 라벨">
            <a:extLst>
              <a:ext uri="{FF2B5EF4-FFF2-40B4-BE49-F238E27FC236}">
                <a16:creationId xmlns:a16="http://schemas.microsoft.com/office/drawing/2014/main" id="{C3FFA5D2-7D58-B2DE-287B-5509726C1883}"/>
              </a:ext>
            </a:extLst>
          </p:cNvPr>
          <p:cNvSpPr txBox="1"/>
          <p:nvPr/>
        </p:nvSpPr>
        <p:spPr>
          <a:xfrm>
            <a:off x="4805363" y="414972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FFFFFF"/>
                </a:solidFill>
                <a:latin typeface="Pretendard"/>
              </a:rPr>
              <a:t>애플로 로그인</a:t>
            </a:r>
          </a:p>
        </p:txBody>
      </p:sp>
      <p:sp>
        <p:nvSpPr>
          <p:cNvPr id="30" name="구분선">
            <a:extLst>
              <a:ext uri="{FF2B5EF4-FFF2-40B4-BE49-F238E27FC236}">
                <a16:creationId xmlns:a16="http://schemas.microsoft.com/office/drawing/2014/main" id="{298C8A11-FC5B-3222-07F3-EFD460A1543C}"/>
              </a:ext>
            </a:extLst>
          </p:cNvPr>
          <p:cNvSpPr/>
          <p:nvPr/>
        </p:nvSpPr>
        <p:spPr>
          <a:xfrm>
            <a:off x="4805363" y="4797425"/>
            <a:ext cx="2171700" cy="9525"/>
          </a:xfrm>
          <a:prstGeom prst="rect">
            <a:avLst/>
          </a:prstGeom>
          <a:solidFill>
            <a:srgbClr val="E3E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1" name="비회원 버튼">
            <a:extLst>
              <a:ext uri="{FF2B5EF4-FFF2-40B4-BE49-F238E27FC236}">
                <a16:creationId xmlns:a16="http://schemas.microsoft.com/office/drawing/2014/main" id="{B8A63A8F-0CDC-D769-08A9-63042A527872}"/>
              </a:ext>
            </a:extLst>
          </p:cNvPr>
          <p:cNvSpPr/>
          <p:nvPr/>
        </p:nvSpPr>
        <p:spPr>
          <a:xfrm>
            <a:off x="4805363" y="4930775"/>
            <a:ext cx="2171700" cy="43815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 w="9525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endParaRPr/>
          </a:p>
        </p:txBody>
      </p:sp>
      <p:sp>
        <p:nvSpPr>
          <p:cNvPr id="32" name="비회원 라벨">
            <a:extLst>
              <a:ext uri="{FF2B5EF4-FFF2-40B4-BE49-F238E27FC236}">
                <a16:creationId xmlns:a16="http://schemas.microsoft.com/office/drawing/2014/main" id="{49312701-C308-A305-2D7D-901B910D105A}"/>
              </a:ext>
            </a:extLst>
          </p:cNvPr>
          <p:cNvSpPr txBox="1"/>
          <p:nvPr/>
        </p:nvSpPr>
        <p:spPr>
          <a:xfrm>
            <a:off x="4805363" y="4930775"/>
            <a:ext cx="2171700" cy="4381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37" b="0" spc="-19">
                <a:solidFill>
                  <a:srgbClr val="5B6573"/>
                </a:solidFill>
                <a:latin typeface="Pretendard"/>
              </a:rPr>
              <a:t>비회원으로 시작하기</a:t>
            </a:r>
          </a:p>
        </p:txBody>
      </p:sp>
      <p:grpSp>
        <p:nvGrpSpPr>
          <p:cNvPr id="33" name="그룹 35">
            <a:extLst>
              <a:ext uri="{FF2B5EF4-FFF2-40B4-BE49-F238E27FC236}">
                <a16:creationId xmlns:a16="http://schemas.microsoft.com/office/drawing/2014/main" id="{64D5899B-581D-61D1-2B62-7A9B8A9AE031}"/>
              </a:ext>
            </a:extLst>
          </p:cNvPr>
          <p:cNvGrpSpPr/>
          <p:nvPr/>
        </p:nvGrpSpPr>
        <p:grpSpPr>
          <a:xfrm>
            <a:off x="4700588" y="5661025"/>
            <a:ext cx="2381250" cy="419100"/>
            <a:chOff x="4719638" y="3867150"/>
            <a:chExt cx="2381250" cy="419100"/>
          </a:xfrm>
        </p:grpSpPr>
        <p:sp>
          <p:nvSpPr>
            <p:cNvPr id="34" name="토스트">
              <a:extLst>
                <a:ext uri="{FF2B5EF4-FFF2-40B4-BE49-F238E27FC236}">
                  <a16:creationId xmlns:a16="http://schemas.microsoft.com/office/drawing/2014/main" id="{3E4FB7CF-5D93-B5BB-A0B9-562375355338}"/>
                </a:ext>
              </a:extLst>
            </p:cNvPr>
            <p:cNvSpPr/>
            <p:nvPr/>
          </p:nvSpPr>
          <p:spPr>
            <a:xfrm>
              <a:off x="4719638" y="3867150"/>
              <a:ext cx="2381250" cy="419100"/>
            </a:xfrm>
            <a:prstGeom prst="roundRect">
              <a:avLst>
                <a:gd name="adj" fmla="val 27272"/>
              </a:avLst>
            </a:prstGeom>
            <a:solidFill>
              <a:srgbClr val="20262F"/>
            </a:solidFill>
            <a:ln>
              <a:noFill/>
            </a:ln>
            <a:effectLst>
              <a:outerShdw blurRad="254000" dist="63500" dir="5400000" rotWithShape="0">
                <a:srgbClr val="1A2330">
                  <a:alpha val="2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endParaRPr/>
            </a:p>
          </p:txBody>
        </p:sp>
        <p:sp>
          <p:nvSpPr>
            <p:cNvPr id="35" name="토스트 문구">
              <a:extLst>
                <a:ext uri="{FF2B5EF4-FFF2-40B4-BE49-F238E27FC236}">
                  <a16:creationId xmlns:a16="http://schemas.microsoft.com/office/drawing/2014/main" id="{0689312D-E794-E822-A11A-0CA8B64686C5}"/>
                </a:ext>
              </a:extLst>
            </p:cNvPr>
            <p:cNvSpPr txBox="1"/>
            <p:nvPr/>
          </p:nvSpPr>
          <p:spPr>
            <a:xfrm>
              <a:off x="5129213" y="3867150"/>
              <a:ext cx="1562100" cy="4191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ko-KR" altLang="en-US" sz="787" b="0" spc="-16" dirty="0">
                  <a:solidFill>
                    <a:srgbClr val="F2F4F7"/>
                  </a:solidFill>
                  <a:latin typeface="Pretendard"/>
                </a:rPr>
                <a:t>회원 탈퇴되었습니다.</a:t>
              </a:r>
            </a:p>
          </p:txBody>
        </p:sp>
      </p:grpSp>
      <p:sp>
        <p:nvSpPr>
          <p:cNvPr id="36" name="구분 칩"/>
          <p:cNvSpPr/>
          <p:nvPr/>
        </p:nvSpPr>
        <p:spPr>
          <a:xfrm>
            <a:off x="10104120" y="228600"/>
            <a:ext cx="960120" cy="252557"/>
          </a:xfrm>
          <a:prstGeom prst="roundRect">
            <a:avLst>
              <a:gd name="adj" fmla="val 23076"/>
            </a:avLst>
          </a:prstGeom>
          <a:solidFill>
            <a:srgbClr val="E8F0FE"/>
          </a:solidFill>
          <a:ln w="9525">
            <a:solidFill>
              <a:srgbClr val="C6D8F5"/>
            </a:solidFill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850" b="1" spc="20">
                <a:solidFill>
                  <a:srgbClr val="1B4B99"/>
                </a:solidFill>
                <a:latin typeface="Pretendard"/>
              </a:rPr>
              <a:t>회원 전용</a:t>
            </a:r>
          </a:p>
        </p:txBody>
      </p:sp>
      <p:sp>
        <p:nvSpPr>
          <p:cNvPr id="37" name="버전 라벨"/>
          <p:cNvSpPr/>
          <p:nvPr/>
        </p:nvSpPr>
        <p:spPr>
          <a:xfrm>
            <a:off x="11258550" y="238125"/>
            <a:ext cx="514350" cy="228600"/>
          </a:xfrm>
          <a:prstGeom prst="roundRect">
            <a:avLst>
              <a:gd name="adj" fmla="val 50000"/>
            </a:avLst>
          </a:prstGeom>
          <a:solidFill>
            <a:srgbClr val="FBF2E2"/>
          </a:solidFill>
          <a:ln w="9525">
            <a:solidFill>
              <a:srgbClr val="EBD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25" b="1" spc="22">
                <a:solidFill>
                  <a:srgbClr val="9A6410"/>
                </a:solidFill>
                <a:latin typeface="Pretendard"/>
              </a:rPr>
              <a:t>v1.0</a:t>
            </a:r>
          </a:p>
        </p:txBody>
      </p:sp>
      <p:sp>
        <p:nvSpPr>
          <p:cNvPr id="38" name="숫자배지 1">
            <a:extLst>
              <a:ext uri="{FF2B5EF4-FFF2-40B4-BE49-F238E27FC236}">
                <a16:creationId xmlns:a16="http://schemas.microsoft.com/office/drawing/2014/main" id="{E0561E98-A485-D771-193B-29E3B9AD9875}"/>
              </a:ext>
            </a:extLst>
          </p:cNvPr>
          <p:cNvSpPr/>
          <p:nvPr/>
        </p:nvSpPr>
        <p:spPr>
          <a:xfrm>
            <a:off x="1937776" y="2571209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9" name="숫자배지 1">
            <a:extLst>
              <a:ext uri="{FF2B5EF4-FFF2-40B4-BE49-F238E27FC236}">
                <a16:creationId xmlns:a16="http://schemas.microsoft.com/office/drawing/2014/main" id="{418909AD-3634-72D0-90BA-D78B1C30918A}"/>
              </a:ext>
            </a:extLst>
          </p:cNvPr>
          <p:cNvSpPr/>
          <p:nvPr/>
        </p:nvSpPr>
        <p:spPr>
          <a:xfrm>
            <a:off x="6672263" y="15163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E01B24"/>
          </a:solidFill>
          <a:ln w="7143">
            <a:solidFill>
              <a:srgbClr val="E01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>
                <a:solidFill>
                  <a:srgbClr val="FFFFFF"/>
                </a:solidFill>
                <a:latin typeface="Pretendard"/>
              </a:rPr>
              <a:t>2</a:t>
            </a:r>
            <a:endParaRPr sz="750" b="1" dirty="0">
              <a:solidFill>
                <a:srgbClr val="FFFFFF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95159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"/>
        <a:font script="Jpan" typeface="Pretendard"/>
        <a:font script="Hang" typeface="Pretendard"/>
        <a:font script="Hans" typeface="Pretendard"/>
        <a:font script="Hant" typeface="Pretendard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11895</Words>
  <Application>Microsoft Macintosh PowerPoint</Application>
  <PresentationFormat>와이드스크린</PresentationFormat>
  <Paragraphs>3442</Paragraphs>
  <Slides>74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7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서찬영</cp:lastModifiedBy>
  <cp:revision>260</cp:revision>
  <dcterms:created xsi:type="dcterms:W3CDTF">2013-01-27T09:14:16Z</dcterms:created>
  <dcterms:modified xsi:type="dcterms:W3CDTF">2026-09-11T00:30:13Z</dcterms:modified>
  <cp:category/>
</cp:coreProperties>
</file>