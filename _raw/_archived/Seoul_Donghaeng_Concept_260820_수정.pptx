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7" r:id="rId2"/>
    <p:sldId id="263" r:id="rId3"/>
    <p:sldId id="260" r:id="rId4"/>
    <p:sldId id="268" r:id="rId5"/>
    <p:sldId id="264" r:id="rId6"/>
    <p:sldId id="266" r:id="rId7"/>
    <p:sldId id="265" r:id="rId8"/>
    <p:sldId id="269" r:id="rId9"/>
    <p:sldId id="262" r:id="rId10"/>
    <p:sldId id="261" r:id="rId11"/>
    <p:sldId id="270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53D"/>
    <a:srgbClr val="006600"/>
    <a:srgbClr val="1A4E9B"/>
    <a:srgbClr val="00892E"/>
    <a:srgbClr val="2364D2"/>
    <a:srgbClr val="266EE7"/>
    <a:srgbClr val="6B7280"/>
    <a:srgbClr val="006421"/>
    <a:srgbClr val="007627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329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252" y="132"/>
      </p:cViewPr>
      <p:guideLst>
        <p:guide orient="horz" pos="227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02AECB-75DD-4E47-880A-18EAC72238CA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59C5D0-360C-46A3-9369-99EDCE394E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416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930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460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040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842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5522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2466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483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2657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171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719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839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778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780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9FC759-F746-4E0F-9184-9A4CD1B5F98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7162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300" dirty="0">
                <a:solidFill>
                  <a:schemeClr val="accent1">
                    <a:lumMod val="75000"/>
                  </a:schemeClr>
                </a:solidFill>
                <a:latin typeface="Noto Sans Mono CJK KR Regular" panose="020B0500000000000000" pitchFamily="34" charset="-127"/>
                <a:ea typeface="Noto Sans Mono CJK KR Regular" panose="020B0500000000000000" pitchFamily="34" charset="-127"/>
                <a:cs typeface="Pretendard" pitchFamily="34" charset="-120"/>
              </a:rPr>
              <a:t>SEOUL ACCESSIBLE NAVIGATION</a:t>
            </a:r>
            <a:endParaRPr lang="en-US" sz="1500" dirty="0">
              <a:solidFill>
                <a:schemeClr val="accent1">
                  <a:lumMod val="75000"/>
                </a:schemeClr>
              </a:solidFill>
              <a:latin typeface="Noto Sans Mono CJK KR Regular" panose="020B0500000000000000" pitchFamily="34" charset="-127"/>
              <a:ea typeface="Noto Sans Mono CJK KR Regular" panose="020B0500000000000000" pitchFamily="34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7240" y="18288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chemeClr val="bg1"/>
                </a:solidFill>
                <a:latin typeface="Noto Sans Mono CJK KR Bold" panose="020B0800000000000000" pitchFamily="34" charset="-127"/>
                <a:ea typeface="Noto Sans Mono CJK KR Bold" panose="020B0800000000000000" pitchFamily="34" charset="-127"/>
                <a:cs typeface="Pretendard" pitchFamily="34" charset="-120"/>
              </a:rPr>
              <a:t>서울동행맵</a:t>
            </a:r>
            <a:endParaRPr lang="en-US" sz="6200" dirty="0">
              <a:solidFill>
                <a:schemeClr val="bg1"/>
              </a:solidFill>
              <a:latin typeface="Noto Sans Mono CJK KR Bold" panose="020B0800000000000000" pitchFamily="34" charset="-127"/>
              <a:ea typeface="Noto Sans Mono CJK KR Bold" panose="020B0800000000000000" pitchFamily="34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chemeClr val="tx2">
                    <a:lumMod val="40000"/>
                    <a:lumOff val="60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접근성 우선 디자인 </a:t>
            </a:r>
            <a:r>
              <a:rPr lang="en-US" sz="2200">
                <a:solidFill>
                  <a:schemeClr val="tx2">
                    <a:lumMod val="40000"/>
                    <a:lumOff val="60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</a:t>
            </a:r>
            <a:r>
              <a:rPr lang="en-US" sz="2200" smtClean="0">
                <a:solidFill>
                  <a:schemeClr val="tx2">
                    <a:lumMod val="40000"/>
                    <a:lumOff val="60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r>
              <a:rPr lang="en-US" altLang="ko-KR" sz="2400" smtClean="0">
                <a:solidFill>
                  <a:schemeClr val="tx2">
                    <a:lumMod val="40000"/>
                    <a:lumOff val="60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en-US" sz="2200" smtClean="0">
                <a:solidFill>
                  <a:schemeClr val="tx2">
                    <a:lumMod val="40000"/>
                    <a:lumOff val="60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</a:t>
            </a:r>
            <a:endParaRPr lang="en-US" sz="22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822960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>
                    <a:lumMod val="40000"/>
                    <a:lumOff val="60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iNavi 프로덕트전략셀</a:t>
            </a:r>
            <a:endParaRPr lang="en-US" sz="13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403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64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197830" y="2468216"/>
            <a:ext cx="1846916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Pretendard Black" panose="02000A03000000020004" pitchFamily="50" charset="-127"/>
              </a:rPr>
              <a:t>BLUE</a:t>
            </a:r>
            <a:endParaRPr lang="en-US" altLang="ko-KR" sz="60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Pretendard Black" panose="02000A0300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87547" y="766416"/>
            <a:ext cx="153086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spc="-150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Pretendard Black" panose="02000A03000000020004" pitchFamily="50" charset="-127"/>
              </a:rPr>
              <a:t>화면 시안 </a:t>
            </a:r>
            <a:r>
              <a:rPr lang="en-US" altLang="ko-KR" sz="2400" b="1" spc="-150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Pretendard Black" panose="02000A03000000020004" pitchFamily="50" charset="-127"/>
              </a:rPr>
              <a:t>A</a:t>
            </a:r>
            <a:endParaRPr lang="en-US" altLang="ko-KR" sz="2400" b="1" spc="-15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Pretendard Black" panose="02000A03000000020004" pitchFamily="50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3653589" y="2289426"/>
            <a:ext cx="4884821" cy="1323474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2551790" y="3933960"/>
            <a:ext cx="7097035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smtClean="0">
                <a:solidFill>
                  <a:schemeClr val="bg1"/>
                </a:solidFill>
                <a:latin typeface="+mn-ea"/>
              </a:rPr>
              <a:t>'</a:t>
            </a:r>
            <a:r>
              <a:rPr lang="ko-KR" altLang="en-US" sz="1400">
                <a:solidFill>
                  <a:schemeClr val="bg1"/>
                </a:solidFill>
                <a:latin typeface="+mn-ea"/>
              </a:rPr>
              <a:t>블루</a:t>
            </a:r>
            <a:r>
              <a:rPr lang="en-US" altLang="ko-KR" sz="1400">
                <a:solidFill>
                  <a:schemeClr val="bg1"/>
                </a:solidFill>
                <a:latin typeface="+mn-ea"/>
              </a:rPr>
              <a:t>' </a:t>
            </a:r>
            <a:r>
              <a:rPr lang="ko-KR" altLang="en-US" sz="1400">
                <a:solidFill>
                  <a:schemeClr val="bg1"/>
                </a:solidFill>
                <a:latin typeface="+mn-ea"/>
              </a:rPr>
              <a:t>계열은 적</a:t>
            </a:r>
            <a:r>
              <a:rPr lang="en-US" altLang="ko-KR" sz="1400">
                <a:solidFill>
                  <a:schemeClr val="bg1"/>
                </a:solidFill>
                <a:latin typeface="+mn-ea"/>
              </a:rPr>
              <a:t>,</a:t>
            </a:r>
            <a:r>
              <a:rPr lang="ko-KR" altLang="en-US" sz="1400">
                <a:solidFill>
                  <a:schemeClr val="bg1"/>
                </a:solidFill>
                <a:latin typeface="+mn-ea"/>
              </a:rPr>
              <a:t>록 색맹 유형에서의 인지 </a:t>
            </a:r>
            <a:r>
              <a:rPr lang="ko-KR" altLang="en-US" sz="1400">
                <a:solidFill>
                  <a:schemeClr val="bg1"/>
                </a:solidFill>
                <a:latin typeface="+mn-ea"/>
              </a:rPr>
              <a:t>판별률 </a:t>
            </a:r>
            <a:r>
              <a:rPr lang="ko-KR" altLang="en-US" sz="1400">
                <a:solidFill>
                  <a:schemeClr val="bg1"/>
                </a:solidFill>
                <a:latin typeface="+mn-ea"/>
              </a:rPr>
              <a:t>개선과 </a:t>
            </a:r>
            <a:r>
              <a:rPr lang="ko-KR" altLang="en-US" sz="1400">
                <a:solidFill>
                  <a:schemeClr val="bg1"/>
                </a:solidFill>
                <a:latin typeface="+mn-ea"/>
              </a:rPr>
              <a:t>저시력 </a:t>
            </a:r>
            <a:r>
              <a:rPr lang="ko-KR" altLang="en-US" sz="1400" smtClean="0">
                <a:solidFill>
                  <a:schemeClr val="bg1"/>
                </a:solidFill>
                <a:latin typeface="+mn-ea"/>
              </a:rPr>
              <a:t>유형에서</a:t>
            </a:r>
            <a:r>
              <a:rPr lang="en-US" altLang="ko-KR" sz="1400" smtClean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1400" smtClean="0">
                <a:solidFill>
                  <a:schemeClr val="bg1"/>
                </a:solidFill>
                <a:latin typeface="+mn-ea"/>
              </a:rPr>
            </a:br>
            <a:r>
              <a:rPr lang="ko-KR" altLang="en-US" sz="1400" smtClean="0">
                <a:solidFill>
                  <a:schemeClr val="bg1"/>
                </a:solidFill>
                <a:latin typeface="+mn-ea"/>
              </a:rPr>
              <a:t>조건 </a:t>
            </a:r>
            <a:r>
              <a:rPr lang="ko-KR" altLang="en-US" sz="1400">
                <a:solidFill>
                  <a:schemeClr val="bg1"/>
                </a:solidFill>
                <a:latin typeface="+mn-ea"/>
              </a:rPr>
              <a:t>간 </a:t>
            </a:r>
            <a:r>
              <a:rPr lang="ko-KR" altLang="en-US" sz="1400">
                <a:solidFill>
                  <a:schemeClr val="bg1"/>
                </a:solidFill>
                <a:latin typeface="+mn-ea"/>
              </a:rPr>
              <a:t>편차가 </a:t>
            </a:r>
            <a:r>
              <a:rPr lang="ko-KR" altLang="en-US" sz="1400" smtClean="0">
                <a:solidFill>
                  <a:schemeClr val="bg1"/>
                </a:solidFill>
                <a:latin typeface="+mn-ea"/>
              </a:rPr>
              <a:t>적은</a:t>
            </a:r>
            <a:r>
              <a:rPr lang="en-US" altLang="ko-KR" sz="140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400" smtClean="0">
                <a:solidFill>
                  <a:schemeClr val="bg1"/>
                </a:solidFill>
                <a:latin typeface="+mn-ea"/>
              </a:rPr>
              <a:t>시각적 </a:t>
            </a:r>
            <a:r>
              <a:rPr lang="ko-KR" altLang="en-US" sz="1400">
                <a:solidFill>
                  <a:schemeClr val="bg1"/>
                </a:solidFill>
                <a:latin typeface="+mn-ea"/>
              </a:rPr>
              <a:t>유리한 </a:t>
            </a:r>
            <a:r>
              <a:rPr lang="ko-KR" altLang="en-US" sz="1400" smtClean="0">
                <a:solidFill>
                  <a:schemeClr val="bg1"/>
                </a:solidFill>
                <a:latin typeface="+mn-ea"/>
              </a:rPr>
              <a:t>구조이며 </a:t>
            </a:r>
            <a:r>
              <a:rPr lang="ko-KR" altLang="en-US" sz="1400">
                <a:solidFill>
                  <a:schemeClr val="bg1"/>
                </a:solidFill>
                <a:latin typeface="+mn-ea"/>
              </a:rPr>
              <a:t>안정적인 </a:t>
            </a:r>
            <a:r>
              <a:rPr lang="ko-KR" altLang="en-US" sz="1400">
                <a:solidFill>
                  <a:schemeClr val="bg1"/>
                </a:solidFill>
                <a:latin typeface="+mn-ea"/>
              </a:rPr>
              <a:t>명도 </a:t>
            </a:r>
            <a:r>
              <a:rPr lang="ko-KR" altLang="en-US" sz="1400" smtClean="0">
                <a:solidFill>
                  <a:schemeClr val="bg1"/>
                </a:solidFill>
                <a:latin typeface="+mn-ea"/>
              </a:rPr>
              <a:t>대비 컬러 값으로 추출</a:t>
            </a:r>
            <a:r>
              <a:rPr lang="en-US" altLang="ko-KR" sz="1400" smtClean="0">
                <a:solidFill>
                  <a:schemeClr val="bg1"/>
                </a:solidFill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smtClean="0">
                <a:solidFill>
                  <a:schemeClr val="bg1"/>
                </a:solidFill>
                <a:latin typeface="+mn-ea"/>
              </a:rPr>
              <a:t>아이콘</a:t>
            </a:r>
            <a:r>
              <a:rPr lang="en-US" altLang="ko-KR" sz="1400">
                <a:solidFill>
                  <a:schemeClr val="bg1"/>
                </a:solidFill>
                <a:latin typeface="+mn-ea"/>
              </a:rPr>
              <a:t>·</a:t>
            </a:r>
            <a:r>
              <a:rPr lang="ko-KR" altLang="en-US" sz="1400">
                <a:solidFill>
                  <a:schemeClr val="bg1"/>
                </a:solidFill>
                <a:latin typeface="+mn-ea"/>
              </a:rPr>
              <a:t>라벨</a:t>
            </a:r>
            <a:r>
              <a:rPr lang="en-US" altLang="ko-KR" sz="1400">
                <a:solidFill>
                  <a:schemeClr val="bg1"/>
                </a:solidFill>
                <a:latin typeface="+mn-ea"/>
              </a:rPr>
              <a:t>·</a:t>
            </a:r>
            <a:r>
              <a:rPr lang="ko-KR" altLang="en-US" sz="1400">
                <a:solidFill>
                  <a:schemeClr val="bg1"/>
                </a:solidFill>
                <a:latin typeface="+mn-ea"/>
              </a:rPr>
              <a:t>형태를 병기하는 원칙으로 접근성 </a:t>
            </a:r>
            <a:r>
              <a:rPr lang="ko-KR" altLang="en-US" sz="1400">
                <a:solidFill>
                  <a:schemeClr val="bg1"/>
                </a:solidFill>
                <a:latin typeface="+mn-ea"/>
              </a:rPr>
              <a:t>기준 </a:t>
            </a:r>
            <a:r>
              <a:rPr lang="ko-KR" altLang="en-US" sz="1400" smtClean="0">
                <a:solidFill>
                  <a:schemeClr val="bg1"/>
                </a:solidFill>
                <a:latin typeface="+mn-ea"/>
              </a:rPr>
              <a:t>충족</a:t>
            </a:r>
            <a:r>
              <a:rPr lang="en-US" altLang="ko-KR" sz="1400" smtClean="0">
                <a:solidFill>
                  <a:schemeClr val="bg1"/>
                </a:solidFill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smtClean="0">
                <a:solidFill>
                  <a:schemeClr val="bg1"/>
                </a:solidFill>
                <a:latin typeface="+mn-ea"/>
              </a:rPr>
              <a:t>대중교통</a:t>
            </a:r>
            <a:r>
              <a:rPr lang="en-US" altLang="ko-KR" sz="1400" smtClean="0">
                <a:solidFill>
                  <a:schemeClr val="bg1"/>
                </a:solidFill>
                <a:latin typeface="+mn-ea"/>
              </a:rPr>
              <a:t>·</a:t>
            </a:r>
            <a:r>
              <a:rPr lang="ko-KR" altLang="en-US" sz="1400" smtClean="0">
                <a:solidFill>
                  <a:schemeClr val="bg1"/>
                </a:solidFill>
                <a:latin typeface="+mn-ea"/>
              </a:rPr>
              <a:t>공공 서비스</a:t>
            </a:r>
            <a:r>
              <a:rPr lang="en-US" altLang="ko-KR" sz="140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400" smtClean="0">
                <a:solidFill>
                  <a:schemeClr val="bg1"/>
                </a:solidFill>
                <a:latin typeface="+mn-ea"/>
              </a:rPr>
              <a:t>맥락에서 신뢰의 코드로 읽히는 컬러</a:t>
            </a:r>
            <a:r>
              <a:rPr lang="en-US" altLang="ko-KR" sz="1400" smtClean="0">
                <a:solidFill>
                  <a:schemeClr val="bg1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4454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78386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0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시안 </a:t>
            </a:r>
            <a:r>
              <a:rPr lang="en-US" altLang="ko-KR" sz="2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A</a:t>
            </a:r>
            <a:endParaRPr lang="en-US" altLang="ko-KR" sz="20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24040" y="1348966"/>
            <a:ext cx="344681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8084" y="2239504"/>
            <a:ext cx="1781192" cy="38592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3800" y="2239504"/>
            <a:ext cx="1781192" cy="38592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373" y="2239504"/>
            <a:ext cx="1781192" cy="38592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40" y="2239504"/>
            <a:ext cx="1781192" cy="38592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24039" y="1552710"/>
            <a:ext cx="950103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</a:t>
            </a:r>
            <a:r>
              <a:rPr lang="en-US" altLang="ko-KR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록 </a:t>
            </a:r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색맹 </a:t>
            </a:r>
            <a:r>
              <a:rPr lang="ko-KR" altLang="en-US" sz="16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사용자에게도 동일한 시각적 사양을 제공</a:t>
            </a:r>
            <a:r>
              <a:rPr lang="en-US" altLang="ko-KR" sz="16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6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라운드 버튼과</a:t>
            </a:r>
            <a:r>
              <a:rPr lang="en-US" altLang="ko-KR" sz="16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Line </a:t>
            </a:r>
            <a:r>
              <a:rPr lang="ko-KR" altLang="en-US" sz="16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형태 스타일 시안</a:t>
            </a:r>
            <a:endParaRPr lang="en-US" altLang="ko-KR" sz="1600">
              <a:latin typeface="+mn-ea"/>
            </a:endParaRPr>
          </a:p>
        </p:txBody>
      </p:sp>
      <p:pic>
        <p:nvPicPr>
          <p:cNvPr id="71" name="그림 7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516" y="2239505"/>
            <a:ext cx="1781192" cy="385924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348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152605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시안 </a:t>
            </a:r>
            <a:r>
              <a:rPr lang="en-US" altLang="ko-KR" sz="2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A Color</a:t>
            </a:r>
            <a:endParaRPr lang="en-US" altLang="ko-KR" sz="20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24040" y="1348966"/>
            <a:ext cx="344681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 4"/>
          <p:cNvSpPr/>
          <p:nvPr/>
        </p:nvSpPr>
        <p:spPr>
          <a:xfrm>
            <a:off x="8246839" y="2288099"/>
            <a:ext cx="23900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smtClean="0">
                <a:solidFill>
                  <a:srgbClr val="0C2415"/>
                </a:solidFill>
                <a:latin typeface="+mn-ea"/>
                <a:cs typeface="Pretendard" pitchFamily="34" charset="-120"/>
              </a:rPr>
              <a:t>컬러 대비</a:t>
            </a:r>
            <a:endParaRPr lang="en-US" sz="1400" dirty="0">
              <a:latin typeface="+mn-ea"/>
            </a:endParaRPr>
          </a:p>
        </p:txBody>
      </p:sp>
      <p:sp>
        <p:nvSpPr>
          <p:cNvPr id="61" name="Text 5"/>
          <p:cNvSpPr/>
          <p:nvPr/>
        </p:nvSpPr>
        <p:spPr>
          <a:xfrm>
            <a:off x="8246839" y="2598995"/>
            <a:ext cx="3528390" cy="892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ko-KR" alt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본문</a:t>
            </a:r>
            <a:r>
              <a:rPr lang="en-US" altLang="ko-KR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·</a:t>
            </a:r>
            <a:r>
              <a:rPr lang="ko-KR" alt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보조 설명 텍스트는 </a:t>
            </a:r>
            <a:r>
              <a:rPr lang="en-US" altLang="ko-KR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10.3:1 </a:t>
            </a:r>
            <a:r>
              <a:rPr lang="ko-KR" alt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이상</a:t>
            </a:r>
            <a:r>
              <a:rPr lang="en-US" altLang="ko-KR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(</a:t>
            </a:r>
            <a:r>
              <a:rPr lang="en-US" altLang="ko-KR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AAA)</a:t>
            </a:r>
          </a:p>
          <a:p>
            <a:pPr>
              <a:lnSpc>
                <a:spcPct val="115000"/>
              </a:lnSpc>
            </a:pPr>
            <a:r>
              <a:rPr lang="ko-KR" alt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버튼</a:t>
            </a:r>
            <a:r>
              <a:rPr lang="en-US" altLang="ko-KR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·</a:t>
            </a:r>
            <a:r>
              <a:rPr lang="ko-KR" alt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배경은 </a:t>
            </a:r>
            <a:r>
              <a:rPr lang="en-US" altLang="ko-KR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8</a:t>
            </a:r>
            <a:r>
              <a:rPr lang="en-US" altLang="ko-KR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:1</a:t>
            </a:r>
            <a:r>
              <a:rPr lang="en-US" altLang="ko-KR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, </a:t>
            </a:r>
            <a:r>
              <a:rPr lang="ko-KR" alt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아이콘</a:t>
            </a:r>
            <a:r>
              <a:rPr lang="en-US" altLang="ko-KR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·</a:t>
            </a:r>
            <a:r>
              <a:rPr lang="ko-KR" alt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큰 </a:t>
            </a:r>
            <a:r>
              <a:rPr lang="ko-KR" alt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텍스트는 </a:t>
            </a:r>
            <a:r>
              <a:rPr lang="en-US" altLang="ko-KR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4.5:1 </a:t>
            </a:r>
            <a:r>
              <a:rPr lang="ko-KR" alt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이상</a:t>
            </a:r>
            <a:endParaRPr lang="en-US" altLang="ko-KR" sz="1200" smtClean="0">
              <a:solidFill>
                <a:srgbClr val="474747"/>
              </a:solidFill>
              <a:latin typeface="+mn-ea"/>
              <a:cs typeface="Pretendard" pitchFamily="34" charset="-120"/>
            </a:endParaRPr>
          </a:p>
          <a:p>
            <a:pPr>
              <a:lnSpc>
                <a:spcPct val="115000"/>
              </a:lnSpc>
            </a:pPr>
            <a:r>
              <a:rPr lang="ko-KR" alt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컬러로 </a:t>
            </a:r>
            <a:r>
              <a:rPr lang="ko-KR" alt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구분 적용해 두 접근성 기준을 함께 충족</a:t>
            </a:r>
            <a:endParaRPr lang="en-US" sz="1200" dirty="0">
              <a:latin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24040" y="1552710"/>
            <a:ext cx="7725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6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</a:t>
            </a:r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 및 중요 대상 컬러 </a:t>
            </a:r>
            <a:r>
              <a:rPr lang="en-US" altLang="ko-KR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WCAG 2.1 / KWCAG 2.1 AA 기준 </a:t>
            </a:r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비율 </a:t>
            </a:r>
            <a:r>
              <a:rPr lang="en-US" altLang="ko-KR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4.5 : 1 </a:t>
            </a:r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 </a:t>
            </a:r>
            <a:r>
              <a:rPr lang="ko-KR" altLang="en-US" sz="16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</a:t>
            </a:r>
            <a:endParaRPr lang="en-US" altLang="ko-KR" sz="1600">
              <a:latin typeface="+mn-ea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624040" y="2370048"/>
            <a:ext cx="1804659" cy="2802528"/>
          </a:xfrm>
          <a:prstGeom prst="rect">
            <a:avLst/>
          </a:prstGeom>
          <a:solidFill>
            <a:srgbClr val="1A4E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2428699" y="2370048"/>
            <a:ext cx="1804659" cy="2802528"/>
          </a:xfrm>
          <a:prstGeom prst="rect">
            <a:avLst/>
          </a:prstGeom>
          <a:solidFill>
            <a:srgbClr val="0089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4233358" y="2370048"/>
            <a:ext cx="1804659" cy="2802528"/>
          </a:xfrm>
          <a:prstGeom prst="rect">
            <a:avLst/>
          </a:prstGeom>
          <a:solidFill>
            <a:srgbClr val="171C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6038017" y="2370048"/>
            <a:ext cx="1804659" cy="28025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782738" y="2878255"/>
            <a:ext cx="6187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#1A4E9B</a:t>
            </a:r>
            <a:endParaRPr lang="en-US" altLang="ko-KR" sz="120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782738" y="2594344"/>
            <a:ext cx="66877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4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Primary</a:t>
            </a:r>
            <a:endParaRPr lang="en-US" altLang="ko-KR" sz="14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2587397" y="2878255"/>
            <a:ext cx="59792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#00892E</a:t>
            </a:r>
            <a:endParaRPr lang="en-US" altLang="ko-KR" sz="120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2587397" y="2594344"/>
            <a:ext cx="91723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4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Secondary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4392056" y="2881395"/>
            <a:ext cx="62837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#171C1C</a:t>
            </a:r>
            <a:endParaRPr lang="en-US" altLang="ko-KR" sz="120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4392056" y="2597484"/>
            <a:ext cx="108465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4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Text-Primary</a:t>
            </a:r>
            <a:endParaRPr lang="en-US" altLang="ko-KR" sz="14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196715" y="2881395"/>
            <a:ext cx="60272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#374151</a:t>
            </a:r>
            <a:endParaRPr lang="en-US" altLang="ko-KR" sz="120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196715" y="2597484"/>
            <a:ext cx="130843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4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Text-Secondary</a:t>
            </a:r>
            <a:endParaRPr lang="en-US" altLang="ko-KR" sz="14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1922312" y="4477365"/>
            <a:ext cx="36548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2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8:1</a:t>
            </a:r>
            <a:endParaRPr lang="en-US" altLang="ko-KR" sz="20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3361487" y="4477364"/>
            <a:ext cx="73096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2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4.55:1</a:t>
            </a:r>
            <a:endParaRPr lang="en-US" altLang="ko-KR" sz="20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017066" y="4477363"/>
            <a:ext cx="88004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2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16.77:1</a:t>
            </a:r>
            <a:endParaRPr lang="en-US" altLang="ko-KR" sz="20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823168" y="4477362"/>
            <a:ext cx="88004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2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10.32:1</a:t>
            </a:r>
            <a:endParaRPr lang="en-US" altLang="ko-KR" sz="20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6728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87547" y="766416"/>
            <a:ext cx="151002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spc="-150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Pretendard Black" panose="02000A03000000020004" pitchFamily="50" charset="-127"/>
              </a:rPr>
              <a:t>화면 시안 </a:t>
            </a:r>
            <a:r>
              <a:rPr lang="en-US" altLang="ko-KR" sz="2400" b="1" spc="-150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Pretendard Black" panose="02000A03000000020004" pitchFamily="50" charset="-127"/>
              </a:rPr>
              <a:t>B</a:t>
            </a:r>
            <a:endParaRPr lang="en-US" altLang="ko-KR" sz="2400" b="1" spc="-15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Pretendard Black" panose="02000A0300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4844745" y="2504312"/>
            <a:ext cx="2503891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6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Pretendard Black" panose="02000A03000000020004" pitchFamily="50" charset="-127"/>
              </a:rPr>
              <a:t>GREEN</a:t>
            </a:r>
            <a:endParaRPr lang="en-US" altLang="ko-KR" sz="60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Pretendard Black" panose="02000A03000000020004" pitchFamily="50" charset="-127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3653589" y="2289426"/>
            <a:ext cx="4884821" cy="1323474"/>
          </a:xfrm>
          <a:prstGeom prst="roundRect">
            <a:avLst>
              <a:gd name="adj" fmla="val 5455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3094716" y="3933960"/>
            <a:ext cx="5986620" cy="9694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chemeClr val="bg1"/>
                </a:solidFill>
                <a:latin typeface="+mn-ea"/>
              </a:rPr>
              <a:t>이미 반영 중인 컬러 시스템으로 기존 브랜드와 </a:t>
            </a:r>
            <a:r>
              <a:rPr lang="ko-KR" altLang="en-US" sz="1400">
                <a:solidFill>
                  <a:schemeClr val="bg1"/>
                </a:solidFill>
                <a:latin typeface="+mn-ea"/>
              </a:rPr>
              <a:t>통일감을 </a:t>
            </a:r>
            <a:r>
              <a:rPr lang="ko-KR" altLang="en-US" sz="1400" smtClean="0">
                <a:solidFill>
                  <a:schemeClr val="bg1"/>
                </a:solidFill>
                <a:latin typeface="+mn-ea"/>
              </a:rPr>
              <a:t>유지</a:t>
            </a:r>
            <a:r>
              <a:rPr lang="en-US" altLang="ko-KR" sz="1400" smtClean="0">
                <a:solidFill>
                  <a:schemeClr val="bg1"/>
                </a:solidFill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smtClean="0">
                <a:solidFill>
                  <a:schemeClr val="bg1"/>
                </a:solidFill>
                <a:latin typeface="+mn-ea"/>
              </a:rPr>
              <a:t>기존 제안 컬러보다 </a:t>
            </a:r>
            <a:r>
              <a:rPr lang="ko-KR" altLang="en-US" sz="1400">
                <a:solidFill>
                  <a:schemeClr val="bg1"/>
                </a:solidFill>
                <a:latin typeface="+mn-ea"/>
              </a:rPr>
              <a:t>명도 </a:t>
            </a:r>
            <a:r>
              <a:rPr lang="ko-KR" altLang="en-US" sz="1400" smtClean="0">
                <a:solidFill>
                  <a:schemeClr val="bg1"/>
                </a:solidFill>
                <a:latin typeface="+mn-ea"/>
              </a:rPr>
              <a:t>대비율 높인 컬러 값으로 추출</a:t>
            </a:r>
            <a:r>
              <a:rPr lang="en-US" altLang="ko-KR" sz="1400" smtClean="0">
                <a:solidFill>
                  <a:schemeClr val="bg1"/>
                </a:solidFill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chemeClr val="bg1"/>
                </a:solidFill>
                <a:latin typeface="+mn-ea"/>
              </a:rPr>
              <a:t>심리적으로 안정적인 톤으로 불필요한 긴장을 주지 않는 </a:t>
            </a:r>
            <a:r>
              <a:rPr lang="ko-KR" altLang="en-US" sz="1400">
                <a:solidFill>
                  <a:schemeClr val="bg1"/>
                </a:solidFill>
                <a:latin typeface="+mn-ea"/>
              </a:rPr>
              <a:t>긍정의 </a:t>
            </a:r>
            <a:r>
              <a:rPr lang="ko-KR" altLang="en-US" sz="1400" smtClean="0">
                <a:solidFill>
                  <a:schemeClr val="bg1"/>
                </a:solidFill>
                <a:latin typeface="+mn-ea"/>
              </a:rPr>
              <a:t>컬러</a:t>
            </a:r>
            <a:endParaRPr lang="en-US" altLang="ko-KR" sz="1400" smtClean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6384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76623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0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시안 </a:t>
            </a:r>
            <a:r>
              <a:rPr lang="en-US" altLang="ko-KR" sz="2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B</a:t>
            </a:r>
            <a:endParaRPr lang="en-US" altLang="ko-KR" sz="20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24040" y="1348966"/>
            <a:ext cx="344681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5471" y="2239504"/>
            <a:ext cx="1781193" cy="38592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8575" y="2239504"/>
            <a:ext cx="1781193" cy="38592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367" y="2239504"/>
            <a:ext cx="1781193" cy="38592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40" y="2239504"/>
            <a:ext cx="1781193" cy="38592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24040" y="1552710"/>
            <a:ext cx="7725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6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익숙한 컬러와 안정적인 톤을 반영</a:t>
            </a:r>
            <a:r>
              <a:rPr lang="en-US" altLang="ko-KR" sz="16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6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사각 버튼과</a:t>
            </a:r>
            <a:r>
              <a:rPr lang="en-US" altLang="ko-KR" sz="16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Filled </a:t>
            </a:r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형태 스타일 시안</a:t>
            </a:r>
            <a:endParaRPr lang="en-US" altLang="ko-KR" sz="1600">
              <a:latin typeface="+mn-ea"/>
            </a:endParaRP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516" y="2239505"/>
            <a:ext cx="1781191" cy="385924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02617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150842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시안 </a:t>
            </a:r>
            <a:r>
              <a:rPr lang="en-US" altLang="ko-KR" sz="2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B </a:t>
            </a:r>
            <a:r>
              <a:rPr lang="en-US" altLang="ko-KR" sz="20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Color</a:t>
            </a:r>
            <a:endParaRPr lang="en-US" altLang="ko-KR" sz="20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24040" y="1552710"/>
            <a:ext cx="7725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6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</a:t>
            </a:r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 및 중요 대상 컬러 </a:t>
            </a:r>
            <a:r>
              <a:rPr lang="en-US" altLang="ko-KR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WCAG 2.1 / KWCAG 2.1 AA 기준 </a:t>
            </a:r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비율 </a:t>
            </a:r>
            <a:r>
              <a:rPr lang="en-US" altLang="ko-KR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4.5 : 1 </a:t>
            </a:r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 </a:t>
            </a:r>
            <a:r>
              <a:rPr lang="ko-KR" altLang="en-US" sz="16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</a:t>
            </a:r>
            <a:endParaRPr lang="en-US" altLang="ko-KR" sz="1600">
              <a:latin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24040" y="1348966"/>
            <a:ext cx="344681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2427057" y="2370048"/>
            <a:ext cx="1804659" cy="2802528"/>
          </a:xfrm>
          <a:prstGeom prst="rect">
            <a:avLst/>
          </a:prstGeom>
          <a:solidFill>
            <a:srgbClr val="266E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628474" y="2370048"/>
            <a:ext cx="1804659" cy="2802528"/>
          </a:xfrm>
          <a:prstGeom prst="rect">
            <a:avLst/>
          </a:prstGeom>
          <a:solidFill>
            <a:srgbClr val="0089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4233358" y="2370048"/>
            <a:ext cx="1804659" cy="2802528"/>
          </a:xfrm>
          <a:prstGeom prst="rect">
            <a:avLst/>
          </a:prstGeom>
          <a:solidFill>
            <a:srgbClr val="171C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6038017" y="2370048"/>
            <a:ext cx="1804659" cy="28025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782738" y="2878255"/>
            <a:ext cx="59792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#00892E</a:t>
            </a:r>
            <a:endParaRPr lang="en-US" altLang="ko-KR" sz="120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782738" y="2594344"/>
            <a:ext cx="66877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4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Primary</a:t>
            </a:r>
            <a:endParaRPr lang="en-US" altLang="ko-KR" sz="14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2587397" y="2878255"/>
            <a:ext cx="59792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#266EE7</a:t>
            </a:r>
            <a:endParaRPr lang="en-US" altLang="ko-KR" sz="120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2587397" y="2594344"/>
            <a:ext cx="91723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4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Secondary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4392056" y="2881395"/>
            <a:ext cx="62837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#171C1C</a:t>
            </a:r>
            <a:endParaRPr lang="en-US" altLang="ko-KR" sz="120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4392056" y="2597484"/>
            <a:ext cx="108465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4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Text-Primary</a:t>
            </a:r>
            <a:endParaRPr lang="en-US" altLang="ko-KR" sz="14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196715" y="2881395"/>
            <a:ext cx="60272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#374151</a:t>
            </a:r>
            <a:endParaRPr lang="en-US" altLang="ko-KR" sz="120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196715" y="2597484"/>
            <a:ext cx="130843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4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Text-Secondary</a:t>
            </a:r>
            <a:endParaRPr lang="en-US" altLang="ko-KR" sz="14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1556828" y="4477365"/>
            <a:ext cx="73096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2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4.55:1</a:t>
            </a:r>
            <a:endParaRPr lang="en-US" altLang="ko-KR" sz="20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3510566" y="4477364"/>
            <a:ext cx="5818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2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4.7:1</a:t>
            </a:r>
            <a:endParaRPr lang="en-US" altLang="ko-KR" sz="20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017066" y="4477363"/>
            <a:ext cx="88004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2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16.77:1</a:t>
            </a:r>
            <a:endParaRPr lang="en-US" altLang="ko-KR" sz="20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823168" y="4477362"/>
            <a:ext cx="88004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2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10.32:1</a:t>
            </a:r>
            <a:endParaRPr lang="en-US" altLang="ko-KR" sz="20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68" name="Text 4"/>
          <p:cNvSpPr/>
          <p:nvPr/>
        </p:nvSpPr>
        <p:spPr>
          <a:xfrm>
            <a:off x="8246839" y="2288099"/>
            <a:ext cx="23900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smtClean="0">
                <a:solidFill>
                  <a:srgbClr val="0C2415"/>
                </a:solidFill>
                <a:latin typeface="+mn-ea"/>
                <a:cs typeface="Pretendard" pitchFamily="34" charset="-120"/>
              </a:rPr>
              <a:t>컬러 대비</a:t>
            </a:r>
            <a:endParaRPr lang="en-US" sz="1400" dirty="0">
              <a:latin typeface="+mn-ea"/>
            </a:endParaRPr>
          </a:p>
        </p:txBody>
      </p:sp>
      <p:sp>
        <p:nvSpPr>
          <p:cNvPr id="69" name="Text 5"/>
          <p:cNvSpPr/>
          <p:nvPr/>
        </p:nvSpPr>
        <p:spPr>
          <a:xfrm>
            <a:off x="8246839" y="2598995"/>
            <a:ext cx="3528390" cy="892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ko-KR" alt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본문</a:t>
            </a:r>
            <a:r>
              <a:rPr lang="en-US" altLang="ko-KR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·</a:t>
            </a:r>
            <a:r>
              <a:rPr lang="ko-KR" alt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보조 설명 텍스트는 </a:t>
            </a:r>
            <a:r>
              <a:rPr lang="en-US" altLang="ko-KR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10.3:1 </a:t>
            </a:r>
            <a:r>
              <a:rPr lang="ko-KR" alt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이상</a:t>
            </a:r>
            <a:r>
              <a:rPr lang="en-US" altLang="ko-KR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(</a:t>
            </a:r>
            <a:r>
              <a:rPr lang="en-US" altLang="ko-KR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AAA)</a:t>
            </a:r>
          </a:p>
          <a:p>
            <a:pPr>
              <a:lnSpc>
                <a:spcPct val="115000"/>
              </a:lnSpc>
            </a:pPr>
            <a:r>
              <a:rPr lang="ko-KR" alt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버튼</a:t>
            </a:r>
            <a:r>
              <a:rPr lang="en-US" altLang="ko-KR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·</a:t>
            </a:r>
            <a:r>
              <a:rPr lang="ko-KR" alt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배경은 </a:t>
            </a:r>
            <a:r>
              <a:rPr lang="en-US" altLang="ko-KR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4.55:1</a:t>
            </a:r>
            <a:r>
              <a:rPr lang="en-US" altLang="ko-KR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, </a:t>
            </a:r>
            <a:r>
              <a:rPr lang="ko-KR" alt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아이콘</a:t>
            </a:r>
            <a:r>
              <a:rPr lang="en-US" altLang="ko-KR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·</a:t>
            </a:r>
            <a:r>
              <a:rPr lang="ko-KR" alt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큰 텍스트는 </a:t>
            </a:r>
            <a:r>
              <a:rPr lang="en-US" altLang="ko-KR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3:1 </a:t>
            </a:r>
            <a:r>
              <a:rPr lang="ko-KR" alt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이상</a:t>
            </a:r>
            <a:endParaRPr lang="en-US" altLang="ko-KR" sz="1200" smtClean="0">
              <a:solidFill>
                <a:srgbClr val="474747"/>
              </a:solidFill>
              <a:latin typeface="+mn-ea"/>
              <a:cs typeface="Pretendard" pitchFamily="34" charset="-120"/>
            </a:endParaRPr>
          </a:p>
          <a:p>
            <a:pPr>
              <a:lnSpc>
                <a:spcPct val="115000"/>
              </a:lnSpc>
            </a:pPr>
            <a:r>
              <a:rPr lang="ko-KR" alt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컬러로 </a:t>
            </a:r>
            <a:r>
              <a:rPr lang="ko-KR" alt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구분 적용해 두 접근성 기준을 함께 충족</a:t>
            </a:r>
            <a:endParaRPr lang="en-US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95442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144770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Typography</a:t>
            </a:r>
            <a:endParaRPr lang="en-US" altLang="ko-KR" sz="20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24040" y="1348966"/>
            <a:ext cx="344681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 4"/>
          <p:cNvSpPr/>
          <p:nvPr/>
        </p:nvSpPr>
        <p:spPr>
          <a:xfrm>
            <a:off x="8481857" y="2308262"/>
            <a:ext cx="23900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415"/>
                </a:solidFill>
                <a:latin typeface="+mn-ea"/>
                <a:cs typeface="Pretendard" pitchFamily="34" charset="-120"/>
              </a:rPr>
              <a:t>글자 굵기</a:t>
            </a:r>
            <a:endParaRPr lang="en-US" sz="1400" dirty="0">
              <a:latin typeface="+mn-ea"/>
            </a:endParaRPr>
          </a:p>
        </p:txBody>
      </p:sp>
      <p:sp>
        <p:nvSpPr>
          <p:cNvPr id="36" name="Text 5"/>
          <p:cNvSpPr/>
          <p:nvPr/>
        </p:nvSpPr>
        <p:spPr>
          <a:xfrm>
            <a:off x="8481857" y="2619158"/>
            <a:ext cx="26792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4747"/>
                </a:solidFill>
                <a:latin typeface="+mn-ea"/>
                <a:cs typeface="Pretendard" pitchFamily="34" charset="-120"/>
              </a:rPr>
              <a:t>Regular</a:t>
            </a:r>
            <a:r>
              <a:rPr 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보다 </a:t>
            </a:r>
            <a:r>
              <a:rPr 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Medium</a:t>
            </a:r>
            <a:r>
              <a:rPr lang="ko-KR" alt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을</a:t>
            </a:r>
            <a:r>
              <a:rPr 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 </a:t>
            </a:r>
            <a:r>
              <a:rPr lang="en-US" sz="1200" dirty="0">
                <a:solidFill>
                  <a:srgbClr val="474747"/>
                </a:solidFill>
                <a:latin typeface="+mn-ea"/>
                <a:cs typeface="Pretendard" pitchFamily="34" charset="-120"/>
              </a:rPr>
              <a:t>기본으로 </a:t>
            </a:r>
            <a:r>
              <a:rPr lang="en-US" sz="1200">
                <a:solidFill>
                  <a:srgbClr val="474747"/>
                </a:solidFill>
                <a:latin typeface="+mn-ea"/>
                <a:cs typeface="Pretendard" pitchFamily="34" charset="-120"/>
              </a:rPr>
              <a:t>사용해 </a:t>
            </a:r>
            <a:endParaRPr lang="en-US" sz="1200" smtClean="0">
              <a:solidFill>
                <a:srgbClr val="474747"/>
              </a:solidFill>
              <a:latin typeface="+mn-ea"/>
              <a:cs typeface="Pretendard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200" smtClean="0">
                <a:solidFill>
                  <a:srgbClr val="474747"/>
                </a:solidFill>
                <a:latin typeface="+mn-ea"/>
                <a:cs typeface="Pretendard" pitchFamily="34" charset="-120"/>
              </a:rPr>
              <a:t>획을 </a:t>
            </a:r>
            <a:r>
              <a:rPr lang="en-US" sz="1200" dirty="0">
                <a:solidFill>
                  <a:srgbClr val="474747"/>
                </a:solidFill>
                <a:latin typeface="+mn-ea"/>
                <a:cs typeface="Pretendard" pitchFamily="34" charset="-120"/>
              </a:rPr>
              <a:t>뚜렷하게 유지</a:t>
            </a:r>
            <a:endParaRPr lang="en-US" sz="1200" dirty="0">
              <a:latin typeface="+mn-ea"/>
            </a:endParaRPr>
          </a:p>
        </p:txBody>
      </p:sp>
      <p:sp>
        <p:nvSpPr>
          <p:cNvPr id="37" name="Text 4"/>
          <p:cNvSpPr/>
          <p:nvPr/>
        </p:nvSpPr>
        <p:spPr>
          <a:xfrm>
            <a:off x="8481857" y="3215345"/>
            <a:ext cx="23900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>
                <a:solidFill>
                  <a:srgbClr val="0C2415"/>
                </a:solidFill>
                <a:latin typeface="+mn-ea"/>
                <a:cs typeface="Pretendard" pitchFamily="34" charset="-120"/>
              </a:rPr>
              <a:t>줄간격·자간</a:t>
            </a:r>
            <a:endParaRPr lang="en-US" altLang="ko-KR" sz="1400" dirty="0">
              <a:latin typeface="+mn-ea"/>
            </a:endParaRPr>
          </a:p>
        </p:txBody>
      </p:sp>
      <p:sp>
        <p:nvSpPr>
          <p:cNvPr id="59" name="Text 5"/>
          <p:cNvSpPr/>
          <p:nvPr/>
        </p:nvSpPr>
        <p:spPr>
          <a:xfrm>
            <a:off x="8481857" y="3526241"/>
            <a:ext cx="2781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altLang="ko-KR" sz="1150">
                <a:solidFill>
                  <a:srgbClr val="474747"/>
                </a:solidFill>
                <a:latin typeface="+mn-ea"/>
                <a:cs typeface="Pretendard" pitchFamily="34" charset="-120"/>
              </a:rPr>
              <a:t>줄간격 150% 이상 확보, 자간을 좁히는 스타일은 큰 제목에만 제한적으로 사용</a:t>
            </a:r>
            <a:endParaRPr lang="en-US" altLang="ko-KR" sz="1150" dirty="0">
              <a:latin typeface="+mn-ea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097" y="1847059"/>
            <a:ext cx="7286319" cy="454572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24040" y="1600838"/>
            <a:ext cx="7725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6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크고 굵게 적용하는 타이포그래피 확대 방안</a:t>
            </a:r>
            <a:endParaRPr lang="en-US" altLang="ko-KR" sz="16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75568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51937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000" b="1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Icon</a:t>
            </a:r>
            <a:endParaRPr lang="en-US" altLang="ko-KR" sz="20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24040" y="1348966"/>
            <a:ext cx="344681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033" y="2602994"/>
            <a:ext cx="7009524" cy="259047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24040" y="1552710"/>
            <a:ext cx="7725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6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직관적인 메타포와 단일 컬러 적용으로 텍스트와 함께 의미 전달 보완</a:t>
            </a:r>
            <a:endParaRPr lang="en-US" altLang="ko-KR" sz="16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09844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116698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0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Appendix</a:t>
            </a:r>
            <a:endParaRPr lang="en-US" altLang="ko-KR" sz="2000" b="1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24040" y="1348966"/>
            <a:ext cx="344681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40" y="2266664"/>
            <a:ext cx="1536173" cy="33283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124" y="2266664"/>
            <a:ext cx="1536173" cy="33283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6" name="Text 2"/>
          <p:cNvSpPr/>
          <p:nvPr/>
        </p:nvSpPr>
        <p:spPr>
          <a:xfrm>
            <a:off x="624040" y="1951163"/>
            <a:ext cx="1536173" cy="25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저시력자</a:t>
            </a:r>
            <a:endParaRPr lang="en-US" sz="1200" dirty="0">
              <a:latin typeface="+mn-ea"/>
            </a:endParaRPr>
          </a:p>
        </p:txBody>
      </p:sp>
      <p:sp>
        <p:nvSpPr>
          <p:cNvPr id="17" name="Text 2"/>
          <p:cNvSpPr/>
          <p:nvPr/>
        </p:nvSpPr>
        <p:spPr>
          <a:xfrm>
            <a:off x="2305900" y="1951161"/>
            <a:ext cx="1551397" cy="25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녹색맹</a:t>
            </a:r>
            <a:endParaRPr lang="en-US" sz="1200" dirty="0">
              <a:latin typeface="+mn-ea"/>
            </a:endParaRPr>
          </a:p>
        </p:txBody>
      </p:sp>
      <p:sp>
        <p:nvSpPr>
          <p:cNvPr id="18" name="Text 2"/>
          <p:cNvSpPr/>
          <p:nvPr/>
        </p:nvSpPr>
        <p:spPr>
          <a:xfrm>
            <a:off x="4002984" y="1951160"/>
            <a:ext cx="1551397" cy="25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적색맹</a:t>
            </a:r>
            <a:endParaRPr lang="en-US" sz="1200" dirty="0">
              <a:latin typeface="+mn-ea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208" y="2266664"/>
            <a:ext cx="1536173" cy="33283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66664"/>
            <a:ext cx="1536173" cy="33283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3084" y="2266664"/>
            <a:ext cx="1536173" cy="33283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1" name="Text 2"/>
          <p:cNvSpPr/>
          <p:nvPr/>
        </p:nvSpPr>
        <p:spPr>
          <a:xfrm>
            <a:off x="6096000" y="1951163"/>
            <a:ext cx="1536173" cy="25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저시력자</a:t>
            </a:r>
            <a:endParaRPr lang="en-US" sz="1200" dirty="0">
              <a:latin typeface="+mn-ea"/>
            </a:endParaRPr>
          </a:p>
        </p:txBody>
      </p:sp>
      <p:sp>
        <p:nvSpPr>
          <p:cNvPr id="32" name="Text 2"/>
          <p:cNvSpPr/>
          <p:nvPr/>
        </p:nvSpPr>
        <p:spPr>
          <a:xfrm>
            <a:off x="7777860" y="1951161"/>
            <a:ext cx="1551397" cy="25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녹색맹</a:t>
            </a:r>
            <a:endParaRPr lang="en-US" sz="1200" dirty="0">
              <a:latin typeface="+mn-ea"/>
            </a:endParaRPr>
          </a:p>
        </p:txBody>
      </p:sp>
      <p:sp>
        <p:nvSpPr>
          <p:cNvPr id="33" name="Text 2"/>
          <p:cNvSpPr/>
          <p:nvPr/>
        </p:nvSpPr>
        <p:spPr>
          <a:xfrm>
            <a:off x="9474944" y="1951160"/>
            <a:ext cx="1551397" cy="25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적색맹</a:t>
            </a:r>
            <a:endParaRPr lang="en-US" sz="1200" dirty="0">
              <a:latin typeface="+mn-ea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0168" y="2266664"/>
            <a:ext cx="1536173" cy="33283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24040" y="1552710"/>
            <a:ext cx="7725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6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시안 별 </a:t>
            </a:r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</a:t>
            </a:r>
            <a:r>
              <a:rPr lang="en-US" altLang="ko-KR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ko-KR" altLang="en-US" sz="160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록 </a:t>
            </a:r>
            <a:r>
              <a:rPr lang="ko-KR" altLang="en-US" sz="16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색맹</a:t>
            </a:r>
            <a:r>
              <a:rPr lang="en-US" altLang="ko-KR" sz="16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600" smtClean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저시력자 시선 시뮬레이션 화면</a:t>
            </a:r>
            <a:endParaRPr lang="en-US" altLang="ko-KR" sz="1600"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24040" y="5858010"/>
            <a:ext cx="493034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400" b="1" smtClean="0">
                <a:solidFill>
                  <a:srgbClr val="2364D2"/>
                </a:solidFill>
                <a:latin typeface="+mn-ea"/>
                <a:cs typeface="Pretendard" pitchFamily="34" charset="-120"/>
              </a:rPr>
              <a:t>시안 </a:t>
            </a:r>
            <a:r>
              <a:rPr lang="en-US" altLang="ko-KR" sz="1400" b="1" smtClean="0">
                <a:solidFill>
                  <a:srgbClr val="2364D2"/>
                </a:solidFill>
                <a:latin typeface="+mn-ea"/>
                <a:cs typeface="Pretendard" pitchFamily="34" charset="-120"/>
              </a:rPr>
              <a:t>A </a:t>
            </a:r>
            <a:r>
              <a:rPr lang="ko-KR" altLang="en-US" sz="1400" b="1" smtClean="0">
                <a:solidFill>
                  <a:srgbClr val="2364D2"/>
                </a:solidFill>
                <a:latin typeface="+mn-ea"/>
                <a:cs typeface="Pretendard" pitchFamily="34" charset="-120"/>
              </a:rPr>
              <a:t>홈 화면</a:t>
            </a:r>
            <a:endParaRPr lang="en-US" altLang="ko-KR" sz="1400" b="1">
              <a:solidFill>
                <a:srgbClr val="2364D2"/>
              </a:solidFill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096000" y="5858009"/>
            <a:ext cx="493034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400" b="1" smtClean="0">
                <a:solidFill>
                  <a:srgbClr val="00892E"/>
                </a:solidFill>
                <a:latin typeface="+mn-ea"/>
              </a:rPr>
              <a:t>시안 </a:t>
            </a:r>
            <a:r>
              <a:rPr lang="en-US" altLang="ko-KR" sz="1400" b="1" smtClean="0">
                <a:solidFill>
                  <a:srgbClr val="00892E"/>
                </a:solidFill>
                <a:latin typeface="+mn-ea"/>
              </a:rPr>
              <a:t>B </a:t>
            </a:r>
            <a:r>
              <a:rPr lang="ko-KR" altLang="en-US" sz="1400" b="1" smtClean="0">
                <a:solidFill>
                  <a:srgbClr val="00892E"/>
                </a:solidFill>
                <a:latin typeface="+mn-ea"/>
              </a:rPr>
              <a:t>홈 화면</a:t>
            </a:r>
            <a:endParaRPr lang="en-US" altLang="ko-KR" sz="1400" b="1">
              <a:solidFill>
                <a:srgbClr val="00892E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87552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687547" y="766416"/>
            <a:ext cx="191077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spc="-150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Pretendard Black" panose="02000A03000000020004" pitchFamily="50" charset="-127"/>
              </a:rPr>
              <a:t>화면 시안 </a:t>
            </a:r>
            <a:r>
              <a:rPr lang="ko-KR" altLang="en-US" sz="2400" b="1" spc="-150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Pretendard Black" panose="02000A03000000020004" pitchFamily="50" charset="-127"/>
              </a:rPr>
              <a:t>전맹</a:t>
            </a:r>
            <a:endParaRPr lang="en-US" altLang="ko-KR" sz="2400" b="1" spc="-15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Pretendard Black" panose="02000A0300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552" y="1250175"/>
            <a:ext cx="2284893" cy="4950601"/>
          </a:xfrm>
          <a:prstGeom prst="rect">
            <a:avLst/>
          </a:prstGeom>
          <a:ln>
            <a:solidFill>
              <a:srgbClr val="20253D"/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0402" y="1250174"/>
            <a:ext cx="2284893" cy="4950601"/>
          </a:xfrm>
          <a:prstGeom prst="rect">
            <a:avLst/>
          </a:prstGeom>
          <a:ln>
            <a:solidFill>
              <a:srgbClr val="20253D"/>
            </a:solidFill>
          </a:ln>
        </p:spPr>
      </p:pic>
    </p:spTree>
    <p:extLst>
      <p:ext uri="{BB962C8B-B14F-4D97-AF65-F5344CB8AC3E}">
        <p14:creationId xmlns:p14="http://schemas.microsoft.com/office/powerpoint/2010/main" val="1747405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2425</TotalTime>
  <Words>308</Words>
  <Application>Microsoft Office PowerPoint</Application>
  <PresentationFormat>와이드스크린</PresentationFormat>
  <Paragraphs>75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Noto Sans Mono CJK KR Bold</vt:lpstr>
      <vt:lpstr>Noto Sans Mono CJK KR Regular</vt:lpstr>
      <vt:lpstr>Pretendard</vt:lpstr>
      <vt:lpstr>Pretendard Black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백현진</dc:creator>
  <cp:lastModifiedBy>백현진</cp:lastModifiedBy>
  <cp:revision>61</cp:revision>
  <dcterms:created xsi:type="dcterms:W3CDTF">2026-08-18T12:05:35Z</dcterms:created>
  <dcterms:modified xsi:type="dcterms:W3CDTF">2026-08-20T07:00:03Z</dcterms:modified>
</cp:coreProperties>
</file>