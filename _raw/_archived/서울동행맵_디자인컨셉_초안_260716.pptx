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Noto Sans CJK KR Regular" panose="020B0604020202020204" charset="-128"/>
      <p:regular r:id="rId18"/>
    </p:embeddedFont>
    <p:embeddedFont>
      <p:font typeface="Noto Sans CJK KR Bold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00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3ED17A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SEOUL ACCESSIBLE NAVIGATION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서울동행맵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접근성 우선 디자인 컨셉 — Dual-Path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3566160" cy="502920"/>
          </a:xfrm>
          <a:prstGeom prst="roundRect">
            <a:avLst>
              <a:gd name="adj" fmla="val 50909"/>
            </a:avLst>
          </a:prstGeom>
          <a:solidFill>
            <a:srgbClr val="3ED1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저시력 · 전맹 · 고령자 · 휠체어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FA0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iNavi 프로덕트전략셀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왜 지금 접근성인가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6/30 Sync-up 회의록에서 도출된 핵심 과제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685800" cy="68580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3042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301752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저시력 · 전맹 이원화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4128" y="3657600"/>
            <a:ext cx="19293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시각장애인을 저시력자와 전맹자로 구분 — 요구사항이 서로 다름을 전제로 설계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502152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822192" y="2148840"/>
            <a:ext cx="685800" cy="68580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3042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301752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스크린리더 호환성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3794760" y="3657600"/>
            <a:ext cx="19293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전맹 사용자를 위한 화면낭독기 대응이 별도 과제로 명시됨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592824" y="2148840"/>
            <a:ext cx="685800" cy="68580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230428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301752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고대비 · 큰 글씨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6565392" y="3657600"/>
            <a:ext cx="19293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저시력자를 위한 명도 대비와 타이포 스케일 개선 필요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043416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363456" y="2148840"/>
            <a:ext cx="685800" cy="68580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4" y="230428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6024" y="301752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교통약자 우선 설계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9336024" y="3657600"/>
            <a:ext cx="19293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고령자 · 장애인을 1차 사용자로 정의, 기존 서비스는 이 관점이 부재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ED17A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디자인 원칙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Dual-Path Design — 이중 경로 설계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하나의 UI로 저시력자와 전맹자를 동시에 만족시킬 수 없다. 화면마다 시각 레이어와 비시각 레이어를 함께 설계한다.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F7F5F2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51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670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시각 레이어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저시력자 · 고령자 대상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97280" y="36576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C241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WCAG 2.1 AA 명도대비 (본문 4.5:1 이상)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C241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글씨 크기 조절 컨트롤 — 설정 안이 아닌 홈 화면 상단 노출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C241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색상 단독 의존 금지 — 아이콘 + 텍스트 이중 표기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C241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고대비 다크 배경 + 그린 액센트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6517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670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비시각 레이어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152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D17A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전맹자 · 스크린리더 사용자 대상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675120" y="36576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7F5F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지도 경로 → 순차 텍스트 안내로 재구성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7F5F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동적 정보(도착 알림 등)는 aria-live 영역으로 처리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7F5F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아이콘 전용 버튼에 명확한 대체 텍스트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7F5F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"내 앞에 무엇이 있나요?" — 능동적 주변 탐색 질의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6E2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USER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시각장애 사용자 유형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011680"/>
            <a:ext cx="640080" cy="640080"/>
          </a:xfrm>
          <a:prstGeom prst="ellipse">
            <a:avLst/>
          </a:prstGeom>
          <a:solidFill>
            <a:srgbClr val="00963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11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00963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LOW VISION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74520" y="22860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저시력 (Low Vision)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고대비 색상 조합 필수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97280" y="31729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배경과 텍스트의 명도 차를 크게 두어 잔존 시력으로도 구분 가능하게 설계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3666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텍스트·아이콘 확대 지원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97280" y="3959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최대 200%까지 배율 확대에 대응하는 반응형 레이아웃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4453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여백과 굵기 조정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097280" y="47457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요소 간 간격을 넓히고 아이콘·폰트 굵기를 높여 인식 부담을 낮춤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5239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점멸·과도한 애니메이션 최소화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97280" y="5532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시각적 피로와 어지러움을 유발하는 효과를 배제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0C241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14884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2011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0C241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TOTAL BLINDNESS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452360" y="22860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전맹 (Total Blindness)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67512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스크린리더 완전 호환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675120" y="31729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모든 정보와 기능을 화면을 보지 않고도 음성으로 인식·조작 가능하게 구성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675120" y="3666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논리적인 포커스 이동 순서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6675120" y="3959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탭·스와이프 이동 순서가 실제 화면 흐름과 일치하도록 시맨틱 마크업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675120" y="4453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대체텍스트(alt) 전면 적용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6675120" y="47457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아이콘, 지도, 이미지 등 비텍스트 요소에 의미 있는 대체텍스트 제공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675120" y="5239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음성 안내로 경로·도착 정보 전달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6675120" y="5532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핵심 정보(정류장, 도착시간, 환승)를 음성으로도 동일하게 안내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3ED17A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그린톤을 선택한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새로운 색을 도입하는 대신, 이미 존재하는 것을 접근성 기준에 맞게 다듬는 방향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120640" cy="1207008"/>
          </a:xfrm>
          <a:prstGeom prst="roundRect">
            <a:avLst>
              <a:gd name="adj" fmla="val 757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32688" y="2148840"/>
            <a:ext cx="502920" cy="50292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677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서울동행맵은 이미 그린 톤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72768" y="23500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동행맵은 이미 그린 계열 컬러 시스템을 쓰고 있다. 새 색을 들이지 않고 기존 브랜드와 통일감을 유지해 재학습 비용을 없앤다.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120640" cy="1207008"/>
          </a:xfrm>
          <a:prstGeom prst="roundRect">
            <a:avLst>
              <a:gd name="adj" fmla="val 757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510528" y="2148840"/>
            <a:ext cx="502920" cy="50292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677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고대비 확보가 이미 검증됨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50608" y="23500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다크 그린 배경 + 흰 텍스트는 실측 최대 17.9:1까지 대비를 확보한다. AAA(7:1) 기준을 넉넉히 넘는다.</a:t>
            </a:r>
            <a:endParaRPr lang="en-US" sz="1070" dirty="0"/>
          </a:p>
        </p:txBody>
      </p:sp>
      <p:sp>
        <p:nvSpPr>
          <p:cNvPr id="15" name="Shape 11"/>
          <p:cNvSpPr/>
          <p:nvPr/>
        </p:nvSpPr>
        <p:spPr>
          <a:xfrm>
            <a:off x="731520" y="3300984"/>
            <a:ext cx="5120640" cy="1207008"/>
          </a:xfrm>
          <a:prstGeom prst="roundRect">
            <a:avLst>
              <a:gd name="adj" fmla="val 757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32688" y="3483864"/>
            <a:ext cx="502920" cy="50292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6027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3392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색상 단독 의존 설계와 궁합이 좋음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72768" y="36850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가장 흔한 색각이상은 적록색맹이라, 그린 단독으로 의미를 전달하지 않는다. 모든 정보는 텍스트·아이콘과 함께 병기한다.</a:t>
            </a:r>
            <a:endParaRPr lang="en-US" sz="1070" dirty="0"/>
          </a:p>
        </p:txBody>
      </p:sp>
      <p:sp>
        <p:nvSpPr>
          <p:cNvPr id="20" name="Shape 15"/>
          <p:cNvSpPr/>
          <p:nvPr/>
        </p:nvSpPr>
        <p:spPr>
          <a:xfrm>
            <a:off x="6309360" y="3300984"/>
            <a:ext cx="5120640" cy="1207008"/>
          </a:xfrm>
          <a:prstGeom prst="roundRect">
            <a:avLst>
              <a:gd name="adj" fmla="val 757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510528" y="3483864"/>
            <a:ext cx="502920" cy="50292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60273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50608" y="3392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이동·안내의 관습색과 일치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50608" y="36850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국내 피난유도등·안전표지에서 초록은 '안내 가능한 방향'을 뜻하는 표준색이다. 길안내 서비스의 목적과 자연스럽게 맞는다.</a:t>
            </a:r>
            <a:endParaRPr lang="en-US" sz="1070" dirty="0"/>
          </a:p>
        </p:txBody>
      </p:sp>
      <p:sp>
        <p:nvSpPr>
          <p:cNvPr id="25" name="Shape 19"/>
          <p:cNvSpPr/>
          <p:nvPr/>
        </p:nvSpPr>
        <p:spPr>
          <a:xfrm>
            <a:off x="731520" y="4636008"/>
            <a:ext cx="5120640" cy="1207008"/>
          </a:xfrm>
          <a:prstGeom prst="roundRect">
            <a:avLst>
              <a:gd name="adj" fmla="val 757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932688" y="4818888"/>
            <a:ext cx="502920" cy="50292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9377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72768" y="4727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심리적으로 안정적인 톤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572768" y="502005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7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저채도 그린은 빨강 계열보다 경고·긴장 신호로 오인될 가능성이 낮다. 이동이 어려운 사용자에게 불필요한 긴장을 주지 않는다.</a:t>
            </a:r>
            <a:endParaRPr lang="en-US" sz="1070" dirty="0"/>
          </a:p>
        </p:txBody>
      </p:sp>
      <p:sp>
        <p:nvSpPr>
          <p:cNvPr id="30" name="Text 23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FA0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※ 본 자료의 세부 컬러(HEX) 값은 추후 개발·디자인 협의 과정에서 조정될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3ED17A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COLOR &amp; CONTRAST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컬러 대비 전략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WCAG 2.1 / KWCAG 2.1 AA 기준 — 용도별로 대비 기준이 다른 컬러를 구분해 사용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본문 텍스트 · 4.5:1 이상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17171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#171717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17.9:1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OnSurface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기본 본문 텍스트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4747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#474747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9.3:1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OnSurface Variant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보조 설명 텍스트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2860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006E2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35040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#006E25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6.5:1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강조 텍스트·아이콘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큰 텍스트·아이콘·UI 컴포넌트 · 3:1 이상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25196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009632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4389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#009632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690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3.9:1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5120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Primary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303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큰 배지·대형 아이콘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425196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008DC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474720" y="4389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#008DCF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4690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3.7:1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74720" y="5120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Tertiary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0" y="5303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보조 링크·정보 아이콘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12480" y="187452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64108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강조 배경·버튼 · 7:1 이상 (AAA)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641080" y="27889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0451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82396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주요 액션 버튼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23960" y="3264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Primary Container + 흰 텍스트 · 10.5:1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41080" y="3931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본문·배경은 4.5:1, 버튼·아이콘·큰 텍스트는 3:1 이상 컬러로 구분 적용해 두 접근성 기준을 함께 충족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FA0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※ 본 자료의 세부 컬러(HEX) 값은 추후 개발·디자인 협의 과정에서 조정될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6E2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타이포그래피 확대 전략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핵심 정보일수록 더 크고 굵게 — 본문은 16px 미만을 사용하지 않는다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33832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용도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기본 스케일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저시력 확장 권장값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비고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도착 예정 시간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(핵심 강조 숫자)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Headline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23px Bold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6E25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28~32px Bold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화면에서 가장 크게, 색상+굵기로 이중 강조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정류장·목적지명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Title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18px SemiBold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6E25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22~24px SemiBold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스크롤 없이 한눈에 인식 가능하도록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본문 설명 텍스트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Body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16px Medium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6E25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최소 18px Medium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16px 미만 본문 사용 지양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보조 라벨·캡션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Label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11px Medium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6E25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최소 14px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11px는 저시력 사용자에게 인식이 어려움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사용자 확대 대응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고정 크기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6E25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시스템 글자 200%까지 대응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반응형 레이아웃 필수 적용</a:t>
                      </a:r>
                      <a:endParaRPr lang="en-US" sz="125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48640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779008"/>
            <a:ext cx="365760" cy="365760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1508760" y="5605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글자 굵기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08760" y="5916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Regular보다 Medium~SemiBold를 기본으로 사용해 획을 뚜렷하게 유지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548640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77900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9440" y="5605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줄간격·자간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949440" y="5916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줄간격 150% 이상 확보, 자간을 좁히는 스타일은 큰 제목에만 제한적으로 사용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3ED17A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SCREEN READER &amp; NON-VISUAL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비시각적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전맹 사용자가 화면을 보지 않고도 모든 정보와 기능에 도달할 수 있도록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87552" y="2176272"/>
            <a:ext cx="502920" cy="502920"/>
          </a:xfrm>
          <a:prstGeom prst="ellipse">
            <a:avLst/>
          </a:prstGeom>
          <a:solidFill>
            <a:srgbClr val="1A402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042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3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시맨틱 구조 &amp; 포커스 순서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4871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제목·랜드마크 태그와 실제 화면 흐름이 일치하는 논리적 탭 이동 순서 설계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519672" y="2176272"/>
            <a:ext cx="502920" cy="502920"/>
          </a:xfrm>
          <a:prstGeom prst="ellipse">
            <a:avLst/>
          </a:prstGeom>
          <a:solidFill>
            <a:srgbClr val="1A402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30428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103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대체텍스트(Alt) 전면 적용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178040" y="24871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예: 버스 아이콘 → “162번 버스, 3분 후 도착”처럼 의미가 전달되는 대체텍스트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3538728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87552" y="3794760"/>
            <a:ext cx="502920" cy="502920"/>
          </a:xfrm>
          <a:prstGeom prst="ellipse">
            <a:avLst/>
          </a:prstGeom>
          <a:solidFill>
            <a:srgbClr val="1A402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92277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721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색상에만 의존하지 않는 전달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45920" y="410565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지연 상태는 빨간색 + “지연” 텍스트 + 아이콘을 함께 표시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3538728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519672" y="3794760"/>
            <a:ext cx="502920" cy="502920"/>
          </a:xfrm>
          <a:prstGeom prst="ellipse">
            <a:avLst/>
          </a:prstGeom>
          <a:solidFill>
            <a:srgbClr val="1A402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392277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721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반복 영역 건너뛰기 링크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178040" y="410565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상단 배너·내비게이션 이전에 건너뛰기 링크를 가장 먼저 배치 (KRDS 가이드 반영)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31520" y="5157216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987552" y="5413248"/>
            <a:ext cx="502920" cy="502920"/>
          </a:xfrm>
          <a:prstGeom prst="ellipse">
            <a:avLst/>
          </a:prstGeom>
          <a:solidFill>
            <a:srgbClr val="1A402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554126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340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음성 안내와 완전 연동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645920" y="57241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경로·정류장·도착 정보 등 핵심 텍스트 정보를 음성으로도 동일하게 제공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63640" y="5157216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6519672" y="5413248"/>
            <a:ext cx="502920" cy="502920"/>
          </a:xfrm>
          <a:prstGeom prst="ellipse">
            <a:avLst/>
          </a:prstGeom>
          <a:solidFill>
            <a:srgbClr val="1A402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554126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78040" y="5340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터치 타겟 44×44pt 이상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178040" y="57241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요소 간 간격 8px 이상을 두어 오터치와 인접 요소 혼동을 방지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디자인 시스템 토큰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서울동행맵의 실제 그린 컬러 토큰을 그대로 적용 — 고대비 원칙을 컬러/타이포 레벨에서부터 고정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949440" cy="749808"/>
          </a:xfrm>
          <a:prstGeom prst="roundRect">
            <a:avLst>
              <a:gd name="adj" fmla="val 12195"/>
            </a:avLst>
          </a:prstGeom>
          <a:solidFill>
            <a:srgbClr val="17171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#171717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51760" y="16002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OnSurface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기본 본문 텍스트 · 17.9:1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478024"/>
            <a:ext cx="6949440" cy="749808"/>
          </a:xfrm>
          <a:prstGeom prst="roundRect">
            <a:avLst>
              <a:gd name="adj" fmla="val 12195"/>
            </a:avLst>
          </a:prstGeom>
          <a:solidFill>
            <a:srgbClr val="4747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247802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#474747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47802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OnSurface Variant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47802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보조 설명 텍스트 · 9.3:1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355848"/>
            <a:ext cx="6949440" cy="749808"/>
          </a:xfrm>
          <a:prstGeom prst="roundRect">
            <a:avLst>
              <a:gd name="adj" fmla="val 12195"/>
            </a:avLst>
          </a:prstGeom>
          <a:solidFill>
            <a:srgbClr val="006E2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3558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#006E25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335584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Secondary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335584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강조 텍스트 · 아이콘 · 6.5:1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233672"/>
            <a:ext cx="6949440" cy="749808"/>
          </a:xfrm>
          <a:prstGeom prst="roundRect">
            <a:avLst>
              <a:gd name="adj" fmla="val 12195"/>
            </a:avLst>
          </a:prstGeom>
          <a:solidFill>
            <a:srgbClr val="009632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23367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#009632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42336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Primary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42336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큰 배지 · 대형 아이콘 · 3.9:1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111496"/>
            <a:ext cx="6949440" cy="749808"/>
          </a:xfrm>
          <a:prstGeom prst="roundRect">
            <a:avLst>
              <a:gd name="adj" fmla="val 12195"/>
            </a:avLst>
          </a:prstGeom>
          <a:solidFill>
            <a:srgbClr val="008DC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5111496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#008DCF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511149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Tertiary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511149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보조 링크 · 정보 아이콘 · 3.7:1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타이포그래피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Headline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76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Noto Sans CJK Bold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Body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Noto Sans CJK Medium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Label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Noto Sans CJK SemiBold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229600" y="37490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93192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915400" y="38587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C241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그린 하나로 통일하고 짙은/연한 명도 단계로 강조 위계를 구분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229600" y="530352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0C241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5486400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915400" y="54132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7F5F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서울동행맵 프로덕션 토큰과 100% 동일 — 별도 색상 학습 비용 없음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6E2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TYPEFACE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서체 — Noto Sans CJK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한국어·영어·중국어·일본어를 하나의 서체 패밀리로 통일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49377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E2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다국어 표기 예시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한국어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가장 빠른 경로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3447288"/>
            <a:ext cx="4434840" cy="0"/>
          </a:xfrm>
          <a:prstGeom prst="line">
            <a:avLst/>
          </a:prstGeom>
          <a:noFill/>
          <a:ln w="12700">
            <a:solidFill>
              <a:srgbClr val="DCE7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Fastest route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51560" y="4224528"/>
            <a:ext cx="4434840" cy="0"/>
          </a:xfrm>
          <a:prstGeom prst="line">
            <a:avLst/>
          </a:prstGeom>
          <a:noFill/>
          <a:ln w="12700">
            <a:solidFill>
              <a:srgbClr val="DCE7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4343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中文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最快路线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51560" y="5001768"/>
            <a:ext cx="4434840" cy="0"/>
          </a:xfrm>
          <a:prstGeom prst="line">
            <a:avLst/>
          </a:prstGeom>
          <a:noFill/>
          <a:ln w="12700">
            <a:solidFill>
              <a:srgbClr val="DCE7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5120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日本語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最速ルート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63640" y="2331720"/>
            <a:ext cx="594360" cy="594360"/>
          </a:xfrm>
          <a:prstGeom prst="ellipse">
            <a:avLst/>
          </a:prstGeom>
          <a:solidFill>
            <a:srgbClr val="EEF3E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04088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4개 언어 단일 패밀리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40880" y="25786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한·영·중·일을 하나의 서체로 커버해, 언어가 바뀌어도 자간·굵기·높이가 흐트러지지 않고 일관된 화면을 유지합니다.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89320" y="33832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263640" y="3703320"/>
            <a:ext cx="594360" cy="594360"/>
          </a:xfrm>
          <a:prstGeom prst="ellipse">
            <a:avLst/>
          </a:prstGeom>
          <a:solidFill>
            <a:srgbClr val="EEF3E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40480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4088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높은 가독성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040880" y="39502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획이 명확하고 글자 사이 구분이 뚜렷해, 저시력·고령 사용자도 작은 크기부터 큰 확대까지 안정적으로 읽을 수 있습니다.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989320" y="47548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6263640" y="5074920"/>
            <a:ext cx="594360" cy="594360"/>
          </a:xfrm>
          <a:prstGeom prst="ellipse">
            <a:avLst/>
          </a:prstGeom>
          <a:solidFill>
            <a:srgbClr val="EEF3E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212080"/>
            <a:ext cx="320040" cy="3200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0408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공공 서비스 검증 + 무료 라이선스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7040880" y="53218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오픈 라이선스(SIL OFL)로 라이선스 리스크가 없고, 국내외 공공·접근성 서비스에서 널리 검증된 서체입니다.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FA0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※ 기존 Pretendard는 중국어를 지원하지 않아, 다국어 요건 충족을 위해 Noto Sans CJK로 통일합니다.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스크린 컨셉 · 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퀵메뉴 + 실시간 안내 카드 — 자주 쓰는 기능을 홈 진입 즉시 노출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32688" y="1527048"/>
            <a:ext cx="2404169" cy="5038344"/>
          </a:xfrm>
          <a:prstGeom prst="roundRect">
            <a:avLst>
              <a:gd name="adj" fmla="val 684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green_assets/green_Mai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2257865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93473" y="1527048"/>
            <a:ext cx="2404169" cy="5038344"/>
          </a:xfrm>
          <a:prstGeom prst="roundRect">
            <a:avLst>
              <a:gd name="adj" fmla="val 6846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home/claude/green_assets/green_Main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625" y="1600200"/>
            <a:ext cx="2257865" cy="489204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409" y="1737360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6049" y="1691640"/>
            <a:ext cx="4475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6버튼 퀵메뉴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7076049" y="2103120"/>
            <a:ext cx="44755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불편신고 · 복지콜 · 길안내 · 콜택시 · 지하철역 · 정류장을 한 화면에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409" y="3337560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76049" y="3291840"/>
            <a:ext cx="4475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실시간 안내 카드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076049" y="3703320"/>
            <a:ext cx="44755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저상버스 탑승 가능 여부, 하차 알림을 텍스트로 명시 — 아이콘 단독 표기 지양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7409" y="4937760"/>
            <a:ext cx="384048" cy="3840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76049" y="4892040"/>
            <a:ext cx="4475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하단 탭 4종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7076049" y="5303520"/>
            <a:ext cx="44755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홈 · 길안내 · 약자서비스 · 케어서비스 — 아이콘 + 라벨 병기로 인지 부담 최소화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스크린 컨셉 · 길안내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사용자 유형 선택 탭 — 경로 알고리즘이 실제로 갈라지는 지점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07408" y="1481328"/>
            <a:ext cx="2425270" cy="5084064"/>
          </a:xfrm>
          <a:prstGeom prst="roundRect">
            <a:avLst>
              <a:gd name="adj" fmla="val 6787"/>
            </a:avLst>
          </a:prstGeom>
          <a:solidFill>
            <a:srgbClr val="0C241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green_assets/green_PathF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54480"/>
            <a:ext cx="2278966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55448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7830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저시력 / 전동휠체어 / 수동휠체어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00584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탭을 3가지로 명시 분리 — 선택된 탭은 그린 테두리+배경으로 이중 표기(색+형태)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" y="35204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7490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경로 = 색상 + 텍스트 라벨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출발/도착 핀에 "출발"·"도착" 텍스트 라벨 고정 — 색맹 사용자도 순서 인지 가능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1520" y="525780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C241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46811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2578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F5F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경로 시작 CTA — 전체폭 · 하단 고정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스크린 컨셉 · 장소 상세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여닫이문 · 계단 · 경사도 — 비장애인 지도앱에는 없는 정보를 1급 정보로 승격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" y="1481328"/>
            <a:ext cx="2425270" cy="5084064"/>
          </a:xfrm>
          <a:prstGeom prst="roundRect">
            <a:avLst>
              <a:gd name="adj" fmla="val 6787"/>
            </a:avLst>
          </a:prstGeom>
          <a:solidFill>
            <a:srgbClr val="123420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green_assets/green_View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2278966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42006" y="1691640"/>
            <a:ext cx="594360" cy="594360"/>
          </a:xfrm>
          <a:prstGeom prst="ellipse">
            <a:avLst/>
          </a:prstGeom>
          <a:solidFill>
            <a:srgbClr val="3ED1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450" y="181508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19246" y="1645920"/>
            <a:ext cx="7032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여닫이문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19246" y="2057400"/>
            <a:ext cx="70323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전동휠체어 이용자에게 회전문·여닫이문은 통행 불가 조건 — 사전 고지 필수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742006" y="3291840"/>
            <a:ext cx="594360" cy="594360"/>
          </a:xfrm>
          <a:prstGeom prst="ellipse">
            <a:avLst/>
          </a:prstGeom>
          <a:solidFill>
            <a:srgbClr val="3ED1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450" y="341528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19246" y="3246120"/>
            <a:ext cx="7032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계단 유무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519246" y="3657600"/>
            <a:ext cx="70323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엘리베이터 대체 동선 안내와 연결되는 트리거 정보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742006" y="4892040"/>
            <a:ext cx="594360" cy="594360"/>
          </a:xfrm>
          <a:prstGeom prst="ellipse">
            <a:avLst/>
          </a:prstGeom>
          <a:solidFill>
            <a:srgbClr val="3ED1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5450" y="5015484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19246" y="4846320"/>
            <a:ext cx="7032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2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경사도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4519246" y="5257800"/>
            <a:ext cx="70323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12도 이상 경사는 회피 경로 알고리즘의 실제 입력값 — 시각적으로도 동일 비중 노출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6E25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적용 요약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요소별 컬러 대비 매핑 — 두 접근성 기준을 함께 충족하도록 구분 적용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39776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UI 요소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색상 토큰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대비율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KR Bold" pitchFamily="34" charset="0"/>
                          <a:ea typeface="Noto Sans CJK KR Bold" pitchFamily="34" charset="-122"/>
                          <a:cs typeface="Noto Sans CJK KR Bold" pitchFamily="34" charset="-120"/>
                        </a:rPr>
                        <a:t>기준</a:t>
                      </a:r>
                      <a:endParaRPr lang="en-US" sz="13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본문 정보 텍스트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OnSurface #171717 / 흰 배경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17.9:1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6E2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AAA (4.5:1 이상)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보조 설명 텍스트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OnSurface Variant #474747 / 흰 배경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9.3:1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6E2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AAA (4.5:1 이상)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강조 텍스트·아이콘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Secondary #006E25 / 흰 배경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6.5:1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6E2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AA 본문 텍스트 충족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주요 액션 버튼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Primary Container #004517 + 흰 텍스트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10.5:1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6E2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AAA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큰 배지·대형 아이콘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Primary #009632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3.9:1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6E2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3:1 큰 텍스트/컴포넌트 기준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보조 링크·정보 아이콘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Tertiary #008DCF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3.7:1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6E2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3:1 큰 텍스트/컴포넌트 기준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오류·지연 상태 배지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Error 계열 (아이콘 전용, 텍스트 병기 필수)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C241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3.4:1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6E25"/>
                          </a:solidFill>
                          <a:latin typeface="Noto Sans CJK KR Regular" pitchFamily="34" charset="0"/>
                          <a:ea typeface="Noto Sans CJK KR Regular" pitchFamily="34" charset="-122"/>
                          <a:cs typeface="Noto Sans CJK KR Regular" pitchFamily="34" charset="-120"/>
                        </a:rPr>
                        <a:t>3:1 기준 · 소형 텍스트엔 미사용</a:t>
                      </a:r>
                      <a:endParaRPr lang="en-US" sz="1200" dirty="0">
                        <a:latin typeface="Noto Sans CJK KR Regular" charset="0"/>
                        <a:ea typeface="Noto Sans CJK KR Regular" charset="0"/>
                        <a:cs typeface="Noto Sans CJK KR Regula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98932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0C2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60120" y="59893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5F2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본문·배경 텍스트는 4.5:1 이상, 버튼·아이콘·큰 텍스트는 3:1 이상 컬러로 구분 적용해 두 접근성 기준을 함께 충족합니다.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시그니처 제안 &amp; 다음 단계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698480" cy="1737360"/>
          </a:xfrm>
          <a:prstGeom prst="roundRect">
            <a:avLst>
              <a:gd name="adj" fmla="val 7368"/>
            </a:avLst>
          </a:prstGeom>
          <a:solidFill>
            <a:srgbClr val="0C241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64592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“내 앞에 무엇이 있나요?”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103120" y="214884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D9C4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전맹 사용자가 능동적으로 주변 정보를 질의하는 인터페이스 — 일반 지도앱에는 없는 이 프로젝트만의 시그니처 UX. 홈 화면 진입점으로 전면 배치를 제안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35661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87552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87552" y="434340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제안서 · 접근성 지침 대조 검토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42519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38728" y="35661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379476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794760" y="434340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PRD 상단(전략 레이어) 반영 및 컨펌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4251960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45936" y="35661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6601968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601968" y="434340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Dual-Path 컴포넌트 설계 (Figma)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425196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153144" y="3566160"/>
            <a:ext cx="2514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9409176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D17A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9409176" y="434340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C2415"/>
                </a:solidFill>
                <a:latin typeface="Noto Sans CJK KR Bold" pitchFamily="34" charset="0"/>
                <a:ea typeface="Noto Sans CJK KR Bold" pitchFamily="34" charset="-122"/>
                <a:cs typeface="Noto Sans CJK KR Bold" pitchFamily="34" charset="-120"/>
              </a:rPr>
              <a:t>스크린리더 사용성 테스트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4747"/>
                </a:solidFill>
                <a:latin typeface="Noto Sans CJK KR Regular" pitchFamily="34" charset="0"/>
                <a:ea typeface="Noto Sans CJK KR Regular" pitchFamily="34" charset="-122"/>
                <a:cs typeface="Noto Sans CJK KR Regular" pitchFamily="34" charset="-120"/>
              </a:rPr>
              <a:t>iNavi 프로덕트전략셀 · 서울동행맵 프로젝트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1550</Words>
  <Application>Microsoft Office PowerPoint</Application>
  <PresentationFormat>와이드스크린</PresentationFormat>
  <Paragraphs>278</Paragraphs>
  <Slides>15</Slides>
  <Notes>15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서울동행맵 접근성 디자인 컨셉</dc:title>
  <dc:subject>PptxGenJS Presentation</dc:subject>
  <dc:creator>iNavi Product Strategy Cell</dc:creator>
  <cp:lastModifiedBy>장세연</cp:lastModifiedBy>
  <cp:revision>4</cp:revision>
  <dcterms:created xsi:type="dcterms:W3CDTF">2026-07-16T00:10:26Z</dcterms:created>
  <dcterms:modified xsi:type="dcterms:W3CDTF">2026-07-29T07:27:19Z</dcterms:modified>
</cp:coreProperties>
</file>