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3" r:id="rId3"/>
    <p:sldId id="274" r:id="rId4"/>
    <p:sldId id="275" r:id="rId5"/>
    <p:sldId id="276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62" y="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3AA6B-6829-468A-BECF-8C5AC4797BD9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02782-02B3-4ECC-B52B-C4CB2BD2A6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91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먼저 기술개발의 개요 및 필요성에 대해 </a:t>
            </a:r>
            <a:r>
              <a:rPr lang="ko-KR" altLang="en-US" dirty="0" err="1"/>
              <a:t>말씀드리겠습니다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61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및 산업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분야 내 방사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성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물질 등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방사성동위원소 및 방사선발생장치 포함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이용은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의료복지 향상과 국민의 건강에 대한 관심 증가에 따라 이용기관과 종사자의 수는 매년 증가하고 있는 추세이며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의료분야 내 사용되는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 검사를 포함한 다양한 진단방사선을 이용한 검사 시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환자에게 방사선 피폭은 필연적으로 수반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의료피폭의 경우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현재 피폭의 정당화 측면에서 피폭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관리대상에서 제외하고 있지만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검사 시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발생되는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차적인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산란선은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검사 목적 장기 이외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주변부에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위치한 장기에 대해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불필요한 방사선 노출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발생시킬 우려가 있습니다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14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및 산업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분야 내 방사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성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물질 등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방사성동위원소 및 방사선발생장치 포함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이용은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의료복지 향상과 국민의 건강에 대한 관심 증가에 따라 이용기관과 종사자의 수는 매년 증가하고 있는 추세이며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의료분야 내 사용되는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 검사를 포함한 다양한 진단방사선을 이용한 검사 시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환자에게 방사선 피폭은 필연적으로 수반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의료피폭의 경우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현재 피폭의 정당화 측면에서 피폭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관리대상에서 제외하고 있지만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검사 시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발생되는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차적인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산란선은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검사 목적 장기 이외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주변부에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위치한 장기에 대해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불필요한 방사선 노출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발생시킬 우려가 있습니다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639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및 산업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분야 내 방사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성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물질 등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방사성동위원소 및 방사선발생장치 포함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이용은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의료복지 향상과 국민의 건강에 대한 관심 증가에 따라 이용기관과 종사자의 수는 매년 증가하고 있는 추세이며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의료분야 내 사용되는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 검사를 포함한 다양한 진단방사선을 이용한 검사 시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환자에게 방사선 피폭은 필연적으로 수반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의료피폭의 경우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현재 피폭의 정당화 측면에서 피폭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관리대상에서 제외하고 있지만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검사 시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발생되는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차적인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산란선은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검사 목적 장기 이외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주변부에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위치한 장기에 대해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불필요한 방사선 노출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발생시킬 우려가 있습니다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630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및 산업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분야 내 방사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성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물질 등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방사성동위원소 및 방사선발생장치 포함</a:t>
            </a:r>
            <a:r>
              <a:rPr lang="en-US" altLang="ko-K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이용은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의료복지 향상과 국민의 건강에 대한 관심 증가에 따라 이용기관과 종사자의 수는 매년 증가하고 있는 추세이며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의료분야 내 사용되는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선 검사를 포함한 다양한 진단방사선을 이용한 검사 시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환자에게 방사선 피폭은 필연적으로 수반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의료피폭의 경우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현재 피폭의 정당화 측면에서 피폭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관리대상에서 제외하고 있지만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이러한 검사 시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발생되는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차적인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산란선은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검사 목적 장기 이외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주변부에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위치한 장기에 대해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불필요한 방사선 노출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발생시킬 우려가 있습니다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241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앞서 </a:t>
            </a:r>
            <a:r>
              <a:rPr lang="ko-KR" altLang="en-US" dirty="0" err="1"/>
              <a:t>말씀드린</a:t>
            </a:r>
            <a:r>
              <a:rPr lang="ko-KR" altLang="en-US" dirty="0"/>
              <a:t> </a:t>
            </a:r>
            <a:r>
              <a:rPr lang="en-US" altLang="ko-KR" dirty="0"/>
              <a:t>3D Printing</a:t>
            </a:r>
            <a:r>
              <a:rPr lang="en-US" altLang="ko-KR" baseline="0" dirty="0"/>
              <a:t> </a:t>
            </a:r>
            <a:r>
              <a:rPr lang="ko-KR" altLang="en-US" baseline="0" dirty="0"/>
              <a:t>기술은 </a:t>
            </a:r>
            <a:r>
              <a:rPr lang="ko-KR" altLang="en-US" baseline="0" dirty="0" err="1"/>
              <a:t>적층제조방식으로</a:t>
            </a:r>
            <a:r>
              <a:rPr lang="en-US" altLang="ko-KR" baseline="0" dirty="0"/>
              <a:t>,</a:t>
            </a:r>
            <a:r>
              <a:rPr lang="ko-KR" altLang="en-US" baseline="0" dirty="0"/>
              <a:t> 바이오 영역 의료영역을 포함한 다양한 분야에서 활용되고 있지만</a:t>
            </a:r>
            <a:r>
              <a:rPr lang="en-US" altLang="ko-KR" baseline="0" dirty="0"/>
              <a:t>,</a:t>
            </a:r>
            <a:r>
              <a:rPr lang="ko-KR" altLang="en-US" baseline="0" dirty="0"/>
              <a:t> 현재 </a:t>
            </a:r>
            <a:r>
              <a:rPr lang="en-US" altLang="ko-KR" baseline="0" dirty="0"/>
              <a:t>3D Printing </a:t>
            </a:r>
            <a:r>
              <a:rPr lang="ko-KR" altLang="en-US" baseline="0" dirty="0"/>
              <a:t>기술을 활용한 방사선 차폐기구 제작에 대한 기술개발 연구는 없는 상황입니다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또한 방사선에 대한 국민의 인식변화에 따라 앞으로 사용자 중심의 방사선 차폐를 위해 사용할 수 있는 개인의 차폐기구 사용에 대한 수요는 증가될 것으로 예상됩니다</a:t>
            </a:r>
            <a:r>
              <a:rPr lang="en-US" altLang="ko-KR" baseline="0" dirty="0"/>
              <a:t>.</a:t>
            </a:r>
            <a:r>
              <a:rPr lang="ko-KR" altLang="en-US" baseline="0" dirty="0"/>
              <a:t> 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ko-KR" altLang="en-US" baseline="0" dirty="0"/>
              <a:t>이처럼 다양한 제품에 대한 적합한 제조기술인 </a:t>
            </a:r>
            <a:r>
              <a:rPr lang="en-US" altLang="ko-KR" baseline="0" dirty="0"/>
              <a:t>3D </a:t>
            </a:r>
            <a:r>
              <a:rPr lang="ko-KR" altLang="en-US" baseline="0" dirty="0" err="1"/>
              <a:t>프린팅</a:t>
            </a:r>
            <a:r>
              <a:rPr lang="ko-KR" altLang="en-US" baseline="0" dirty="0"/>
              <a:t> 기술과 방사선 차폐기술을 접목하여 </a:t>
            </a:r>
            <a:r>
              <a:rPr lang="ko-KR" altLang="en-US" dirty="0"/>
              <a:t>의료분야 내 환자 및 방사선 작업종사자</a:t>
            </a:r>
            <a:r>
              <a:rPr lang="en-US" altLang="ko-KR" dirty="0"/>
              <a:t>, </a:t>
            </a:r>
            <a:r>
              <a:rPr lang="ko-KR" altLang="en-US" dirty="0"/>
              <a:t>산업분야의 </a:t>
            </a:r>
            <a:r>
              <a:rPr lang="ko-KR" altLang="en-US" dirty="0" err="1"/>
              <a:t>비파괴</a:t>
            </a:r>
            <a:r>
              <a:rPr lang="ko-KR" altLang="en-US" dirty="0"/>
              <a:t> 종사자의 방사선 방호를 위한 </a:t>
            </a:r>
            <a:r>
              <a:rPr lang="ko-KR" altLang="en-US" baseline="0" dirty="0"/>
              <a:t>사용자 맞춤형 방사선 차폐기구의 설계와 제작에 대한 기술개발이 필요할 것으로 보입니다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66DB7-65CD-4CC6-B354-EFC016D177D4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338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13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95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58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30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1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86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4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52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95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12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780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간지배경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 descr="간지그래프.png"/>
          <p:cNvPicPr>
            <a:picLocks noChangeAspect="1"/>
          </p:cNvPicPr>
          <p:nvPr userDrawn="1"/>
        </p:nvPicPr>
        <p:blipFill>
          <a:blip r:embed="rId3" cstate="print"/>
          <a:srcRect l="63389" b="39499"/>
          <a:stretch>
            <a:fillRect/>
          </a:stretch>
        </p:blipFill>
        <p:spPr>
          <a:xfrm>
            <a:off x="7728182" y="428"/>
            <a:ext cx="4463057" cy="4148652"/>
          </a:xfrm>
          <a:prstGeom prst="rect">
            <a:avLst/>
          </a:prstGeom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007435" y="2862064"/>
            <a:ext cx="7694645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09695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속지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속지배경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911424" y="44624"/>
            <a:ext cx="8750763" cy="922114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"/>
          </p:nvPr>
        </p:nvSpPr>
        <p:spPr>
          <a:xfrm>
            <a:off x="1103446" y="1351309"/>
            <a:ext cx="9985109" cy="452596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956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D8409-2E56-4EBE-893E-32B9B3BCEB0A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27184-E042-4D79-A93B-636D2178AE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03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psdata.co.k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iotgps.co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133004" y="2335425"/>
            <a:ext cx="8488448" cy="3179806"/>
          </a:xfrm>
        </p:spPr>
        <p:txBody>
          <a:bodyPr>
            <a:noAutofit/>
          </a:bodyPr>
          <a:lstStyle/>
          <a:p>
            <a:pPr lvl="0" algn="ctr"/>
            <a:r>
              <a:rPr lang="ko-KR" altLang="en-US" sz="4000" dirty="0" err="1">
                <a:latin typeface="Arial" pitchFamily="34" charset="0"/>
                <a:cs typeface="Arial" pitchFamily="34" charset="0"/>
              </a:rPr>
              <a:t>아이허드</a:t>
            </a:r>
            <a:r>
              <a:rPr lang="ko-KR" altLang="en-US" sz="4000" dirty="0">
                <a:latin typeface="Arial" pitchFamily="34" charset="0"/>
                <a:cs typeface="Arial" pitchFamily="34" charset="0"/>
              </a:rPr>
              <a:t> 라이브러리 개발 계획</a:t>
            </a:r>
            <a:br>
              <a:rPr lang="en-US" altLang="ko-KR" sz="4000" dirty="0">
                <a:latin typeface="Arial" pitchFamily="34" charset="0"/>
                <a:cs typeface="Arial" pitchFamily="34" charset="0"/>
              </a:rPr>
            </a:br>
            <a:br>
              <a:rPr lang="en-US" altLang="ko-KR" sz="4000" dirty="0">
                <a:latin typeface="Arial" pitchFamily="34" charset="0"/>
                <a:cs typeface="Arial" pitchFamily="34" charset="0"/>
              </a:rPr>
            </a:br>
            <a:br>
              <a:rPr lang="en-US" altLang="ko-KR" sz="4000" dirty="0">
                <a:latin typeface="Arial" pitchFamily="34" charset="0"/>
                <a:cs typeface="Arial" pitchFamily="34" charset="0"/>
              </a:rPr>
            </a:br>
            <a:r>
              <a:rPr lang="ko-KR" altLang="en-US" sz="2000" dirty="0">
                <a:latin typeface="Arial" pitchFamily="34" charset="0"/>
                <a:cs typeface="Arial" pitchFamily="34" charset="0"/>
              </a:rPr>
              <a:t>㈜로드피아</a:t>
            </a:r>
            <a:endParaRPr lang="ko-KR" altLang="en-US" sz="4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87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라이브러리 주요기능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2637933" y="2512896"/>
            <a:ext cx="2610196" cy="6899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TBT </a:t>
            </a:r>
            <a:r>
              <a:rPr lang="ko-KR" altLang="en-US" dirty="0"/>
              <a:t>이미지 전송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051991" y="2512896"/>
            <a:ext cx="2610196" cy="689956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함수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cxnSp>
        <p:nvCxnSpPr>
          <p:cNvPr id="5" name="직선 화살표 연결선 4"/>
          <p:cNvCxnSpPr>
            <a:stCxn id="2" idx="3"/>
            <a:endCxn id="24" idx="1"/>
          </p:cNvCxnSpPr>
          <p:nvPr/>
        </p:nvCxnSpPr>
        <p:spPr>
          <a:xfrm>
            <a:off x="5248129" y="2857874"/>
            <a:ext cx="1803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911424" y="1258855"/>
            <a:ext cx="1133507" cy="1133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아이나비에어</a:t>
            </a:r>
            <a:r>
              <a:rPr lang="en-US" altLang="ko-KR" sz="700" dirty="0"/>
              <a:t>)</a:t>
            </a:r>
          </a:p>
        </p:txBody>
      </p:sp>
      <p:sp>
        <p:nvSpPr>
          <p:cNvPr id="33" name="타원 32"/>
          <p:cNvSpPr/>
          <p:nvPr/>
        </p:nvSpPr>
        <p:spPr>
          <a:xfrm>
            <a:off x="5529246" y="1258855"/>
            <a:ext cx="1133507" cy="1133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LIB</a:t>
            </a:r>
          </a:p>
        </p:txBody>
      </p:sp>
      <p:sp>
        <p:nvSpPr>
          <p:cNvPr id="34" name="타원 33"/>
          <p:cNvSpPr/>
          <p:nvPr/>
        </p:nvSpPr>
        <p:spPr>
          <a:xfrm>
            <a:off x="10147068" y="1258855"/>
            <a:ext cx="1133507" cy="1133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HUD</a:t>
            </a: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2044931" y="1579418"/>
            <a:ext cx="348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6662753" y="1579418"/>
            <a:ext cx="348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H="1">
            <a:off x="6662753" y="2044931"/>
            <a:ext cx="348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flipH="1">
            <a:off x="2044931" y="2044931"/>
            <a:ext cx="3484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723227" y="5098152"/>
            <a:ext cx="2853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 TBT </a:t>
            </a:r>
            <a:r>
              <a:rPr lang="ko-KR" altLang="en-US" sz="1400" dirty="0"/>
              <a:t>이미지 전송</a:t>
            </a: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기존 기능 유지 및 안정성 고려</a:t>
            </a:r>
          </a:p>
        </p:txBody>
      </p:sp>
    </p:spTree>
    <p:extLst>
      <p:ext uri="{BB962C8B-B14F-4D97-AF65-F5344CB8AC3E}">
        <p14:creationId xmlns:p14="http://schemas.microsoft.com/office/powerpoint/2010/main" val="214534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라이브러리 프로세스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815114" y="1346662"/>
            <a:ext cx="1787236" cy="423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</a:t>
            </a:r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5202382" y="1346661"/>
            <a:ext cx="1787236" cy="423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라이브러리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9589650" y="1346661"/>
            <a:ext cx="1787236" cy="423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HUD</a:t>
            </a:r>
            <a:endParaRPr lang="ko-KR" altLang="en-US" dirty="0"/>
          </a:p>
        </p:txBody>
      </p:sp>
      <p:cxnSp>
        <p:nvCxnSpPr>
          <p:cNvPr id="13" name="직선 연결선 12"/>
          <p:cNvCxnSpPr>
            <a:stCxn id="2" idx="2"/>
          </p:cNvCxnSpPr>
          <p:nvPr/>
        </p:nvCxnSpPr>
        <p:spPr>
          <a:xfrm>
            <a:off x="1708732" y="1770611"/>
            <a:ext cx="0" cy="44971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6096000" y="1770611"/>
            <a:ext cx="0" cy="44971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0535915" y="1770610"/>
            <a:ext cx="0" cy="44971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1708732" y="2452255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74812" y="2190645"/>
            <a:ext cx="15905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1. HUD </a:t>
            </a:r>
            <a:r>
              <a:rPr lang="ko-KR" altLang="en-US" sz="1100" dirty="0" err="1"/>
              <a:t>연결상태</a:t>
            </a:r>
            <a:r>
              <a:rPr lang="ko-KR" altLang="en-US" sz="1100" dirty="0"/>
              <a:t> 요청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1708732" y="2618509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74811" y="2618508"/>
            <a:ext cx="19992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1.1 HUD </a:t>
            </a:r>
            <a:r>
              <a:rPr lang="ko-KR" altLang="en-US" sz="1100" dirty="0" err="1"/>
              <a:t>연결상태</a:t>
            </a:r>
            <a:r>
              <a:rPr lang="ko-KR" altLang="en-US" sz="1100" dirty="0"/>
              <a:t> 요청 응답</a:t>
            </a:r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1708623" y="3125323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74703" y="2863713"/>
            <a:ext cx="130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 HUD </a:t>
            </a:r>
            <a:r>
              <a:rPr lang="ko-KR" altLang="en-US" sz="1100" dirty="0"/>
              <a:t>연결 요청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 flipH="1">
            <a:off x="1691059" y="3606934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57138" y="3606933"/>
            <a:ext cx="1717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2.2 HUD </a:t>
            </a:r>
            <a:r>
              <a:rPr lang="ko-KR" altLang="en-US" sz="1100" dirty="0"/>
              <a:t>연결 요청 응답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6106595" y="3256128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72675" y="2994518"/>
            <a:ext cx="10839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2.1 HUD </a:t>
            </a:r>
            <a:r>
              <a:rPr lang="ko-KR" altLang="en-US" sz="1100" dirty="0"/>
              <a:t>연결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1691058" y="4286420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357138" y="4024810"/>
            <a:ext cx="1378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3. TBT </a:t>
            </a:r>
            <a:r>
              <a:rPr lang="ko-KR" altLang="en-US" sz="1100" dirty="0"/>
              <a:t>이미지 전달</a:t>
            </a: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6089030" y="4417225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755110" y="4155615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3.1 TBT </a:t>
            </a:r>
            <a:r>
              <a:rPr lang="ko-KR" altLang="en-US" sz="1100" dirty="0"/>
              <a:t>이미지 전달</a:t>
            </a:r>
          </a:p>
        </p:txBody>
      </p:sp>
      <p:cxnSp>
        <p:nvCxnSpPr>
          <p:cNvPr id="57" name="직선 화살표 연결선 56"/>
          <p:cNvCxnSpPr/>
          <p:nvPr/>
        </p:nvCxnSpPr>
        <p:spPr>
          <a:xfrm flipH="1">
            <a:off x="1677224" y="4583478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343303" y="4583477"/>
            <a:ext cx="17876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3.2 TBT </a:t>
            </a:r>
            <a:r>
              <a:rPr lang="ko-KR" altLang="en-US" sz="1100" dirty="0"/>
              <a:t>이미지 전달 응답</a:t>
            </a: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6089030" y="3465618"/>
            <a:ext cx="4387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72675" y="3476128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2.2 </a:t>
            </a:r>
            <a:r>
              <a:rPr lang="ko-KR" altLang="en-US" sz="1100" dirty="0" err="1"/>
              <a:t>페어링</a:t>
            </a:r>
            <a:r>
              <a:rPr lang="ko-KR" altLang="en-US" sz="1100"/>
              <a:t> 준비완료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1956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개발 일정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155774"/>
              </p:ext>
            </p:extLst>
          </p:nvPr>
        </p:nvGraphicFramePr>
        <p:xfrm>
          <a:off x="527395" y="1168547"/>
          <a:ext cx="10994044" cy="416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511">
                  <a:extLst>
                    <a:ext uri="{9D8B030D-6E8A-4147-A177-3AD203B41FA5}">
                      <a16:colId xmlns:a16="http://schemas.microsoft.com/office/drawing/2014/main" val="2682610536"/>
                    </a:ext>
                  </a:extLst>
                </a:gridCol>
                <a:gridCol w="2748511">
                  <a:extLst>
                    <a:ext uri="{9D8B030D-6E8A-4147-A177-3AD203B41FA5}">
                      <a16:colId xmlns:a16="http://schemas.microsoft.com/office/drawing/2014/main" val="3681296163"/>
                    </a:ext>
                  </a:extLst>
                </a:gridCol>
                <a:gridCol w="2748511">
                  <a:extLst>
                    <a:ext uri="{9D8B030D-6E8A-4147-A177-3AD203B41FA5}">
                      <a16:colId xmlns:a16="http://schemas.microsoft.com/office/drawing/2014/main" val="1645261870"/>
                    </a:ext>
                  </a:extLst>
                </a:gridCol>
                <a:gridCol w="2748511">
                  <a:extLst>
                    <a:ext uri="{9D8B030D-6E8A-4147-A177-3AD203B41FA5}">
                      <a16:colId xmlns:a16="http://schemas.microsoft.com/office/drawing/2014/main" val="2405262783"/>
                    </a:ext>
                  </a:extLst>
                </a:gridCol>
              </a:tblGrid>
              <a:tr h="4856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M+2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M+1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872680"/>
                  </a:ext>
                </a:extLst>
              </a:tr>
              <a:tr h="736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819906"/>
                  </a:ext>
                </a:extLst>
              </a:tr>
              <a:tr h="736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654346"/>
                  </a:ext>
                </a:extLst>
              </a:tr>
              <a:tr h="736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단위테스트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701028"/>
                  </a:ext>
                </a:extLst>
              </a:tr>
              <a:tr h="736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통합테스트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490221"/>
                  </a:ext>
                </a:extLst>
              </a:tr>
              <a:tr h="736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아이나비에어 </a:t>
                      </a:r>
                      <a:r>
                        <a:rPr lang="ko-KR" altLang="en-US" dirty="0" err="1"/>
                        <a:t>어플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라이브러리 포함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아이나비 </a:t>
                      </a:r>
                      <a:r>
                        <a:rPr lang="ko-KR" altLang="en-US" dirty="0" err="1"/>
                        <a:t>시스템즈에서</a:t>
                      </a:r>
                      <a:r>
                        <a:rPr lang="ko-KR" altLang="en-US" dirty="0"/>
                        <a:t> 개발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53699"/>
                  </a:ext>
                </a:extLst>
              </a:tr>
            </a:tbl>
          </a:graphicData>
        </a:graphic>
      </p:graphicFrame>
      <p:cxnSp>
        <p:nvCxnSpPr>
          <p:cNvPr id="5" name="직선 화살표 연결선 4"/>
          <p:cNvCxnSpPr/>
          <p:nvPr/>
        </p:nvCxnSpPr>
        <p:spPr>
          <a:xfrm>
            <a:off x="3258589" y="2019988"/>
            <a:ext cx="276582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4547062" y="2776446"/>
            <a:ext cx="29011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7311261" y="3532903"/>
            <a:ext cx="27485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8772928" y="4206234"/>
            <a:ext cx="27485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66407" y="1650656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025355" y="2407114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195867" y="3163571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9063120" y="3874891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1M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27395" y="5527927"/>
            <a:ext cx="7075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 err="1"/>
              <a:t>개발범위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안드로이드</a:t>
            </a:r>
            <a:r>
              <a:rPr lang="en-US" altLang="ko-KR" dirty="0"/>
              <a:t>, IOS</a:t>
            </a:r>
          </a:p>
          <a:p>
            <a:r>
              <a:rPr lang="en-US" altLang="ko-KR" dirty="0"/>
              <a:t>※ </a:t>
            </a:r>
            <a:r>
              <a:rPr lang="ko-KR" altLang="en-US" dirty="0" err="1"/>
              <a:t>단위테스트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테스트앱</a:t>
            </a:r>
            <a:r>
              <a:rPr lang="en-US" altLang="ko-KR" dirty="0"/>
              <a:t>(</a:t>
            </a:r>
            <a:r>
              <a:rPr lang="ko-KR" altLang="en-US" dirty="0"/>
              <a:t>라이브러리 포함</a:t>
            </a:r>
            <a:r>
              <a:rPr lang="en-US" altLang="ko-KR" dirty="0"/>
              <a:t>) </a:t>
            </a:r>
          </a:p>
          <a:p>
            <a:r>
              <a:rPr lang="en-US" altLang="ko-KR" dirty="0"/>
              <a:t>※ </a:t>
            </a:r>
            <a:r>
              <a:rPr lang="ko-KR" altLang="en-US" dirty="0" err="1"/>
              <a:t>통합테스트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아이나비에어 앱 </a:t>
            </a:r>
            <a:r>
              <a:rPr lang="en-US" altLang="ko-KR" dirty="0"/>
              <a:t>( </a:t>
            </a:r>
            <a:r>
              <a:rPr lang="ko-KR" altLang="en-US" dirty="0"/>
              <a:t>라이브러리 포함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※ </a:t>
            </a:r>
            <a:r>
              <a:rPr lang="ko-KR" altLang="en-US" dirty="0"/>
              <a:t>아이나비에어 </a:t>
            </a:r>
            <a:r>
              <a:rPr lang="ko-KR" altLang="en-US" dirty="0" err="1"/>
              <a:t>어플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아이나비에어 </a:t>
            </a:r>
            <a:r>
              <a:rPr lang="ko-KR" altLang="en-US" dirty="0" err="1"/>
              <a:t>어플에</a:t>
            </a:r>
            <a:r>
              <a:rPr lang="ko-KR" altLang="en-US" dirty="0"/>
              <a:t> 라이브러리 포함 개발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6550429" y="4956302"/>
            <a:ext cx="22224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1261" y="458697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0.7M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60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클래스 설계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22561" y="1321721"/>
            <a:ext cx="11346873" cy="7564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tx1"/>
                </a:solidFill>
              </a:rPr>
              <a:t>클래스명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en-US" altLang="ko-KR" sz="1400" dirty="0" err="1">
                <a:solidFill>
                  <a:schemeClr val="tx1"/>
                </a:solidFill>
              </a:rPr>
              <a:t>HudConnection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설명 </a:t>
            </a:r>
            <a:r>
              <a:rPr lang="en-US" altLang="ko-KR" sz="1400" dirty="0">
                <a:solidFill>
                  <a:schemeClr val="tx1"/>
                </a:solidFill>
              </a:rPr>
              <a:t>: HUD</a:t>
            </a:r>
            <a:r>
              <a:rPr lang="ko-KR" altLang="en-US" sz="1400" dirty="0">
                <a:solidFill>
                  <a:schemeClr val="tx1"/>
                </a:solidFill>
              </a:rPr>
              <a:t>에 데이터 전송을 위한 클래스 명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22563" y="2078180"/>
            <a:ext cx="1954878" cy="5818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</a:rPr>
              <a:t>메소드명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377441" y="2078180"/>
            <a:ext cx="1954878" cy="5818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tx1"/>
                </a:solidFill>
              </a:rPr>
              <a:t>파라미터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332319" y="2078179"/>
            <a:ext cx="1954878" cy="5818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>
                <a:solidFill>
                  <a:schemeClr val="tx1"/>
                </a:solidFill>
              </a:rPr>
              <a:t>리턴값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287196" y="2078181"/>
            <a:ext cx="5482239" cy="5818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422563" y="2660073"/>
            <a:ext cx="1954878" cy="872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</a:rPr>
              <a:t>SendTBTImage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377441" y="2660073"/>
            <a:ext cx="1954878" cy="872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byte[]: </a:t>
            </a:r>
            <a:r>
              <a:rPr lang="ko-KR" altLang="en-US" sz="1400" dirty="0">
                <a:solidFill>
                  <a:schemeClr val="tx1"/>
                </a:solidFill>
              </a:rPr>
              <a:t>이미지 데이터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Type :  </a:t>
            </a:r>
            <a:r>
              <a:rPr lang="ko-KR" altLang="en-US" sz="1400" dirty="0">
                <a:solidFill>
                  <a:schemeClr val="tx1"/>
                </a:solidFill>
              </a:rPr>
              <a:t>표기되는 위치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332319" y="2660072"/>
            <a:ext cx="1954878" cy="872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</a:rPr>
              <a:t>void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287196" y="2660072"/>
            <a:ext cx="5482239" cy="872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HUD</a:t>
            </a:r>
            <a:r>
              <a:rPr lang="ko-KR" altLang="en-US" sz="1400" dirty="0">
                <a:solidFill>
                  <a:schemeClr val="tx1"/>
                </a:solidFill>
              </a:rPr>
              <a:t>에 </a:t>
            </a:r>
            <a:r>
              <a:rPr lang="en-US" altLang="ko-KR" sz="1400" dirty="0">
                <a:solidFill>
                  <a:schemeClr val="tx1"/>
                </a:solidFill>
              </a:rPr>
              <a:t>TBT</a:t>
            </a:r>
            <a:r>
              <a:rPr lang="ko-KR" altLang="en-US" sz="1400" dirty="0">
                <a:solidFill>
                  <a:schemeClr val="tx1"/>
                </a:solidFill>
              </a:rPr>
              <a:t>이미지를 전달한다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*</a:t>
            </a:r>
            <a:r>
              <a:rPr lang="ko-KR" altLang="en-US" sz="1400" dirty="0" err="1">
                <a:solidFill>
                  <a:srgbClr val="FF0000"/>
                </a:solidFill>
              </a:rPr>
              <a:t>연결성공</a:t>
            </a:r>
            <a:r>
              <a:rPr lang="ko-KR" altLang="en-US" sz="1400" dirty="0">
                <a:solidFill>
                  <a:srgbClr val="FF0000"/>
                </a:solidFill>
              </a:rPr>
              <a:t> 이나 실패의 응답은 </a:t>
            </a:r>
            <a:r>
              <a:rPr lang="en-US" altLang="ko-KR" sz="1400" dirty="0" err="1">
                <a:solidFill>
                  <a:srgbClr val="FF0000"/>
                </a:solidFill>
              </a:rPr>
              <a:t>EventListener</a:t>
            </a:r>
            <a:r>
              <a:rPr lang="ko-KR" altLang="en-US" sz="1400" dirty="0">
                <a:solidFill>
                  <a:srgbClr val="FF0000"/>
                </a:solidFill>
              </a:rPr>
              <a:t>의 </a:t>
            </a:r>
            <a:r>
              <a:rPr lang="en-US" altLang="ko-KR" sz="1400" dirty="0" err="1">
                <a:solidFill>
                  <a:srgbClr val="FF0000"/>
                </a:solidFill>
              </a:rPr>
              <a:t>setEvent</a:t>
            </a:r>
            <a:r>
              <a:rPr lang="ko-KR" altLang="en-US" sz="1400" dirty="0">
                <a:solidFill>
                  <a:srgbClr val="FF0000"/>
                </a:solidFill>
              </a:rPr>
              <a:t>함수로 </a:t>
            </a:r>
            <a:r>
              <a:rPr lang="ko-KR" altLang="en-US" sz="1400" dirty="0" err="1">
                <a:solidFill>
                  <a:srgbClr val="FF0000"/>
                </a:solidFill>
              </a:rPr>
              <a:t>리턴하게</a:t>
            </a:r>
            <a:r>
              <a:rPr lang="ko-KR" altLang="en-US" sz="1400" dirty="0">
                <a:solidFill>
                  <a:srgbClr val="FF0000"/>
                </a:solidFill>
              </a:rPr>
              <a:t> 됩니다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설계 후 하드웨어의 전송 방법에 따라 변경될 수 있습니다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541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회사 개요</a:t>
            </a:r>
          </a:p>
        </p:txBody>
      </p:sp>
      <p:graphicFrame>
        <p:nvGraphicFramePr>
          <p:cNvPr id="29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75743"/>
              </p:ext>
            </p:extLst>
          </p:nvPr>
        </p:nvGraphicFramePr>
        <p:xfrm>
          <a:off x="362465" y="1295644"/>
          <a:ext cx="11524734" cy="4942753"/>
        </p:xfrm>
        <a:graphic>
          <a:graphicData uri="http://schemas.openxmlformats.org/drawingml/2006/table">
            <a:tbl>
              <a:tblPr/>
              <a:tblGrid>
                <a:gridCol w="81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6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7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2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9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회 사 명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㈜</a:t>
                      </a:r>
                      <a:r>
                        <a:rPr kumimoji="1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로드피아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설립년월일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49001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2004. 03. 04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8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대표자명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이상덕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사업자등록번호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49001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206-81-88807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0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소재지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본 사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     경기도 용인시 흥덕구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흥덕중앙로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120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유타워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1506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호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연구소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     경기도 안산시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상록구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삼리로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64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컬럼비아건물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3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층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7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업태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(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업종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)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서비스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데이터베이스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제조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정보통신기기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,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서비스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/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소프트웨어 자문 개발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68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생산품목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안전운전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DB, 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스마트폰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Application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개발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, GIS DB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구축 솔루션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, IoTGPS , Connected BT-GPS, HUD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서비스 홈페이지 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hlinkClick r:id="rId3"/>
                        </a:rPr>
                        <a:t>www.gpsdata.co.kr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, 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  <a:hlinkClick r:id="rId4"/>
                        </a:rPr>
                        <a:t>www.iotgps.co.kr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 APP : </a:t>
                      </a:r>
                      <a:r>
                        <a:rPr kumimoji="1" lang="en-US" altLang="ko-KR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IoTGPS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, Smart HUD, Safe HUD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9449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기업신용도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및 기업규모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기업신용등급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3999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BB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(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한국기업데이터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현금흐름등급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3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CR-2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(CR1: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매우양호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~ CR6 :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미흡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)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68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총 자 산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3999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종업원수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53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  <a:tab pos="16256000" algn="l"/>
                        </a:tabLst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26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명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443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4908</TotalTime>
  <Words>773</Words>
  <Application>Microsoft Office PowerPoint</Application>
  <PresentationFormat>와이드스크린</PresentationFormat>
  <Paragraphs>112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굴림체</vt:lpstr>
      <vt:lpstr>맑은 고딕</vt:lpstr>
      <vt:lpstr>Arial</vt:lpstr>
      <vt:lpstr>Office 테마</vt:lpstr>
      <vt:lpstr>아이허드 라이브러리 개발 계획   ㈜로드피아</vt:lpstr>
      <vt:lpstr>1. 라이브러리 주요기능</vt:lpstr>
      <vt:lpstr>2. 라이브러리 프로세스</vt:lpstr>
      <vt:lpstr>3. 개발 일정</vt:lpstr>
      <vt:lpstr>4. 클래스 설계</vt:lpstr>
      <vt:lpstr>회사 개요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IoTGPS 사업 제안서 (차량위치 관제시스템)   ㈜로드피아</dc:title>
  <dc:creator>userpc</dc:creator>
  <cp:lastModifiedBy>김기덕(2022611012)</cp:lastModifiedBy>
  <cp:revision>66</cp:revision>
  <cp:lastPrinted>2019-08-12T02:14:44Z</cp:lastPrinted>
  <dcterms:created xsi:type="dcterms:W3CDTF">2019-08-02T00:32:08Z</dcterms:created>
  <dcterms:modified xsi:type="dcterms:W3CDTF">2025-03-31T21:55:20Z</dcterms:modified>
</cp:coreProperties>
</file>