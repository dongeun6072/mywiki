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4098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1E42"/>
              </a:gs>
              <a:gs pos="50000">
                <a:srgbClr val="14356B"/>
              </a:gs>
              <a:gs pos="100000">
                <a:srgbClr val="1A4E9B"/>
              </a:gs>
            </a:gsLst>
            <a:lin ang="27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318000" cy="4318000"/>
          </a:xfrm>
          <a:prstGeom prst="roundRect">
            <a:avLst>
              <a:gd name="adj" fmla="val 37647"/>
            </a:avLst>
          </a:prstGeom>
          <a:gradFill rotWithShape="1">
            <a:gsLst>
              <a:gs pos="0">
                <a:srgbClr val="FFFFFF">
                  <a:alpha val="14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366000" y="2032000"/>
            <a:ext cx="4826000" cy="4826000"/>
          </a:xfrm>
          <a:prstGeom prst="roundRect">
            <a:avLst>
              <a:gd name="adj" fmla="val 33684"/>
            </a:avLst>
          </a:prstGeom>
          <a:gradFill rotWithShape="1">
            <a:gsLst>
              <a:gs pos="0">
                <a:srgbClr val="FFFFFF">
                  <a:alpha val="10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12800" y="1915468"/>
            <a:ext cx="3312886" cy="253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>
                <a:solidFill>
                  <a:srgbClr val="9DBEF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UI DESIGN</a:t>
            </a:r>
            <a:endParaRPr lang="en-US" sz="13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" y="2349798"/>
            <a:ext cx="6306457" cy="1561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48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</a:t>
            </a:r>
            <a:endParaRPr lang="en-US" sz="4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 algn="l">
              <a:lnSpc>
                <a:spcPts val="6048"/>
              </a:lnSpc>
              <a:buNone/>
            </a:pPr>
            <a:r>
              <a:rPr lang="ko-KR" altLang="en-US" sz="4800" b="1">
                <a:solidFill>
                  <a:srgbClr val="FFFFFF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t>시각장애인용 </a:t>
            </a:r>
            <a:r>
              <a:rPr lang="en-US" sz="4800" b="1">
                <a:solidFill>
                  <a:srgbClr val="FFFFFF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t>화면 </a:t>
            </a:r>
            <a:r>
              <a:rPr lang="ko-KR" altLang="en-US" sz="4800" b="1">
                <a:solidFill>
                  <a:srgbClr val="FFFFFF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t>구성</a:t>
            </a:r>
            <a:endParaRPr lang="en-US" sz="4800" dirty="0"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13378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7C6E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 · </a:t>
            </a:r>
            <a:r>
              <a:rPr lang="en-US" sz="1200">
                <a:solidFill>
                  <a:srgbClr val="B7C6E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UI </a:t>
            </a:r>
            <a:endParaRPr lang="en-US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825113" y="6238280"/>
            <a:ext cx="6048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7C6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2026.09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EEF3FC"/>
              </a:gs>
              <a:gs pos="100000">
                <a:srgbClr val="E4ECFA"/>
              </a:gs>
            </a:gsLst>
            <a:lin ang="27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602833" y="1247704"/>
            <a:ext cx="103713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kern="0" spc="200" dirty="0">
                <a:solidFill>
                  <a:srgbClr val="1A4E9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SUMMARY</a:t>
            </a:r>
            <a:endParaRPr lang="en-US" sz="13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2171700" y="1834434"/>
            <a:ext cx="78486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4000" dirty="0">
                <a:solidFill>
                  <a:srgbClr val="0F2A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4가지 흐름으로 정리한</a:t>
            </a:r>
            <a:endParaRPr lang="en-US" sz="4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 algn="ctr">
              <a:lnSpc>
                <a:spcPts val="4800"/>
              </a:lnSpc>
              <a:buNone/>
            </a:pPr>
            <a:r>
              <a:rPr lang="en-US" sz="4000">
                <a:solidFill>
                  <a:srgbClr val="0F2A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 </a:t>
            </a:r>
            <a:r>
              <a:rPr lang="ko-KR" altLang="en-US" sz="4000">
                <a:solidFill>
                  <a:srgbClr val="0F2A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시각장애인용 </a:t>
            </a:r>
            <a:r>
              <a:rPr lang="en-US" sz="4000">
                <a:solidFill>
                  <a:srgbClr val="0F2A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화면</a:t>
            </a:r>
            <a:endParaRPr lang="en-US" sz="4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851176" y="3409234"/>
            <a:ext cx="1072406" cy="502890"/>
          </a:xfrm>
          <a:prstGeom prst="roundRect">
            <a:avLst>
              <a:gd name="adj" fmla="val 50000"/>
            </a:avLst>
          </a:prstGeom>
          <a:solidFill>
            <a:srgbClr val="1A4E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079776" y="3536234"/>
            <a:ext cx="6660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회원가입</a:t>
            </a:r>
            <a:endParaRPr lang="en-US" sz="1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75982" y="3409234"/>
            <a:ext cx="611039" cy="502890"/>
          </a:xfrm>
          <a:prstGeom prst="roundRect">
            <a:avLst>
              <a:gd name="adj" fmla="val 50000"/>
            </a:avLst>
          </a:prstGeom>
          <a:solidFill>
            <a:srgbClr val="1A4E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304582" y="3536234"/>
            <a:ext cx="20463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홈</a:t>
            </a:r>
            <a:endParaRPr lang="en-US" sz="1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064228" y="3409234"/>
            <a:ext cx="1346348" cy="502890"/>
          </a:xfrm>
          <a:prstGeom prst="roundRect">
            <a:avLst>
              <a:gd name="adj" fmla="val 50000"/>
            </a:avLst>
          </a:prstGeom>
          <a:solidFill>
            <a:srgbClr val="1A4E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292827" y="3536234"/>
            <a:ext cx="91772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ko-KR" altLang="en-US" sz="140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길안내 </a:t>
            </a:r>
            <a:r>
              <a:rPr lang="en-US" sz="140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· 챗봇</a:t>
            </a:r>
            <a:endParaRPr lang="en-US" sz="1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" name="Text 5"/>
          <p:cNvSpPr/>
          <p:nvPr/>
        </p:nvSpPr>
        <p:spPr>
          <a:xfrm>
            <a:off x="2331987" y="4236208"/>
            <a:ext cx="7528025" cy="41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60"/>
              </a:lnSpc>
              <a:buNone/>
            </a:pPr>
            <a:r>
              <a:rPr lang="en-US" sz="1600">
                <a:solidFill>
                  <a:schemeClr val="tx2">
                    <a:lumMod val="60000"/>
                    <a:lumOff val="4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접근성</a:t>
            </a:r>
            <a:r>
              <a:rPr lang="ko-KR" altLang="en-US" sz="1600">
                <a:solidFill>
                  <a:schemeClr val="tx2">
                    <a:lumMod val="60000"/>
                    <a:lumOff val="4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을 고려한 시각장애인용</a:t>
            </a:r>
            <a:r>
              <a:rPr lang="en-US" sz="1600">
                <a:solidFill>
                  <a:schemeClr val="tx2">
                    <a:lumMod val="60000"/>
                    <a:lumOff val="4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내비게이션 화면 </a:t>
            </a:r>
            <a:r>
              <a:rPr lang="ko-KR" altLang="en-US" sz="1600">
                <a:solidFill>
                  <a:schemeClr val="tx2">
                    <a:lumMod val="60000"/>
                    <a:lumOff val="4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구성</a:t>
            </a:r>
            <a:endParaRPr lang="en-US" sz="1600" dirty="0">
              <a:solidFill>
                <a:schemeClr val="tx2">
                  <a:lumMod val="60000"/>
                  <a:lumOff val="4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" name="Text 6"/>
          <p:cNvSpPr/>
          <p:nvPr/>
        </p:nvSpPr>
        <p:spPr>
          <a:xfrm>
            <a:off x="812800" y="6238280"/>
            <a:ext cx="13378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 · </a:t>
            </a:r>
            <a:r>
              <a:rPr lang="en-US" sz="1200">
                <a:solidFill>
                  <a:schemeClr val="accent1">
                    <a:lumMod val="7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UI </a:t>
            </a:r>
            <a:endParaRPr lang="en-US" sz="1200" dirty="0">
              <a:solidFill>
                <a:schemeClr val="accent1">
                  <a:lumMod val="7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11207899" y="6238280"/>
            <a:ext cx="2221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A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1200" dirty="0"/>
          </a:p>
        </p:txBody>
      </p:sp>
      <p:sp>
        <p:nvSpPr>
          <p:cNvPr id="19" name="Shape 4"/>
          <p:cNvSpPr/>
          <p:nvPr/>
        </p:nvSpPr>
        <p:spPr>
          <a:xfrm>
            <a:off x="5839421" y="3415436"/>
            <a:ext cx="1072406" cy="502890"/>
          </a:xfrm>
          <a:prstGeom prst="roundRect">
            <a:avLst>
              <a:gd name="adj" fmla="val 50000"/>
            </a:avLst>
          </a:prstGeom>
          <a:solidFill>
            <a:srgbClr val="1A4E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5"/>
          <p:cNvSpPr/>
          <p:nvPr/>
        </p:nvSpPr>
        <p:spPr>
          <a:xfrm>
            <a:off x="6055989" y="3542436"/>
            <a:ext cx="6660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ko-KR" altLang="en-US" sz="140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음성인식</a:t>
            </a:r>
            <a:endParaRPr lang="en-US" sz="1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0" y="0"/>
            <a:ext cx="4064000" cy="4064000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1A4E9B">
                  <a:alpha val="10000"/>
                </a:srgbClr>
              </a:gs>
              <a:gs pos="70000">
                <a:srgbClr val="1A4E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12800" y="1935510"/>
            <a:ext cx="129058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kern="0" spc="150" dirty="0">
                <a:solidFill>
                  <a:srgbClr val="1A4E9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ONBOARDING</a:t>
            </a:r>
            <a:endParaRPr lang="en-US" sz="13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2344440"/>
            <a:ext cx="5101590" cy="1000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ko-KR" altLang="en-US" sz="3200" b="1">
                <a:solidFill>
                  <a:srgbClr val="0F2A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유형</a:t>
            </a:r>
            <a:r>
              <a:rPr lang="en-US" sz="3200" b="1">
                <a:solidFill>
                  <a:srgbClr val="0F2A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3200" b="1">
                <a:solidFill>
                  <a:srgbClr val="0F2A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선택 </a:t>
            </a:r>
            <a:r>
              <a:rPr lang="en-US" sz="3200" b="1">
                <a:solidFill>
                  <a:srgbClr val="0F2A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회원가입</a:t>
            </a:r>
            <a:endParaRPr lang="en-US" sz="3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3497560"/>
            <a:ext cx="510159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8556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교통약자 유형을 선택하면</a:t>
            </a:r>
            <a:endParaRPr 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ko-KR" altLang="en-US" sz="1500">
                <a:solidFill>
                  <a:srgbClr val="48556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시각장애인용 </a:t>
            </a:r>
            <a:r>
              <a:rPr lang="en-US" sz="1500">
                <a:solidFill>
                  <a:srgbClr val="48556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화면</a:t>
            </a:r>
            <a:r>
              <a:rPr lang="ko-KR" altLang="en-US" sz="1500">
                <a:solidFill>
                  <a:srgbClr val="48556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으로</a:t>
            </a:r>
            <a:r>
              <a:rPr lang="en-US" sz="1500">
                <a:solidFill>
                  <a:srgbClr val="48556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500" dirty="0">
                <a:solidFill>
                  <a:srgbClr val="48556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바뀝니다.</a:t>
            </a:r>
            <a:endParaRPr 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12799" y="4284960"/>
            <a:ext cx="1040063" cy="434330"/>
          </a:xfrm>
          <a:prstGeom prst="roundRect">
            <a:avLst>
              <a:gd name="adj" fmla="val 50000"/>
            </a:avLst>
          </a:prstGeom>
          <a:solidFill>
            <a:srgbClr val="E3E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90600" y="4386560"/>
            <a:ext cx="64225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ko-KR" altLang="en-US" sz="1300">
                <a:solidFill>
                  <a:srgbClr val="1A4E9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전맹 선택</a:t>
            </a:r>
            <a:endParaRPr lang="en-US" sz="13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8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435" y="906625"/>
            <a:ext cx="2120899" cy="4574119"/>
          </a:xfrm>
          <a:prstGeom prst="rect">
            <a:avLst/>
          </a:prstGeom>
          <a:ln>
            <a:noFill/>
          </a:ln>
          <a:effectLst>
            <a:outerShdw blurRad="381000" dist="190500" dir="5400000" algn="bl" rotWithShape="0">
              <a:srgbClr val="0F2A57">
                <a:alpha val="18000"/>
              </a:srgbClr>
            </a:outerShdw>
          </a:effectLst>
        </p:spPr>
      </p:pic>
      <p:pic>
        <p:nvPicPr>
          <p:cNvPr id="11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3269" y="894985"/>
            <a:ext cx="2120832" cy="4597400"/>
          </a:xfrm>
          <a:prstGeom prst="rect">
            <a:avLst/>
          </a:prstGeom>
          <a:effectLst>
            <a:outerShdw blurRad="381000" dist="190500" dir="5400000" algn="bl" rotWithShape="0">
              <a:srgbClr val="0F2A57">
                <a:alpha val="18000"/>
              </a:srgbClr>
            </a:outerShdw>
          </a:effectLst>
        </p:spPr>
      </p:pic>
      <p:sp>
        <p:nvSpPr>
          <p:cNvPr id="15" name="Text 11"/>
          <p:cNvSpPr/>
          <p:nvPr/>
        </p:nvSpPr>
        <p:spPr>
          <a:xfrm>
            <a:off x="11207899" y="6238280"/>
            <a:ext cx="2221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A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6"/>
          <p:cNvSpPr/>
          <p:nvPr/>
        </p:nvSpPr>
        <p:spPr>
          <a:xfrm>
            <a:off x="812800" y="6238280"/>
            <a:ext cx="13378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 · </a:t>
            </a:r>
            <a:r>
              <a:rPr lang="en-US" sz="1200">
                <a:solidFill>
                  <a:schemeClr val="accent1">
                    <a:lumMod val="7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UI </a:t>
            </a:r>
            <a:endParaRPr lang="en-US" sz="1200" dirty="0">
              <a:solidFill>
                <a:schemeClr val="accent1">
                  <a:lumMod val="7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0" y="0"/>
            <a:ext cx="4064000" cy="4064000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1A4E9B">
                  <a:alpha val="10000"/>
                </a:srgbClr>
              </a:gs>
              <a:gs pos="70000">
                <a:srgbClr val="1A4E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12800" y="1935510"/>
            <a:ext cx="59481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kern="0" spc="150" dirty="0">
                <a:solidFill>
                  <a:srgbClr val="1A4E9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HOME</a:t>
            </a:r>
            <a:endParaRPr lang="en-US" sz="13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2344440"/>
            <a:ext cx="5101590" cy="1000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ko-KR" altLang="en-US" sz="3200" b="1">
                <a:solidFill>
                  <a:srgbClr val="0F2A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한 방향 사용성</a:t>
            </a:r>
            <a:r>
              <a:rPr lang="en-US" sz="3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1">
                <a:solidFill>
                  <a:srgbClr val="0F2A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홈 </a:t>
            </a:r>
            <a:r>
              <a:rPr lang="en-US" sz="3200" b="1" dirty="0">
                <a:solidFill>
                  <a:srgbClr val="0F2A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화면</a:t>
            </a:r>
            <a:endParaRPr lang="en-US" sz="3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3497560"/>
            <a:ext cx="510159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ko-KR" altLang="en-US" sz="1500">
                <a:solidFill>
                  <a:srgbClr val="48556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화면 상단에서 하단으로 눌러서 메뉴를 </a:t>
            </a:r>
            <a:r>
              <a:rPr lang="en-US" sz="1500">
                <a:solidFill>
                  <a:srgbClr val="48556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확인 </a:t>
            </a:r>
            <a:r>
              <a:rPr lang="ko-KR" altLang="en-US" sz="1500">
                <a:solidFill>
                  <a:srgbClr val="48556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할 수 있도록</a:t>
            </a:r>
            <a:endParaRPr lang="en-US" altLang="ko-KR" sz="1500">
              <a:solidFill>
                <a:srgbClr val="48556A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ko-KR" altLang="en-US" sz="1500">
                <a:solidFill>
                  <a:srgbClr val="48556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편의성을 반영하였습</a:t>
            </a:r>
            <a:r>
              <a:rPr lang="en-US" sz="1500">
                <a:solidFill>
                  <a:srgbClr val="48556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니다</a:t>
            </a:r>
            <a:r>
              <a:rPr lang="en-US" sz="1500" dirty="0">
                <a:solidFill>
                  <a:srgbClr val="48556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12800" y="4284960"/>
            <a:ext cx="1778000" cy="434330"/>
          </a:xfrm>
          <a:prstGeom prst="roundRect">
            <a:avLst>
              <a:gd name="adj" fmla="val 50000"/>
            </a:avLst>
          </a:prstGeom>
          <a:solidFill>
            <a:srgbClr val="E3E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90601" y="4386560"/>
            <a:ext cx="1533524" cy="250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ko-KR" altLang="en-US" sz="1300">
                <a:solidFill>
                  <a:srgbClr val="1A4E9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스크린 리더 사용성 고려</a:t>
            </a:r>
            <a:endParaRPr lang="en-US" sz="13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8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952" y="915538"/>
            <a:ext cx="2120900" cy="4574119"/>
          </a:xfrm>
          <a:prstGeom prst="rect">
            <a:avLst/>
          </a:prstGeom>
          <a:effectLst>
            <a:outerShdw blurRad="381000" dist="190500" dir="5400000" algn="bl" rotWithShape="0">
              <a:srgbClr val="0F2A57">
                <a:alpha val="18000"/>
              </a:srgbClr>
            </a:outerShdw>
          </a:effectLst>
        </p:spPr>
      </p:pic>
      <p:pic>
        <p:nvPicPr>
          <p:cNvPr id="11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4752" y="915538"/>
            <a:ext cx="2120900" cy="4574119"/>
          </a:xfrm>
          <a:prstGeom prst="rect">
            <a:avLst/>
          </a:prstGeom>
          <a:effectLst>
            <a:outerShdw blurRad="381000" dist="190500" dir="5400000" algn="bl" rotWithShape="0">
              <a:srgbClr val="0F2A57">
                <a:alpha val="18000"/>
              </a:srgbClr>
            </a:outerShdw>
          </a:effectLst>
        </p:spPr>
      </p:pic>
      <p:sp>
        <p:nvSpPr>
          <p:cNvPr id="15" name="Text 11"/>
          <p:cNvSpPr/>
          <p:nvPr/>
        </p:nvSpPr>
        <p:spPr>
          <a:xfrm>
            <a:off x="11207899" y="6238280"/>
            <a:ext cx="2221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A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6"/>
          <p:cNvSpPr/>
          <p:nvPr/>
        </p:nvSpPr>
        <p:spPr>
          <a:xfrm>
            <a:off x="812800" y="6238280"/>
            <a:ext cx="13378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 · </a:t>
            </a:r>
            <a:r>
              <a:rPr lang="en-US" sz="1200">
                <a:solidFill>
                  <a:schemeClr val="accent1">
                    <a:lumMod val="7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UI </a:t>
            </a:r>
            <a:endParaRPr lang="en-US" sz="1200" dirty="0">
              <a:solidFill>
                <a:schemeClr val="accent1">
                  <a:lumMod val="7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0" y="0"/>
            <a:ext cx="4064000" cy="4064000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1A4E9B">
                  <a:alpha val="10000"/>
                </a:srgbClr>
              </a:gs>
              <a:gs pos="70000">
                <a:srgbClr val="1A4E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12800" y="1935510"/>
            <a:ext cx="302527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820"/>
              </a:lnSpc>
            </a:pPr>
            <a:r>
              <a:rPr lang="en-US" sz="1300" kern="0" spc="150">
                <a:solidFill>
                  <a:srgbClr val="1A4E9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VOICE ASSISTANT</a:t>
            </a:r>
            <a:endParaRPr lang="en-US" altLang="ko-KR" sz="13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2344440"/>
            <a:ext cx="3401060" cy="1000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0F2A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음성으로 시작하는</a:t>
            </a:r>
            <a:endParaRPr lang="en-US" sz="3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 algn="l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0F2A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길찾기</a:t>
            </a:r>
            <a:endParaRPr lang="en-US" sz="3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3497560"/>
            <a:ext cx="340106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8556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화면을 길게 눌러 말하면</a:t>
            </a:r>
            <a:endParaRPr 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8556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장소를 찾고 경로를 설정합니다.</a:t>
            </a:r>
            <a:endParaRPr 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12800" y="4284960"/>
            <a:ext cx="1294606" cy="434330"/>
          </a:xfrm>
          <a:prstGeom prst="roundRect">
            <a:avLst>
              <a:gd name="adj" fmla="val 50000"/>
            </a:avLst>
          </a:prstGeom>
          <a:solidFill>
            <a:srgbClr val="E3E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90600" y="4386560"/>
            <a:ext cx="98980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A4E9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길게 눌러 시작</a:t>
            </a:r>
            <a:endParaRPr lang="en-US" sz="13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4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805" y="926424"/>
            <a:ext cx="2120899" cy="4574119"/>
          </a:xfrm>
          <a:prstGeom prst="rect">
            <a:avLst/>
          </a:prstGeom>
          <a:effectLst>
            <a:outerShdw blurRad="381000" dist="190500" dir="5400000" algn="bl" rotWithShape="0">
              <a:srgbClr val="0F2A57">
                <a:alpha val="18000"/>
              </a:srgbClr>
            </a:outerShdw>
          </a:effectLst>
        </p:spPr>
      </p:pic>
      <p:sp>
        <p:nvSpPr>
          <p:cNvPr id="18" name="Text 13"/>
          <p:cNvSpPr/>
          <p:nvPr/>
        </p:nvSpPr>
        <p:spPr>
          <a:xfrm>
            <a:off x="11207899" y="6238280"/>
            <a:ext cx="2221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A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6"/>
          <p:cNvSpPr/>
          <p:nvPr/>
        </p:nvSpPr>
        <p:spPr>
          <a:xfrm>
            <a:off x="812800" y="6238280"/>
            <a:ext cx="13378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 · </a:t>
            </a:r>
            <a:r>
              <a:rPr lang="en-US" sz="1200">
                <a:solidFill>
                  <a:schemeClr val="accent1">
                    <a:lumMod val="7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UI </a:t>
            </a:r>
            <a:endParaRPr lang="en-US" sz="1200" dirty="0">
              <a:solidFill>
                <a:schemeClr val="accent1">
                  <a:lumMod val="7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0" name="Image 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605" y="926424"/>
            <a:ext cx="2120899" cy="4574119"/>
          </a:xfrm>
          <a:prstGeom prst="rect">
            <a:avLst/>
          </a:prstGeom>
          <a:effectLst>
            <a:outerShdw blurRad="381000" dist="190500" dir="5400000" algn="bl" rotWithShape="0">
              <a:srgbClr val="0F2A57">
                <a:alpha val="18000"/>
              </a:srgbClr>
            </a:outerShdw>
          </a:effectLst>
        </p:spPr>
      </p:pic>
      <p:pic>
        <p:nvPicPr>
          <p:cNvPr id="8" name="Image 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405" y="926425"/>
            <a:ext cx="2120899" cy="4574117"/>
          </a:xfrm>
          <a:prstGeom prst="rect">
            <a:avLst/>
          </a:prstGeom>
          <a:effectLst>
            <a:outerShdw blurRad="381000" dist="190500" dir="5400000" algn="bl" rotWithShape="0">
              <a:srgbClr val="0F2A57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0" y="0"/>
            <a:ext cx="4064000" cy="4064000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1A4E9B">
                  <a:alpha val="10000"/>
                </a:srgbClr>
              </a:gs>
              <a:gs pos="70000">
                <a:srgbClr val="1A4E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12799" y="1935510"/>
            <a:ext cx="332606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820"/>
              </a:lnSpc>
            </a:pPr>
            <a:r>
              <a:rPr lang="en-US" altLang="ko-KR" sz="1300" kern="0" spc="150">
                <a:solidFill>
                  <a:srgbClr val="1A4E9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CHATBOT + NAVIGATION</a:t>
            </a:r>
            <a:endParaRPr lang="en-US" altLang="ko-KR" sz="13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2344440"/>
            <a:ext cx="5101590" cy="1000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ko-KR" altLang="en-US" sz="3200" b="1">
                <a:solidFill>
                  <a:srgbClr val="0F2A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대화형 </a:t>
            </a:r>
            <a:r>
              <a:rPr lang="en-US" sz="3200" b="1">
                <a:solidFill>
                  <a:srgbClr val="0F2A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길안내와</a:t>
            </a:r>
            <a:r>
              <a:rPr lang="en-US" sz="3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1">
                <a:solidFill>
                  <a:srgbClr val="0F2A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접근성</a:t>
            </a:r>
            <a:endParaRPr lang="en-US" sz="3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3497560"/>
            <a:ext cx="510159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400"/>
              </a:lnSpc>
            </a:pPr>
            <a:r>
              <a:rPr lang="ko-KR" altLang="en-US" sz="1500">
                <a:solidFill>
                  <a:srgbClr val="48556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음성인식으로 경로를 설정하고</a:t>
            </a:r>
            <a:r>
              <a:rPr lang="en-US" altLang="ko-KR" sz="1500">
                <a:solidFill>
                  <a:srgbClr val="48556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ko-KR" altLang="en-US" sz="1500">
                <a:solidFill>
                  <a:srgbClr val="48556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안내를 시작할 수 있습</a:t>
            </a:r>
            <a:r>
              <a:rPr lang="en-US" sz="1500">
                <a:solidFill>
                  <a:srgbClr val="48556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니다</a:t>
            </a:r>
            <a:r>
              <a:rPr lang="en-US" sz="1500" dirty="0">
                <a:solidFill>
                  <a:srgbClr val="48556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12799" y="4284960"/>
            <a:ext cx="1437105" cy="434330"/>
          </a:xfrm>
          <a:prstGeom prst="roundRect">
            <a:avLst>
              <a:gd name="adj" fmla="val 50000"/>
            </a:avLst>
          </a:prstGeom>
          <a:solidFill>
            <a:srgbClr val="E3E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90600" y="4386560"/>
            <a:ext cx="113263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ko-KR" altLang="en-US" sz="1300">
                <a:solidFill>
                  <a:srgbClr val="1A4E9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음성인식 길안내</a:t>
            </a:r>
            <a:endParaRPr lang="en-US" sz="13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1207899" y="6238280"/>
            <a:ext cx="2221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A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05</a:t>
            </a:r>
            <a:endParaRPr lang="en-US" sz="1200" dirty="0"/>
          </a:p>
        </p:txBody>
      </p:sp>
      <p:sp>
        <p:nvSpPr>
          <p:cNvPr id="16" name="Text 6"/>
          <p:cNvSpPr/>
          <p:nvPr/>
        </p:nvSpPr>
        <p:spPr>
          <a:xfrm>
            <a:off x="812800" y="6238280"/>
            <a:ext cx="13378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 · </a:t>
            </a:r>
            <a:r>
              <a:rPr lang="en-US" sz="1200">
                <a:solidFill>
                  <a:schemeClr val="accent1">
                    <a:lumMod val="7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UI </a:t>
            </a:r>
            <a:endParaRPr lang="en-US" sz="1200" dirty="0">
              <a:solidFill>
                <a:schemeClr val="accent1">
                  <a:lumMod val="7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952" y="915538"/>
            <a:ext cx="2120899" cy="4574119"/>
          </a:xfrm>
          <a:prstGeom prst="rect">
            <a:avLst/>
          </a:prstGeom>
          <a:effectLst>
            <a:outerShdw blurRad="381000" dist="190500" dir="5400000" algn="bl" rotWithShape="0">
              <a:srgbClr val="0F2A57">
                <a:alpha val="18000"/>
              </a:srgbClr>
            </a:outerShdw>
          </a:effectLst>
        </p:spPr>
      </p:pic>
      <p:pic>
        <p:nvPicPr>
          <p:cNvPr id="14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5477" y="915540"/>
            <a:ext cx="2119449" cy="4574116"/>
          </a:xfrm>
          <a:prstGeom prst="rect">
            <a:avLst/>
          </a:prstGeom>
          <a:ln>
            <a:noFill/>
          </a:ln>
          <a:effectLst>
            <a:outerShdw blurRad="381000" dist="190500" dir="5400000" algn="bl" rotWithShape="0">
              <a:srgbClr val="0F2A57">
                <a:alpha val="18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998</TotalTime>
  <Words>129</Words>
  <Application>Microsoft Office PowerPoint</Application>
  <PresentationFormat>와이드스크린</PresentationFormat>
  <Paragraphs>50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Pretendard Medium</vt:lpstr>
      <vt:lpstr>Pretendard Thin</vt:lpstr>
      <vt:lpstr>Arial</vt:lpstr>
      <vt:lpstr>Roboto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서울동행맵 시안 이미지</dc:title>
  <dc:subject>PptxGenJS Presentation</dc:subject>
  <dc:creator>PptxGenJS</dc:creator>
  <cp:lastModifiedBy>함형민(Hyungmin Hahm)</cp:lastModifiedBy>
  <cp:revision>31</cp:revision>
  <dcterms:created xsi:type="dcterms:W3CDTF">2026-09-17T06:14:26Z</dcterms:created>
  <dcterms:modified xsi:type="dcterms:W3CDTF">2026-09-18T02:26:35Z</dcterms:modified>
</cp:coreProperties>
</file>