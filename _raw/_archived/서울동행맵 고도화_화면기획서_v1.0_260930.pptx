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346" r:id="rId84"/>
    <p:sldId id="258" r:id="rId4"/>
    <p:sldId id="259" r:id="rId5"/>
    <p:sldId id="260" r:id="rId6"/>
    <p:sldId id="262" r:id="rId7"/>
    <p:sldId id="407" r:id="rId125"/>
    <p:sldId id="264" r:id="rId8"/>
    <p:sldId id="265" r:id="rId9"/>
    <p:sldId id="266" r:id="rId10"/>
    <p:sldId id="267" r:id="rId11"/>
    <p:sldId id="360" r:id="rId97"/>
    <p:sldId id="408" r:id="rId126"/>
    <p:sldId id="269" r:id="rId13"/>
    <p:sldId id="270" r:id="rId14"/>
    <p:sldId id="386" r:id="rId20"/>
    <p:sldId id="316" r:id="rId15"/>
    <p:sldId id="375" r:id="rId102"/>
    <p:sldId id="369" r:id="rId96"/>
    <p:sldId id="376" r:id="rId17"/>
    <p:sldId id="381" r:id="rId106"/>
    <p:sldId id="377" r:id="rId16"/>
    <p:sldId id="380" r:id="rId105"/>
    <p:sldId id="409" r:id="rId127"/>
    <p:sldId id="378" r:id="rId103"/>
    <p:sldId id="379" r:id="rId104"/>
    <p:sldId id="383" r:id="rId101"/>
    <p:sldId id="384" r:id="rId93"/>
    <p:sldId id="388" r:id="rId18"/>
    <p:sldId id="385" r:id="rId21"/>
    <p:sldId id="389" r:id="rId107"/>
    <p:sldId id="368" r:id="rId95"/>
    <p:sldId id="390" r:id="rId108"/>
    <p:sldId id="382" r:id="rId94"/>
    <p:sldId id="391" r:id="rId109"/>
    <p:sldId id="343" r:id="rId81"/>
    <p:sldId id="344" r:id="rId82"/>
    <p:sldId id="345" r:id="rId83"/>
    <p:sldId id="373" r:id="rId12"/>
    <p:sldId id="277" r:id="rId24"/>
    <p:sldId id="392" r:id="rId110"/>
    <p:sldId id="337" r:id="rId25"/>
    <p:sldId id="393" r:id="rId111"/>
    <p:sldId id="418" r:id="rId135"/>
    <p:sldId id="336" r:id="rId26"/>
    <p:sldId id="394" r:id="rId112"/>
    <p:sldId id="325" r:id="rId27"/>
    <p:sldId id="395" r:id="rId113"/>
    <p:sldId id="416" r:id="rId133"/>
    <p:sldId id="335" r:id="rId28"/>
    <p:sldId id="396" r:id="rId114"/>
    <p:sldId id="294" r:id="rId29"/>
    <p:sldId id="319" r:id="rId30"/>
    <p:sldId id="372" r:id="rId23"/>
    <p:sldId id="281" r:id="rId31"/>
    <p:sldId id="282" r:id="rId32"/>
    <p:sldId id="283" r:id="rId33"/>
    <p:sldId id="397" r:id="rId115"/>
    <p:sldId id="419" r:id="rId136"/>
    <p:sldId id="288" r:id="rId35"/>
    <p:sldId id="423" r:id="rId140"/>
    <p:sldId id="322" r:id="rId36"/>
    <p:sldId id="290" r:id="rId37"/>
    <p:sldId id="422" r:id="rId139"/>
    <p:sldId id="289" r:id="rId38"/>
    <p:sldId id="371" r:id="rId88"/>
    <p:sldId id="451" r:id="rId142"/>
    <p:sldId id="295" r:id="rId40"/>
    <p:sldId id="334" r:id="rId42"/>
    <p:sldId id="296" r:id="rId41"/>
    <p:sldId id="426" r:id="rId143"/>
    <p:sldId id="399" r:id="rId117"/>
    <p:sldId id="370" r:id="rId89"/>
    <p:sldId id="297" r:id="rId44"/>
    <p:sldId id="301" r:id="rId45"/>
    <p:sldId id="302" r:id="rId46"/>
    <p:sldId id="401" r:id="rId119"/>
    <p:sldId id="321" r:id="rId47"/>
    <p:sldId id="427" r:id="rId144"/>
    <p:sldId id="428" r:id="rId145"/>
    <p:sldId id="303" r:id="rId48"/>
    <p:sldId id="304" r:id="rId49"/>
    <p:sldId id="348" r:id="rId86"/>
    <p:sldId id="349" r:id="rId87"/>
    <p:sldId id="354" r:id="rId91"/>
    <p:sldId id="429" r:id="rId146"/>
    <p:sldId id="430" r:id="rId147"/>
    <p:sldId id="305" r:id="rId50"/>
    <p:sldId id="306" r:id="rId51"/>
    <p:sldId id="402" r:id="rId120"/>
    <p:sldId id="330" r:id="rId52"/>
    <p:sldId id="434" r:id="rId149"/>
    <p:sldId id="433" r:id="rId85"/>
    <p:sldId id="432" r:id="rId121"/>
    <p:sldId id="435" r:id="rId150"/>
    <p:sldId id="436" r:id="rId151"/>
    <p:sldId id="299" r:id="rId53"/>
    <p:sldId id="324" r:id="rId54"/>
    <p:sldId id="438" r:id="rId153"/>
    <p:sldId id="307" r:id="rId55"/>
    <p:sldId id="308" r:id="rId56"/>
    <p:sldId id="404" r:id="rId122"/>
    <p:sldId id="440" r:id="rId155"/>
    <p:sldId id="439" r:id="rId154"/>
    <p:sldId id="309" r:id="rId57"/>
    <p:sldId id="441" r:id="rId156"/>
    <p:sldId id="442" r:id="rId157"/>
    <p:sldId id="310" r:id="rId58"/>
    <p:sldId id="311" r:id="rId61"/>
    <p:sldId id="445" r:id="rId159"/>
    <p:sldId id="444" r:id="rId158"/>
    <p:sldId id="443" r:id="rId62"/>
    <p:sldId id="338" r:id="rId59"/>
    <p:sldId id="312" r:id="rId63"/>
    <p:sldId id="447" r:id="rId161"/>
    <p:sldId id="339" r:id="rId64"/>
    <p:sldId id="326" r:id="rId65"/>
    <p:sldId id="449" r:id="rId163"/>
    <p:sldId id="448" r:id="rId162"/>
    <p:sldId id="327" r:id="rId66"/>
    <p:sldId id="328" r:id="rId67"/>
    <p:sldId id="333" r:id="rId68"/>
    <p:sldId id="261" r:id="rId69"/>
    <p:sldId id="450" r:id="rId164"/>
    <p:sldId id="340" r:id="rId70"/>
    <p:sldId id="329" r:id="rId71"/>
    <p:sldId id="361" r:id="rId98"/>
    <p:sldId id="362" r:id="rId99"/>
    <p:sldId id="405" r:id="rId123"/>
    <p:sldId id="314" r:id="rId72"/>
    <p:sldId id="365" r:id="rId92"/>
    <p:sldId id="455" r:id="rId134"/>
    <p:sldId id="456" r:id="rId132"/>
    <p:sldId id="457" r:id="rId148"/>
    <p:sldId id="315" r:id="rId73"/>
    <p:sldId id="364" r:id="rId90"/>
    <p:sldId id="331" r:id="rId74"/>
    <p:sldId id="332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5"/>
    <p:restoredTop sz="96301"/>
  </p:normalViewPr>
  <p:slideViewPr>
    <p:cSldViewPr snapToGrid="0" snapToObjects="1">
      <p:cViewPr varScale="1">
        <p:scale>
          <a:sx n="119" d="100"/>
          <a:sy n="119" d="100"/>
        </p:scale>
        <p:origin x="208" y="272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40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23.xml"/><Relationship Id="rId17" Type="http://schemas.openxmlformats.org/officeDocument/2006/relationships/slide" Target="slides/slide21.xml"/><Relationship Id="rId18" Type="http://schemas.openxmlformats.org/officeDocument/2006/relationships/slide" Target="slides/slide30.xml"/><Relationship Id="rId20" Type="http://schemas.openxmlformats.org/officeDocument/2006/relationships/slide" Target="slides/slide17.xml"/><Relationship Id="rId21" Type="http://schemas.openxmlformats.org/officeDocument/2006/relationships/slide" Target="slides/slide31.xml"/><Relationship Id="rId23" Type="http://schemas.openxmlformats.org/officeDocument/2006/relationships/slide" Target="slides/slide58.xml"/><Relationship Id="rId24" Type="http://schemas.openxmlformats.org/officeDocument/2006/relationships/slide" Target="slides/slide41.xml"/><Relationship Id="rId25" Type="http://schemas.openxmlformats.org/officeDocument/2006/relationships/slide" Target="slides/slide43.xml"/><Relationship Id="rId26" Type="http://schemas.openxmlformats.org/officeDocument/2006/relationships/slide" Target="slides/slide46.xml"/><Relationship Id="rId27" Type="http://schemas.openxmlformats.org/officeDocument/2006/relationships/slide" Target="slides/slide51.xml"/><Relationship Id="rId28" Type="http://schemas.openxmlformats.org/officeDocument/2006/relationships/slide" Target="slides/slide54.xml"/><Relationship Id="rId29" Type="http://schemas.openxmlformats.org/officeDocument/2006/relationships/slide" Target="slides/slide56.xml"/><Relationship Id="rId30" Type="http://schemas.openxmlformats.org/officeDocument/2006/relationships/slide" Target="slides/slide57.xml"/><Relationship Id="rId31" Type="http://schemas.openxmlformats.org/officeDocument/2006/relationships/slide" Target="slides/slide59.xml"/><Relationship Id="rId32" Type="http://schemas.openxmlformats.org/officeDocument/2006/relationships/slide" Target="slides/slide60.xml"/><Relationship Id="rId33" Type="http://schemas.openxmlformats.org/officeDocument/2006/relationships/slide" Target="slides/slide61.xml"/><Relationship Id="rId35" Type="http://schemas.openxmlformats.org/officeDocument/2006/relationships/slide" Target="slides/slide64.xml"/><Relationship Id="rId36" Type="http://schemas.openxmlformats.org/officeDocument/2006/relationships/slide" Target="slides/slide66.xml"/><Relationship Id="rId37" Type="http://schemas.openxmlformats.org/officeDocument/2006/relationships/slide" Target="slides/slide67.xml"/><Relationship Id="rId38" Type="http://schemas.openxmlformats.org/officeDocument/2006/relationships/slide" Target="slides/slide69.xml"/><Relationship Id="rId40" Type="http://schemas.openxmlformats.org/officeDocument/2006/relationships/slide" Target="slides/slide72.xml"/><Relationship Id="rId41" Type="http://schemas.openxmlformats.org/officeDocument/2006/relationships/slide" Target="slides/slide74.xml"/><Relationship Id="rId42" Type="http://schemas.openxmlformats.org/officeDocument/2006/relationships/slide" Target="slides/slide73.xml"/><Relationship Id="rId44" Type="http://schemas.openxmlformats.org/officeDocument/2006/relationships/slide" Target="slides/slide78.xml"/><Relationship Id="rId45" Type="http://schemas.openxmlformats.org/officeDocument/2006/relationships/slide" Target="slides/slide79.xml"/><Relationship Id="rId46" Type="http://schemas.openxmlformats.org/officeDocument/2006/relationships/slide" Target="slides/slide80.xml"/><Relationship Id="rId47" Type="http://schemas.openxmlformats.org/officeDocument/2006/relationships/slide" Target="slides/slide82.xml"/><Relationship Id="rId48" Type="http://schemas.openxmlformats.org/officeDocument/2006/relationships/slide" Target="slides/slide85.xml"/><Relationship Id="rId49" Type="http://schemas.openxmlformats.org/officeDocument/2006/relationships/slide" Target="slides/slide86.xml"/><Relationship Id="rId50" Type="http://schemas.openxmlformats.org/officeDocument/2006/relationships/slide" Target="slides/slide92.xml"/><Relationship Id="rId51" Type="http://schemas.openxmlformats.org/officeDocument/2006/relationships/slide" Target="slides/slide93.xml"/><Relationship Id="rId52" Type="http://schemas.openxmlformats.org/officeDocument/2006/relationships/slide" Target="slides/slide95.xml"/><Relationship Id="rId53" Type="http://schemas.openxmlformats.org/officeDocument/2006/relationships/slide" Target="slides/slide101.xml"/><Relationship Id="rId54" Type="http://schemas.openxmlformats.org/officeDocument/2006/relationships/slide" Target="slides/slide102.xml"/><Relationship Id="rId55" Type="http://schemas.openxmlformats.org/officeDocument/2006/relationships/slide" Target="slides/slide104.xml"/><Relationship Id="rId56" Type="http://schemas.openxmlformats.org/officeDocument/2006/relationships/slide" Target="slides/slide105.xml"/><Relationship Id="rId57" Type="http://schemas.openxmlformats.org/officeDocument/2006/relationships/slide" Target="slides/slide109.xml"/><Relationship Id="rId58" Type="http://schemas.openxmlformats.org/officeDocument/2006/relationships/slide" Target="slides/slide112.xml"/><Relationship Id="rId59" Type="http://schemas.openxmlformats.org/officeDocument/2006/relationships/slide" Target="slides/slide117.xml"/><Relationship Id="rId61" Type="http://schemas.openxmlformats.org/officeDocument/2006/relationships/slide" Target="slides/slide113.xml"/><Relationship Id="rId62" Type="http://schemas.openxmlformats.org/officeDocument/2006/relationships/slide" Target="slides/slide116.xml"/><Relationship Id="rId63" Type="http://schemas.openxmlformats.org/officeDocument/2006/relationships/slide" Target="slides/slide118.xml"/><Relationship Id="rId64" Type="http://schemas.openxmlformats.org/officeDocument/2006/relationships/slide" Target="slides/slide120.xml"/><Relationship Id="rId65" Type="http://schemas.openxmlformats.org/officeDocument/2006/relationships/slide" Target="slides/slide121.xml"/><Relationship Id="rId66" Type="http://schemas.openxmlformats.org/officeDocument/2006/relationships/slide" Target="slides/slide124.xml"/><Relationship Id="rId67" Type="http://schemas.openxmlformats.org/officeDocument/2006/relationships/slide" Target="slides/slide125.xml"/><Relationship Id="rId68" Type="http://schemas.openxmlformats.org/officeDocument/2006/relationships/slide" Target="slides/slide126.xml"/><Relationship Id="rId69" Type="http://schemas.openxmlformats.org/officeDocument/2006/relationships/slide" Target="slides/slide127.xml"/><Relationship Id="rId70" Type="http://schemas.openxmlformats.org/officeDocument/2006/relationships/slide" Target="slides/slide129.xml"/><Relationship Id="rId71" Type="http://schemas.openxmlformats.org/officeDocument/2006/relationships/slide" Target="slides/slide130.xml"/><Relationship Id="rId72" Type="http://schemas.openxmlformats.org/officeDocument/2006/relationships/slide" Target="slides/slide134.xml"/><Relationship Id="rId73" Type="http://schemas.openxmlformats.org/officeDocument/2006/relationships/slide" Target="slides/slide139.xml"/><Relationship Id="rId74" Type="http://schemas.openxmlformats.org/officeDocument/2006/relationships/slide" Target="slides/slide141.xml"/><Relationship Id="rId75" Type="http://schemas.openxmlformats.org/officeDocument/2006/relationships/slide" Target="slides/slide142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openxmlformats.org/officeDocument/2006/relationships/slide" Target="slides/slide37.xml"/><Relationship Id="rId82" Type="http://schemas.openxmlformats.org/officeDocument/2006/relationships/slide" Target="slides/slide38.xml"/><Relationship Id="rId83" Type="http://schemas.openxmlformats.org/officeDocument/2006/relationships/slide" Target="slides/slide39.xml"/><Relationship Id="rId84" Type="http://schemas.openxmlformats.org/officeDocument/2006/relationships/slide" Target="slides/slide3.xml"/><Relationship Id="rId85" Type="http://schemas.openxmlformats.org/officeDocument/2006/relationships/slide" Target="slides/slide97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70.xml"/><Relationship Id="rId89" Type="http://schemas.openxmlformats.org/officeDocument/2006/relationships/slide" Target="slides/slide77.xml"/><Relationship Id="rId90" Type="http://schemas.openxmlformats.org/officeDocument/2006/relationships/slide" Target="slides/slide140.xml"/><Relationship Id="rId91" Type="http://schemas.openxmlformats.org/officeDocument/2006/relationships/slide" Target="slides/slide89.xml"/><Relationship Id="rId92" Type="http://schemas.openxmlformats.org/officeDocument/2006/relationships/slide" Target="slides/slide135.xml"/><Relationship Id="rId93" Type="http://schemas.openxmlformats.org/officeDocument/2006/relationships/slide" Target="slides/slide29.xml"/><Relationship Id="rId94" Type="http://schemas.openxmlformats.org/officeDocument/2006/relationships/slide" Target="slides/slide35.xml"/><Relationship Id="rId95" Type="http://schemas.openxmlformats.org/officeDocument/2006/relationships/slide" Target="slides/slide33.xml"/><Relationship Id="rId96" Type="http://schemas.openxmlformats.org/officeDocument/2006/relationships/slide" Target="slides/slide20.xml"/><Relationship Id="rId97" Type="http://schemas.openxmlformats.org/officeDocument/2006/relationships/slide" Target="slides/slide13.xml"/><Relationship Id="rId98" Type="http://schemas.openxmlformats.org/officeDocument/2006/relationships/slide" Target="slides/slide131.xml"/><Relationship Id="rId99" Type="http://schemas.openxmlformats.org/officeDocument/2006/relationships/slide" Target="slides/slide132.xml"/><Relationship Id="rId101" Type="http://schemas.openxmlformats.org/officeDocument/2006/relationships/slide" Target="slides/slide28.xml"/><Relationship Id="rId102" Type="http://schemas.openxmlformats.org/officeDocument/2006/relationships/slide" Target="slides/slide19.xml"/><Relationship Id="rId103" Type="http://schemas.openxmlformats.org/officeDocument/2006/relationships/slide" Target="slides/slide26.xml"/><Relationship Id="rId104" Type="http://schemas.openxmlformats.org/officeDocument/2006/relationships/slide" Target="slides/slide27.xml"/><Relationship Id="rId105" Type="http://schemas.openxmlformats.org/officeDocument/2006/relationships/slide" Target="slides/slide24.xml"/><Relationship Id="rId106" Type="http://schemas.openxmlformats.org/officeDocument/2006/relationships/slide" Target="slides/slide22.xml"/><Relationship Id="rId107" Type="http://schemas.openxmlformats.org/officeDocument/2006/relationships/slide" Target="slides/slide32.xml"/><Relationship Id="rId108" Type="http://schemas.openxmlformats.org/officeDocument/2006/relationships/slide" Target="slides/slide34.xml"/><Relationship Id="rId109" Type="http://schemas.openxmlformats.org/officeDocument/2006/relationships/slide" Target="slides/slide36.xml"/><Relationship Id="rId110" Type="http://schemas.openxmlformats.org/officeDocument/2006/relationships/slide" Target="slides/slide42.xml"/><Relationship Id="rId111" Type="http://schemas.openxmlformats.org/officeDocument/2006/relationships/slide" Target="slides/slide44.xml"/><Relationship Id="rId112" Type="http://schemas.openxmlformats.org/officeDocument/2006/relationships/slide" Target="slides/slide47.xml"/><Relationship Id="rId113" Type="http://schemas.openxmlformats.org/officeDocument/2006/relationships/slide" Target="slides/slide52.xml"/><Relationship Id="rId114" Type="http://schemas.openxmlformats.org/officeDocument/2006/relationships/slide" Target="slides/slide55.xml"/><Relationship Id="rId115" Type="http://schemas.openxmlformats.org/officeDocument/2006/relationships/slide" Target="slides/slide62.xml"/><Relationship Id="rId117" Type="http://schemas.openxmlformats.org/officeDocument/2006/relationships/slide" Target="slides/slide76.xml"/><Relationship Id="rId119" Type="http://schemas.openxmlformats.org/officeDocument/2006/relationships/slide" Target="slides/slide81.xml"/><Relationship Id="rId120" Type="http://schemas.openxmlformats.org/officeDocument/2006/relationships/slide" Target="slides/slide94.xml"/><Relationship Id="rId121" Type="http://schemas.openxmlformats.org/officeDocument/2006/relationships/slide" Target="slides/slide98.xml"/><Relationship Id="rId122" Type="http://schemas.openxmlformats.org/officeDocument/2006/relationships/slide" Target="slides/slide106.xml"/><Relationship Id="rId123" Type="http://schemas.openxmlformats.org/officeDocument/2006/relationships/slide" Target="slides/slide133.xml"/><Relationship Id="rId125" Type="http://schemas.openxmlformats.org/officeDocument/2006/relationships/slide" Target="slides/slide8.xml"/><Relationship Id="rId126" Type="http://schemas.openxmlformats.org/officeDocument/2006/relationships/slide" Target="slides/slide14.xml"/><Relationship Id="rId127" Type="http://schemas.openxmlformats.org/officeDocument/2006/relationships/slide" Target="slides/slide25.xml"/><Relationship Id="rId132" Type="http://schemas.openxmlformats.org/officeDocument/2006/relationships/slide" Target="slides/slide137.xml"/><Relationship Id="rId133" Type="http://schemas.openxmlformats.org/officeDocument/2006/relationships/slide" Target="slides/slide53.xml"/><Relationship Id="rId134" Type="http://schemas.openxmlformats.org/officeDocument/2006/relationships/slide" Target="slides/slide136.xml"/><Relationship Id="rId135" Type="http://schemas.openxmlformats.org/officeDocument/2006/relationships/slide" Target="slides/slide45.xml"/><Relationship Id="rId136" Type="http://schemas.openxmlformats.org/officeDocument/2006/relationships/slide" Target="slides/slide63.xml"/><Relationship Id="rId139" Type="http://schemas.openxmlformats.org/officeDocument/2006/relationships/slide" Target="slides/slide68.xml"/><Relationship Id="rId140" Type="http://schemas.openxmlformats.org/officeDocument/2006/relationships/slide" Target="slides/slide65.xml"/><Relationship Id="rId142" Type="http://schemas.openxmlformats.org/officeDocument/2006/relationships/slide" Target="slides/slide71.xml"/><Relationship Id="rId143" Type="http://schemas.openxmlformats.org/officeDocument/2006/relationships/slide" Target="slides/slide75.xml"/><Relationship Id="rId144" Type="http://schemas.openxmlformats.org/officeDocument/2006/relationships/slide" Target="slides/slide83.xml"/><Relationship Id="rId145" Type="http://schemas.openxmlformats.org/officeDocument/2006/relationships/slide" Target="slides/slide84.xml"/><Relationship Id="rId146" Type="http://schemas.openxmlformats.org/officeDocument/2006/relationships/slide" Target="slides/slide90.xml"/><Relationship Id="rId147" Type="http://schemas.openxmlformats.org/officeDocument/2006/relationships/slide" Target="slides/slide91.xml"/><Relationship Id="rId148" Type="http://schemas.openxmlformats.org/officeDocument/2006/relationships/slide" Target="slides/slide138.xml"/><Relationship Id="rId149" Type="http://schemas.openxmlformats.org/officeDocument/2006/relationships/slide" Target="slides/slide96.xml"/><Relationship Id="rId150" Type="http://schemas.openxmlformats.org/officeDocument/2006/relationships/slide" Target="slides/slide99.xml"/><Relationship Id="rId151" Type="http://schemas.openxmlformats.org/officeDocument/2006/relationships/slide" Target="slides/slide100.xml"/><Relationship Id="rId153" Type="http://schemas.openxmlformats.org/officeDocument/2006/relationships/slide" Target="slides/slide103.xml"/><Relationship Id="rId154" Type="http://schemas.openxmlformats.org/officeDocument/2006/relationships/slide" Target="slides/slide108.xml"/><Relationship Id="rId155" Type="http://schemas.openxmlformats.org/officeDocument/2006/relationships/slide" Target="slides/slide107.xml"/><Relationship Id="rId156" Type="http://schemas.openxmlformats.org/officeDocument/2006/relationships/slide" Target="slides/slide110.xml"/><Relationship Id="rId157" Type="http://schemas.openxmlformats.org/officeDocument/2006/relationships/slide" Target="slides/slide111.xml"/><Relationship Id="rId158" Type="http://schemas.openxmlformats.org/officeDocument/2006/relationships/slide" Target="slides/slide115.xml"/><Relationship Id="rId159" Type="http://schemas.openxmlformats.org/officeDocument/2006/relationships/slide" Target="slides/slide114.xml"/><Relationship Id="rId161" Type="http://schemas.openxmlformats.org/officeDocument/2006/relationships/slide" Target="slides/slide119.xml"/><Relationship Id="rId162" Type="http://schemas.openxmlformats.org/officeDocument/2006/relationships/slide" Target="slides/slide123.xml"/><Relationship Id="rId163" Type="http://schemas.openxmlformats.org/officeDocument/2006/relationships/slide" Target="slides/slide122.xml"/><Relationship Id="rId164" Type="http://schemas.openxmlformats.org/officeDocument/2006/relationships/slide" Target="slides/slide1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2026. 9. 11.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6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8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0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lang="ko-KR" altLang="en-US">
                <a:solidFill>
                  <a:srgbClr val="14181F"/>
                </a:solidFill>
                <a:latin typeface="Pretendard"/>
              </a:rPr>
              <a:t>v1.0</a:t>
            </a:r>
          </a:p>
        </p:txBody>
      </p:sp>
      <p:sp>
        <p:nvSpPr>
          <p:cNvPr id="11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 lang="ko-KR" altLang="en-US">
                <a:solidFill>
                  <a:srgbClr val="14181F"/>
                </a:solidFill>
                <a:latin typeface="Pretendard"/>
              </a:rPr>
              <a:t>2026. 09. 30</a:t>
            </a:r>
          </a:p>
        </p:txBody>
      </p:sp>
      <p:sp>
        <p:nvSpPr>
          <p:cNvPr id="13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5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9202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문서 개정 이력 (1/2)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67509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217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217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-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20214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20214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20214"/>
            <a:ext cx="5848350" cy="6528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메뉴 구조도 재구성 — 대메뉴 3탭(1-0 홈 · 2-0 길찾기 · 3-0 마이페이지)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홈 6메뉴 개편 — 마이페이지 · 서비스 정보 제외, 버스정류장 · 지하철역 추가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서비스 정보를 마이페이지 하위(3-4)로 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20214"/>
            <a:ext cx="2590800" cy="6528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전체(화면번호 · 페이지명)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 워크플로우 · 서비스 정보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20214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6" name="표 행 구분선"/>
          <p:cNvSpPr/>
          <p:nvPr/>
        </p:nvSpPr>
        <p:spPr>
          <a:xfrm>
            <a:off x="419100" y="2760878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본문"/>
          <p:cNvSpPr txBox="1"/>
          <p:nvPr/>
        </p:nvSpPr>
        <p:spPr>
          <a:xfrm>
            <a:off x="552450" y="2913583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v0.8</a:t>
            </a:r>
          </a:p>
        </p:txBody>
      </p:sp>
      <p:sp>
        <p:nvSpPr>
          <p:cNvPr id="28" name="표 본문"/>
          <p:cNvSpPr txBox="1"/>
          <p:nvPr/>
        </p:nvSpPr>
        <p:spPr>
          <a:xfrm>
            <a:off x="1257300" y="2913583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2026-09-08</a:t>
            </a:r>
          </a:p>
        </p:txBody>
      </p:sp>
      <p:sp>
        <p:nvSpPr>
          <p:cNvPr id="29" name="표 본문"/>
          <p:cNvSpPr txBox="1"/>
          <p:nvPr/>
        </p:nvSpPr>
        <p:spPr>
          <a:xfrm>
            <a:off x="2247900" y="2913583"/>
            <a:ext cx="5848350" cy="1958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하단 탭바 순서 변경(홈 &gt; 길찾기 &gt; 마이페이지) · 홈 6버튼 배치 변경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길안내 — 경유지 최대 1개 · 실내 내비게이션 신설 · [안내시작] 라벨 통일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검색 필터 신설 — 버스정류장(전체 / 내 주변 300m) · 지하철역(전체 / 내 주변)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인근 편의시설 — 7종 표출 순서를 교통약자 유형별로 개인화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불편신고 — 입력 3종(유형 · 내용 · 사진) · 「기타」 유형 제외 · 위치는 현위치 ＋ 핀 지정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— 글자 크기 2단 신설 · 레이아웃 재편 · 서비스 정보 중간 메뉴 폐기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비회원 — 닉네임 수정 불가 · 로그인 / 회원가입 행 · 마일리지 · 즐겨찾기는 로그인 팝업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즐겨찾기 — 고정 슬롯 유형 선택 · 이름 변경 바텀시트 · 편집 모드 [이름수정]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저상버스 예약 — 「승하차 예약」 → 「승차 예약」 · 4단계(예약 → 확정 → 탑승 준비 → 탑승 완료)</a:t>
            </a:r>
          </a:p>
        </p:txBody>
      </p:sp>
      <p:sp>
        <p:nvSpPr>
          <p:cNvPr id="30" name="표 본문"/>
          <p:cNvSpPr txBox="1"/>
          <p:nvPr/>
        </p:nvSpPr>
        <p:spPr>
          <a:xfrm>
            <a:off x="8229600" y="2913583"/>
            <a:ext cx="2590800" cy="1958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전체(탭바) · 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 편의시설 1-2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 1-6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마이페이지 3-0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 3-0 (비회원)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 · 버스정류장 1-3</a:t>
            </a:r>
          </a:p>
        </p:txBody>
      </p:sp>
      <p:sp>
        <p:nvSpPr>
          <p:cNvPr id="31" name="표 본문"/>
          <p:cNvSpPr txBox="1"/>
          <p:nvPr/>
        </p:nvSpPr>
        <p:spPr>
          <a:xfrm>
            <a:off x="11087100" y="2913583"/>
            <a:ext cx="552450" cy="240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err="1">
                <a:solidFill>
                  <a:srgbClr val="5B6573"/>
                </a:solidFill>
                <a:latin typeface="Pretendard"/>
              </a:rPr>
              <a:t>이지호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3" name="표 행 구분선"/>
          <p:cNvSpPr/>
          <p:nvPr/>
        </p:nvSpPr>
        <p:spPr>
          <a:xfrm>
            <a:off x="419100" y="4960009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표 본문"/>
          <p:cNvSpPr txBox="1"/>
          <p:nvPr/>
        </p:nvSpPr>
        <p:spPr>
          <a:xfrm>
            <a:off x="548640" y="5112714"/>
            <a:ext cx="438912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 lang="ko-KR" altLang="en-US">
                <a:solidFill>
                  <a:srgbClr val="2D4CC8"/>
                </a:solidFill>
                <a:latin typeface="Pretendard"/>
              </a:rPr>
              <a:t>v0.8.1</a:t>
            </a:r>
          </a:p>
        </p:txBody>
      </p:sp>
      <p:sp>
        <p:nvSpPr>
          <p:cNvPr id="35" name="표 본문"/>
          <p:cNvSpPr txBox="1"/>
          <p:nvPr/>
        </p:nvSpPr>
        <p:spPr>
          <a:xfrm>
            <a:off x="1261872" y="5112714"/>
            <a:ext cx="722376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2026-09-14</a:t>
            </a:r>
          </a:p>
        </p:txBody>
      </p:sp>
      <p:sp>
        <p:nvSpPr>
          <p:cNvPr id="36" name="표 본문"/>
          <p:cNvSpPr txBox="1"/>
          <p:nvPr/>
        </p:nvSpPr>
        <p:spPr>
          <a:xfrm>
            <a:off x="2249424" y="5112714"/>
            <a:ext cx="5852160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실내 내비게이션 — 하단 버튼 2종을 바텀시트 안으로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상세경로 — 지하철 · 버스 구간 · 도착 정보 10초 자동 갱신 ＋ [새로고침]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저상버스 예약 — 2-6 폐기 · 노선 상세에서 신청 · 예약 내역 3-4 · 홈 위젯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전맹 — 낭독 순서 · 지도 핀 음성 안내 · 역명 그룹 라벨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마이페이지 — 예약 내역 진입 행 신설 · 단계 번호 3-4~3-8 재부여</a:t>
            </a:r>
          </a:p>
        </p:txBody>
      </p:sp>
      <p:sp>
        <p:nvSpPr>
          <p:cNvPr id="37" name="표 본문"/>
          <p:cNvSpPr txBox="1"/>
          <p:nvPr/>
        </p:nvSpPr>
        <p:spPr>
          <a:xfrm>
            <a:off x="8229600" y="5112714"/>
            <a:ext cx="2587752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(실내 내비게이션)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상세경로 · 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버스정류장 1-3 · 홈 1-0 · 마이페이지 3-4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전체 (전맹)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마이페이지 3-0 · 메뉴 구조도</a:t>
            </a:r>
          </a:p>
        </p:txBody>
      </p:sp>
      <p:sp>
        <p:nvSpPr>
          <p:cNvPr id="38" name="표 본문"/>
          <p:cNvSpPr txBox="1"/>
          <p:nvPr/>
        </p:nvSpPr>
        <p:spPr>
          <a:xfrm>
            <a:off x="11082528" y="5112714"/>
            <a:ext cx="54864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이지호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9202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lang="ko-KR" altLang="en-US">
                <a:solidFill>
                  <a:srgbClr val="14181F"/>
                </a:solidFill>
                <a:latin typeface="Pretendard"/>
              </a:rPr>
              <a:t>문서 개정 이력 (2/2)</a:t>
            </a: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548640" y="1563624"/>
            <a:ext cx="438912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 lang="ko-KR" altLang="en-US">
                <a:solidFill>
                  <a:srgbClr val="2D4CC8"/>
                </a:solidFill>
                <a:latin typeface="Pretendard"/>
              </a:rPr>
              <a:t>v1.0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61872" y="1563624"/>
            <a:ext cx="722376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2026-09-30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9424" y="1563624"/>
            <a:ext cx="5852160" cy="47877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로그인 · 회원가입 0-1~0-3 — 버튼 라벨 통일 · 전맹 전환 예고 · 약관 앱 내 이동 · 성공 토스트 · 입력 한글 · 영문만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홈 1-0 — 예약 현황 위젯 · 6버튼 이동처 · 하단 탭 순서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인근 편의시설 1-2 — 카테고리 선택 화면 · 장소 상세는 2-2로 통합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버스정류장 1-3 / 2-5 / 2-5-1 분리 — 「차기 · 차차기」 폐기 · 하차 안내 · 예약 후 하차 정류장 시트 · 설비 조사 시점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지하철역 1-4 / 1-4-1 · 시간표 1-4-2 신설 — 도착 가로 2열 · 「전역 도착」 폐기 · 지선은 호선으로 · 설비 조사 시점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택시 호출 1-5 — 4종은 카드 · 자격 고지 · 바우처 신청 · 「전화 연결」 통일 · 앱 밖 이동 ↗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불편신고 1-6 / 1-6-1 / 1-6-2 분리 — 신고 유형 · 지도 지정 · 상태 4종 · 수정 모드 · 이탈 확인 팝업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길안내 2-0 — 최근 도착지 [편집] · 시트 전환 · 지도 조작 · 지도의 정류장 · 역은 정보 화면으로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장소 검색 2-1 신설 · 장소 상세 2-2 — 검색 3상태 · 결과 건수 · 상세 시트 · 「계단 유무」 · 조사 시점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상세경로 2-3 — 시트 3단계 · 도착 시각 / 요금 · [승차 예약]은 2-5-1로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실외 내비 2-4-1 — 접힘 시트 · 낭독 주기 · 컨트롤 4종 재배치 · 전맹 버튼 · 종료 확인 팝업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실내 내비 2-4-2 — 컨트롤 5종([새로고침] → [재탐색]) · 층 전환 · 전맹 [다시 듣기] 폐지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음성인식 2-7 — 진입점 3곳 · 마이크 권한 필수(텍스트 입력 폐기) · 긴급 · 주변 안내 50m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경로 리스트 2-9 독립 · 경로 편집 2-9-1 신설 — 지도 위 패널 · [안내시작] 하단 전폭 · 산출 기준 표기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마이페이지 3-0 — 신 레이아웃 · 언어 변경 신설(5개 언어 · 3-11 팝업) · 앱 버전 · 비회원 규칙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내 마일리지 3-2 — 내역 구분 탭 3분할 · 유효기간 · 만료 표기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즐겨찾기 3-3 — 미등록 슬롯 「추가」 · 슬롯 지정 모드 · 이름에 숫자 · 기호 허용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저상버스 예약 내역 3-4 — 하차 정류장 지정(선택) · [탑승 확인] · 만료는 버스 도착 시점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공지 상세 3-5-1 · 오픈소스 3-8 신설 — 일자 「YYYY년 M월 D일」 · 본문 링크 외부 이동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1:1 문의 3-6 · 3-6-1 · 3-6-2 신설 · 이후 번호 3-7~3-11 — 회원 전용 · 답변 전에만 삭제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전역 정비 — 「경유」 폐기 · 검색 필터 칩 폐기 · [&gt;] 상세보기 폐기 · 단계 번호 재부여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3624"/>
            <a:ext cx="2587752" cy="47877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로그인 0-1 · 회원가입 0-2 · 비회원 시작 0-3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인근 편의시설 1-2 · 장소 상세 2-2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버스정류장 1-3 · 정류장 정보 2-5 · 노선 상세 2-5-1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지하철역 1-4 · 역 정보 1-4-1 · 시간표 1-4-2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택시 호출 1-5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불편신고 1-6 · 1-6-1 · 1-6-2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· 최근 도착지 편집 2-0-1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장소 검색 2-1 · 장소 상세 2-2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상세경로 2-3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실외 내비게이션 2-4-1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실내 내비게이션 2-4-2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음성인식 2-7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경로 리스트 2-9 · 경로 편집 2-9-1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마이페이지 3-0 · 언어 변경 3-11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내 마일리지 3-2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즐겨찾기 3-3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저상버스 예약 내역 3-4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공지사항 3-5 · 3-5-1 · 이용약관 3-7 · 오픈소스 3-8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1:1 문의 3-6 · 3-6-1 · 3-6-2 · 3-7~3-11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전체 (역할 버튼 · 필터 칩 · 단계 번호)</a:t>
            </a:r>
          </a:p>
        </p:txBody>
      </p:sp>
      <p:sp>
        <p:nvSpPr>
          <p:cNvPr id="20" name="표 본문"/>
          <p:cNvSpPr txBox="1"/>
          <p:nvPr/>
        </p:nvSpPr>
        <p:spPr>
          <a:xfrm>
            <a:off x="11082528" y="1563624"/>
            <a:ext cx="54864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이지호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10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2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4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6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7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9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1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3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5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7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9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1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3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5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7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9" name="메뉴 1-5 택시 호출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41" name="메뉴 1-3 버스정류장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43" name="메뉴 → 2-5 버스정류장 정보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45" name="메뉴 1-4 지하철역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 검색</a:t>
            </a:r>
          </a:p>
        </p:txBody>
      </p:sp>
      <p:sp>
        <p:nvSpPr>
          <p:cNvPr id="47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49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1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53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55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57" name="메뉴 1-4-1 지하철역 정보"/>
          <p:cNvSpPr/>
          <p:nvPr/>
        </p:nvSpPr>
        <p:spPr>
          <a:xfrm>
            <a:off x="5330952" y="2203704"/>
            <a:ext cx="1527048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메뉴 라벨"/>
          <p:cNvSpPr txBox="1"/>
          <p:nvPr/>
        </p:nvSpPr>
        <p:spPr>
          <a:xfrm>
            <a:off x="5422392" y="2240280"/>
            <a:ext cx="13533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1-4-1 지하철역 정보</a:t>
            </a:r>
          </a:p>
        </p:txBody>
      </p:sp>
      <p:sp>
        <p:nvSpPr>
          <p:cNvPr id="59" name="메뉴 1-4-2 지하철 시간표"/>
          <p:cNvSpPr/>
          <p:nvPr/>
        </p:nvSpPr>
        <p:spPr>
          <a:xfrm>
            <a:off x="5330952" y="2496312"/>
            <a:ext cx="1527048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메뉴 라벨"/>
          <p:cNvSpPr txBox="1"/>
          <p:nvPr/>
        </p:nvSpPr>
        <p:spPr>
          <a:xfrm>
            <a:off x="5422392" y="2532888"/>
            <a:ext cx="13533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1-4-2 지하철 시간표</a:t>
            </a:r>
          </a:p>
        </p:txBody>
      </p:sp>
      <p:sp>
        <p:nvSpPr>
          <p:cNvPr id="61" name="메뉴 2-1 장소 검색"/>
          <p:cNvSpPr/>
          <p:nvPr/>
        </p:nvSpPr>
        <p:spPr>
          <a:xfrm>
            <a:off x="539496" y="493776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메뉴 라벨"/>
          <p:cNvSpPr txBox="1"/>
          <p:nvPr/>
        </p:nvSpPr>
        <p:spPr>
          <a:xfrm>
            <a:off x="630936" y="497433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2-0-1 최근 도착지 편집</a:t>
            </a:r>
          </a:p>
        </p:txBody>
      </p:sp>
      <p:sp>
        <p:nvSpPr>
          <p:cNvPr id="63" name="메뉴 2-2 장소 상세 (공용 · 1-2 진입)"/>
          <p:cNvSpPr/>
          <p:nvPr/>
        </p:nvSpPr>
        <p:spPr>
          <a:xfrm>
            <a:off x="539496" y="5202936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메뉴 라벨"/>
          <p:cNvSpPr txBox="1"/>
          <p:nvPr/>
        </p:nvSpPr>
        <p:spPr>
          <a:xfrm>
            <a:off x="630936" y="5239512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65" name="메뉴 2-3 상세경로"/>
          <p:cNvSpPr/>
          <p:nvPr/>
        </p:nvSpPr>
        <p:spPr>
          <a:xfrm>
            <a:off x="539496" y="5468112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메뉴 라벨"/>
          <p:cNvSpPr txBox="1"/>
          <p:nvPr/>
        </p:nvSpPr>
        <p:spPr>
          <a:xfrm>
            <a:off x="630936" y="5504688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67" name="메뉴 2-4 내비게이션"/>
          <p:cNvSpPr/>
          <p:nvPr/>
        </p:nvSpPr>
        <p:spPr>
          <a:xfrm>
            <a:off x="539496" y="5733288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메뉴 라벨"/>
          <p:cNvSpPr txBox="1"/>
          <p:nvPr/>
        </p:nvSpPr>
        <p:spPr>
          <a:xfrm>
            <a:off x="630936" y="5769864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69" name="메뉴 2-4-1 실외 내비게이션"/>
          <p:cNvSpPr/>
          <p:nvPr/>
        </p:nvSpPr>
        <p:spPr>
          <a:xfrm>
            <a:off x="539496" y="5998464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메뉴 라벨"/>
          <p:cNvSpPr txBox="1"/>
          <p:nvPr/>
        </p:nvSpPr>
        <p:spPr>
          <a:xfrm>
            <a:off x="630936" y="6035040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2-4 내비게이션</a:t>
            </a:r>
          </a:p>
        </p:txBody>
      </p:sp>
      <p:sp>
        <p:nvSpPr>
          <p:cNvPr id="71" name="메뉴 2-4-2 실내 내비게이션"/>
          <p:cNvSpPr/>
          <p:nvPr/>
        </p:nvSpPr>
        <p:spPr>
          <a:xfrm>
            <a:off x="539496" y="626364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메뉴 라벨"/>
          <p:cNvSpPr txBox="1"/>
          <p:nvPr/>
        </p:nvSpPr>
        <p:spPr>
          <a:xfrm>
            <a:off x="630936" y="630021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2-4-1 실외 내비게이션</a:t>
            </a:r>
          </a:p>
        </p:txBody>
      </p:sp>
      <p:sp>
        <p:nvSpPr>
          <p:cNvPr id="73" name="메뉴 2-5 버스정류장 정보 (공용 · 1-3 진입)"/>
          <p:cNvSpPr/>
          <p:nvPr/>
        </p:nvSpPr>
        <p:spPr>
          <a:xfrm>
            <a:off x="3264408" y="5202936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메뉴 라벨"/>
          <p:cNvSpPr txBox="1"/>
          <p:nvPr/>
        </p:nvSpPr>
        <p:spPr>
          <a:xfrm>
            <a:off x="3355848" y="5239512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2-4-2 실내 내비게이션</a:t>
            </a:r>
          </a:p>
        </p:txBody>
      </p:sp>
      <p:sp>
        <p:nvSpPr>
          <p:cNvPr id="75" name="메뉴 2-7 음성인식"/>
          <p:cNvSpPr/>
          <p:nvPr/>
        </p:nvSpPr>
        <p:spPr>
          <a:xfrm>
            <a:off x="3264408" y="5468112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메뉴 라벨"/>
          <p:cNvSpPr txBox="1"/>
          <p:nvPr/>
        </p:nvSpPr>
        <p:spPr>
          <a:xfrm>
            <a:off x="3355848" y="5504688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1-3 진입)</a:t>
            </a:r>
          </a:p>
        </p:txBody>
      </p:sp>
      <p:sp>
        <p:nvSpPr>
          <p:cNvPr id="77" name="메뉴 2-8 최근 도착지 편집"/>
          <p:cNvSpPr/>
          <p:nvPr/>
        </p:nvSpPr>
        <p:spPr>
          <a:xfrm>
            <a:off x="3264408" y="5733288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메뉴 라벨"/>
          <p:cNvSpPr txBox="1"/>
          <p:nvPr/>
        </p:nvSpPr>
        <p:spPr>
          <a:xfrm>
            <a:off x="3355848" y="5769864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2-7 음성인식</a:t>
            </a:r>
          </a:p>
        </p:txBody>
      </p:sp>
      <p:sp>
        <p:nvSpPr>
          <p:cNvPr id="79" name="메뉴 2-9 경로 리스트"/>
          <p:cNvSpPr/>
          <p:nvPr/>
        </p:nvSpPr>
        <p:spPr>
          <a:xfrm>
            <a:off x="3264408" y="5998464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메뉴 라벨"/>
          <p:cNvSpPr txBox="1"/>
          <p:nvPr/>
        </p:nvSpPr>
        <p:spPr>
          <a:xfrm>
            <a:off x="3355848" y="6035040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2-9 경로 리스트</a:t>
            </a:r>
          </a:p>
        </p:txBody>
      </p:sp>
      <p:sp>
        <p:nvSpPr>
          <p:cNvPr id="81" name="메뉴 2-10 경로 편집"/>
          <p:cNvSpPr/>
          <p:nvPr/>
        </p:nvSpPr>
        <p:spPr>
          <a:xfrm>
            <a:off x="3264408" y="626364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메뉴 라벨"/>
          <p:cNvSpPr txBox="1"/>
          <p:nvPr/>
        </p:nvSpPr>
        <p:spPr>
          <a:xfrm>
            <a:off x="3355848" y="630021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2-9-1 경로 편집</a:t>
            </a:r>
          </a:p>
        </p:txBody>
      </p:sp>
      <p:sp>
        <p:nvSpPr>
          <p:cNvPr id="83" name="메뉴 3-1 교통약자 유형 변경"/>
          <p:cNvSpPr/>
          <p:nvPr/>
        </p:nvSpPr>
        <p:spPr>
          <a:xfrm>
            <a:off x="6272784" y="4937760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메뉴 라벨"/>
          <p:cNvSpPr txBox="1"/>
          <p:nvPr/>
        </p:nvSpPr>
        <p:spPr>
          <a:xfrm>
            <a:off x="6364224" y="4974336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85" name="메뉴 3-2 내 마일리지"/>
          <p:cNvSpPr/>
          <p:nvPr/>
        </p:nvSpPr>
        <p:spPr>
          <a:xfrm>
            <a:off x="6272784" y="5202936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메뉴 라벨"/>
          <p:cNvSpPr txBox="1"/>
          <p:nvPr/>
        </p:nvSpPr>
        <p:spPr>
          <a:xfrm>
            <a:off x="6364224" y="5239512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87" name="메뉴 3-3 즐겨찾기 관리"/>
          <p:cNvSpPr/>
          <p:nvPr/>
        </p:nvSpPr>
        <p:spPr>
          <a:xfrm>
            <a:off x="6272784" y="5468112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메뉴 라벨"/>
          <p:cNvSpPr txBox="1"/>
          <p:nvPr/>
        </p:nvSpPr>
        <p:spPr>
          <a:xfrm>
            <a:off x="6364224" y="5504688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89" name="메뉴 3-4 저상버스 예약 내역"/>
          <p:cNvSpPr/>
          <p:nvPr/>
        </p:nvSpPr>
        <p:spPr>
          <a:xfrm>
            <a:off x="6272784" y="5733288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메뉴 라벨"/>
          <p:cNvSpPr txBox="1"/>
          <p:nvPr/>
        </p:nvSpPr>
        <p:spPr>
          <a:xfrm>
            <a:off x="6364224" y="5769864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저상버스 예약 내역</a:t>
            </a:r>
          </a:p>
        </p:txBody>
      </p:sp>
      <p:sp>
        <p:nvSpPr>
          <p:cNvPr id="91" name="메뉴 3-5 공지사항"/>
          <p:cNvSpPr/>
          <p:nvPr/>
        </p:nvSpPr>
        <p:spPr>
          <a:xfrm>
            <a:off x="6272784" y="5998464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메뉴 라벨"/>
          <p:cNvSpPr txBox="1"/>
          <p:nvPr/>
        </p:nvSpPr>
        <p:spPr>
          <a:xfrm>
            <a:off x="6364224" y="6035040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공지사항</a:t>
            </a:r>
          </a:p>
        </p:txBody>
      </p:sp>
      <p:sp>
        <p:nvSpPr>
          <p:cNvPr id="93" name="메뉴 3-5-1 공지 상세"/>
          <p:cNvSpPr/>
          <p:nvPr/>
        </p:nvSpPr>
        <p:spPr>
          <a:xfrm>
            <a:off x="6272784" y="6263640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메뉴 라벨"/>
          <p:cNvSpPr txBox="1"/>
          <p:nvPr/>
        </p:nvSpPr>
        <p:spPr>
          <a:xfrm>
            <a:off x="6364224" y="6300216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3-5-1 공지 상세</a:t>
            </a:r>
          </a:p>
        </p:txBody>
      </p:sp>
      <p:sp>
        <p:nvSpPr>
          <p:cNvPr id="95" name="메뉴 3-7 이용약관 및 정책"/>
          <p:cNvSpPr/>
          <p:nvPr/>
        </p:nvSpPr>
        <p:spPr>
          <a:xfrm>
            <a:off x="8119872" y="5733288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메뉴 라벨"/>
          <p:cNvSpPr txBox="1"/>
          <p:nvPr/>
        </p:nvSpPr>
        <p:spPr>
          <a:xfrm>
            <a:off x="8211312" y="5769864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3-7 이용약관 및 정책</a:t>
            </a:r>
          </a:p>
        </p:txBody>
      </p:sp>
      <p:sp>
        <p:nvSpPr>
          <p:cNvPr id="97" name="메뉴 3-8 오픈소스 라이선스"/>
          <p:cNvSpPr/>
          <p:nvPr/>
        </p:nvSpPr>
        <p:spPr>
          <a:xfrm>
            <a:off x="8119872" y="5998464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메뉴 라벨"/>
          <p:cNvSpPr txBox="1"/>
          <p:nvPr/>
        </p:nvSpPr>
        <p:spPr>
          <a:xfrm>
            <a:off x="8211312" y="6035040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3-8 오픈소스 라이선스</a:t>
            </a:r>
          </a:p>
        </p:txBody>
      </p:sp>
      <p:sp>
        <p:nvSpPr>
          <p:cNvPr id="99" name="메뉴 3-9 로그아웃"/>
          <p:cNvSpPr/>
          <p:nvPr/>
        </p:nvSpPr>
        <p:spPr>
          <a:xfrm>
            <a:off x="8119872" y="6263640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메뉴 라벨"/>
          <p:cNvSpPr txBox="1"/>
          <p:nvPr/>
        </p:nvSpPr>
        <p:spPr>
          <a:xfrm>
            <a:off x="8211312" y="6300216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3-9 로그아웃</a:t>
            </a:r>
          </a:p>
        </p:txBody>
      </p:sp>
      <p:sp>
        <p:nvSpPr>
          <p:cNvPr id="101" name="메뉴 3-10 회원 탈퇴"/>
          <p:cNvSpPr/>
          <p:nvPr/>
        </p:nvSpPr>
        <p:spPr>
          <a:xfrm>
            <a:off x="9966960" y="5998464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메뉴 라벨"/>
          <p:cNvSpPr txBox="1"/>
          <p:nvPr/>
        </p:nvSpPr>
        <p:spPr>
          <a:xfrm>
            <a:off x="10058400" y="6035040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3-10 회원 탈퇴</a:t>
            </a:r>
          </a:p>
        </p:txBody>
      </p:sp>
      <p:sp>
        <p:nvSpPr>
          <p:cNvPr id="103" name="메뉴 3-11 언어 변경"/>
          <p:cNvSpPr/>
          <p:nvPr/>
        </p:nvSpPr>
        <p:spPr>
          <a:xfrm>
            <a:off x="9966960" y="6263640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메뉴 라벨"/>
          <p:cNvSpPr txBox="1"/>
          <p:nvPr/>
        </p:nvSpPr>
        <p:spPr>
          <a:xfrm>
            <a:off x="10058400" y="6300216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3-11 언어 변경</a:t>
            </a:r>
          </a:p>
        </p:txBody>
      </p:sp>
      <p:sp>
        <p:nvSpPr>
          <p:cNvPr id="105" name="메뉴 3-6 1:1 문의"/>
          <p:cNvSpPr/>
          <p:nvPr/>
        </p:nvSpPr>
        <p:spPr>
          <a:xfrm>
            <a:off x="8119872" y="4937760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6" name="메뉴 라벨"/>
          <p:cNvSpPr txBox="1"/>
          <p:nvPr/>
        </p:nvSpPr>
        <p:spPr>
          <a:xfrm>
            <a:off x="8211312" y="4974336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1:1 문의</a:t>
            </a:r>
          </a:p>
        </p:txBody>
      </p:sp>
      <p:sp>
        <p:nvSpPr>
          <p:cNvPr id="107" name="메뉴 3-6-1 문의하기"/>
          <p:cNvSpPr/>
          <p:nvPr/>
        </p:nvSpPr>
        <p:spPr>
          <a:xfrm>
            <a:off x="8119872" y="5202936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8" name="메뉴 라벨"/>
          <p:cNvSpPr txBox="1"/>
          <p:nvPr/>
        </p:nvSpPr>
        <p:spPr>
          <a:xfrm>
            <a:off x="8211312" y="5239512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3-6-1 문의하기</a:t>
            </a:r>
          </a:p>
        </p:txBody>
      </p:sp>
      <p:sp>
        <p:nvSpPr>
          <p:cNvPr id="109" name="메뉴 3-6-2 문의 상세"/>
          <p:cNvSpPr/>
          <p:nvPr/>
        </p:nvSpPr>
        <p:spPr>
          <a:xfrm>
            <a:off x="8119872" y="5468112"/>
            <a:ext cx="169164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0" name="메뉴 라벨"/>
          <p:cNvSpPr txBox="1"/>
          <p:nvPr/>
        </p:nvSpPr>
        <p:spPr>
          <a:xfrm>
            <a:off x="8211312" y="5504688"/>
            <a:ext cx="151790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3-6-2 문의 상세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3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19" name="스텝 카드 STEP 2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1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2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3" name="스텝 카드 STEP 3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27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9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3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35" name="레인 0-3 비회원으로 시작하기 (1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37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39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0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41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43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45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47" name="스텝 설명"/>
          <p:cNvSpPr txBox="1"/>
          <p:nvPr/>
        </p:nvSpPr>
        <p:spPr>
          <a:xfrm>
            <a:off x="33051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교통약자 유형 택 1</a:t>
            </a:r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로그인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로그인</a:t>
            </a:r>
          </a:p>
        </p:txBody>
      </p:sp>
      <p:sp>
        <p:nvSpPr>
          <p:cNvPr id="12" name="SNS 버튼 네이버로 로그인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로그인</a:t>
            </a:r>
          </a:p>
        </p:txBody>
      </p:sp>
      <p:sp>
        <p:nvSpPr>
          <p:cNvPr id="14" name="SNS 버튼 구글로 로그인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로그인</a:t>
            </a:r>
          </a:p>
        </p:txBody>
      </p:sp>
      <p:sp>
        <p:nvSpPr>
          <p:cNvPr id="16" name="SNS 버튼 애플로 로그인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로그인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83915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42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로그인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로그인 4종 — 카카오 · 네이버 · 구글 · 애플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버튼은 로고와 텍스트를 함께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애플 로그인은 iOS 전용 — Android에는 노출하지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로그인 성공 시 도착한 화면 위에 토스트 「로그인되었습니다.」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기존 계정 글자 크기가 기기와 다르면 이어서 토스트 「계정의 글자 크기 설정을 적용했습니다.」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비회원으로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가입 없이 앱을 사용할 수 있도록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교통약자 유형 선택 1단계(0-3)로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이전에 비회원으로 시작한 기록이 있으면 1단계를 건너뛰고 바로 홈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 설정은 이 기기에만 저장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회원가입하면 글자 크기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숫자배지 2"/>
          <p:cNvSpPr/>
          <p:nvPr/>
        </p:nvSpPr>
        <p:spPr>
          <a:xfrm>
            <a:off x="2916936" y="49057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 (1/2)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노약자·임산부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 – 화면을 볼 수 있어요.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29192" y="1447800"/>
          <a:ext cx="2972409" cy="361954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전체 단계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회원가입은 총 3단계로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단계에서 한 가지만 선택 ·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어떤 단계인지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06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 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유형은 전맹과 전맹 외 모든 유형으로 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저시력 선택 시 글자 크기 초기값이 확대 적용 (조절은 마이페이지)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선택 시 선택지 목록 아래에 ‘다음 단계부터 음성 안내 중심 화면으로 바뀝니다.’ 표출 — 다른 항목 선택 시 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항목 선택 완료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선택하지 않은 다른 항목과 구별되도록 디자인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다른 항목을 선택하면 기존 선택 자동 해제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66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 (2/2)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노약자·임산부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 – 화면을 볼 수 있어요.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29192" y="1447800"/>
          <a:ext cx="2972409" cy="152166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0-1 로그인으로 되돌아감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선택값은 남지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비활성화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필수 항목이 모두 선택되어야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66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 주세요.</a:t>
            </a:r>
          </a:p>
        </p:txBody>
      </p:sp>
      <p:sp>
        <p:nvSpPr>
          <p:cNvPr id="19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예) 동행이</a:t>
            </a:r>
          </a:p>
        </p:txBody>
      </p:sp>
      <p:sp>
        <p:nvSpPr>
          <p:cNvPr id="21" name="보조 문구"/>
          <p:cNvSpPr txBox="1"/>
          <p:nvPr/>
        </p:nvSpPr>
        <p:spPr>
          <a:xfrm>
            <a:off x="1673352" y="2898648"/>
            <a:ext cx="219456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20">
                <a:solidFill>
                  <a:srgbClr val="5B6573"/>
                </a:solidFill>
                <a:latin typeface="Pretendard"/>
              </a:rPr>
              <a:t>한글, 영문 최대 8글자</a:t>
            </a:r>
          </a:p>
        </p:txBody>
      </p:sp>
      <p:sp>
        <p:nvSpPr>
          <p:cNvPr id="22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4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6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8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29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1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3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5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 주세요.</a:t>
            </a:r>
          </a:p>
        </p:txBody>
      </p:sp>
      <p:sp>
        <p:nvSpPr>
          <p:cNvPr id="36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38" name="보조 문구"/>
          <p:cNvSpPr txBox="1"/>
          <p:nvPr/>
        </p:nvSpPr>
        <p:spPr>
          <a:xfrm>
            <a:off x="4782312" y="2898648"/>
            <a:ext cx="219456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20">
                <a:solidFill>
                  <a:srgbClr val="5B6573"/>
                </a:solidFill>
                <a:latin typeface="Pretendard"/>
              </a:rPr>
              <a:t>한글, 영문 최대 8글자</a:t>
            </a:r>
          </a:p>
        </p:txBody>
      </p:sp>
      <p:sp>
        <p:nvSpPr>
          <p:cNvPr id="39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41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50328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5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placeholder 「예) 동행이」 · 입력란 아래 「한글, 영문 최대 8글자」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 — 자음·모음 단독 입력도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이모지, 공백 입력 불가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 (최소 1글자)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붙여넣기 시 한글 · 영문만 남기고 앞 8글자까지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가입해도 빈 칸으로 열림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57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비활성 — ① 입력값 있음 ② 중복 확인 중 아님 ③ 중복 오류 아님 3가지를 모두 만족할 때 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닉네임 중복 체크 (입력 중 실시간 체크 아님)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중복인 경우 비활성 + 입력란 하단에 ‘중복된 닉네임입니다.’ 오류 메시지 도출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입력값이 바뀌면 오류가 해제되고 다시 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 선택 단계로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숫자배지 2"/>
          <p:cNvSpPr/>
          <p:nvPr/>
        </p:nvSpPr>
        <p:spPr>
          <a:xfrm>
            <a:off x="3952951" y="57534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3"/>
          <p:cNvSpPr/>
          <p:nvPr/>
        </p:nvSpPr>
        <p:spPr>
          <a:xfrm>
            <a:off x="1362456" y="57534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 주세요.</a:t>
            </a:r>
          </a:p>
        </p:txBody>
      </p:sp>
      <p:sp>
        <p:nvSpPr>
          <p:cNvPr id="19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3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7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 주세요.</a:t>
            </a:r>
          </a:p>
        </p:txBody>
      </p:sp>
      <p:sp>
        <p:nvSpPr>
          <p:cNvPr id="45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1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7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3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5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80999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전체 동의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약관 3종을 한 번에 동의 · 해제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개별 항목의 체크 상태가 기준 — 하나라도 해제하면 전체 동의도 해제되고, 3종이 모두 체크되면 자동으로 다시 체크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 내 약관 화면으로 이동 (3-7 이용약관 및 정책과 같은 화면)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시 이 단계로 돌아오며 체크 상태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가입 완료 후 홈(1-0) 진입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  <p:sp>
        <p:nvSpPr>
          <p:cNvPr id="79" name="숫자배지 1"/>
          <p:cNvSpPr/>
          <p:nvPr/>
        </p:nvSpPr>
        <p:spPr>
          <a:xfrm>
            <a:off x="1362456" y="2441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4"/>
          <p:cNvSpPr/>
          <p:nvPr/>
        </p:nvSpPr>
        <p:spPr>
          <a:xfrm>
            <a:off x="4467758" y="57534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1" name="숫자배지 2-1"/>
          <p:cNvSpPr/>
          <p:nvPr/>
        </p:nvSpPr>
        <p:spPr>
          <a:xfrm>
            <a:off x="6949440" y="286573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비회원 시작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4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17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20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 – 화면을 볼 수 있어요.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8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29192" y="1447800"/>
          <a:ext cx="2972409" cy="305292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29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시나리오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교통약자 유형 선택 단계만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‘다음’ 대신 ‘시작하기’ 버튼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동작 사양은 회원가입 시나리오와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닉네임을 입력받지 않고 시스템이 자동 부여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자동 부여됐던 닉네임은 승계되지 않고 새로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 변경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약관 동의 단계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비회원으로 시작한 기록이 있으면 다시 실행할 때 이 단계를 표출하지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교통약자 유형은 현재 값이 선택된 상태로 열림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5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7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8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20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2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4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6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8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30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2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4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6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9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메뉴 1-3 버스정류장 검색 (→ 2-5)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 검색 (→ 2-5)</a:t>
            </a:r>
          </a:p>
        </p:txBody>
      </p:sp>
      <p:cxnSp>
        <p:nvCxnSpPr>
          <p:cNvPr id="42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메뉴 1-4 지하철역 검색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 검색</a:t>
            </a:r>
          </a:p>
        </p:txBody>
      </p:sp>
      <p:cxnSp>
        <p:nvCxnSpPr>
          <p:cNvPr id="45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메뉴 1-5 택시 호출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cxnSp>
        <p:nvCxnSpPr>
          <p:cNvPr id="48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1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630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 (1/2)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2623947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2623947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2673477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764786"/>
            <a:ext cx="188214" cy="84201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725162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5049305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3672078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746373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3662172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751326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4705350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769739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503758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23705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2534412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25325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9516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3115437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3157347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31135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46946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912995"/>
            <a:ext cx="159258" cy="71247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879467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8566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353263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3704844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767709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369455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411365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4277487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4352925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427558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52757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5443728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5498211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54376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62275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전맹 외 모든 유형의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2열 × 3행 그리드로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8619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예약 현황 위젯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예약이 있을 때만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 전용 · 노선번호 + 승차 정류장 + 상태 + 안내 + [&gt;]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4단 — 신청 완료 · 확정됨 · 예약되지 않음 · 탑승 확인 필요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상태별 안내 — 확정됨 ‘기사님께 전달되었습니다. 정류장에서 기다려 주세요.’ · 예약되지 않음은 사유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2건 이상이면 최신 1건만 본문에 표출 + 건수 태그 (1건이면 태그 없음)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소멸 — 확인 즉시 · 거절 1시간 · 무응답 30분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조회 실패 시 ‘예약 정보를 불러오지 못했습니다.’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예약 현황 위젯"/>
          <p:cNvSpPr/>
          <p:nvPr/>
        </p:nvSpPr>
        <p:spPr>
          <a:xfrm>
            <a:off x="161848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위젯 노선·정류장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73736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99" name="위젯 상태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73736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0" name="위젯 안내"/>
          <p:cNvSpPr/>
          <p:nvPr/>
        </p:nvSpPr>
        <p:spPr>
          <a:xfrm>
            <a:off x="173736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1" name="위젯 이동 표식"/>
          <p:cNvSpPr/>
          <p:nvPr/>
        </p:nvSpPr>
        <p:spPr>
          <a:xfrm>
            <a:off x="366674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2" name="예약 현황 위젯"/>
          <p:cNvSpPr/>
          <p:nvPr/>
        </p:nvSpPr>
        <p:spPr>
          <a:xfrm>
            <a:off x="472744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위젯 노선·정류장"/>
          <p:cNvSpPr/>
          <p:nvPr/>
        </p:nvSpPr>
        <p:spPr>
          <a:xfrm>
            <a:off x="484632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104" name="위젯 상태"/>
          <p:cNvSpPr/>
          <p:nvPr/>
        </p:nvSpPr>
        <p:spPr>
          <a:xfrm>
            <a:off x="484632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5" name="위젯 안내"/>
          <p:cNvSpPr/>
          <p:nvPr/>
        </p:nvSpPr>
        <p:spPr>
          <a:xfrm>
            <a:off x="484632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6" name="위젯 이동 표식"/>
          <p:cNvSpPr/>
          <p:nvPr/>
        </p:nvSpPr>
        <p:spPr>
          <a:xfrm>
            <a:off x="677570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7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8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9" name="숫자배지 1-2"/>
          <p:cNvSpPr/>
          <p:nvPr/>
        </p:nvSpPr>
        <p:spPr>
          <a:xfrm>
            <a:off x="1295400" y="280873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10" name="숫자배지 1-3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11" name="숫자배지 1-1"/>
          <p:cNvSpPr/>
          <p:nvPr/>
        </p:nvSpPr>
        <p:spPr>
          <a:xfrm>
            <a:off x="1298448" y="18013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630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 (2/2)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2623947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2623947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2673477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764786"/>
            <a:ext cx="188214" cy="84201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725162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5049305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3672078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746373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3662172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751326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4705350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769739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503758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23705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2534412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25325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9516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3115437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3157347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31135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46946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912995"/>
            <a:ext cx="159258" cy="71247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879467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8566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353263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3704844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767709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369455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411365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4277487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4352925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427558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52757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5443728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5498211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54376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68991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→ 2-0 · 인근 편의시설 → 1-2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버스정류장 → 1-3 검색 · 지하철역 → 1-4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택시 호출 → 1-5 · 불편신고 → 1-6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· 길안내 · 마이페이지 (좌 → 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홈에서 홈은 변화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대메뉴 첫 진입 페이지까지만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전맹 유형의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1열 6행으로 직렬 배치 · 구성은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예약 현황 위젯"/>
          <p:cNvSpPr/>
          <p:nvPr/>
        </p:nvSpPr>
        <p:spPr>
          <a:xfrm>
            <a:off x="161848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위젯 노선·정류장"/>
          <p:cNvSpPr/>
          <p:nvPr/>
        </p:nvSpPr>
        <p:spPr>
          <a:xfrm>
            <a:off x="173736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99" name="위젯 상태"/>
          <p:cNvSpPr/>
          <p:nvPr/>
        </p:nvSpPr>
        <p:spPr>
          <a:xfrm>
            <a:off x="173736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0" name="위젯 안내"/>
          <p:cNvSpPr/>
          <p:nvPr/>
        </p:nvSpPr>
        <p:spPr>
          <a:xfrm>
            <a:off x="173736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1" name="위젯 이동 표식"/>
          <p:cNvSpPr/>
          <p:nvPr/>
        </p:nvSpPr>
        <p:spPr>
          <a:xfrm>
            <a:off x="366674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2" name="예약 현황 위젯"/>
          <p:cNvSpPr/>
          <p:nvPr/>
        </p:nvSpPr>
        <p:spPr>
          <a:xfrm>
            <a:off x="472744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위젯 노선·정류장"/>
          <p:cNvSpPr/>
          <p:nvPr/>
        </p:nvSpPr>
        <p:spPr>
          <a:xfrm>
            <a:off x="484632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104" name="위젯 상태"/>
          <p:cNvSpPr/>
          <p:nvPr/>
        </p:nvSpPr>
        <p:spPr>
          <a:xfrm>
            <a:off x="484632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5" name="위젯 안내"/>
          <p:cNvSpPr/>
          <p:nvPr/>
        </p:nvSpPr>
        <p:spPr>
          <a:xfrm>
            <a:off x="484632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6" name="위젯 이동 표식"/>
          <p:cNvSpPr/>
          <p:nvPr/>
        </p:nvSpPr>
        <p:spPr>
          <a:xfrm>
            <a:off x="677570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7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8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9" name="숫자배지 1-2"/>
          <p:cNvSpPr/>
          <p:nvPr/>
        </p:nvSpPr>
        <p:spPr>
          <a:xfrm>
            <a:off x="1295400" y="280873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10" name="숫자배지 1-3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11" name="숫자배지 1-1"/>
          <p:cNvSpPr/>
          <p:nvPr/>
        </p:nvSpPr>
        <p:spPr>
          <a:xfrm>
            <a:off x="1298448" y="18013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685800" y="1463040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790575" y="1463040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2-0 길안내"/>
          <p:cNvSpPr/>
          <p:nvPr/>
        </p:nvSpPr>
        <p:spPr>
          <a:xfrm>
            <a:off x="2424988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2529763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4" name="흐름 2-1 장소 검색"/>
          <p:cNvSpPr/>
          <p:nvPr/>
        </p:nvSpPr>
        <p:spPr>
          <a:xfrm>
            <a:off x="4454042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4558817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6" name="흐름 2-2 장소 상세"/>
          <p:cNvSpPr/>
          <p:nvPr/>
        </p:nvSpPr>
        <p:spPr>
          <a:xfrm>
            <a:off x="6482181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6586956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8" name="흐름 2-3 상세경로"/>
          <p:cNvSpPr/>
          <p:nvPr/>
        </p:nvSpPr>
        <p:spPr>
          <a:xfrm>
            <a:off x="8511235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8616010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20" name="흐름 2-5 버스정류장 정보"/>
          <p:cNvSpPr/>
          <p:nvPr/>
        </p:nvSpPr>
        <p:spPr>
          <a:xfrm>
            <a:off x="6482181" y="251460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6586956" y="251460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2" name="흐름 2-5-1 노선 상세"/>
          <p:cNvSpPr/>
          <p:nvPr/>
        </p:nvSpPr>
        <p:spPr>
          <a:xfrm>
            <a:off x="6482181" y="342900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6586956" y="342900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24" name="흐름 2-4 내비게이션"/>
          <p:cNvSpPr/>
          <p:nvPr/>
        </p:nvSpPr>
        <p:spPr>
          <a:xfrm>
            <a:off x="8511235" y="544068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8616010" y="544068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6" name="흐름 2-4-1 실외 내비게이션"/>
          <p:cNvSpPr/>
          <p:nvPr/>
        </p:nvSpPr>
        <p:spPr>
          <a:xfrm>
            <a:off x="6482181" y="544068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6586956" y="544068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8" name="흐름 2-4-2 실내 내비게이션"/>
          <p:cNvSpPr/>
          <p:nvPr/>
        </p:nvSpPr>
        <p:spPr>
          <a:xfrm>
            <a:off x="4454042" y="5440680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4558817" y="5440680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30" name="흐름 안내 종료"/>
          <p:cNvSpPr/>
          <p:nvPr/>
        </p:nvSpPr>
        <p:spPr>
          <a:xfrm>
            <a:off x="2424988" y="5440680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2529763" y="5440680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2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5" name="흐름 예약 신청 팝업"/>
          <p:cNvSpPr/>
          <p:nvPr/>
        </p:nvSpPr>
        <p:spPr>
          <a:xfrm>
            <a:off x="6482181" y="434340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흐름 제목"/>
          <p:cNvSpPr txBox="1"/>
          <p:nvPr/>
        </p:nvSpPr>
        <p:spPr>
          <a:xfrm>
            <a:off x="6582765" y="434340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예약 신청 팝업</a:t>
            </a:r>
          </a:p>
        </p:txBody>
      </p:sp>
      <p:cxnSp>
        <p:nvCxnSpPr>
          <p:cNvPr id="37" name="연결선"/>
          <p:cNvCxnSpPr>
            <a:stCxn id="10" idx="3"/>
            <a:endCxn id="12" idx="1"/>
          </p:cNvCxnSpPr>
          <p:nvPr/>
        </p:nvCxnSpPr>
        <p:spPr>
          <a:xfrm>
            <a:off x="2093556" y="1719748"/>
            <a:ext cx="33143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2" idx="3"/>
            <a:endCxn id="14" idx="1"/>
          </p:cNvCxnSpPr>
          <p:nvPr/>
        </p:nvCxnSpPr>
        <p:spPr>
          <a:xfrm>
            <a:off x="4081172" y="171974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4" idx="3"/>
            <a:endCxn id="16" idx="1"/>
          </p:cNvCxnSpPr>
          <p:nvPr/>
        </p:nvCxnSpPr>
        <p:spPr>
          <a:xfrm>
            <a:off x="6110226" y="1719748"/>
            <a:ext cx="3719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16" idx="3"/>
            <a:endCxn id="18" idx="1"/>
          </p:cNvCxnSpPr>
          <p:nvPr/>
        </p:nvCxnSpPr>
        <p:spPr>
          <a:xfrm>
            <a:off x="8138365" y="171974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16" idx="2"/>
            <a:endCxn id="20" idx="0"/>
          </p:cNvCxnSpPr>
          <p:nvPr/>
        </p:nvCxnSpPr>
        <p:spPr>
          <a:xfrm>
            <a:off x="7310273" y="1976457"/>
            <a:ext cx="0" cy="53814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0" idx="2"/>
            <a:endCxn id="22" idx="0"/>
          </p:cNvCxnSpPr>
          <p:nvPr/>
        </p:nvCxnSpPr>
        <p:spPr>
          <a:xfrm>
            <a:off x="7310273" y="3028017"/>
            <a:ext cx="0" cy="40098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22" idx="2"/>
            <a:endCxn id="46" idx="0"/>
          </p:cNvCxnSpPr>
          <p:nvPr/>
        </p:nvCxnSpPr>
        <p:spPr>
          <a:xfrm>
            <a:off x="7310273" y="3942417"/>
            <a:ext cx="0" cy="40098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stCxn id="18" idx="2"/>
            <a:endCxn id="24" idx="0"/>
          </p:cNvCxnSpPr>
          <p:nvPr/>
        </p:nvCxnSpPr>
        <p:spPr>
          <a:xfrm>
            <a:off x="9339327" y="1976457"/>
            <a:ext cx="0" cy="346422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stCxn id="24" idx="1"/>
            <a:endCxn id="26" idx="3"/>
          </p:cNvCxnSpPr>
          <p:nvPr/>
        </p:nvCxnSpPr>
        <p:spPr>
          <a:xfrm flipH="1">
            <a:off x="8138365" y="569738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26" idx="3"/>
            <a:endCxn id="24" idx="1"/>
          </p:cNvCxnSpPr>
          <p:nvPr/>
        </p:nvCxnSpPr>
        <p:spPr>
          <a:xfrm>
            <a:off x="8138365" y="569738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"/>
          <p:cNvCxnSpPr>
            <a:cxnSpLocks/>
            <a:stCxn id="26" idx="1"/>
            <a:endCxn id="28" idx="3"/>
          </p:cNvCxnSpPr>
          <p:nvPr/>
        </p:nvCxnSpPr>
        <p:spPr>
          <a:xfrm flipH="1">
            <a:off x="6027416" y="5697388"/>
            <a:ext cx="45476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연결선"/>
          <p:cNvCxnSpPr>
            <a:stCxn id="28" idx="1"/>
            <a:endCxn id="30" idx="3"/>
          </p:cNvCxnSpPr>
          <p:nvPr/>
        </p:nvCxnSpPr>
        <p:spPr>
          <a:xfrm flipH="1">
            <a:off x="3832744" y="5697388"/>
            <a:ext cx="62129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(1/4)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/>
          <p:cNvSpPr/>
          <p:nvPr/>
        </p:nvSpPr>
        <p:spPr>
          <a:xfrm>
            <a:off x="1548765" y="129568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/>
          <p:cNvSpPr txBox="1"/>
          <p:nvPr/>
        </p:nvSpPr>
        <p:spPr>
          <a:xfrm>
            <a:off x="1695069" y="137341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/>
          <p:cNvSpPr/>
          <p:nvPr/>
        </p:nvSpPr>
        <p:spPr>
          <a:xfrm>
            <a:off x="4701540" y="1295687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/>
          <p:cNvSpPr txBox="1"/>
          <p:nvPr/>
        </p:nvSpPr>
        <p:spPr>
          <a:xfrm>
            <a:off x="4847844" y="1373411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7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5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7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29192" y="1447801"/>
          <a:ext cx="2972409" cy="309732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Nav 가운데 [길안내] 또는 홈의 [길안내]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최대화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영역을 누르면 시트 최소화 — 이 상태에서 지도 조작(이동 · 확대 · 회전)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· 검색 실행 버튼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홈으로는 하단 Nav 3탭으로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0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섹션 액션 편집"/>
          <p:cNvSpPr txBox="1"/>
          <p:nvPr/>
        </p:nvSpPr>
        <p:spPr>
          <a:xfrm>
            <a:off x="3504438" y="454254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85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6" name="숫자배지 2-1"/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7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8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2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(2/4)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/>
          <p:cNvSpPr/>
          <p:nvPr/>
        </p:nvSpPr>
        <p:spPr>
          <a:xfrm>
            <a:off x="1548765" y="129568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/>
          <p:cNvSpPr txBox="1"/>
          <p:nvPr/>
        </p:nvSpPr>
        <p:spPr>
          <a:xfrm>
            <a:off x="1695069" y="137341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/>
          <p:cNvSpPr/>
          <p:nvPr/>
        </p:nvSpPr>
        <p:spPr>
          <a:xfrm>
            <a:off x="4701540" y="1295687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/>
          <p:cNvSpPr txBox="1"/>
          <p:nvPr/>
        </p:nvSpPr>
        <p:spPr>
          <a:xfrm>
            <a:off x="4847844" y="1373411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7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5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7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29192" y="1447801"/>
          <a:ext cx="2972409" cy="481959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35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최대화 · 최소화 2단계 — 전환은 손잡이 누르기 토글 (드래그 미제공)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 · 인근 편의시설 7개 · 최근 도착지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더보기(&gt;)는 즐겨찾기에만 표출 · 최근 도착지는 [편집]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등록 칩 선택 시 도착지로 설정 · [추가] 칩은 프리셋 시트 → 장소 검색(슬롯 지정)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칩은 도착지로 설정되지 않고 해당 항목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 행 선택 시 도착지 설정 + 출발지는 현재 위치 → 2-9 경로 리스트로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 0건이면 [편집] 비활성 + ‘최근 도착지가 없습니다.’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 저장 — 단말 30건 상한 · 최신순 · 같은 장소 재설정 시 기존 행을 지우고 최신으로 올림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크기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최대화: 모든 정보가 표출되는 크기 · 정보량에 따라 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정보가 더 많으면 시트 내부 스크롤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최소화: 손잡이까지만 보이는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0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5" name="숫자배지 2-1"/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6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7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8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2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0" name="섹션 액션 편집"/>
          <p:cNvSpPr txBox="1"/>
          <p:nvPr/>
        </p:nvSpPr>
        <p:spPr>
          <a:xfrm>
            <a:off x="3504438" y="454254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(3/4)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548765" y="1295353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695069" y="1373077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701540" y="1295353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4847844" y="1373077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1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72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 위치</a:t>
              </a:r>
            </a:p>
          </p:txBody>
        </p:sp>
      </p:grpSp>
      <p:sp>
        <p:nvSpPr>
          <p:cNvPr id="76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8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9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29192" y="1447800"/>
          <a:ext cx="2972409" cy="38359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시트 최소화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· 주변 장소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툴을 쓰지 않고 지도에서 직접 영역을 눌러도 장소 상세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정류장 · 지하철역을 누르면 정류장 정보 · 역 정보로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최소화 상태에서만 노출 — 최대화에서는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상태는 「내 위치」 ＋ 확대 · 축소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「정북 복원」은 방위가 정북이 아닐 때만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하단 Nav 3탭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· 길안내 · 마이페이지 (좌 → 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대메뉴 첫 진입 페이지까지만 노출 · 이후 노출하지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 [길안내] 선택 시 변화 없음 — 현재 화면에 그대로 머무름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5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7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9" name="섹션 액션 편집"/>
          <p:cNvSpPr txBox="1"/>
          <p:nvPr/>
        </p:nvSpPr>
        <p:spPr>
          <a:xfrm>
            <a:off x="3504438" y="4542207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90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2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3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4" name="숫자배지 2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(4/4)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548765" y="1295353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695069" y="1373077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701540" y="1295353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4847844" y="1373077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1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72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 위치</a:t>
              </a:r>
            </a:p>
          </p:txBody>
        </p:sp>
      </p:grpSp>
      <p:sp>
        <p:nvSpPr>
          <p:cNvPr id="76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8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9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29192" y="1447800"/>
          <a:ext cx="2972409" cy="290951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인근 편의시설 7칩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7칩의 번호 · 명칭 · 개수는 고정이며 표출 순서만 교통약자 유형별로 다름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유형별 순위표는 [1-2 인근 편의시설] 유형별 표출 순서 장표 참조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표출 규칙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섹션은 비회원에게 표출하지 않음 — 헤더 · [&gt;] 더보기 · 칩 3개 전부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로그인 팝업도 띄우지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· 최근 도착지는 비회원에게도 그대로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도착지는 단말에 저장되어 계정 없이도 쌓임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5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7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9" name="섹션 액션 편집"/>
          <p:cNvSpPr txBox="1"/>
          <p:nvPr/>
        </p:nvSpPr>
        <p:spPr>
          <a:xfrm>
            <a:off x="3504438" y="4542207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90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2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3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4" name="숫자배지 2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6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4182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최근 도착지 편집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8871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선택 삭제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40578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탑앱바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제목 「최근 도착지 편집」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2-0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[전체 선택]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 상단 우측 1개 · 아이콘 ＋ 텍스트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선택되면 라벨이 「전체 해제」로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저장분 전량 · 최대 30건 · 최신순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 전부 미선택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· 순번 · 날짜 · 주소 보조줄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 1개 · 라벨에 선택 개수 표기 · 0개면 비활성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「선택한 N개를 삭제할까요?」 · 보조 「삭제하면 되돌릴 수 없습니다.」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[취소] ·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확인하면 2-0 자동 복귀 · 취소하면 선택 상태 그대로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탑바 구분선"/>
          <p:cNvSpPr/>
          <p:nvPr/>
        </p:nvSpPr>
        <p:spPr>
          <a:xfrm>
            <a:off x="2971800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탑바 타이틀"/>
          <p:cNvSpPr txBox="1"/>
          <p:nvPr/>
        </p:nvSpPr>
        <p:spPr>
          <a:xfrm>
            <a:off x="3383280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최근 도착지 편집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3118104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뒤로가기"/>
          <p:cNvCxnSpPr/>
          <p:nvPr/>
        </p:nvCxnSpPr>
        <p:spPr>
          <a:xfrm flipH="1" flipV="1">
            <a:off x="3118104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전체 선택"/>
          <p:cNvSpPr txBox="1"/>
          <p:nvPr/>
        </p:nvSpPr>
        <p:spPr>
          <a:xfrm>
            <a:off x="4681728" y="1719072"/>
            <a:ext cx="822960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 spc="-18">
                <a:solidFill>
                  <a:srgbClr val="3E4652"/>
                </a:solidFill>
                <a:latin typeface="Pretendard"/>
              </a:rPr>
              <a:t>전체 선택</a:t>
            </a:r>
          </a:p>
        </p:txBody>
      </p:sp>
      <p:sp>
        <p:nvSpPr>
          <p:cNvPr id="21" name="구분선"/>
          <p:cNvSpPr/>
          <p:nvPr/>
        </p:nvSpPr>
        <p:spPr>
          <a:xfrm>
            <a:off x="3118104" y="1975104"/>
            <a:ext cx="2432304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체크박스"/>
          <p:cNvSpPr/>
          <p:nvPr/>
        </p:nvSpPr>
        <p:spPr>
          <a:xfrm>
            <a:off x="3163824" y="2130551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3374136" y="2121408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4" name="체크박스"/>
          <p:cNvSpPr/>
          <p:nvPr/>
        </p:nvSpPr>
        <p:spPr>
          <a:xfrm>
            <a:off x="3163824" y="2514599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3374136" y="250545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26" name="체크박스"/>
          <p:cNvSpPr/>
          <p:nvPr/>
        </p:nvSpPr>
        <p:spPr>
          <a:xfrm>
            <a:off x="3163824" y="2898647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행 제목"/>
          <p:cNvSpPr txBox="1"/>
          <p:nvPr/>
        </p:nvSpPr>
        <p:spPr>
          <a:xfrm>
            <a:off x="3374136" y="2889503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28" name="체크박스"/>
          <p:cNvSpPr/>
          <p:nvPr/>
        </p:nvSpPr>
        <p:spPr>
          <a:xfrm>
            <a:off x="3163824" y="3282695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/>
          <p:cNvSpPr txBox="1"/>
          <p:nvPr/>
        </p:nvSpPr>
        <p:spPr>
          <a:xfrm>
            <a:off x="3374136" y="327355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0" name="하단 버튼 삭제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163824" y="5760720"/>
            <a:ext cx="234086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하단 버튼 삭제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163824" y="5760720"/>
            <a:ext cx="234086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1개 삭제</a:t>
            </a:r>
          </a:p>
        </p:txBody>
      </p:sp>
      <p:sp>
        <p:nvSpPr>
          <p:cNvPr id="32" name="숫자배지 1"/>
          <p:cNvSpPr/>
          <p:nvPr/>
        </p:nvSpPr>
        <p:spPr>
          <a:xfrm>
            <a:off x="2734056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"/>
          <p:cNvSpPr/>
          <p:nvPr/>
        </p:nvSpPr>
        <p:spPr>
          <a:xfrm>
            <a:off x="5568696" y="17373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숫자배지 3"/>
          <p:cNvSpPr/>
          <p:nvPr/>
        </p:nvSpPr>
        <p:spPr>
          <a:xfrm>
            <a:off x="2734056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5" name="숫자배지 4"/>
          <p:cNvSpPr/>
          <p:nvPr/>
        </p:nvSpPr>
        <p:spPr>
          <a:xfrm>
            <a:off x="2734056" y="5815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6" name="전체 선택 체크박스"/>
          <p:cNvSpPr/>
          <p:nvPr/>
        </p:nvSpPr>
        <p:spPr>
          <a:xfrm>
            <a:off x="4942551" y="1764792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① 빈 상태 · ② 입력 중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62218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앱바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· 검색창 · 바로가기가 한 묶음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수 — 일반 검색 · 역할 지정(도착지 · 경유지 · 출발지) 3행 · 슬롯 지정 2행 · 즐겨찾기 추가 1행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 중 · 검색 결과에서는 1행으로 축소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「어디로 갈까요?」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글자 입력 시 ② 입력 중 상태로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즉시 한글 키패드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스크린리더 이름 「장소 검색」 — 입력 중에도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현위치로 설정 / 현위치로 등록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 지정만 「현위치로 등록」 · 그 외는 「현위치로 설정」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일반 검색은 현위치를 도착지로 설정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즐겨찾기에서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라벨은 모드 공통 · 즐겨찾기 선택 목록으로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고르면 그 역할로 설정 후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8A94A3"/>
                </a:solidFill>
                <a:latin typeface="Pretendard"/>
              </a:rPr>
              <a:t>어디로 갈까요?</a:t>
            </a:r>
          </a:p>
        </p:txBody>
      </p:sp>
      <p:sp>
        <p:nvSpPr>
          <p:cNvPr id="19" name="바로가기 칩"/>
          <p:cNvSpPr/>
          <p:nvPr/>
        </p:nvSpPr>
        <p:spPr>
          <a:xfrm>
            <a:off x="1545336" y="201168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바로가기 칩 라벨"/>
          <p:cNvSpPr txBox="1"/>
          <p:nvPr/>
        </p:nvSpPr>
        <p:spPr>
          <a:xfrm>
            <a:off x="1545336" y="2052827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집</a:t>
            </a:r>
          </a:p>
        </p:txBody>
      </p:sp>
      <p:sp>
        <p:nvSpPr>
          <p:cNvPr id="21" name="바로가기 칩"/>
          <p:cNvSpPr/>
          <p:nvPr/>
        </p:nvSpPr>
        <p:spPr>
          <a:xfrm>
            <a:off x="2093976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바로가기 칩 라벨"/>
          <p:cNvSpPr txBox="1"/>
          <p:nvPr/>
        </p:nvSpPr>
        <p:spPr>
          <a:xfrm>
            <a:off x="2093976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회사</a:t>
            </a:r>
          </a:p>
        </p:txBody>
      </p:sp>
      <p:sp>
        <p:nvSpPr>
          <p:cNvPr id="23" name="바로가기 칩"/>
          <p:cNvSpPr/>
          <p:nvPr/>
        </p:nvSpPr>
        <p:spPr>
          <a:xfrm>
            <a:off x="2705862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바로가기 칩 라벨"/>
          <p:cNvSpPr txBox="1"/>
          <p:nvPr/>
        </p:nvSpPr>
        <p:spPr>
          <a:xfrm>
            <a:off x="2705862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9AA4B2"/>
                </a:solidFill>
                <a:latin typeface="Pretendard"/>
              </a:rPr>
              <a:t>추가</a:t>
            </a:r>
          </a:p>
        </p:txBody>
      </p:sp>
      <p:sp>
        <p:nvSpPr>
          <p:cNvPr id="25" name="앱바 구분선"/>
          <p:cNvSpPr/>
          <p:nvPr/>
        </p:nvSpPr>
        <p:spPr>
          <a:xfrm>
            <a:off x="1399032" y="2322575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최근 검색 아이콘"/>
          <p:cNvSpPr txBox="1"/>
          <p:nvPr/>
        </p:nvSpPr>
        <p:spPr>
          <a:xfrm>
            <a:off x="1572768" y="2432304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27" name="최근 검색어"/>
          <p:cNvSpPr txBox="1"/>
          <p:nvPr/>
        </p:nvSpPr>
        <p:spPr>
          <a:xfrm>
            <a:off x="1792224" y="2432304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28" name="검색 날짜"/>
          <p:cNvSpPr txBox="1"/>
          <p:nvPr/>
        </p:nvSpPr>
        <p:spPr>
          <a:xfrm>
            <a:off x="3291840" y="2432304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29" name="검색 삭제"/>
          <p:cNvSpPr txBox="1"/>
          <p:nvPr/>
        </p:nvSpPr>
        <p:spPr>
          <a:xfrm>
            <a:off x="3785616" y="243230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0" name="최근 검색 아이콘"/>
          <p:cNvSpPr txBox="1"/>
          <p:nvPr/>
        </p:nvSpPr>
        <p:spPr>
          <a:xfrm>
            <a:off x="1572768" y="2724911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1" name="최근 검색어"/>
          <p:cNvSpPr txBox="1"/>
          <p:nvPr/>
        </p:nvSpPr>
        <p:spPr>
          <a:xfrm>
            <a:off x="1792224" y="2724911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2" name="검색 날짜"/>
          <p:cNvSpPr txBox="1"/>
          <p:nvPr/>
        </p:nvSpPr>
        <p:spPr>
          <a:xfrm>
            <a:off x="3291840" y="2724911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33" name="검색 삭제"/>
          <p:cNvSpPr txBox="1"/>
          <p:nvPr/>
        </p:nvSpPr>
        <p:spPr>
          <a:xfrm>
            <a:off x="3785616" y="2724911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4" name="최근 검색 아이콘"/>
          <p:cNvSpPr txBox="1"/>
          <p:nvPr/>
        </p:nvSpPr>
        <p:spPr>
          <a:xfrm>
            <a:off x="1572768" y="301751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5" name="최근 검색어"/>
          <p:cNvSpPr txBox="1"/>
          <p:nvPr/>
        </p:nvSpPr>
        <p:spPr>
          <a:xfrm>
            <a:off x="1792224" y="301751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중구 태평로1가</a:t>
            </a:r>
          </a:p>
        </p:txBody>
      </p:sp>
      <p:sp>
        <p:nvSpPr>
          <p:cNvPr id="36" name="검색 날짜"/>
          <p:cNvSpPr txBox="1"/>
          <p:nvPr/>
        </p:nvSpPr>
        <p:spPr>
          <a:xfrm>
            <a:off x="3291840" y="3017519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09.10</a:t>
            </a:r>
          </a:p>
        </p:txBody>
      </p:sp>
      <p:sp>
        <p:nvSpPr>
          <p:cNvPr id="37" name="검색 삭제"/>
          <p:cNvSpPr txBox="1"/>
          <p:nvPr/>
        </p:nvSpPr>
        <p:spPr>
          <a:xfrm>
            <a:off x="3785616" y="3017519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8" name="키패드"/>
          <p:cNvSpPr/>
          <p:nvPr/>
        </p:nvSpPr>
        <p:spPr>
          <a:xfrm>
            <a:off x="1399032" y="5166359"/>
            <a:ext cx="2715768" cy="1261872"/>
          </a:xfrm>
          <a:prstGeom prst="roundRect">
            <a:avLst>
              <a:gd name="adj" fmla="val 13587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키패드 안내"/>
          <p:cNvSpPr txBox="1"/>
          <p:nvPr/>
        </p:nvSpPr>
        <p:spPr>
          <a:xfrm>
            <a:off x="1938528" y="5705855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진입 즉시 한글 키패드</a:t>
            </a:r>
          </a:p>
        </p:txBody>
      </p:sp>
      <p:sp>
        <p:nvSpPr>
          <p:cNvPr id="40" name="검색창"/>
          <p:cNvSpPr/>
          <p:nvPr/>
        </p:nvSpPr>
        <p:spPr>
          <a:xfrm>
            <a:off x="489204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검색창 문구"/>
          <p:cNvSpPr txBox="1"/>
          <p:nvPr/>
        </p:nvSpPr>
        <p:spPr>
          <a:xfrm>
            <a:off x="503834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2" name="앱바 구분선"/>
          <p:cNvSpPr/>
          <p:nvPr/>
        </p:nvSpPr>
        <p:spPr>
          <a:xfrm>
            <a:off x="4553712" y="16276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입력 키워드 아이콘"/>
          <p:cNvSpPr txBox="1"/>
          <p:nvPr/>
        </p:nvSpPr>
        <p:spPr>
          <a:xfrm>
            <a:off x="4727448" y="173736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44" name="입력 키워드"/>
          <p:cNvSpPr txBox="1"/>
          <p:nvPr/>
        </p:nvSpPr>
        <p:spPr>
          <a:xfrm>
            <a:off x="4946904" y="1682496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5" name="구분선"/>
          <p:cNvSpPr/>
          <p:nvPr/>
        </p:nvSpPr>
        <p:spPr>
          <a:xfrm>
            <a:off x="4553712" y="2029968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섹션 헤더"/>
          <p:cNvSpPr txBox="1"/>
          <p:nvPr/>
        </p:nvSpPr>
        <p:spPr>
          <a:xfrm>
            <a:off x="4727448" y="213969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7" name="관련 아이콘"/>
          <p:cNvSpPr txBox="1"/>
          <p:nvPr/>
        </p:nvSpPr>
        <p:spPr>
          <a:xfrm>
            <a:off x="4764024" y="237743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★</a:t>
            </a:r>
          </a:p>
        </p:txBody>
      </p:sp>
      <p:sp>
        <p:nvSpPr>
          <p:cNvPr id="48" name="관련 검색어"/>
          <p:cNvSpPr txBox="1"/>
          <p:nvPr/>
        </p:nvSpPr>
        <p:spPr>
          <a:xfrm>
            <a:off x="4983479" y="2377439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  (집)</a:t>
            </a:r>
          </a:p>
        </p:txBody>
      </p:sp>
      <p:sp>
        <p:nvSpPr>
          <p:cNvPr id="49" name="섹션 헤더"/>
          <p:cNvSpPr txBox="1"/>
          <p:nvPr/>
        </p:nvSpPr>
        <p:spPr>
          <a:xfrm>
            <a:off x="4727448" y="268833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검색어</a:t>
            </a:r>
          </a:p>
        </p:txBody>
      </p:sp>
      <p:sp>
        <p:nvSpPr>
          <p:cNvPr id="50" name="관련 아이콘"/>
          <p:cNvSpPr txBox="1"/>
          <p:nvPr/>
        </p:nvSpPr>
        <p:spPr>
          <a:xfrm>
            <a:off x="4764024" y="292608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51" name="관련 검색어"/>
          <p:cNvSpPr txBox="1"/>
          <p:nvPr/>
        </p:nvSpPr>
        <p:spPr>
          <a:xfrm>
            <a:off x="4983479" y="292608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52" name="관련 아이콘"/>
          <p:cNvSpPr txBox="1"/>
          <p:nvPr/>
        </p:nvSpPr>
        <p:spPr>
          <a:xfrm>
            <a:off x="4764024" y="3182112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53" name="관련 검색어"/>
          <p:cNvSpPr txBox="1"/>
          <p:nvPr/>
        </p:nvSpPr>
        <p:spPr>
          <a:xfrm>
            <a:off x="4983479" y="318211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2호선</a:t>
            </a:r>
          </a:p>
        </p:txBody>
      </p:sp>
      <p:sp>
        <p:nvSpPr>
          <p:cNvPr id="54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5" name="숫자배지 2"/>
          <p:cNvSpPr/>
          <p:nvPr/>
        </p:nvSpPr>
        <p:spPr>
          <a:xfrm>
            <a:off x="4005072" y="13258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6" name="숫자배지 5"/>
          <p:cNvSpPr/>
          <p:nvPr/>
        </p:nvSpPr>
        <p:spPr>
          <a:xfrm>
            <a:off x="1161288" y="19476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7" name="숫자배지 6"/>
          <p:cNvSpPr/>
          <p:nvPr/>
        </p:nvSpPr>
        <p:spPr>
          <a:xfrm>
            <a:off x="1161288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58" name="숫자배지 7"/>
          <p:cNvSpPr/>
          <p:nvPr/>
        </p:nvSpPr>
        <p:spPr>
          <a:xfrm>
            <a:off x="4315968" y="21579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59" name="숫자배지 7-1"/>
          <p:cNvSpPr/>
          <p:nvPr/>
        </p:nvSpPr>
        <p:spPr>
          <a:xfrm>
            <a:off x="4251959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7-1</a:t>
            </a:r>
          </a:p>
        </p:txBody>
      </p:sp>
      <p:sp>
        <p:nvSpPr>
          <p:cNvPr id="60" name="바로가기 버튼"/>
          <p:cNvSpPr/>
          <p:nvPr/>
        </p:nvSpPr>
        <p:spPr>
          <a:xfrm>
            <a:off x="1545336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바로가기 버튼 라벨"/>
          <p:cNvSpPr txBox="1"/>
          <p:nvPr/>
        </p:nvSpPr>
        <p:spPr>
          <a:xfrm>
            <a:off x="1545336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📍 현위치로 설정</a:t>
            </a:r>
          </a:p>
        </p:txBody>
      </p:sp>
      <p:sp>
        <p:nvSpPr>
          <p:cNvPr id="62" name="바로가기 버튼"/>
          <p:cNvSpPr/>
          <p:nvPr/>
        </p:nvSpPr>
        <p:spPr>
          <a:xfrm>
            <a:off x="2697480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바로가기 버튼 라벨"/>
          <p:cNvSpPr txBox="1"/>
          <p:nvPr/>
        </p:nvSpPr>
        <p:spPr>
          <a:xfrm>
            <a:off x="2697480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☆ 즐겨찾기에서 선택</a:t>
            </a:r>
          </a:p>
        </p:txBody>
      </p:sp>
      <p:sp>
        <p:nvSpPr>
          <p:cNvPr id="64" name="숫자배지 3"/>
          <p:cNvSpPr/>
          <p:nvPr/>
        </p:nvSpPr>
        <p:spPr>
          <a:xfrm>
            <a:off x="119786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5" name="숫자배지 4"/>
          <p:cNvSpPr/>
          <p:nvPr/>
        </p:nvSpPr>
        <p:spPr>
          <a:xfrm>
            <a:off x="380390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66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>
            <a:off x="470001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 flipV="1">
            <a:off x="470001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① 빈 상태 · ② 입력 중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179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바로가기 칩 3개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「집」 1슬롯 고정 ＋ 사용자 지정 2슬롯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미등록 슬롯은 「추가」 · 회색 표기 · 선택 시 프리셋 시트로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칩이 빠져 앱바가 한 행 줄어듦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헤더 없이 앱바 바로 아래 리스트로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🔍 검색어 → 검색 실행 · 📍 장소 → 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[✕]는 확인 없이 그 행만 삭제 · 되돌리기 · 전체 삭제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0건이면 「서울 안에서 갈 곳을 검색해 보세요」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관련 검색어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순서 고정 — ①입력 키워드 → ②즐겨찾기 → ③검색어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7-1 입력 키워드 행이 검색 실행 수단 · 헤더 없이 맨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아래 두 묶음은 섹션 헤더로 구분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8A94A3"/>
                </a:solidFill>
                <a:latin typeface="Pretendard"/>
              </a:rPr>
              <a:t>어디로 갈까요?</a:t>
            </a:r>
          </a:p>
        </p:txBody>
      </p:sp>
      <p:sp>
        <p:nvSpPr>
          <p:cNvPr id="19" name="바로가기 칩"/>
          <p:cNvSpPr/>
          <p:nvPr/>
        </p:nvSpPr>
        <p:spPr>
          <a:xfrm>
            <a:off x="1545336" y="201168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바로가기 칩 라벨"/>
          <p:cNvSpPr txBox="1"/>
          <p:nvPr/>
        </p:nvSpPr>
        <p:spPr>
          <a:xfrm>
            <a:off x="1545336" y="2052827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집</a:t>
            </a:r>
          </a:p>
        </p:txBody>
      </p:sp>
      <p:sp>
        <p:nvSpPr>
          <p:cNvPr id="21" name="바로가기 칩"/>
          <p:cNvSpPr/>
          <p:nvPr/>
        </p:nvSpPr>
        <p:spPr>
          <a:xfrm>
            <a:off x="2093976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바로가기 칩 라벨"/>
          <p:cNvSpPr txBox="1"/>
          <p:nvPr/>
        </p:nvSpPr>
        <p:spPr>
          <a:xfrm>
            <a:off x="2093976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회사</a:t>
            </a:r>
          </a:p>
        </p:txBody>
      </p:sp>
      <p:sp>
        <p:nvSpPr>
          <p:cNvPr id="23" name="바로가기 칩"/>
          <p:cNvSpPr/>
          <p:nvPr/>
        </p:nvSpPr>
        <p:spPr>
          <a:xfrm>
            <a:off x="2705862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바로가기 칩 라벨"/>
          <p:cNvSpPr txBox="1"/>
          <p:nvPr/>
        </p:nvSpPr>
        <p:spPr>
          <a:xfrm>
            <a:off x="2705862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9AA4B2"/>
                </a:solidFill>
                <a:latin typeface="Pretendard"/>
              </a:rPr>
              <a:t>추가</a:t>
            </a:r>
          </a:p>
        </p:txBody>
      </p:sp>
      <p:sp>
        <p:nvSpPr>
          <p:cNvPr id="25" name="앱바 구분선"/>
          <p:cNvSpPr/>
          <p:nvPr/>
        </p:nvSpPr>
        <p:spPr>
          <a:xfrm>
            <a:off x="1399032" y="2322575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최근 검색 아이콘"/>
          <p:cNvSpPr txBox="1"/>
          <p:nvPr/>
        </p:nvSpPr>
        <p:spPr>
          <a:xfrm>
            <a:off x="1572768" y="2432304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27" name="최근 검색어"/>
          <p:cNvSpPr txBox="1"/>
          <p:nvPr/>
        </p:nvSpPr>
        <p:spPr>
          <a:xfrm>
            <a:off x="1792224" y="2432304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28" name="검색 날짜"/>
          <p:cNvSpPr txBox="1"/>
          <p:nvPr/>
        </p:nvSpPr>
        <p:spPr>
          <a:xfrm>
            <a:off x="3291840" y="2432304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29" name="검색 삭제"/>
          <p:cNvSpPr txBox="1"/>
          <p:nvPr/>
        </p:nvSpPr>
        <p:spPr>
          <a:xfrm>
            <a:off x="3785616" y="243230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0" name="최근 검색 아이콘"/>
          <p:cNvSpPr txBox="1"/>
          <p:nvPr/>
        </p:nvSpPr>
        <p:spPr>
          <a:xfrm>
            <a:off x="1572768" y="2724911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1" name="최근 검색어"/>
          <p:cNvSpPr txBox="1"/>
          <p:nvPr/>
        </p:nvSpPr>
        <p:spPr>
          <a:xfrm>
            <a:off x="1792224" y="2724911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2" name="검색 날짜"/>
          <p:cNvSpPr txBox="1"/>
          <p:nvPr/>
        </p:nvSpPr>
        <p:spPr>
          <a:xfrm>
            <a:off x="3291840" y="2724911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33" name="검색 삭제"/>
          <p:cNvSpPr txBox="1"/>
          <p:nvPr/>
        </p:nvSpPr>
        <p:spPr>
          <a:xfrm>
            <a:off x="3785616" y="2724911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4" name="최근 검색 아이콘"/>
          <p:cNvSpPr txBox="1"/>
          <p:nvPr/>
        </p:nvSpPr>
        <p:spPr>
          <a:xfrm>
            <a:off x="1572768" y="301751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5" name="최근 검색어"/>
          <p:cNvSpPr txBox="1"/>
          <p:nvPr/>
        </p:nvSpPr>
        <p:spPr>
          <a:xfrm>
            <a:off x="1792224" y="301751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중구 태평로1가</a:t>
            </a:r>
          </a:p>
        </p:txBody>
      </p:sp>
      <p:sp>
        <p:nvSpPr>
          <p:cNvPr id="36" name="검색 날짜"/>
          <p:cNvSpPr txBox="1"/>
          <p:nvPr/>
        </p:nvSpPr>
        <p:spPr>
          <a:xfrm>
            <a:off x="3291840" y="3017519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09.10</a:t>
            </a:r>
          </a:p>
        </p:txBody>
      </p:sp>
      <p:sp>
        <p:nvSpPr>
          <p:cNvPr id="37" name="검색 삭제"/>
          <p:cNvSpPr txBox="1"/>
          <p:nvPr/>
        </p:nvSpPr>
        <p:spPr>
          <a:xfrm>
            <a:off x="3785616" y="3017519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8" name="키패드"/>
          <p:cNvSpPr/>
          <p:nvPr/>
        </p:nvSpPr>
        <p:spPr>
          <a:xfrm>
            <a:off x="1399032" y="5166359"/>
            <a:ext cx="2715768" cy="1261872"/>
          </a:xfrm>
          <a:prstGeom prst="roundRect">
            <a:avLst>
              <a:gd name="adj" fmla="val 13587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키패드 안내"/>
          <p:cNvSpPr txBox="1"/>
          <p:nvPr/>
        </p:nvSpPr>
        <p:spPr>
          <a:xfrm>
            <a:off x="1938528" y="5705855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진입 즉시 한글 키패드</a:t>
            </a:r>
          </a:p>
        </p:txBody>
      </p:sp>
      <p:sp>
        <p:nvSpPr>
          <p:cNvPr id="40" name="검색창"/>
          <p:cNvSpPr/>
          <p:nvPr/>
        </p:nvSpPr>
        <p:spPr>
          <a:xfrm>
            <a:off x="489204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검색창 문구"/>
          <p:cNvSpPr txBox="1"/>
          <p:nvPr/>
        </p:nvSpPr>
        <p:spPr>
          <a:xfrm>
            <a:off x="503834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2" name="앱바 구분선"/>
          <p:cNvSpPr/>
          <p:nvPr/>
        </p:nvSpPr>
        <p:spPr>
          <a:xfrm>
            <a:off x="4553712" y="16276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입력 키워드 아이콘"/>
          <p:cNvSpPr txBox="1"/>
          <p:nvPr/>
        </p:nvSpPr>
        <p:spPr>
          <a:xfrm>
            <a:off x="4727448" y="173736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44" name="입력 키워드"/>
          <p:cNvSpPr txBox="1"/>
          <p:nvPr/>
        </p:nvSpPr>
        <p:spPr>
          <a:xfrm>
            <a:off x="4946904" y="1682496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5" name="구분선"/>
          <p:cNvSpPr/>
          <p:nvPr/>
        </p:nvSpPr>
        <p:spPr>
          <a:xfrm>
            <a:off x="4553712" y="2029968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섹션 헤더"/>
          <p:cNvSpPr txBox="1"/>
          <p:nvPr/>
        </p:nvSpPr>
        <p:spPr>
          <a:xfrm>
            <a:off x="4727448" y="213969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7" name="관련 아이콘"/>
          <p:cNvSpPr txBox="1"/>
          <p:nvPr/>
        </p:nvSpPr>
        <p:spPr>
          <a:xfrm>
            <a:off x="4764024" y="237743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★</a:t>
            </a:r>
          </a:p>
        </p:txBody>
      </p:sp>
      <p:sp>
        <p:nvSpPr>
          <p:cNvPr id="48" name="관련 검색어"/>
          <p:cNvSpPr txBox="1"/>
          <p:nvPr/>
        </p:nvSpPr>
        <p:spPr>
          <a:xfrm>
            <a:off x="4983479" y="2377439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  (집)</a:t>
            </a:r>
          </a:p>
        </p:txBody>
      </p:sp>
      <p:sp>
        <p:nvSpPr>
          <p:cNvPr id="49" name="섹션 헤더"/>
          <p:cNvSpPr txBox="1"/>
          <p:nvPr/>
        </p:nvSpPr>
        <p:spPr>
          <a:xfrm>
            <a:off x="4727448" y="268833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검색어</a:t>
            </a:r>
          </a:p>
        </p:txBody>
      </p:sp>
      <p:sp>
        <p:nvSpPr>
          <p:cNvPr id="50" name="관련 아이콘"/>
          <p:cNvSpPr txBox="1"/>
          <p:nvPr/>
        </p:nvSpPr>
        <p:spPr>
          <a:xfrm>
            <a:off x="4764024" y="292608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51" name="관련 검색어"/>
          <p:cNvSpPr txBox="1"/>
          <p:nvPr/>
        </p:nvSpPr>
        <p:spPr>
          <a:xfrm>
            <a:off x="4983479" y="292608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52" name="관련 아이콘"/>
          <p:cNvSpPr txBox="1"/>
          <p:nvPr/>
        </p:nvSpPr>
        <p:spPr>
          <a:xfrm>
            <a:off x="4764024" y="3182112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53" name="관련 검색어"/>
          <p:cNvSpPr txBox="1"/>
          <p:nvPr/>
        </p:nvSpPr>
        <p:spPr>
          <a:xfrm>
            <a:off x="4983479" y="318211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2호선</a:t>
            </a:r>
          </a:p>
        </p:txBody>
      </p:sp>
      <p:sp>
        <p:nvSpPr>
          <p:cNvPr id="54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5" name="숫자배지 2"/>
          <p:cNvSpPr/>
          <p:nvPr/>
        </p:nvSpPr>
        <p:spPr>
          <a:xfrm>
            <a:off x="4005072" y="13258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6" name="숫자배지 5"/>
          <p:cNvSpPr/>
          <p:nvPr/>
        </p:nvSpPr>
        <p:spPr>
          <a:xfrm>
            <a:off x="1161288" y="19476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7" name="숫자배지 6"/>
          <p:cNvSpPr/>
          <p:nvPr/>
        </p:nvSpPr>
        <p:spPr>
          <a:xfrm>
            <a:off x="1161288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58" name="숫자배지 7"/>
          <p:cNvSpPr/>
          <p:nvPr/>
        </p:nvSpPr>
        <p:spPr>
          <a:xfrm>
            <a:off x="4315968" y="21579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59" name="숫자배지 7-1"/>
          <p:cNvSpPr/>
          <p:nvPr/>
        </p:nvSpPr>
        <p:spPr>
          <a:xfrm>
            <a:off x="4251959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7-1</a:t>
            </a:r>
          </a:p>
        </p:txBody>
      </p:sp>
      <p:sp>
        <p:nvSpPr>
          <p:cNvPr id="60" name="바로가기 버튼"/>
          <p:cNvSpPr/>
          <p:nvPr/>
        </p:nvSpPr>
        <p:spPr>
          <a:xfrm>
            <a:off x="1545336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바로가기 버튼 라벨"/>
          <p:cNvSpPr txBox="1"/>
          <p:nvPr/>
        </p:nvSpPr>
        <p:spPr>
          <a:xfrm>
            <a:off x="1545336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📍 현위치로 설정</a:t>
            </a:r>
          </a:p>
        </p:txBody>
      </p:sp>
      <p:sp>
        <p:nvSpPr>
          <p:cNvPr id="62" name="바로가기 버튼"/>
          <p:cNvSpPr/>
          <p:nvPr/>
        </p:nvSpPr>
        <p:spPr>
          <a:xfrm>
            <a:off x="2697480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바로가기 버튼 라벨"/>
          <p:cNvSpPr txBox="1"/>
          <p:nvPr/>
        </p:nvSpPr>
        <p:spPr>
          <a:xfrm>
            <a:off x="2697480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☆ 즐겨찾기에서 선택</a:t>
            </a:r>
          </a:p>
        </p:txBody>
      </p:sp>
      <p:sp>
        <p:nvSpPr>
          <p:cNvPr id="64" name="숫자배지 3"/>
          <p:cNvSpPr/>
          <p:nvPr/>
        </p:nvSpPr>
        <p:spPr>
          <a:xfrm>
            <a:off x="119786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5" name="숫자배지 4"/>
          <p:cNvSpPr/>
          <p:nvPr/>
        </p:nvSpPr>
        <p:spPr>
          <a:xfrm>
            <a:off x="380390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66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>
            <a:off x="470001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 flipV="1">
            <a:off x="470001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검색 결과 — 지도 ＋ 바텀시트 (1/3)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433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③ 검색 결과에서만 표출 — ①② 빈 상태 · 입력 중에는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리스트에 오른 장소 전량을 핀으로 표출 · 20건을 더 받으면 핀도 증가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초기 뷰는 첫 20건이 바텀시트에 가리지 않는 영역에 들어오도록 설정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 선택 시 목록에서 해당 항목으로 스크롤 · 선택 표시는 핀 크기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핀이 없는 지도 영역 선택 시 시트 최소화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단계와 무관하게 상시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2단계 · 진입 기본값 최대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손잡이 누르기 토글 · 드래그 미제공 · 지도 탭 = 최소화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검색창은 지도 위에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529584" y="1865376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8" name="검색창"/>
          <p:cNvSpPr/>
          <p:nvPr/>
        </p:nvSpPr>
        <p:spPr>
          <a:xfrm>
            <a:off x="3310128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/>
          <p:cNvSpPr txBox="1"/>
          <p:nvPr/>
        </p:nvSpPr>
        <p:spPr>
          <a:xfrm>
            <a:off x="3456432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48656" y="188366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48656" y="188366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2" name="지도 컨트롤"/>
          <p:cNvSpPr/>
          <p:nvPr/>
        </p:nvSpPr>
        <p:spPr>
          <a:xfrm>
            <a:off x="5248656" y="223113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도 컨트롤 라벨"/>
          <p:cNvSpPr txBox="1"/>
          <p:nvPr/>
        </p:nvSpPr>
        <p:spPr>
          <a:xfrm>
            <a:off x="5248656" y="223113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4" name="지도 컨트롤"/>
          <p:cNvSpPr/>
          <p:nvPr/>
        </p:nvSpPr>
        <p:spPr>
          <a:xfrm>
            <a:off x="4882896" y="257860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컨트롤 라벨"/>
          <p:cNvSpPr txBox="1"/>
          <p:nvPr/>
        </p:nvSpPr>
        <p:spPr>
          <a:xfrm>
            <a:off x="4882896" y="257860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26" name="바텀시트"/>
          <p:cNvSpPr/>
          <p:nvPr/>
        </p:nvSpPr>
        <p:spPr>
          <a:xfrm>
            <a:off x="2971800" y="2962656"/>
            <a:ext cx="2715768" cy="337413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4151376" y="305409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"/>
          <p:cNvSpPr/>
          <p:nvPr/>
        </p:nvSpPr>
        <p:spPr>
          <a:xfrm>
            <a:off x="4681728" y="3127248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드롭다운 라벨"/>
          <p:cNvSpPr txBox="1"/>
          <p:nvPr/>
        </p:nvSpPr>
        <p:spPr>
          <a:xfrm>
            <a:off x="4681728" y="3127248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30" name="행 제목"/>
          <p:cNvSpPr txBox="1"/>
          <p:nvPr/>
        </p:nvSpPr>
        <p:spPr>
          <a:xfrm>
            <a:off x="3145536" y="351129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1" name="행 메타"/>
          <p:cNvSpPr txBox="1"/>
          <p:nvPr/>
        </p:nvSpPr>
        <p:spPr>
          <a:xfrm>
            <a:off x="3145536" y="3712463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350m · 공공기관</a:t>
            </a:r>
          </a:p>
        </p:txBody>
      </p:sp>
      <p:sp>
        <p:nvSpPr>
          <p:cNvPr id="32" name="행 주소"/>
          <p:cNvSpPr txBox="1"/>
          <p:nvPr/>
        </p:nvSpPr>
        <p:spPr>
          <a:xfrm>
            <a:off x="3145536" y="386791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 31</a:t>
            </a:r>
          </a:p>
        </p:txBody>
      </p:sp>
      <p:sp>
        <p:nvSpPr>
          <p:cNvPr id="33" name="주소 펼침"/>
          <p:cNvSpPr txBox="1"/>
          <p:nvPr/>
        </p:nvSpPr>
        <p:spPr>
          <a:xfrm>
            <a:off x="4055363" y="3867911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4" name="즐겨찾기 토글"/>
          <p:cNvSpPr txBox="1"/>
          <p:nvPr/>
        </p:nvSpPr>
        <p:spPr>
          <a:xfrm>
            <a:off x="3145536" y="410565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5" name="역할 버튼"/>
          <p:cNvSpPr/>
          <p:nvPr/>
        </p:nvSpPr>
        <p:spPr>
          <a:xfrm>
            <a:off x="3986784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버튼 라벨"/>
          <p:cNvSpPr txBox="1"/>
          <p:nvPr/>
        </p:nvSpPr>
        <p:spPr>
          <a:xfrm>
            <a:off x="3986784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버튼"/>
          <p:cNvSpPr/>
          <p:nvPr/>
        </p:nvSpPr>
        <p:spPr>
          <a:xfrm>
            <a:off x="4773168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/>
          <p:cNvSpPr txBox="1"/>
          <p:nvPr/>
        </p:nvSpPr>
        <p:spPr>
          <a:xfrm>
            <a:off x="4773168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39" name="행 구분선"/>
          <p:cNvSpPr/>
          <p:nvPr/>
        </p:nvSpPr>
        <p:spPr>
          <a:xfrm>
            <a:off x="2971800" y="44256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145536" y="4480559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[2호선] 시청역</a:t>
            </a:r>
          </a:p>
        </p:txBody>
      </p:sp>
      <p:sp>
        <p:nvSpPr>
          <p:cNvPr id="41" name="행 메타"/>
          <p:cNvSpPr txBox="1"/>
          <p:nvPr/>
        </p:nvSpPr>
        <p:spPr>
          <a:xfrm>
            <a:off x="3145536" y="468172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420m · 지하철역</a:t>
            </a:r>
          </a:p>
        </p:txBody>
      </p:sp>
      <p:sp>
        <p:nvSpPr>
          <p:cNvPr id="42" name="행 주소"/>
          <p:cNvSpPr txBox="1"/>
          <p:nvPr/>
        </p:nvSpPr>
        <p:spPr>
          <a:xfrm>
            <a:off x="3145536" y="483717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정동</a:t>
            </a:r>
          </a:p>
        </p:txBody>
      </p:sp>
      <p:sp>
        <p:nvSpPr>
          <p:cNvPr id="43" name="즐겨찾기 토글"/>
          <p:cNvSpPr txBox="1"/>
          <p:nvPr/>
        </p:nvSpPr>
        <p:spPr>
          <a:xfrm>
            <a:off x="3145536" y="5074920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4" name="역할 버튼"/>
          <p:cNvSpPr/>
          <p:nvPr/>
        </p:nvSpPr>
        <p:spPr>
          <a:xfrm>
            <a:off x="3986784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역할 버튼 라벨"/>
          <p:cNvSpPr txBox="1"/>
          <p:nvPr/>
        </p:nvSpPr>
        <p:spPr>
          <a:xfrm>
            <a:off x="3986784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6" name="역할 버튼"/>
          <p:cNvSpPr/>
          <p:nvPr/>
        </p:nvSpPr>
        <p:spPr>
          <a:xfrm>
            <a:off x="4773168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버튼 라벨"/>
          <p:cNvSpPr txBox="1"/>
          <p:nvPr/>
        </p:nvSpPr>
        <p:spPr>
          <a:xfrm>
            <a:off x="4773168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8" name="행 구분선"/>
          <p:cNvSpPr/>
          <p:nvPr/>
        </p:nvSpPr>
        <p:spPr>
          <a:xfrm>
            <a:off x="2971800" y="539496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3145536" y="54498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          02128</a:t>
            </a:r>
          </a:p>
        </p:txBody>
      </p:sp>
      <p:sp>
        <p:nvSpPr>
          <p:cNvPr id="50" name="행 메타"/>
          <p:cNvSpPr txBox="1"/>
          <p:nvPr/>
        </p:nvSpPr>
        <p:spPr>
          <a:xfrm>
            <a:off x="3145536" y="56509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180m · 버스정류장 · 능동 방면</a:t>
            </a:r>
          </a:p>
        </p:txBody>
      </p:sp>
      <p:sp>
        <p:nvSpPr>
          <p:cNvPr id="51" name="행 주소"/>
          <p:cNvSpPr txBox="1"/>
          <p:nvPr/>
        </p:nvSpPr>
        <p:spPr>
          <a:xfrm>
            <a:off x="3145536" y="58064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</a:t>
            </a:r>
          </a:p>
        </p:txBody>
      </p:sp>
      <p:sp>
        <p:nvSpPr>
          <p:cNvPr id="52" name="즐겨찾기 토글"/>
          <p:cNvSpPr txBox="1"/>
          <p:nvPr/>
        </p:nvSpPr>
        <p:spPr>
          <a:xfrm>
            <a:off x="3145536" y="60441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53" name="역할 버튼"/>
          <p:cNvSpPr/>
          <p:nvPr/>
        </p:nvSpPr>
        <p:spPr>
          <a:xfrm>
            <a:off x="3986784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버튼 라벨"/>
          <p:cNvSpPr txBox="1"/>
          <p:nvPr/>
        </p:nvSpPr>
        <p:spPr>
          <a:xfrm>
            <a:off x="3986784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5" name="역할 버튼"/>
          <p:cNvSpPr/>
          <p:nvPr/>
        </p:nvSpPr>
        <p:spPr>
          <a:xfrm>
            <a:off x="4773168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버튼 라벨"/>
          <p:cNvSpPr txBox="1"/>
          <p:nvPr/>
        </p:nvSpPr>
        <p:spPr>
          <a:xfrm>
            <a:off x="4773168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7" name="뒤로가기 플로팅"/>
          <p:cNvSpPr/>
          <p:nvPr/>
        </p:nvSpPr>
        <p:spPr>
          <a:xfrm>
            <a:off x="300990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3118104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118104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결과 건수"/>
          <p:cNvSpPr txBox="1"/>
          <p:nvPr/>
        </p:nvSpPr>
        <p:spPr>
          <a:xfrm>
            <a:off x="3145536" y="3127248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2734056" y="186537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5577840" y="19019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2734056" y="30175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5577840" y="31455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5"/>
          <p:cNvSpPr/>
          <p:nvPr/>
        </p:nvSpPr>
        <p:spPr>
          <a:xfrm>
            <a:off x="2734056" y="3529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6" name="숫자배지 6"/>
          <p:cNvSpPr/>
          <p:nvPr/>
        </p:nvSpPr>
        <p:spPr>
          <a:xfrm>
            <a:off x="2734056" y="40965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검색 결과 — 지도 ＋ 바텀시트 (2/3)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70479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04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건수 · 정렬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「검색 결과 N건」 — 드롭다운 왼쪽 · N은 전체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 · 검색 실패에는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「정확도순」/「거리순」 2종 · Default 정확도순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최상단 · 단일 선택 · 해제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순서만 변경 — 결과 개수는 불변 · 필터 칩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현위치를 알 수 없으면 「거리순」 비활성 — 사유 함께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3142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3줄 ＋ 컨트롤 줄 · 행 자체가 장소 상세 진입 ·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1줄 POI명 — 지하철역은 노선 배지 ＋ 역명 · 정류장은 정류장명 ＋ 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거리 → 업종 → 방면 · 3줄 지번(광역 1개 생략) ＋ [∨]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현위치를 알 수 없으면 거리를 생략하고 업종부터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20건씩 스크롤로 이어 받음 · 서울 밖 결과 미포함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529584" y="1865376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8" name="검색창"/>
          <p:cNvSpPr/>
          <p:nvPr/>
        </p:nvSpPr>
        <p:spPr>
          <a:xfrm>
            <a:off x="3310128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/>
          <p:cNvSpPr txBox="1"/>
          <p:nvPr/>
        </p:nvSpPr>
        <p:spPr>
          <a:xfrm>
            <a:off x="3456432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48656" y="188366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48656" y="188366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2" name="지도 컨트롤"/>
          <p:cNvSpPr/>
          <p:nvPr/>
        </p:nvSpPr>
        <p:spPr>
          <a:xfrm>
            <a:off x="5248656" y="223113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도 컨트롤 라벨"/>
          <p:cNvSpPr txBox="1"/>
          <p:nvPr/>
        </p:nvSpPr>
        <p:spPr>
          <a:xfrm>
            <a:off x="5248656" y="223113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4" name="지도 컨트롤"/>
          <p:cNvSpPr/>
          <p:nvPr/>
        </p:nvSpPr>
        <p:spPr>
          <a:xfrm>
            <a:off x="4882896" y="257860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컨트롤 라벨"/>
          <p:cNvSpPr txBox="1"/>
          <p:nvPr/>
        </p:nvSpPr>
        <p:spPr>
          <a:xfrm>
            <a:off x="4882896" y="257860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26" name="바텀시트"/>
          <p:cNvSpPr/>
          <p:nvPr/>
        </p:nvSpPr>
        <p:spPr>
          <a:xfrm>
            <a:off x="2971800" y="2962656"/>
            <a:ext cx="2715768" cy="337413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4151376" y="305409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"/>
          <p:cNvSpPr/>
          <p:nvPr/>
        </p:nvSpPr>
        <p:spPr>
          <a:xfrm>
            <a:off x="4681728" y="3127248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드롭다운 라벨"/>
          <p:cNvSpPr txBox="1"/>
          <p:nvPr/>
        </p:nvSpPr>
        <p:spPr>
          <a:xfrm>
            <a:off x="4681728" y="3127248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30" name="행 제목"/>
          <p:cNvSpPr txBox="1"/>
          <p:nvPr/>
        </p:nvSpPr>
        <p:spPr>
          <a:xfrm>
            <a:off x="3145536" y="351129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1" name="행 메타"/>
          <p:cNvSpPr txBox="1"/>
          <p:nvPr/>
        </p:nvSpPr>
        <p:spPr>
          <a:xfrm>
            <a:off x="3145536" y="3712463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350m · 공공기관</a:t>
            </a:r>
          </a:p>
        </p:txBody>
      </p:sp>
      <p:sp>
        <p:nvSpPr>
          <p:cNvPr id="32" name="행 주소"/>
          <p:cNvSpPr txBox="1"/>
          <p:nvPr/>
        </p:nvSpPr>
        <p:spPr>
          <a:xfrm>
            <a:off x="3145536" y="386791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 31</a:t>
            </a:r>
          </a:p>
        </p:txBody>
      </p:sp>
      <p:sp>
        <p:nvSpPr>
          <p:cNvPr id="33" name="주소 펼침"/>
          <p:cNvSpPr txBox="1"/>
          <p:nvPr/>
        </p:nvSpPr>
        <p:spPr>
          <a:xfrm>
            <a:off x="4055363" y="3867911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4" name="즐겨찾기 토글"/>
          <p:cNvSpPr txBox="1"/>
          <p:nvPr/>
        </p:nvSpPr>
        <p:spPr>
          <a:xfrm>
            <a:off x="3145536" y="410565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5" name="역할 버튼"/>
          <p:cNvSpPr/>
          <p:nvPr/>
        </p:nvSpPr>
        <p:spPr>
          <a:xfrm>
            <a:off x="3986784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버튼 라벨"/>
          <p:cNvSpPr txBox="1"/>
          <p:nvPr/>
        </p:nvSpPr>
        <p:spPr>
          <a:xfrm>
            <a:off x="3986784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버튼"/>
          <p:cNvSpPr/>
          <p:nvPr/>
        </p:nvSpPr>
        <p:spPr>
          <a:xfrm>
            <a:off x="4773168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/>
          <p:cNvSpPr txBox="1"/>
          <p:nvPr/>
        </p:nvSpPr>
        <p:spPr>
          <a:xfrm>
            <a:off x="4773168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39" name="행 구분선"/>
          <p:cNvSpPr/>
          <p:nvPr/>
        </p:nvSpPr>
        <p:spPr>
          <a:xfrm>
            <a:off x="2971800" y="44256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145536" y="4480559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[2호선] 시청역</a:t>
            </a:r>
          </a:p>
        </p:txBody>
      </p:sp>
      <p:sp>
        <p:nvSpPr>
          <p:cNvPr id="41" name="행 메타"/>
          <p:cNvSpPr txBox="1"/>
          <p:nvPr/>
        </p:nvSpPr>
        <p:spPr>
          <a:xfrm>
            <a:off x="3145536" y="468172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420m · 지하철역</a:t>
            </a:r>
          </a:p>
        </p:txBody>
      </p:sp>
      <p:sp>
        <p:nvSpPr>
          <p:cNvPr id="42" name="행 주소"/>
          <p:cNvSpPr txBox="1"/>
          <p:nvPr/>
        </p:nvSpPr>
        <p:spPr>
          <a:xfrm>
            <a:off x="3145536" y="483717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정동</a:t>
            </a:r>
          </a:p>
        </p:txBody>
      </p:sp>
      <p:sp>
        <p:nvSpPr>
          <p:cNvPr id="43" name="즐겨찾기 토글"/>
          <p:cNvSpPr txBox="1"/>
          <p:nvPr/>
        </p:nvSpPr>
        <p:spPr>
          <a:xfrm>
            <a:off x="3145536" y="5074920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4" name="역할 버튼"/>
          <p:cNvSpPr/>
          <p:nvPr/>
        </p:nvSpPr>
        <p:spPr>
          <a:xfrm>
            <a:off x="3986784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역할 버튼 라벨"/>
          <p:cNvSpPr txBox="1"/>
          <p:nvPr/>
        </p:nvSpPr>
        <p:spPr>
          <a:xfrm>
            <a:off x="3986784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6" name="역할 버튼"/>
          <p:cNvSpPr/>
          <p:nvPr/>
        </p:nvSpPr>
        <p:spPr>
          <a:xfrm>
            <a:off x="4773168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버튼 라벨"/>
          <p:cNvSpPr txBox="1"/>
          <p:nvPr/>
        </p:nvSpPr>
        <p:spPr>
          <a:xfrm>
            <a:off x="4773168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8" name="행 구분선"/>
          <p:cNvSpPr/>
          <p:nvPr/>
        </p:nvSpPr>
        <p:spPr>
          <a:xfrm>
            <a:off x="2971800" y="539496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3145536" y="54498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          02128</a:t>
            </a:r>
          </a:p>
        </p:txBody>
      </p:sp>
      <p:sp>
        <p:nvSpPr>
          <p:cNvPr id="50" name="행 메타"/>
          <p:cNvSpPr txBox="1"/>
          <p:nvPr/>
        </p:nvSpPr>
        <p:spPr>
          <a:xfrm>
            <a:off x="3145536" y="56509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180m · 버스정류장 · 능동 방면</a:t>
            </a:r>
          </a:p>
        </p:txBody>
      </p:sp>
      <p:sp>
        <p:nvSpPr>
          <p:cNvPr id="51" name="행 주소"/>
          <p:cNvSpPr txBox="1"/>
          <p:nvPr/>
        </p:nvSpPr>
        <p:spPr>
          <a:xfrm>
            <a:off x="3145536" y="58064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</a:t>
            </a:r>
          </a:p>
        </p:txBody>
      </p:sp>
      <p:sp>
        <p:nvSpPr>
          <p:cNvPr id="52" name="즐겨찾기 토글"/>
          <p:cNvSpPr txBox="1"/>
          <p:nvPr/>
        </p:nvSpPr>
        <p:spPr>
          <a:xfrm>
            <a:off x="3145536" y="60441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53" name="역할 버튼"/>
          <p:cNvSpPr/>
          <p:nvPr/>
        </p:nvSpPr>
        <p:spPr>
          <a:xfrm>
            <a:off x="3986784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버튼 라벨"/>
          <p:cNvSpPr txBox="1"/>
          <p:nvPr/>
        </p:nvSpPr>
        <p:spPr>
          <a:xfrm>
            <a:off x="3986784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5" name="역할 버튼"/>
          <p:cNvSpPr/>
          <p:nvPr/>
        </p:nvSpPr>
        <p:spPr>
          <a:xfrm>
            <a:off x="4773168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버튼 라벨"/>
          <p:cNvSpPr txBox="1"/>
          <p:nvPr/>
        </p:nvSpPr>
        <p:spPr>
          <a:xfrm>
            <a:off x="4773168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7" name="뒤로가기 플로팅"/>
          <p:cNvSpPr/>
          <p:nvPr/>
        </p:nvSpPr>
        <p:spPr>
          <a:xfrm>
            <a:off x="300990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3118104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118104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결과 건수"/>
          <p:cNvSpPr txBox="1"/>
          <p:nvPr/>
        </p:nvSpPr>
        <p:spPr>
          <a:xfrm>
            <a:off x="3145536" y="3127248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2734056" y="186537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5577840" y="19019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2734056" y="30175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5577840" y="31455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5"/>
          <p:cNvSpPr/>
          <p:nvPr/>
        </p:nvSpPr>
        <p:spPr>
          <a:xfrm>
            <a:off x="2734056" y="3529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6" name="숫자배지 6"/>
          <p:cNvSpPr/>
          <p:nvPr/>
        </p:nvSpPr>
        <p:spPr>
          <a:xfrm>
            <a:off x="2734056" y="40965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검색 결과 — 지도 ＋ 바텀시트 (3/3)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19290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2버튼 · ☆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「출발」 · 「도착」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일반 검색에서만 2버튼 표출 · 역할 지정은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토글은 슬롯 지정을 제외한 4종 공통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복귀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 상세에서 돌아오면 검색어 · 정렬 · 스크롤 · 지도 뷰 · 시트 단계 유지 — 재조회하지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529584" y="1865376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8" name="검색창"/>
          <p:cNvSpPr/>
          <p:nvPr/>
        </p:nvSpPr>
        <p:spPr>
          <a:xfrm>
            <a:off x="3310128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/>
          <p:cNvSpPr txBox="1"/>
          <p:nvPr/>
        </p:nvSpPr>
        <p:spPr>
          <a:xfrm>
            <a:off x="3456432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지도 컨트롤"/>
          <p:cNvSpPr/>
          <p:nvPr/>
        </p:nvSpPr>
        <p:spPr>
          <a:xfrm>
            <a:off x="5248656" y="188366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지도 컨트롤 라벨"/>
          <p:cNvSpPr txBox="1"/>
          <p:nvPr/>
        </p:nvSpPr>
        <p:spPr>
          <a:xfrm>
            <a:off x="5248656" y="188366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2" name="지도 컨트롤"/>
          <p:cNvSpPr/>
          <p:nvPr/>
        </p:nvSpPr>
        <p:spPr>
          <a:xfrm>
            <a:off x="5248656" y="223113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도 컨트롤 라벨"/>
          <p:cNvSpPr txBox="1"/>
          <p:nvPr/>
        </p:nvSpPr>
        <p:spPr>
          <a:xfrm>
            <a:off x="5248656" y="223113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4" name="지도 컨트롤"/>
          <p:cNvSpPr/>
          <p:nvPr/>
        </p:nvSpPr>
        <p:spPr>
          <a:xfrm>
            <a:off x="4882896" y="257860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컨트롤 라벨"/>
          <p:cNvSpPr txBox="1"/>
          <p:nvPr/>
        </p:nvSpPr>
        <p:spPr>
          <a:xfrm>
            <a:off x="4882896" y="257860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26" name="바텀시트"/>
          <p:cNvSpPr/>
          <p:nvPr/>
        </p:nvSpPr>
        <p:spPr>
          <a:xfrm>
            <a:off x="2971800" y="2962656"/>
            <a:ext cx="2715768" cy="337413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4151376" y="305409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"/>
          <p:cNvSpPr/>
          <p:nvPr/>
        </p:nvSpPr>
        <p:spPr>
          <a:xfrm>
            <a:off x="4681728" y="3127248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드롭다운 라벨"/>
          <p:cNvSpPr txBox="1"/>
          <p:nvPr/>
        </p:nvSpPr>
        <p:spPr>
          <a:xfrm>
            <a:off x="4681728" y="3127248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30" name="행 제목"/>
          <p:cNvSpPr txBox="1"/>
          <p:nvPr/>
        </p:nvSpPr>
        <p:spPr>
          <a:xfrm>
            <a:off x="3145536" y="351129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1" name="행 메타"/>
          <p:cNvSpPr txBox="1"/>
          <p:nvPr/>
        </p:nvSpPr>
        <p:spPr>
          <a:xfrm>
            <a:off x="3145536" y="3712463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350m · 공공기관</a:t>
            </a:r>
          </a:p>
        </p:txBody>
      </p:sp>
      <p:sp>
        <p:nvSpPr>
          <p:cNvPr id="32" name="행 주소"/>
          <p:cNvSpPr txBox="1"/>
          <p:nvPr/>
        </p:nvSpPr>
        <p:spPr>
          <a:xfrm>
            <a:off x="3145536" y="386791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 31</a:t>
            </a:r>
          </a:p>
        </p:txBody>
      </p:sp>
      <p:sp>
        <p:nvSpPr>
          <p:cNvPr id="33" name="주소 펼침"/>
          <p:cNvSpPr txBox="1"/>
          <p:nvPr/>
        </p:nvSpPr>
        <p:spPr>
          <a:xfrm>
            <a:off x="4055363" y="3867911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4" name="즐겨찾기 토글"/>
          <p:cNvSpPr txBox="1"/>
          <p:nvPr/>
        </p:nvSpPr>
        <p:spPr>
          <a:xfrm>
            <a:off x="3145536" y="410565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5" name="역할 버튼"/>
          <p:cNvSpPr/>
          <p:nvPr/>
        </p:nvSpPr>
        <p:spPr>
          <a:xfrm>
            <a:off x="3986784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버튼 라벨"/>
          <p:cNvSpPr txBox="1"/>
          <p:nvPr/>
        </p:nvSpPr>
        <p:spPr>
          <a:xfrm>
            <a:off x="3986784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버튼"/>
          <p:cNvSpPr/>
          <p:nvPr/>
        </p:nvSpPr>
        <p:spPr>
          <a:xfrm>
            <a:off x="4773168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/>
          <p:cNvSpPr txBox="1"/>
          <p:nvPr/>
        </p:nvSpPr>
        <p:spPr>
          <a:xfrm>
            <a:off x="4773168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39" name="행 구분선"/>
          <p:cNvSpPr/>
          <p:nvPr/>
        </p:nvSpPr>
        <p:spPr>
          <a:xfrm>
            <a:off x="2971800" y="44256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145536" y="4480559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[2호선] 시청역</a:t>
            </a:r>
          </a:p>
        </p:txBody>
      </p:sp>
      <p:sp>
        <p:nvSpPr>
          <p:cNvPr id="41" name="행 메타"/>
          <p:cNvSpPr txBox="1"/>
          <p:nvPr/>
        </p:nvSpPr>
        <p:spPr>
          <a:xfrm>
            <a:off x="3145536" y="468172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420m · 지하철역</a:t>
            </a:r>
          </a:p>
        </p:txBody>
      </p:sp>
      <p:sp>
        <p:nvSpPr>
          <p:cNvPr id="42" name="행 주소"/>
          <p:cNvSpPr txBox="1"/>
          <p:nvPr/>
        </p:nvSpPr>
        <p:spPr>
          <a:xfrm>
            <a:off x="3145536" y="483717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정동</a:t>
            </a:r>
          </a:p>
        </p:txBody>
      </p:sp>
      <p:sp>
        <p:nvSpPr>
          <p:cNvPr id="43" name="즐겨찾기 토글"/>
          <p:cNvSpPr txBox="1"/>
          <p:nvPr/>
        </p:nvSpPr>
        <p:spPr>
          <a:xfrm>
            <a:off x="3145536" y="5074920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4" name="역할 버튼"/>
          <p:cNvSpPr/>
          <p:nvPr/>
        </p:nvSpPr>
        <p:spPr>
          <a:xfrm>
            <a:off x="3986784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역할 버튼 라벨"/>
          <p:cNvSpPr txBox="1"/>
          <p:nvPr/>
        </p:nvSpPr>
        <p:spPr>
          <a:xfrm>
            <a:off x="3986784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6" name="역할 버튼"/>
          <p:cNvSpPr/>
          <p:nvPr/>
        </p:nvSpPr>
        <p:spPr>
          <a:xfrm>
            <a:off x="4773168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버튼 라벨"/>
          <p:cNvSpPr txBox="1"/>
          <p:nvPr/>
        </p:nvSpPr>
        <p:spPr>
          <a:xfrm>
            <a:off x="4773168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8" name="행 구분선"/>
          <p:cNvSpPr/>
          <p:nvPr/>
        </p:nvSpPr>
        <p:spPr>
          <a:xfrm>
            <a:off x="2971800" y="539496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3145536" y="54498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          02128</a:t>
            </a:r>
          </a:p>
        </p:txBody>
      </p:sp>
      <p:sp>
        <p:nvSpPr>
          <p:cNvPr id="50" name="행 메타"/>
          <p:cNvSpPr txBox="1"/>
          <p:nvPr/>
        </p:nvSpPr>
        <p:spPr>
          <a:xfrm>
            <a:off x="3145536" y="56509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180m · 버스정류장 · 능동 방면</a:t>
            </a:r>
          </a:p>
        </p:txBody>
      </p:sp>
      <p:sp>
        <p:nvSpPr>
          <p:cNvPr id="51" name="행 주소"/>
          <p:cNvSpPr txBox="1"/>
          <p:nvPr/>
        </p:nvSpPr>
        <p:spPr>
          <a:xfrm>
            <a:off x="3145536" y="58064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</a:t>
            </a:r>
          </a:p>
        </p:txBody>
      </p:sp>
      <p:sp>
        <p:nvSpPr>
          <p:cNvPr id="52" name="즐겨찾기 토글"/>
          <p:cNvSpPr txBox="1"/>
          <p:nvPr/>
        </p:nvSpPr>
        <p:spPr>
          <a:xfrm>
            <a:off x="3145536" y="60441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53" name="역할 버튼"/>
          <p:cNvSpPr/>
          <p:nvPr/>
        </p:nvSpPr>
        <p:spPr>
          <a:xfrm>
            <a:off x="3986784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버튼 라벨"/>
          <p:cNvSpPr txBox="1"/>
          <p:nvPr/>
        </p:nvSpPr>
        <p:spPr>
          <a:xfrm>
            <a:off x="3986784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5" name="역할 버튼"/>
          <p:cNvSpPr/>
          <p:nvPr/>
        </p:nvSpPr>
        <p:spPr>
          <a:xfrm>
            <a:off x="4773168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버튼 라벨"/>
          <p:cNvSpPr txBox="1"/>
          <p:nvPr/>
        </p:nvSpPr>
        <p:spPr>
          <a:xfrm>
            <a:off x="4773168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7" name="뒤로가기 플로팅"/>
          <p:cNvSpPr/>
          <p:nvPr/>
        </p:nvSpPr>
        <p:spPr>
          <a:xfrm>
            <a:off x="300990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3118104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118104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결과 건수"/>
          <p:cNvSpPr txBox="1"/>
          <p:nvPr/>
        </p:nvSpPr>
        <p:spPr>
          <a:xfrm>
            <a:off x="3145536" y="3127248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2734056" y="186537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5577840" y="19019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2734056" y="30175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5577840" y="31455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5"/>
          <p:cNvSpPr/>
          <p:nvPr/>
        </p:nvSpPr>
        <p:spPr>
          <a:xfrm>
            <a:off x="2734056" y="3529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6" name="숫자배지 6"/>
          <p:cNvSpPr/>
          <p:nvPr/>
        </p:nvSpPr>
        <p:spPr>
          <a:xfrm>
            <a:off x="2734056" y="40965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＋ 바텀시트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4285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선택한 장소만 핀 · 다른 장소 선택 시 무반응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지도 좌상단 원형 플로팅 1개 · 탑바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화면으로 복귀 — 장소 검색에서 왔으면 ③ 검색 결과로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장소명 · 업종 ·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1줄 · 업종명은 다음 줄에 보조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업종 · 거리는 같은 줄 · 가운뎃점으로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기준 직선거리 · m 단위 정수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현위치가 바뀌면 재계산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기본은 지번 풀주소 — 광역 포함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뒤에 도로명 하위주소를 괄호로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도로명이 없으면 괄호째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602736" y="2011680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18" name="뒤로가기 플로팅"/>
          <p:cNvSpPr/>
          <p:nvPr/>
        </p:nvSpPr>
        <p:spPr>
          <a:xfrm>
            <a:off x="3099815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바텀시트"/>
          <p:cNvSpPr/>
          <p:nvPr/>
        </p:nvSpPr>
        <p:spPr>
          <a:xfrm>
            <a:off x="2971800" y="3145536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시트 손잡이"/>
          <p:cNvSpPr/>
          <p:nvPr/>
        </p:nvSpPr>
        <p:spPr>
          <a:xfrm>
            <a:off x="4151376" y="323697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장소명"/>
          <p:cNvSpPr txBox="1"/>
          <p:nvPr/>
        </p:nvSpPr>
        <p:spPr>
          <a:xfrm>
            <a:off x="3145536" y="332841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2" name="업종 · 거리"/>
          <p:cNvSpPr txBox="1"/>
          <p:nvPr/>
        </p:nvSpPr>
        <p:spPr>
          <a:xfrm>
            <a:off x="3145536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공공기관 · 350m</a:t>
            </a:r>
          </a:p>
        </p:txBody>
      </p:sp>
      <p:sp>
        <p:nvSpPr>
          <p:cNvPr id="23" name="지번 주소"/>
          <p:cNvSpPr txBox="1"/>
          <p:nvPr/>
        </p:nvSpPr>
        <p:spPr>
          <a:xfrm>
            <a:off x="3145536" y="37673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중구 태평로1가 31</a:t>
            </a:r>
          </a:p>
        </p:txBody>
      </p:sp>
      <p:sp>
        <p:nvSpPr>
          <p:cNvPr id="24" name="도로명 주소"/>
          <p:cNvSpPr txBox="1"/>
          <p:nvPr/>
        </p:nvSpPr>
        <p:spPr>
          <a:xfrm>
            <a:off x="3145536" y="39319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(중구 세종대로 110)</a:t>
            </a:r>
          </a:p>
        </p:txBody>
      </p:sp>
      <p:sp>
        <p:nvSpPr>
          <p:cNvPr id="25" name="장소 이미지"/>
          <p:cNvSpPr/>
          <p:nvPr/>
        </p:nvSpPr>
        <p:spPr>
          <a:xfrm>
            <a:off x="3145536" y="4151376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장수 표시"/>
          <p:cNvSpPr txBox="1"/>
          <p:nvPr/>
        </p:nvSpPr>
        <p:spPr>
          <a:xfrm>
            <a:off x="4279392" y="4754880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7" name="사진 이동"/>
          <p:cNvSpPr txBox="1"/>
          <p:nvPr/>
        </p:nvSpPr>
        <p:spPr>
          <a:xfrm>
            <a:off x="3182112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28" name="사진 이동"/>
          <p:cNvSpPr txBox="1"/>
          <p:nvPr/>
        </p:nvSpPr>
        <p:spPr>
          <a:xfrm>
            <a:off x="4443983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29" name="접근성 항목"/>
          <p:cNvSpPr txBox="1"/>
          <p:nvPr/>
        </p:nvSpPr>
        <p:spPr>
          <a:xfrm>
            <a:off x="3145536" y="50657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0" name="접근성 값"/>
          <p:cNvSpPr txBox="1"/>
          <p:nvPr/>
        </p:nvSpPr>
        <p:spPr>
          <a:xfrm>
            <a:off x="4608576" y="506577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3145536" y="5285232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계단 유무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4608576" y="5285232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3145536" y="5504688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4608576" y="5504688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5" name="즐겨찾기 토글"/>
          <p:cNvSpPr txBox="1"/>
          <p:nvPr/>
        </p:nvSpPr>
        <p:spPr>
          <a:xfrm>
            <a:off x="3145536" y="588873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6" name="역할 버튼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986784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역할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986784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4773168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4773168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0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2734056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1" name="숫자배지 2"/>
          <p:cNvSpPr/>
          <p:nvPr/>
        </p:nvSpPr>
        <p:spPr>
          <a:xfrm>
            <a:off x="2734056" y="33467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2" name="숫자배지 3"/>
          <p:cNvSpPr/>
          <p:nvPr/>
        </p:nvSpPr>
        <p:spPr>
          <a:xfrm>
            <a:off x="2734056" y="378561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3" name="숫자배지 4"/>
          <p:cNvSpPr/>
          <p:nvPr/>
        </p:nvSpPr>
        <p:spPr>
          <a:xfrm>
            <a:off x="2734056" y="4169663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4" name="숫자배지 5"/>
          <p:cNvSpPr/>
          <p:nvPr/>
        </p:nvSpPr>
        <p:spPr>
          <a:xfrm>
            <a:off x="2734056" y="508406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cxnSp>
        <p:nvCxnSpPr>
          <p:cNvPr id="45" name="뒤로가기"/>
          <p:cNvCxnSpPr/>
          <p:nvPr/>
        </p:nvCxnSpPr>
        <p:spPr>
          <a:xfrm flipH="1">
            <a:off x="3208019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뒤로가기"/>
          <p:cNvCxnSpPr/>
          <p:nvPr/>
        </p:nvCxnSpPr>
        <p:spPr>
          <a:xfrm flipH="1" flipV="1">
            <a:off x="3208019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＋ 바텀시트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2344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433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78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이미지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공급되는 장수를 그대로 사용 · 상한 미설정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여러 장이면 가로 스와이프 캐러셀 · 한 번에 한 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장수 표시 「1 / 4」 · 사진 우측 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좌우 이동 버튼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원본 비율 유지 · 잘라내지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선택 시 전체보기 오버레이 — 누른 장부터 표출 · 닫으면 마지막에 본 장으로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스크린리더 사용 중에는 전체보기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756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접근성 정보 · 하단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3행 — 여닫이문 · 계단 유무 · 경사도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 기준 시점 함께 표기 — 「조사 기준 YYYY년 M월」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미조사 항목도 그대로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역할 2버튼 「출발」 ·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역할 지정은 1버튼 · ☆ 토글은 슬롯 지정 제외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바텀시트 기본값은 올린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1243583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1874519" y="2011680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18" name="뒤로가기 플로팅"/>
          <p:cNvSpPr/>
          <p:nvPr/>
        </p:nvSpPr>
        <p:spPr>
          <a:xfrm>
            <a:off x="1371598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바텀시트"/>
          <p:cNvSpPr/>
          <p:nvPr/>
        </p:nvSpPr>
        <p:spPr>
          <a:xfrm>
            <a:off x="1243583" y="3145536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시트 손잡이"/>
          <p:cNvSpPr/>
          <p:nvPr/>
        </p:nvSpPr>
        <p:spPr>
          <a:xfrm>
            <a:off x="2423160" y="323697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장소명"/>
          <p:cNvSpPr txBox="1"/>
          <p:nvPr/>
        </p:nvSpPr>
        <p:spPr>
          <a:xfrm>
            <a:off x="1417319" y="332841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2" name="업종 · 거리"/>
          <p:cNvSpPr txBox="1"/>
          <p:nvPr/>
        </p:nvSpPr>
        <p:spPr>
          <a:xfrm>
            <a:off x="1417319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공공기관 · 350m</a:t>
            </a:r>
          </a:p>
        </p:txBody>
      </p:sp>
      <p:sp>
        <p:nvSpPr>
          <p:cNvPr id="23" name="지번 주소"/>
          <p:cNvSpPr txBox="1"/>
          <p:nvPr/>
        </p:nvSpPr>
        <p:spPr>
          <a:xfrm>
            <a:off x="1417319" y="37673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중구 태평로1가 31</a:t>
            </a:r>
          </a:p>
        </p:txBody>
      </p:sp>
      <p:sp>
        <p:nvSpPr>
          <p:cNvPr id="24" name="도로명 주소"/>
          <p:cNvSpPr txBox="1"/>
          <p:nvPr/>
        </p:nvSpPr>
        <p:spPr>
          <a:xfrm>
            <a:off x="1417319" y="39319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(중구 세종대로 110)</a:t>
            </a:r>
          </a:p>
        </p:txBody>
      </p:sp>
      <p:sp>
        <p:nvSpPr>
          <p:cNvPr id="25" name="장소 이미지"/>
          <p:cNvSpPr/>
          <p:nvPr/>
        </p:nvSpPr>
        <p:spPr>
          <a:xfrm>
            <a:off x="1417319" y="4151376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장수 표시"/>
          <p:cNvSpPr txBox="1"/>
          <p:nvPr/>
        </p:nvSpPr>
        <p:spPr>
          <a:xfrm>
            <a:off x="2551176" y="4754880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7" name="사진 이동"/>
          <p:cNvSpPr txBox="1"/>
          <p:nvPr/>
        </p:nvSpPr>
        <p:spPr>
          <a:xfrm>
            <a:off x="1453895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28" name="사진 이동"/>
          <p:cNvSpPr txBox="1"/>
          <p:nvPr/>
        </p:nvSpPr>
        <p:spPr>
          <a:xfrm>
            <a:off x="2715767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29" name="접근성 항목"/>
          <p:cNvSpPr txBox="1"/>
          <p:nvPr/>
        </p:nvSpPr>
        <p:spPr>
          <a:xfrm>
            <a:off x="1417319" y="50657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0" name="접근성 값"/>
          <p:cNvSpPr txBox="1"/>
          <p:nvPr/>
        </p:nvSpPr>
        <p:spPr>
          <a:xfrm>
            <a:off x="2880360" y="506577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1417319" y="5285232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계단 유무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2880360" y="5285232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1417319" y="5504688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2880360" y="5504688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5" name="즐겨찾기 토글"/>
          <p:cNvSpPr txBox="1"/>
          <p:nvPr/>
        </p:nvSpPr>
        <p:spPr>
          <a:xfrm>
            <a:off x="1417319" y="588873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6" name="역할 버튼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2258568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역할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2258568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3044952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3044952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1479802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1479802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프레임"/>
          <p:cNvSpPr/>
          <p:nvPr/>
        </p:nvSpPr>
        <p:spPr>
          <a:xfrm>
            <a:off x="469963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전체보기 배경"/>
          <p:cNvSpPr/>
          <p:nvPr/>
        </p:nvSpPr>
        <p:spPr>
          <a:xfrm>
            <a:off x="4708779" y="1208913"/>
            <a:ext cx="2715387" cy="5116068"/>
          </a:xfrm>
          <a:prstGeom prst="roundRect">
            <a:avLst>
              <a:gd name="adj" fmla="val 5976"/>
            </a:avLst>
          </a:prstGeom>
          <a:solidFill>
            <a:srgbClr val="1F232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전체보기 이미지"/>
          <p:cNvSpPr/>
          <p:nvPr/>
        </p:nvSpPr>
        <p:spPr>
          <a:xfrm>
            <a:off x="4708779" y="2802255"/>
            <a:ext cx="2715387" cy="1920240"/>
          </a:xfrm>
          <a:prstGeom prst="rect">
            <a:avLst>
              <a:gd name="adj" fmla="val 21802"/>
            </a:avLst>
          </a:prstGeom>
          <a:solidFill>
            <a:srgbClr val="F2F4F7"/>
          </a:solidFill>
          <a:effectLst/>
          <a:ln>
            <a:noFill/>
          </a:ln>
        </p:spPr>
        <p:txBody>
          <a:bodyPr wrap="none" rtlCol="0" anchor="ctr"/>
          <a:lstStyle/>
          <a:p>
            <a:endParaRPr/>
          </a:p>
        </p:txBody>
      </p:sp>
      <p:sp>
        <p:nvSpPr>
          <p:cNvPr id="45" name="전체보기 이동"/>
          <p:cNvSpPr txBox="1"/>
          <p:nvPr/>
        </p:nvSpPr>
        <p:spPr>
          <a:xfrm>
            <a:off x="4827651" y="365264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46" name="전체보기 이동"/>
          <p:cNvSpPr txBox="1"/>
          <p:nvPr/>
        </p:nvSpPr>
        <p:spPr>
          <a:xfrm>
            <a:off x="7085838" y="365264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47" name="전체보기 장수"/>
          <p:cNvSpPr txBox="1"/>
          <p:nvPr/>
        </p:nvSpPr>
        <p:spPr>
          <a:xfrm>
            <a:off x="5792152" y="4905375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0" spc="-15">
                <a:solidFill>
                  <a:srgbClr val="FFFFFF"/>
                </a:solidFill>
                <a:latin typeface="Pretendard"/>
              </a:rPr>
              <a:t>1 / 4</a:t>
            </a:r>
          </a:p>
        </p:txBody>
      </p:sp>
      <p:sp>
        <p:nvSpPr>
          <p:cNvPr id="48" name="전체보기 닫기"/>
          <p:cNvSpPr txBox="1"/>
          <p:nvPr/>
        </p:nvSpPr>
        <p:spPr>
          <a:xfrm>
            <a:off x="7049262" y="1336928"/>
            <a:ext cx="237744" cy="2377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0" spc="-15">
                <a:solidFill>
                  <a:srgbClr val="FFFFFF"/>
                </a:solidFill>
                <a:latin typeface="Pretendard"/>
              </a:rPr>
              <a:t>✕</a:t>
            </a:r>
          </a:p>
        </p:txBody>
      </p:sp>
      <p:sp>
        <p:nvSpPr>
          <p:cNvPr id="49" name="팝업 캡션"/>
          <p:cNvSpPr/>
          <p:nvPr/>
        </p:nvSpPr>
        <p:spPr>
          <a:xfrm>
            <a:off x="4699635" y="971168"/>
            <a:ext cx="2733675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4 — 사진 선택 시 전체보기</a:t>
            </a:r>
          </a:p>
        </p:txBody>
      </p:sp>
      <p:sp>
        <p:nvSpPr>
          <p:cNvPr id="50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1005839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1" name="숫자배지 2"/>
          <p:cNvSpPr/>
          <p:nvPr/>
        </p:nvSpPr>
        <p:spPr>
          <a:xfrm>
            <a:off x="1005839" y="33467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2" name="숫자배지 3"/>
          <p:cNvSpPr/>
          <p:nvPr/>
        </p:nvSpPr>
        <p:spPr>
          <a:xfrm>
            <a:off x="1005839" y="378561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3" name="숫자배지 4"/>
          <p:cNvSpPr/>
          <p:nvPr/>
        </p:nvSpPr>
        <p:spPr>
          <a:xfrm>
            <a:off x="1005839" y="4169663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4" name="숫자배지 5"/>
          <p:cNvSpPr/>
          <p:nvPr/>
        </p:nvSpPr>
        <p:spPr>
          <a:xfrm>
            <a:off x="1005839" y="508406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5" name="숫자배지 4"/>
          <p:cNvSpPr/>
          <p:nvPr/>
        </p:nvSpPr>
        <p:spPr>
          <a:xfrm>
            <a:off x="4471035" y="128206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① 도착지 검색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64190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입력 블록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좌측 ⇅ · 가운데 입력 필드 · 우측 [✕]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 placeholder 「도착지를 입력하세요」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2-1 장소 검색으로 이동 (도착지 지정)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앱바 3행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1행 검색창 · 2행 바로가기 2개 · 3행 바로가기 칩 3개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 글자라도 입력하면 앱바는 1행으로 축소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칩 3개만 빠져 2행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헤더 없이 앱바 바로 아래 리스트로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= 아이콘 ＋ 검색어 ＋ 날짜(mm.dd) ＋ [✕]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칩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즉시 한글 키패드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상단 구분선"/>
          <p:cNvSpPr/>
          <p:nvPr/>
        </p:nvSpPr>
        <p:spPr>
          <a:xfrm>
            <a:off x="1399032" y="22539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안내"/>
          <p:cNvSpPr txBox="1"/>
          <p:nvPr/>
        </p:nvSpPr>
        <p:spPr>
          <a:xfrm>
            <a:off x="1755648" y="271119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도착지를 입력하면 경로를 탐색</a:t>
            </a:r>
          </a:p>
        </p:txBody>
      </p:sp>
      <p:sp>
        <p:nvSpPr>
          <p:cNvPr id="19" name="검색창"/>
          <p:cNvSpPr/>
          <p:nvPr/>
        </p:nvSpPr>
        <p:spPr>
          <a:xfrm>
            <a:off x="489204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503834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8A94A3"/>
                </a:solidFill>
                <a:latin typeface="Pretendard"/>
              </a:rPr>
              <a:t>어디로 갈까요?</a:t>
            </a:r>
          </a:p>
        </p:txBody>
      </p:sp>
      <p:sp>
        <p:nvSpPr>
          <p:cNvPr id="21" name="바로가기"/>
          <p:cNvSpPr/>
          <p:nvPr/>
        </p:nvSpPr>
        <p:spPr>
          <a:xfrm>
            <a:off x="4700016" y="1700784"/>
            <a:ext cx="1170432" cy="274320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바로가기 라벨"/>
          <p:cNvSpPr txBox="1"/>
          <p:nvPr/>
        </p:nvSpPr>
        <p:spPr>
          <a:xfrm>
            <a:off x="4764024" y="1760219"/>
            <a:ext cx="10607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📍 현위치로 설정</a:t>
            </a:r>
          </a:p>
        </p:txBody>
      </p:sp>
      <p:sp>
        <p:nvSpPr>
          <p:cNvPr id="23" name="바로가기"/>
          <p:cNvSpPr/>
          <p:nvPr/>
        </p:nvSpPr>
        <p:spPr>
          <a:xfrm>
            <a:off x="5943600" y="1700784"/>
            <a:ext cx="1170432" cy="274320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바로가기 라벨"/>
          <p:cNvSpPr txBox="1"/>
          <p:nvPr/>
        </p:nvSpPr>
        <p:spPr>
          <a:xfrm>
            <a:off x="6007608" y="1760219"/>
            <a:ext cx="10607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☆ 즐겨찾기에서 선택</a:t>
            </a:r>
          </a:p>
        </p:txBody>
      </p:sp>
      <p:sp>
        <p:nvSpPr>
          <p:cNvPr id="25" name="바로가기 칩"/>
          <p:cNvSpPr/>
          <p:nvPr/>
        </p:nvSpPr>
        <p:spPr>
          <a:xfrm>
            <a:off x="4700016" y="2066543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바로가기 칩 라벨"/>
          <p:cNvSpPr txBox="1"/>
          <p:nvPr/>
        </p:nvSpPr>
        <p:spPr>
          <a:xfrm>
            <a:off x="4700016" y="2107691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집</a:t>
            </a:r>
          </a:p>
        </p:txBody>
      </p:sp>
      <p:sp>
        <p:nvSpPr>
          <p:cNvPr id="27" name="바로가기 칩"/>
          <p:cNvSpPr/>
          <p:nvPr/>
        </p:nvSpPr>
        <p:spPr>
          <a:xfrm>
            <a:off x="5248655" y="2066543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바로가기 칩 라벨"/>
          <p:cNvSpPr txBox="1"/>
          <p:nvPr/>
        </p:nvSpPr>
        <p:spPr>
          <a:xfrm>
            <a:off x="5248655" y="2107691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회사</a:t>
            </a:r>
          </a:p>
        </p:txBody>
      </p:sp>
      <p:sp>
        <p:nvSpPr>
          <p:cNvPr id="29" name="바로가기 칩"/>
          <p:cNvSpPr/>
          <p:nvPr/>
        </p:nvSpPr>
        <p:spPr>
          <a:xfrm>
            <a:off x="5860541" y="2066543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바로가기 칩 라벨"/>
          <p:cNvSpPr txBox="1"/>
          <p:nvPr/>
        </p:nvSpPr>
        <p:spPr>
          <a:xfrm>
            <a:off x="5860541" y="2107691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9AA4B2"/>
                </a:solidFill>
                <a:latin typeface="Pretendard"/>
              </a:rPr>
              <a:t>추가</a:t>
            </a:r>
          </a:p>
        </p:txBody>
      </p:sp>
      <p:sp>
        <p:nvSpPr>
          <p:cNvPr id="31" name="앱바 구분선"/>
          <p:cNvSpPr/>
          <p:nvPr/>
        </p:nvSpPr>
        <p:spPr>
          <a:xfrm>
            <a:off x="4553712" y="238658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최근 검색 아이콘"/>
          <p:cNvSpPr txBox="1"/>
          <p:nvPr/>
        </p:nvSpPr>
        <p:spPr>
          <a:xfrm>
            <a:off x="4727448" y="2496312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33" name="최근 검색어"/>
          <p:cNvSpPr txBox="1"/>
          <p:nvPr/>
        </p:nvSpPr>
        <p:spPr>
          <a:xfrm>
            <a:off x="4946904" y="2496312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34" name="검색 날짜"/>
          <p:cNvSpPr txBox="1"/>
          <p:nvPr/>
        </p:nvSpPr>
        <p:spPr>
          <a:xfrm>
            <a:off x="6446520" y="2496312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35" name="검색 삭제"/>
          <p:cNvSpPr txBox="1"/>
          <p:nvPr/>
        </p:nvSpPr>
        <p:spPr>
          <a:xfrm>
            <a:off x="6940296" y="2496312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6" name="최근 검색 아이콘"/>
          <p:cNvSpPr txBox="1"/>
          <p:nvPr/>
        </p:nvSpPr>
        <p:spPr>
          <a:xfrm>
            <a:off x="4727448" y="278892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7" name="최근 검색어"/>
          <p:cNvSpPr txBox="1"/>
          <p:nvPr/>
        </p:nvSpPr>
        <p:spPr>
          <a:xfrm>
            <a:off x="4946904" y="2788920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8" name="검색 날짜"/>
          <p:cNvSpPr txBox="1"/>
          <p:nvPr/>
        </p:nvSpPr>
        <p:spPr>
          <a:xfrm>
            <a:off x="6446520" y="2788920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39" name="검색 삭제"/>
          <p:cNvSpPr txBox="1"/>
          <p:nvPr/>
        </p:nvSpPr>
        <p:spPr>
          <a:xfrm>
            <a:off x="6940296" y="278892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40" name="최근 검색 아이콘"/>
          <p:cNvSpPr txBox="1"/>
          <p:nvPr/>
        </p:nvSpPr>
        <p:spPr>
          <a:xfrm>
            <a:off x="4727448" y="3081528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41" name="최근 검색어"/>
          <p:cNvSpPr txBox="1"/>
          <p:nvPr/>
        </p:nvSpPr>
        <p:spPr>
          <a:xfrm>
            <a:off x="4946904" y="3081528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중구 태평로1가</a:t>
            </a:r>
          </a:p>
        </p:txBody>
      </p:sp>
      <p:sp>
        <p:nvSpPr>
          <p:cNvPr id="42" name="검색 날짜"/>
          <p:cNvSpPr txBox="1"/>
          <p:nvPr/>
        </p:nvSpPr>
        <p:spPr>
          <a:xfrm>
            <a:off x="6446520" y="3081528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09.10</a:t>
            </a:r>
          </a:p>
        </p:txBody>
      </p:sp>
      <p:sp>
        <p:nvSpPr>
          <p:cNvPr id="43" name="검색 삭제"/>
          <p:cNvSpPr txBox="1"/>
          <p:nvPr/>
        </p:nvSpPr>
        <p:spPr>
          <a:xfrm>
            <a:off x="6940296" y="3081528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44" name="키패드"/>
          <p:cNvSpPr/>
          <p:nvPr/>
        </p:nvSpPr>
        <p:spPr>
          <a:xfrm>
            <a:off x="4553712" y="5230368"/>
            <a:ext cx="2715768" cy="1261872"/>
          </a:xfrm>
          <a:prstGeom prst="roundRect">
            <a:avLst>
              <a:gd name="adj" fmla="val 13587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키패드 안내"/>
          <p:cNvSpPr txBox="1"/>
          <p:nvPr/>
        </p:nvSpPr>
        <p:spPr>
          <a:xfrm>
            <a:off x="5093207" y="5769864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진입 즉시 한글 키패드</a:t>
            </a:r>
          </a:p>
        </p:txBody>
      </p:sp>
      <p:cxnSp>
        <p:nvCxnSpPr>
          <p:cNvPr id="46" name="뒤로가기"/>
          <p:cNvCxnSpPr/>
          <p:nvPr/>
        </p:nvCxnSpPr>
        <p:spPr>
          <a:xfrm flipH="1">
            <a:off x="470001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470001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입력 카드"/>
          <p:cNvSpPr/>
          <p:nvPr/>
        </p:nvSpPr>
        <p:spPr>
          <a:xfrm>
            <a:off x="1700784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출발지 필드"/>
          <p:cNvSpPr txBox="1"/>
          <p:nvPr/>
        </p:nvSpPr>
        <p:spPr>
          <a:xfrm>
            <a:off x="2084831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0" name="초기화 면"/>
          <p:cNvSpPr/>
          <p:nvPr/>
        </p:nvSpPr>
        <p:spPr>
          <a:xfrm>
            <a:off x="3776472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초기화"/>
          <p:cNvSpPr txBox="1"/>
          <p:nvPr/>
        </p:nvSpPr>
        <p:spPr>
          <a:xfrm>
            <a:off x="3776472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52" name="순서 바꾸기 면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구분선"/>
          <p:cNvSpPr/>
          <p:nvPr/>
        </p:nvSpPr>
        <p:spPr>
          <a:xfrm>
            <a:off x="2084831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경유지 추가 면"/>
          <p:cNvSpPr/>
          <p:nvPr/>
        </p:nvSpPr>
        <p:spPr>
          <a:xfrm>
            <a:off x="332841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경유지 추가"/>
          <p:cNvSpPr txBox="1"/>
          <p:nvPr/>
        </p:nvSpPr>
        <p:spPr>
          <a:xfrm>
            <a:off x="332841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6" name="도착지 필드"/>
          <p:cNvSpPr txBox="1"/>
          <p:nvPr/>
        </p:nvSpPr>
        <p:spPr>
          <a:xfrm>
            <a:off x="2084831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sp>
        <p:nvSpPr>
          <p:cNvPr id="57" name="순서 바꾸기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순서 바꾸기"/>
          <p:cNvSpPr txBox="1"/>
          <p:nvPr/>
        </p:nvSpPr>
        <p:spPr>
          <a:xfrm>
            <a:off x="1435608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59" name="지점 링"/>
          <p:cNvSpPr/>
          <p:nvPr/>
        </p:nvSpPr>
        <p:spPr>
          <a:xfrm>
            <a:off x="1858975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지점 링"/>
          <p:cNvSpPr/>
          <p:nvPr/>
        </p:nvSpPr>
        <p:spPr>
          <a:xfrm>
            <a:off x="1858975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숫자배지 1"/>
          <p:cNvSpPr/>
          <p:nvPr/>
        </p:nvSpPr>
        <p:spPr>
          <a:xfrm>
            <a:off x="1161288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4315968" y="13258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4315968" y="26060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② 도착지 선택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1482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51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· 결과 전량을 핀으로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건수 「검색 결과 N건」 — 정렬 드롭다운 왼쪽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정렬 드롭다운 「정확도순」/「거리순」 · 필터 칩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행은 POI명 / 거리 · 업종 · 방면 / 주소 ＋ [∨]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자체가 장소 상세 진입 · [&gt;]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[도착지로 설정하기]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역할 2버튼 대신 도착지 지정 1버튼만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도착지 설정과 동시에 경로 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지도"/>
          <p:cNvSpPr/>
          <p:nvPr/>
        </p:nvSpPr>
        <p:spPr>
          <a:xfrm>
            <a:off x="139903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 안내"/>
          <p:cNvSpPr txBox="1"/>
          <p:nvPr/>
        </p:nvSpPr>
        <p:spPr>
          <a:xfrm>
            <a:off x="1956816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9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75887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75887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3" name="지도 컨트롤"/>
          <p:cNvSpPr/>
          <p:nvPr/>
        </p:nvSpPr>
        <p:spPr>
          <a:xfrm>
            <a:off x="3675887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지도 컨트롤 라벨"/>
          <p:cNvSpPr txBox="1"/>
          <p:nvPr/>
        </p:nvSpPr>
        <p:spPr>
          <a:xfrm>
            <a:off x="3675887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바텀시트"/>
          <p:cNvSpPr/>
          <p:nvPr/>
        </p:nvSpPr>
        <p:spPr>
          <a:xfrm>
            <a:off x="1399032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시트 손잡이"/>
          <p:cNvSpPr/>
          <p:nvPr/>
        </p:nvSpPr>
        <p:spPr>
          <a:xfrm>
            <a:off x="2578608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정렬 드롭다운"/>
          <p:cNvSpPr/>
          <p:nvPr/>
        </p:nvSpPr>
        <p:spPr>
          <a:xfrm>
            <a:off x="3108960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 라벨"/>
          <p:cNvSpPr txBox="1"/>
          <p:nvPr/>
        </p:nvSpPr>
        <p:spPr>
          <a:xfrm>
            <a:off x="3108960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29" name="행 제목"/>
          <p:cNvSpPr txBox="1"/>
          <p:nvPr/>
        </p:nvSpPr>
        <p:spPr>
          <a:xfrm>
            <a:off x="1572768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행 메타"/>
          <p:cNvSpPr txBox="1"/>
          <p:nvPr/>
        </p:nvSpPr>
        <p:spPr>
          <a:xfrm>
            <a:off x="1572768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820m · 전통시장</a:t>
            </a:r>
          </a:p>
        </p:txBody>
      </p:sp>
      <p:sp>
        <p:nvSpPr>
          <p:cNvPr id="31" name="행 주소"/>
          <p:cNvSpPr txBox="1"/>
          <p:nvPr/>
        </p:nvSpPr>
        <p:spPr>
          <a:xfrm>
            <a:off x="1572768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성수동1가 13</a:t>
            </a:r>
          </a:p>
        </p:txBody>
      </p:sp>
      <p:sp>
        <p:nvSpPr>
          <p:cNvPr id="32" name="주소 펼침"/>
          <p:cNvSpPr txBox="1"/>
          <p:nvPr/>
        </p:nvSpPr>
        <p:spPr>
          <a:xfrm>
            <a:off x="2587371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3" name="즐겨찾기 토글"/>
          <p:cNvSpPr txBox="1"/>
          <p:nvPr/>
        </p:nvSpPr>
        <p:spPr>
          <a:xfrm>
            <a:off x="1572768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4" name="모드 1버튼"/>
          <p:cNvSpPr/>
          <p:nvPr/>
        </p:nvSpPr>
        <p:spPr>
          <a:xfrm>
            <a:off x="1865376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모드 1버튼 라벨"/>
          <p:cNvSpPr txBox="1"/>
          <p:nvPr/>
        </p:nvSpPr>
        <p:spPr>
          <a:xfrm>
            <a:off x="1865376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36" name="행 구분선"/>
          <p:cNvSpPr/>
          <p:nvPr/>
        </p:nvSpPr>
        <p:spPr>
          <a:xfrm>
            <a:off x="1399032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1572768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뚝섬역</a:t>
            </a:r>
          </a:p>
        </p:txBody>
      </p:sp>
      <p:sp>
        <p:nvSpPr>
          <p:cNvPr id="38" name="행 메타"/>
          <p:cNvSpPr txBox="1"/>
          <p:nvPr/>
        </p:nvSpPr>
        <p:spPr>
          <a:xfrm>
            <a:off x="1572768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640m · 지하철역</a:t>
            </a:r>
          </a:p>
        </p:txBody>
      </p:sp>
      <p:sp>
        <p:nvSpPr>
          <p:cNvPr id="39" name="행 주소"/>
          <p:cNvSpPr txBox="1"/>
          <p:nvPr/>
        </p:nvSpPr>
        <p:spPr>
          <a:xfrm>
            <a:off x="1572768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성수동2가</a:t>
            </a:r>
          </a:p>
        </p:txBody>
      </p:sp>
      <p:sp>
        <p:nvSpPr>
          <p:cNvPr id="40" name="주소 펼침"/>
          <p:cNvSpPr txBox="1"/>
          <p:nvPr/>
        </p:nvSpPr>
        <p:spPr>
          <a:xfrm>
            <a:off x="2446972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41" name="즐겨찾기 토글"/>
          <p:cNvSpPr txBox="1"/>
          <p:nvPr/>
        </p:nvSpPr>
        <p:spPr>
          <a:xfrm>
            <a:off x="1572768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2" name="모드 1버튼"/>
          <p:cNvSpPr/>
          <p:nvPr/>
        </p:nvSpPr>
        <p:spPr>
          <a:xfrm>
            <a:off x="1865376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모드 1버튼 라벨"/>
          <p:cNvSpPr txBox="1"/>
          <p:nvPr/>
        </p:nvSpPr>
        <p:spPr>
          <a:xfrm>
            <a:off x="1865376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44" name="행 구분선"/>
          <p:cNvSpPr/>
          <p:nvPr/>
        </p:nvSpPr>
        <p:spPr>
          <a:xfrm>
            <a:off x="1399032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지도"/>
          <p:cNvSpPr/>
          <p:nvPr/>
        </p:nvSpPr>
        <p:spPr>
          <a:xfrm>
            <a:off x="455371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안내"/>
          <p:cNvSpPr txBox="1"/>
          <p:nvPr/>
        </p:nvSpPr>
        <p:spPr>
          <a:xfrm>
            <a:off x="5184648" y="1938528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47" name="뒤로가기 플로팅"/>
          <p:cNvSpPr/>
          <p:nvPr/>
        </p:nvSpPr>
        <p:spPr>
          <a:xfrm>
            <a:off x="4681728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바텀시트"/>
          <p:cNvSpPr/>
          <p:nvPr/>
        </p:nvSpPr>
        <p:spPr>
          <a:xfrm>
            <a:off x="4553712" y="3017520"/>
            <a:ext cx="2715768" cy="3319272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시트 손잡이"/>
          <p:cNvSpPr/>
          <p:nvPr/>
        </p:nvSpPr>
        <p:spPr>
          <a:xfrm>
            <a:off x="5733288" y="3108960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장소명"/>
          <p:cNvSpPr txBox="1"/>
          <p:nvPr/>
        </p:nvSpPr>
        <p:spPr>
          <a:xfrm>
            <a:off x="4727448" y="3200400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1" name="업종 · 거리"/>
          <p:cNvSpPr txBox="1"/>
          <p:nvPr/>
        </p:nvSpPr>
        <p:spPr>
          <a:xfrm>
            <a:off x="4727448" y="345643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전통시장 · 820m</a:t>
            </a:r>
          </a:p>
        </p:txBody>
      </p:sp>
      <p:sp>
        <p:nvSpPr>
          <p:cNvPr id="52" name="지번 주소"/>
          <p:cNvSpPr txBox="1"/>
          <p:nvPr/>
        </p:nvSpPr>
        <p:spPr>
          <a:xfrm>
            <a:off x="4727448" y="36393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성동구 성수동1가 13</a:t>
            </a:r>
          </a:p>
        </p:txBody>
      </p:sp>
      <p:sp>
        <p:nvSpPr>
          <p:cNvPr id="53" name="도로명 주소"/>
          <p:cNvSpPr txBox="1"/>
          <p:nvPr/>
        </p:nvSpPr>
        <p:spPr>
          <a:xfrm>
            <a:off x="4727448" y="38039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(성동구 뚝섬로1길 5)</a:t>
            </a:r>
          </a:p>
        </p:txBody>
      </p:sp>
      <p:sp>
        <p:nvSpPr>
          <p:cNvPr id="54" name="장소 이미지"/>
          <p:cNvSpPr/>
          <p:nvPr/>
        </p:nvSpPr>
        <p:spPr>
          <a:xfrm>
            <a:off x="4727448" y="4023360"/>
            <a:ext cx="1554480" cy="749808"/>
          </a:xfrm>
          <a:prstGeom prst="roundRect">
            <a:avLst>
              <a:gd name="adj" fmla="val 2286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장수 표시"/>
          <p:cNvSpPr txBox="1"/>
          <p:nvPr/>
        </p:nvSpPr>
        <p:spPr>
          <a:xfrm>
            <a:off x="5861304" y="4590288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56" name="사진 이동"/>
          <p:cNvSpPr txBox="1"/>
          <p:nvPr/>
        </p:nvSpPr>
        <p:spPr>
          <a:xfrm>
            <a:off x="4764024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57" name="사진 이동"/>
          <p:cNvSpPr txBox="1"/>
          <p:nvPr/>
        </p:nvSpPr>
        <p:spPr>
          <a:xfrm>
            <a:off x="6025896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58" name="접근성 항목"/>
          <p:cNvSpPr txBox="1"/>
          <p:nvPr/>
        </p:nvSpPr>
        <p:spPr>
          <a:xfrm>
            <a:off x="4727448" y="490118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59" name="접근성 값"/>
          <p:cNvSpPr txBox="1"/>
          <p:nvPr/>
        </p:nvSpPr>
        <p:spPr>
          <a:xfrm>
            <a:off x="6190488" y="4901184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0" name="접근성 항목"/>
          <p:cNvSpPr txBox="1"/>
          <p:nvPr/>
        </p:nvSpPr>
        <p:spPr>
          <a:xfrm>
            <a:off x="4727448" y="5120640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계단 유무</a:t>
            </a:r>
          </a:p>
        </p:txBody>
      </p:sp>
      <p:sp>
        <p:nvSpPr>
          <p:cNvPr id="61" name="접근성 값"/>
          <p:cNvSpPr txBox="1"/>
          <p:nvPr/>
        </p:nvSpPr>
        <p:spPr>
          <a:xfrm>
            <a:off x="6190488" y="5120640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62" name="접근성 항목"/>
          <p:cNvSpPr txBox="1"/>
          <p:nvPr/>
        </p:nvSpPr>
        <p:spPr>
          <a:xfrm>
            <a:off x="4727448" y="534009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63" name="접근성 값"/>
          <p:cNvSpPr txBox="1"/>
          <p:nvPr/>
        </p:nvSpPr>
        <p:spPr>
          <a:xfrm>
            <a:off x="6190488" y="534009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4" name="즐겨찾기 토글"/>
          <p:cNvSpPr txBox="1"/>
          <p:nvPr/>
        </p:nvSpPr>
        <p:spPr>
          <a:xfrm>
            <a:off x="4727448" y="5779008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65" name="모드 1버튼"/>
          <p:cNvSpPr/>
          <p:nvPr/>
        </p:nvSpPr>
        <p:spPr>
          <a:xfrm>
            <a:off x="5020056" y="5742432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모드 1버튼 라벨"/>
          <p:cNvSpPr txBox="1"/>
          <p:nvPr/>
        </p:nvSpPr>
        <p:spPr>
          <a:xfrm>
            <a:off x="5020056" y="5742432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67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2-1 ③ 검색 결과 — 도착지 검색</a:t>
            </a:r>
          </a:p>
        </p:txBody>
      </p:sp>
      <p:sp>
        <p:nvSpPr>
          <p:cNvPr id="68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2-2 장소 상세 — 결과 행 선택</a:t>
            </a:r>
          </a:p>
        </p:txBody>
      </p:sp>
      <p:sp>
        <p:nvSpPr>
          <p:cNvPr id="69" name="뒤로가기 플로팅"/>
          <p:cNvSpPr/>
          <p:nvPr/>
        </p:nvSpPr>
        <p:spPr>
          <a:xfrm>
            <a:off x="143713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>
            <a:off x="4789932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4789932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결과 건수"/>
          <p:cNvSpPr txBox="1"/>
          <p:nvPr/>
        </p:nvSpPr>
        <p:spPr>
          <a:xfrm>
            <a:off x="1572768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161288" y="33832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1-1"/>
          <p:cNvSpPr/>
          <p:nvPr/>
        </p:nvSpPr>
        <p:spPr>
          <a:xfrm>
            <a:off x="1161288" y="39684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77" name="숫자배지 2"/>
          <p:cNvSpPr/>
          <p:nvPr/>
        </p:nvSpPr>
        <p:spPr>
          <a:xfrm>
            <a:off x="4315968" y="32186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숫자배지 2-1"/>
          <p:cNvSpPr/>
          <p:nvPr/>
        </p:nvSpPr>
        <p:spPr>
          <a:xfrm>
            <a:off x="4315968" y="576072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② 도착지 선택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07512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· 선택한 장소만 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지도 좌상단 원형 플로팅 · 탑바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/ 업종 · 거리 / 지번 ＋ (도로명) / 사진 / 접근성 3행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미조사 항목도 그대로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상세 하단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결과 행 하단과 같은 1버튼 — [도착지로 설정하기]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상세를 확인한 뒤에도 지정 가능 · 동작은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토글은 결과 행의 ☆와 같은 동작 · 슬롯 지정에서는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지도"/>
          <p:cNvSpPr/>
          <p:nvPr/>
        </p:nvSpPr>
        <p:spPr>
          <a:xfrm>
            <a:off x="139903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 안내"/>
          <p:cNvSpPr txBox="1"/>
          <p:nvPr/>
        </p:nvSpPr>
        <p:spPr>
          <a:xfrm>
            <a:off x="1956816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9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75887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75887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3" name="지도 컨트롤"/>
          <p:cNvSpPr/>
          <p:nvPr/>
        </p:nvSpPr>
        <p:spPr>
          <a:xfrm>
            <a:off x="3675887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지도 컨트롤 라벨"/>
          <p:cNvSpPr txBox="1"/>
          <p:nvPr/>
        </p:nvSpPr>
        <p:spPr>
          <a:xfrm>
            <a:off x="3675887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바텀시트"/>
          <p:cNvSpPr/>
          <p:nvPr/>
        </p:nvSpPr>
        <p:spPr>
          <a:xfrm>
            <a:off x="1399032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시트 손잡이"/>
          <p:cNvSpPr/>
          <p:nvPr/>
        </p:nvSpPr>
        <p:spPr>
          <a:xfrm>
            <a:off x="2578608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정렬 드롭다운"/>
          <p:cNvSpPr/>
          <p:nvPr/>
        </p:nvSpPr>
        <p:spPr>
          <a:xfrm>
            <a:off x="3108960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 라벨"/>
          <p:cNvSpPr txBox="1"/>
          <p:nvPr/>
        </p:nvSpPr>
        <p:spPr>
          <a:xfrm>
            <a:off x="3108960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29" name="행 제목"/>
          <p:cNvSpPr txBox="1"/>
          <p:nvPr/>
        </p:nvSpPr>
        <p:spPr>
          <a:xfrm>
            <a:off x="1572768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행 메타"/>
          <p:cNvSpPr txBox="1"/>
          <p:nvPr/>
        </p:nvSpPr>
        <p:spPr>
          <a:xfrm>
            <a:off x="1572768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820m · 전통시장</a:t>
            </a:r>
          </a:p>
        </p:txBody>
      </p:sp>
      <p:sp>
        <p:nvSpPr>
          <p:cNvPr id="31" name="행 주소"/>
          <p:cNvSpPr txBox="1"/>
          <p:nvPr/>
        </p:nvSpPr>
        <p:spPr>
          <a:xfrm>
            <a:off x="1572768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성수동1가 13</a:t>
            </a:r>
          </a:p>
        </p:txBody>
      </p:sp>
      <p:sp>
        <p:nvSpPr>
          <p:cNvPr id="32" name="주소 펼침"/>
          <p:cNvSpPr txBox="1"/>
          <p:nvPr/>
        </p:nvSpPr>
        <p:spPr>
          <a:xfrm>
            <a:off x="2587371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3" name="즐겨찾기 토글"/>
          <p:cNvSpPr txBox="1"/>
          <p:nvPr/>
        </p:nvSpPr>
        <p:spPr>
          <a:xfrm>
            <a:off x="1572768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4" name="모드 1버튼"/>
          <p:cNvSpPr/>
          <p:nvPr/>
        </p:nvSpPr>
        <p:spPr>
          <a:xfrm>
            <a:off x="1865376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모드 1버튼 라벨"/>
          <p:cNvSpPr txBox="1"/>
          <p:nvPr/>
        </p:nvSpPr>
        <p:spPr>
          <a:xfrm>
            <a:off x="1865376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36" name="행 구분선"/>
          <p:cNvSpPr/>
          <p:nvPr/>
        </p:nvSpPr>
        <p:spPr>
          <a:xfrm>
            <a:off x="1399032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1572768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뚝섬역</a:t>
            </a:r>
          </a:p>
        </p:txBody>
      </p:sp>
      <p:sp>
        <p:nvSpPr>
          <p:cNvPr id="38" name="행 메타"/>
          <p:cNvSpPr txBox="1"/>
          <p:nvPr/>
        </p:nvSpPr>
        <p:spPr>
          <a:xfrm>
            <a:off x="1572768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640m · 지하철역</a:t>
            </a:r>
          </a:p>
        </p:txBody>
      </p:sp>
      <p:sp>
        <p:nvSpPr>
          <p:cNvPr id="39" name="행 주소"/>
          <p:cNvSpPr txBox="1"/>
          <p:nvPr/>
        </p:nvSpPr>
        <p:spPr>
          <a:xfrm>
            <a:off x="1572768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성수동2가</a:t>
            </a:r>
          </a:p>
        </p:txBody>
      </p:sp>
      <p:sp>
        <p:nvSpPr>
          <p:cNvPr id="40" name="주소 펼침"/>
          <p:cNvSpPr txBox="1"/>
          <p:nvPr/>
        </p:nvSpPr>
        <p:spPr>
          <a:xfrm>
            <a:off x="2446972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41" name="즐겨찾기 토글"/>
          <p:cNvSpPr txBox="1"/>
          <p:nvPr/>
        </p:nvSpPr>
        <p:spPr>
          <a:xfrm>
            <a:off x="1572768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2" name="모드 1버튼"/>
          <p:cNvSpPr/>
          <p:nvPr/>
        </p:nvSpPr>
        <p:spPr>
          <a:xfrm>
            <a:off x="1865376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모드 1버튼 라벨"/>
          <p:cNvSpPr txBox="1"/>
          <p:nvPr/>
        </p:nvSpPr>
        <p:spPr>
          <a:xfrm>
            <a:off x="1865376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44" name="행 구분선"/>
          <p:cNvSpPr/>
          <p:nvPr/>
        </p:nvSpPr>
        <p:spPr>
          <a:xfrm>
            <a:off x="1399032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지도"/>
          <p:cNvSpPr/>
          <p:nvPr/>
        </p:nvSpPr>
        <p:spPr>
          <a:xfrm>
            <a:off x="455371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안내"/>
          <p:cNvSpPr txBox="1"/>
          <p:nvPr/>
        </p:nvSpPr>
        <p:spPr>
          <a:xfrm>
            <a:off x="5184648" y="1938528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47" name="뒤로가기 플로팅"/>
          <p:cNvSpPr/>
          <p:nvPr/>
        </p:nvSpPr>
        <p:spPr>
          <a:xfrm>
            <a:off x="4681728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바텀시트"/>
          <p:cNvSpPr/>
          <p:nvPr/>
        </p:nvSpPr>
        <p:spPr>
          <a:xfrm>
            <a:off x="4553712" y="3017520"/>
            <a:ext cx="2715768" cy="3319272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시트 손잡이"/>
          <p:cNvSpPr/>
          <p:nvPr/>
        </p:nvSpPr>
        <p:spPr>
          <a:xfrm>
            <a:off x="5733288" y="3108960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장소명"/>
          <p:cNvSpPr txBox="1"/>
          <p:nvPr/>
        </p:nvSpPr>
        <p:spPr>
          <a:xfrm>
            <a:off x="4727448" y="3200400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1" name="업종 · 거리"/>
          <p:cNvSpPr txBox="1"/>
          <p:nvPr/>
        </p:nvSpPr>
        <p:spPr>
          <a:xfrm>
            <a:off x="4727448" y="345643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전통시장 · 820m</a:t>
            </a:r>
          </a:p>
        </p:txBody>
      </p:sp>
      <p:sp>
        <p:nvSpPr>
          <p:cNvPr id="52" name="지번 주소"/>
          <p:cNvSpPr txBox="1"/>
          <p:nvPr/>
        </p:nvSpPr>
        <p:spPr>
          <a:xfrm>
            <a:off x="4727448" y="36393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성동구 성수동1가 13</a:t>
            </a:r>
          </a:p>
        </p:txBody>
      </p:sp>
      <p:sp>
        <p:nvSpPr>
          <p:cNvPr id="53" name="도로명 주소"/>
          <p:cNvSpPr txBox="1"/>
          <p:nvPr/>
        </p:nvSpPr>
        <p:spPr>
          <a:xfrm>
            <a:off x="4727448" y="38039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(성동구 뚝섬로1길 5)</a:t>
            </a:r>
          </a:p>
        </p:txBody>
      </p:sp>
      <p:sp>
        <p:nvSpPr>
          <p:cNvPr id="54" name="장소 이미지"/>
          <p:cNvSpPr/>
          <p:nvPr/>
        </p:nvSpPr>
        <p:spPr>
          <a:xfrm>
            <a:off x="4727448" y="4023360"/>
            <a:ext cx="1554480" cy="749808"/>
          </a:xfrm>
          <a:prstGeom prst="roundRect">
            <a:avLst>
              <a:gd name="adj" fmla="val 2286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장수 표시"/>
          <p:cNvSpPr txBox="1"/>
          <p:nvPr/>
        </p:nvSpPr>
        <p:spPr>
          <a:xfrm>
            <a:off x="5861304" y="4590288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56" name="사진 이동"/>
          <p:cNvSpPr txBox="1"/>
          <p:nvPr/>
        </p:nvSpPr>
        <p:spPr>
          <a:xfrm>
            <a:off x="4764024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57" name="사진 이동"/>
          <p:cNvSpPr txBox="1"/>
          <p:nvPr/>
        </p:nvSpPr>
        <p:spPr>
          <a:xfrm>
            <a:off x="6025896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58" name="접근성 항목"/>
          <p:cNvSpPr txBox="1"/>
          <p:nvPr/>
        </p:nvSpPr>
        <p:spPr>
          <a:xfrm>
            <a:off x="4727448" y="490118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59" name="접근성 값"/>
          <p:cNvSpPr txBox="1"/>
          <p:nvPr/>
        </p:nvSpPr>
        <p:spPr>
          <a:xfrm>
            <a:off x="6190488" y="4901184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0" name="접근성 항목"/>
          <p:cNvSpPr txBox="1"/>
          <p:nvPr/>
        </p:nvSpPr>
        <p:spPr>
          <a:xfrm>
            <a:off x="4727448" y="5120640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계단 유무</a:t>
            </a:r>
          </a:p>
        </p:txBody>
      </p:sp>
      <p:sp>
        <p:nvSpPr>
          <p:cNvPr id="61" name="접근성 값"/>
          <p:cNvSpPr txBox="1"/>
          <p:nvPr/>
        </p:nvSpPr>
        <p:spPr>
          <a:xfrm>
            <a:off x="6190488" y="5120640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62" name="접근성 항목"/>
          <p:cNvSpPr txBox="1"/>
          <p:nvPr/>
        </p:nvSpPr>
        <p:spPr>
          <a:xfrm>
            <a:off x="4727448" y="534009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63" name="접근성 값"/>
          <p:cNvSpPr txBox="1"/>
          <p:nvPr/>
        </p:nvSpPr>
        <p:spPr>
          <a:xfrm>
            <a:off x="6190488" y="534009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4" name="즐겨찾기 토글"/>
          <p:cNvSpPr txBox="1"/>
          <p:nvPr/>
        </p:nvSpPr>
        <p:spPr>
          <a:xfrm>
            <a:off x="4727448" y="5779008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65" name="모드 1버튼"/>
          <p:cNvSpPr/>
          <p:nvPr/>
        </p:nvSpPr>
        <p:spPr>
          <a:xfrm>
            <a:off x="5020056" y="5742432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모드 1버튼 라벨"/>
          <p:cNvSpPr txBox="1"/>
          <p:nvPr/>
        </p:nvSpPr>
        <p:spPr>
          <a:xfrm>
            <a:off x="5020056" y="5742432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67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2-1 ③ 검색 결과 — 도착지 검색</a:t>
            </a:r>
          </a:p>
        </p:txBody>
      </p:sp>
      <p:sp>
        <p:nvSpPr>
          <p:cNvPr id="68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2-2 장소 상세 — 결과 행 선택</a:t>
            </a:r>
          </a:p>
        </p:txBody>
      </p:sp>
      <p:sp>
        <p:nvSpPr>
          <p:cNvPr id="69" name="뒤로가기 플로팅"/>
          <p:cNvSpPr/>
          <p:nvPr/>
        </p:nvSpPr>
        <p:spPr>
          <a:xfrm>
            <a:off x="143713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>
            <a:off x="4789932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4789932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결과 건수"/>
          <p:cNvSpPr txBox="1"/>
          <p:nvPr/>
        </p:nvSpPr>
        <p:spPr>
          <a:xfrm>
            <a:off x="1572768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161288" y="33832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1-1"/>
          <p:cNvSpPr/>
          <p:nvPr/>
        </p:nvSpPr>
        <p:spPr>
          <a:xfrm>
            <a:off x="1161288" y="39684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77" name="숫자배지 2"/>
          <p:cNvSpPr/>
          <p:nvPr/>
        </p:nvSpPr>
        <p:spPr>
          <a:xfrm>
            <a:off x="4315968" y="32186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숫자배지 2-1"/>
          <p:cNvSpPr/>
          <p:nvPr/>
        </p:nvSpPr>
        <p:spPr>
          <a:xfrm>
            <a:off x="4315968" y="576072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경유지 추가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1482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[＋] 경유지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 필드 사이 · 경유지가 없을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2-9-1 경로 편집으로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경유지는 최대 1개 · 추가 후 [＋] 미노출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출발지 · 도착지가 모두 정해진 뒤에만 등록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편집 —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필드를 눌러야 2-1 장소 검색으로 이동 (경유지 추가)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행 · 상세 하단은 [경유지로 추가하기]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고르면 2-9-1으로 복귀 · [확인]을 눌러야 반영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[취소] — 변경 미반영 · 재탐색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상단 구분선"/>
          <p:cNvSpPr/>
          <p:nvPr/>
        </p:nvSpPr>
        <p:spPr>
          <a:xfrm>
            <a:off x="1399032" y="249174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"/>
          <p:cNvSpPr/>
          <p:nvPr/>
        </p:nvSpPr>
        <p:spPr>
          <a:xfrm>
            <a:off x="4553712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경로 편집 패널"/>
          <p:cNvSpPr/>
          <p:nvPr/>
        </p:nvSpPr>
        <p:spPr>
          <a:xfrm>
            <a:off x="4654296" y="1298448"/>
            <a:ext cx="2523744" cy="1883664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지점 라벨"/>
          <p:cNvSpPr txBox="1"/>
          <p:nvPr/>
        </p:nvSpPr>
        <p:spPr>
          <a:xfrm>
            <a:off x="5038344" y="1481328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1" name="순서 바꾸기 라벨"/>
          <p:cNvSpPr txBox="1"/>
          <p:nvPr/>
        </p:nvSpPr>
        <p:spPr>
          <a:xfrm>
            <a:off x="4700016" y="170535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2" name="구분선"/>
          <p:cNvSpPr/>
          <p:nvPr/>
        </p:nvSpPr>
        <p:spPr>
          <a:xfrm>
            <a:off x="5038344" y="1828800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점 라벨"/>
          <p:cNvSpPr txBox="1"/>
          <p:nvPr/>
        </p:nvSpPr>
        <p:spPr>
          <a:xfrm>
            <a:off x="5038344" y="1993392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5">
                <a:solidFill>
                  <a:srgbClr val="8A94A3"/>
                </a:solidFill>
                <a:latin typeface="Pretendard"/>
              </a:rPr>
              <a:t>경유지를 입력하세요</a:t>
            </a:r>
          </a:p>
        </p:txBody>
      </p:sp>
      <p:sp>
        <p:nvSpPr>
          <p:cNvPr id="24" name="순서 바꾸기"/>
          <p:cNvSpPr/>
          <p:nvPr/>
        </p:nvSpPr>
        <p:spPr>
          <a:xfrm>
            <a:off x="4700016" y="2217420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순서 바꾸기 라벨"/>
          <p:cNvSpPr txBox="1"/>
          <p:nvPr/>
        </p:nvSpPr>
        <p:spPr>
          <a:xfrm>
            <a:off x="4700016" y="221742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6" name="구분선"/>
          <p:cNvSpPr/>
          <p:nvPr/>
        </p:nvSpPr>
        <p:spPr>
          <a:xfrm>
            <a:off x="5038344" y="2340864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지점 라벨"/>
          <p:cNvSpPr txBox="1"/>
          <p:nvPr/>
        </p:nvSpPr>
        <p:spPr>
          <a:xfrm>
            <a:off x="5038344" y="2505456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8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946904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946904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0" name="패널 버튼 확인"/>
          <p:cNvSpPr/>
          <p:nvPr/>
        </p:nvSpPr>
        <p:spPr>
          <a:xfrm>
            <a:off x="5971031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패널 버튼 확인 라벨"/>
          <p:cNvSpPr txBox="1"/>
          <p:nvPr/>
        </p:nvSpPr>
        <p:spPr>
          <a:xfrm>
            <a:off x="5971031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2" name="지도 핀"/>
          <p:cNvSpPr/>
          <p:nvPr/>
        </p:nvSpPr>
        <p:spPr>
          <a:xfrm>
            <a:off x="4946904" y="3831336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지도 핀 라벨"/>
          <p:cNvSpPr txBox="1"/>
          <p:nvPr/>
        </p:nvSpPr>
        <p:spPr>
          <a:xfrm>
            <a:off x="5184648" y="384962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4" name="지도 핀"/>
          <p:cNvSpPr/>
          <p:nvPr/>
        </p:nvSpPr>
        <p:spPr>
          <a:xfrm>
            <a:off x="5715000" y="4818888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라벨"/>
          <p:cNvSpPr txBox="1"/>
          <p:nvPr/>
        </p:nvSpPr>
        <p:spPr>
          <a:xfrm>
            <a:off x="5952744" y="48371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36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 경로 리스트 — 입력 블록</a:t>
            </a:r>
          </a:p>
        </p:txBody>
      </p:sp>
      <p:sp>
        <p:nvSpPr>
          <p:cNvPr id="37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2-9-1 경로 편집 — [＋] 진입</a:t>
            </a:r>
          </a:p>
        </p:txBody>
      </p:sp>
      <p:sp>
        <p:nvSpPr>
          <p:cNvPr id="38" name="지도 핀 표식"/>
          <p:cNvSpPr txBox="1"/>
          <p:nvPr/>
        </p:nvSpPr>
        <p:spPr>
          <a:xfrm>
            <a:off x="4965192" y="3849624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9" name="지도 핀 표식"/>
          <p:cNvSpPr txBox="1"/>
          <p:nvPr/>
        </p:nvSpPr>
        <p:spPr>
          <a:xfrm>
            <a:off x="5733288" y="4837176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0" name="필터"/>
          <p:cNvSpPr/>
          <p:nvPr/>
        </p:nvSpPr>
        <p:spPr>
          <a:xfrm>
            <a:off x="2706624" y="2071116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필터 라벨"/>
          <p:cNvSpPr txBox="1"/>
          <p:nvPr/>
        </p:nvSpPr>
        <p:spPr>
          <a:xfrm>
            <a:off x="2706624" y="2071116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42" name="유형 기준 라벨"/>
          <p:cNvSpPr txBox="1"/>
          <p:nvPr/>
        </p:nvSpPr>
        <p:spPr>
          <a:xfrm>
            <a:off x="1572768" y="2071116"/>
            <a:ext cx="107899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1" spc="-17">
                <a:solidFill>
                  <a:srgbClr val="5B6573"/>
                </a:solidFill>
                <a:latin typeface="Pretendard"/>
              </a:rPr>
              <a:t>저시력 기준</a:t>
            </a:r>
          </a:p>
        </p:txBody>
      </p:sp>
      <p:sp>
        <p:nvSpPr>
          <p:cNvPr id="43" name="정렬"/>
          <p:cNvSpPr/>
          <p:nvPr/>
        </p:nvSpPr>
        <p:spPr>
          <a:xfrm>
            <a:off x="3364992" y="2071116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정렬 라벨"/>
          <p:cNvSpPr txBox="1"/>
          <p:nvPr/>
        </p:nvSpPr>
        <p:spPr>
          <a:xfrm>
            <a:off x="3364992" y="2071116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45" name="소요시간"/>
          <p:cNvSpPr txBox="1"/>
          <p:nvPr/>
        </p:nvSpPr>
        <p:spPr>
          <a:xfrm>
            <a:off x="1572768" y="2564892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46" name="도착 시각 · 요금"/>
          <p:cNvSpPr txBox="1"/>
          <p:nvPr/>
        </p:nvSpPr>
        <p:spPr>
          <a:xfrm>
            <a:off x="1572768" y="2802636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47" name="구간 요약"/>
          <p:cNvSpPr txBox="1"/>
          <p:nvPr/>
        </p:nvSpPr>
        <p:spPr>
          <a:xfrm>
            <a:off x="1719072" y="32415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48" name="구간 요약"/>
          <p:cNvSpPr txBox="1"/>
          <p:nvPr/>
        </p:nvSpPr>
        <p:spPr>
          <a:xfrm>
            <a:off x="1865376" y="340614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49" name="구간 요약"/>
          <p:cNvSpPr txBox="1"/>
          <p:nvPr/>
        </p:nvSpPr>
        <p:spPr>
          <a:xfrm>
            <a:off x="1719072" y="35707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50" name="구간 요약"/>
          <p:cNvSpPr txBox="1"/>
          <p:nvPr/>
        </p:nvSpPr>
        <p:spPr>
          <a:xfrm>
            <a:off x="1719072" y="373532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51" name="구간 요약"/>
          <p:cNvSpPr txBox="1"/>
          <p:nvPr/>
        </p:nvSpPr>
        <p:spPr>
          <a:xfrm>
            <a:off x="1865376" y="3899915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52" name="구간 요약"/>
          <p:cNvSpPr txBox="1"/>
          <p:nvPr/>
        </p:nvSpPr>
        <p:spPr>
          <a:xfrm>
            <a:off x="1719072" y="40645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53" name="안내시작"/>
          <p:cNvSpPr/>
          <p:nvPr/>
        </p:nvSpPr>
        <p:spPr>
          <a:xfrm>
            <a:off x="1572768" y="426567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안내시작 라벨"/>
          <p:cNvSpPr txBox="1"/>
          <p:nvPr/>
        </p:nvSpPr>
        <p:spPr>
          <a:xfrm>
            <a:off x="1572768" y="426567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55" name="행 구분선"/>
          <p:cNvSpPr/>
          <p:nvPr/>
        </p:nvSpPr>
        <p:spPr>
          <a:xfrm>
            <a:off x="1399032" y="469544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소요시간"/>
          <p:cNvSpPr txBox="1"/>
          <p:nvPr/>
        </p:nvSpPr>
        <p:spPr>
          <a:xfrm>
            <a:off x="1572768" y="48234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57" name="도착 시각 · 요금"/>
          <p:cNvSpPr txBox="1"/>
          <p:nvPr/>
        </p:nvSpPr>
        <p:spPr>
          <a:xfrm>
            <a:off x="1572768" y="506120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58" name="전체 경로 바"/>
          <p:cNvSpPr/>
          <p:nvPr/>
        </p:nvSpPr>
        <p:spPr>
          <a:xfrm>
            <a:off x="1572768" y="5262372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전체 경로 바"/>
          <p:cNvSpPr/>
          <p:nvPr/>
        </p:nvSpPr>
        <p:spPr>
          <a:xfrm>
            <a:off x="217627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전체 경로 바"/>
          <p:cNvSpPr/>
          <p:nvPr/>
        </p:nvSpPr>
        <p:spPr>
          <a:xfrm>
            <a:off x="299923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경로 바 라벨"/>
          <p:cNvSpPr txBox="1"/>
          <p:nvPr/>
        </p:nvSpPr>
        <p:spPr>
          <a:xfrm>
            <a:off x="1609344" y="5280660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62" name="경로 바 라벨"/>
          <p:cNvSpPr txBox="1"/>
          <p:nvPr/>
        </p:nvSpPr>
        <p:spPr>
          <a:xfrm>
            <a:off x="221284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63" name="경로 바 라벨"/>
          <p:cNvSpPr txBox="1"/>
          <p:nvPr/>
        </p:nvSpPr>
        <p:spPr>
          <a:xfrm>
            <a:off x="303580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64" name="구간 요약"/>
          <p:cNvSpPr txBox="1"/>
          <p:nvPr/>
        </p:nvSpPr>
        <p:spPr>
          <a:xfrm>
            <a:off x="1719072" y="55001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65" name="구간 요약"/>
          <p:cNvSpPr txBox="1"/>
          <p:nvPr/>
        </p:nvSpPr>
        <p:spPr>
          <a:xfrm>
            <a:off x="1865376" y="56647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66" name="구간 요약"/>
          <p:cNvSpPr txBox="1"/>
          <p:nvPr/>
        </p:nvSpPr>
        <p:spPr>
          <a:xfrm>
            <a:off x="1865376" y="582930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67" name="안내시작"/>
          <p:cNvSpPr/>
          <p:nvPr/>
        </p:nvSpPr>
        <p:spPr>
          <a:xfrm>
            <a:off x="1572768" y="6030468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안내시작 라벨"/>
          <p:cNvSpPr txBox="1"/>
          <p:nvPr/>
        </p:nvSpPr>
        <p:spPr>
          <a:xfrm>
            <a:off x="1572768" y="6030468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69" name="지도 안내"/>
          <p:cNvSpPr txBox="1"/>
          <p:nvPr/>
        </p:nvSpPr>
        <p:spPr>
          <a:xfrm>
            <a:off x="4951476" y="332841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70" name="지점 링"/>
          <p:cNvSpPr/>
          <p:nvPr/>
        </p:nvSpPr>
        <p:spPr>
          <a:xfrm>
            <a:off x="4812030" y="1497330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지점 링"/>
          <p:cNvSpPr/>
          <p:nvPr/>
        </p:nvSpPr>
        <p:spPr>
          <a:xfrm>
            <a:off x="4812030" y="200939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지점 링"/>
          <p:cNvSpPr/>
          <p:nvPr/>
        </p:nvSpPr>
        <p:spPr>
          <a:xfrm>
            <a:off x="4812030" y="2521458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입력 카드"/>
          <p:cNvSpPr/>
          <p:nvPr/>
        </p:nvSpPr>
        <p:spPr>
          <a:xfrm>
            <a:off x="1700784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출발지 필드"/>
          <p:cNvSpPr txBox="1"/>
          <p:nvPr/>
        </p:nvSpPr>
        <p:spPr>
          <a:xfrm>
            <a:off x="2084831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초기화 면"/>
          <p:cNvSpPr/>
          <p:nvPr/>
        </p:nvSpPr>
        <p:spPr>
          <a:xfrm>
            <a:off x="3776472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초기화"/>
          <p:cNvSpPr txBox="1"/>
          <p:nvPr/>
        </p:nvSpPr>
        <p:spPr>
          <a:xfrm>
            <a:off x="3776472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77" name="순서 바꾸기 면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구분선"/>
          <p:cNvSpPr/>
          <p:nvPr/>
        </p:nvSpPr>
        <p:spPr>
          <a:xfrm>
            <a:off x="2084831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경유지 추가 면"/>
          <p:cNvSpPr/>
          <p:nvPr/>
        </p:nvSpPr>
        <p:spPr>
          <a:xfrm>
            <a:off x="332841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경유지 추가"/>
          <p:cNvSpPr txBox="1"/>
          <p:nvPr/>
        </p:nvSpPr>
        <p:spPr>
          <a:xfrm>
            <a:off x="332841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1" name="도착지 필드"/>
          <p:cNvSpPr txBox="1"/>
          <p:nvPr/>
        </p:nvSpPr>
        <p:spPr>
          <a:xfrm>
            <a:off x="2084831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82" name="순서 바꾸기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순서 바꾸기"/>
          <p:cNvSpPr txBox="1"/>
          <p:nvPr/>
        </p:nvSpPr>
        <p:spPr>
          <a:xfrm>
            <a:off x="1435608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84" name="지점 링"/>
          <p:cNvSpPr/>
          <p:nvPr/>
        </p:nvSpPr>
        <p:spPr>
          <a:xfrm>
            <a:off x="1858975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지점 링"/>
          <p:cNvSpPr/>
          <p:nvPr/>
        </p:nvSpPr>
        <p:spPr>
          <a:xfrm>
            <a:off x="1858975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지점 연결선"/>
          <p:cNvCxnSpPr/>
          <p:nvPr/>
        </p:nvCxnSpPr>
        <p:spPr>
          <a:xfrm>
            <a:off x="1623060" y="3319272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87" name="지점 연결선"/>
          <p:cNvCxnSpPr/>
          <p:nvPr/>
        </p:nvCxnSpPr>
        <p:spPr>
          <a:xfrm>
            <a:off x="1623060" y="3648456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88" name="지점 연결선"/>
          <p:cNvCxnSpPr/>
          <p:nvPr/>
        </p:nvCxnSpPr>
        <p:spPr>
          <a:xfrm>
            <a:off x="1623060" y="3813048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89" name="지점 표식"/>
          <p:cNvSpPr/>
          <p:nvPr/>
        </p:nvSpPr>
        <p:spPr>
          <a:xfrm>
            <a:off x="1581912" y="3278124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90" name="지점 표식"/>
          <p:cNvSpPr/>
          <p:nvPr/>
        </p:nvSpPr>
        <p:spPr>
          <a:xfrm>
            <a:off x="1581912" y="3607308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91" name="지점 표식"/>
          <p:cNvSpPr/>
          <p:nvPr/>
        </p:nvSpPr>
        <p:spPr>
          <a:xfrm>
            <a:off x="1581912" y="377190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2" name="지점 표식"/>
          <p:cNvSpPr/>
          <p:nvPr/>
        </p:nvSpPr>
        <p:spPr>
          <a:xfrm>
            <a:off x="1581912" y="4101084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3" name="지점 표식"/>
          <p:cNvSpPr/>
          <p:nvPr/>
        </p:nvSpPr>
        <p:spPr>
          <a:xfrm>
            <a:off x="1581912" y="553669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4" name="프레임 마스크"/>
          <p:cNvSpPr/>
          <p:nvPr/>
        </p:nvSpPr>
        <p:spPr>
          <a:xfrm>
            <a:off x="1353312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프레임 테두리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전체 경로 바"/>
          <p:cNvSpPr/>
          <p:nvPr/>
        </p:nvSpPr>
        <p:spPr>
          <a:xfrm>
            <a:off x="1572768" y="3003804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경로 바 라벨"/>
          <p:cNvSpPr txBox="1"/>
          <p:nvPr/>
        </p:nvSpPr>
        <p:spPr>
          <a:xfrm>
            <a:off x="1609344" y="3022092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98" name="전체 경로 바"/>
          <p:cNvSpPr/>
          <p:nvPr/>
        </p:nvSpPr>
        <p:spPr>
          <a:xfrm>
            <a:off x="2156155" y="3003804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경로 바 라벨"/>
          <p:cNvSpPr txBox="1"/>
          <p:nvPr/>
        </p:nvSpPr>
        <p:spPr>
          <a:xfrm>
            <a:off x="2192731" y="3022092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100" name="전체 경로 바"/>
          <p:cNvSpPr/>
          <p:nvPr/>
        </p:nvSpPr>
        <p:spPr>
          <a:xfrm>
            <a:off x="2751429" y="3003804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경로 바 라벨"/>
          <p:cNvSpPr txBox="1"/>
          <p:nvPr/>
        </p:nvSpPr>
        <p:spPr>
          <a:xfrm>
            <a:off x="2788005" y="3022092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102" name="전체 경로 바"/>
          <p:cNvSpPr/>
          <p:nvPr/>
        </p:nvSpPr>
        <p:spPr>
          <a:xfrm>
            <a:off x="3258007" y="3003804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경로 바 라벨"/>
          <p:cNvSpPr txBox="1"/>
          <p:nvPr/>
        </p:nvSpPr>
        <p:spPr>
          <a:xfrm>
            <a:off x="3294583" y="3022092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104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1143000" y="15133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5" name="숫자배지 2"/>
          <p:cNvSpPr/>
          <p:nvPr/>
        </p:nvSpPr>
        <p:spPr>
          <a:xfrm>
            <a:off x="4315968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경유지 추가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231109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[－] 경유지 삭제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 우측 · 입력돼 있을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 시 3행 → 2행 · [＋] 복귀 · ⇅ 2개 → 1개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· 도착지 유지 · 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확인 팝업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화면 공통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구성은 2-1 · 2-2와 같음 · 출발지 · 도착지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정렬 드롭다운 · 필터 칩 미제공 ·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접근성 3행 확인 후 경유지 지정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상단 구분선"/>
          <p:cNvSpPr/>
          <p:nvPr/>
        </p:nvSpPr>
        <p:spPr>
          <a:xfrm>
            <a:off x="1399032" y="249174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"/>
          <p:cNvSpPr/>
          <p:nvPr/>
        </p:nvSpPr>
        <p:spPr>
          <a:xfrm>
            <a:off x="4553712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경로 편집 패널"/>
          <p:cNvSpPr/>
          <p:nvPr/>
        </p:nvSpPr>
        <p:spPr>
          <a:xfrm>
            <a:off x="4654296" y="1298448"/>
            <a:ext cx="2523744" cy="1883664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지점 라벨"/>
          <p:cNvSpPr txBox="1"/>
          <p:nvPr/>
        </p:nvSpPr>
        <p:spPr>
          <a:xfrm>
            <a:off x="5038344" y="1481328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1" name="순서 바꾸기 라벨"/>
          <p:cNvSpPr txBox="1"/>
          <p:nvPr/>
        </p:nvSpPr>
        <p:spPr>
          <a:xfrm>
            <a:off x="4700016" y="170535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2" name="구분선"/>
          <p:cNvSpPr/>
          <p:nvPr/>
        </p:nvSpPr>
        <p:spPr>
          <a:xfrm>
            <a:off x="5038344" y="1828800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점 라벨"/>
          <p:cNvSpPr txBox="1"/>
          <p:nvPr/>
        </p:nvSpPr>
        <p:spPr>
          <a:xfrm>
            <a:off x="5038344" y="1993392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5">
                <a:solidFill>
                  <a:srgbClr val="8A94A3"/>
                </a:solidFill>
                <a:latin typeface="Pretendard"/>
              </a:rPr>
              <a:t>경유지를 입력하세요</a:t>
            </a:r>
          </a:p>
        </p:txBody>
      </p:sp>
      <p:sp>
        <p:nvSpPr>
          <p:cNvPr id="24" name="순서 바꾸기"/>
          <p:cNvSpPr/>
          <p:nvPr/>
        </p:nvSpPr>
        <p:spPr>
          <a:xfrm>
            <a:off x="4700016" y="2217420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순서 바꾸기 라벨"/>
          <p:cNvSpPr txBox="1"/>
          <p:nvPr/>
        </p:nvSpPr>
        <p:spPr>
          <a:xfrm>
            <a:off x="4700016" y="221742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6" name="구분선"/>
          <p:cNvSpPr/>
          <p:nvPr/>
        </p:nvSpPr>
        <p:spPr>
          <a:xfrm>
            <a:off x="5038344" y="2340864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지점 라벨"/>
          <p:cNvSpPr txBox="1"/>
          <p:nvPr/>
        </p:nvSpPr>
        <p:spPr>
          <a:xfrm>
            <a:off x="5038344" y="2505456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8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946904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946904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0" name="패널 버튼 확인"/>
          <p:cNvSpPr/>
          <p:nvPr/>
        </p:nvSpPr>
        <p:spPr>
          <a:xfrm>
            <a:off x="5971031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패널 버튼 확인 라벨"/>
          <p:cNvSpPr txBox="1"/>
          <p:nvPr/>
        </p:nvSpPr>
        <p:spPr>
          <a:xfrm>
            <a:off x="5971031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2" name="지도 핀"/>
          <p:cNvSpPr/>
          <p:nvPr/>
        </p:nvSpPr>
        <p:spPr>
          <a:xfrm>
            <a:off x="4946904" y="3831336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지도 핀 라벨"/>
          <p:cNvSpPr txBox="1"/>
          <p:nvPr/>
        </p:nvSpPr>
        <p:spPr>
          <a:xfrm>
            <a:off x="5184648" y="384962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4" name="지도 핀"/>
          <p:cNvSpPr/>
          <p:nvPr/>
        </p:nvSpPr>
        <p:spPr>
          <a:xfrm>
            <a:off x="5715000" y="4818888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라벨"/>
          <p:cNvSpPr txBox="1"/>
          <p:nvPr/>
        </p:nvSpPr>
        <p:spPr>
          <a:xfrm>
            <a:off x="5952744" y="48371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36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 경로 리스트 — 입력 블록</a:t>
            </a:r>
          </a:p>
        </p:txBody>
      </p:sp>
      <p:sp>
        <p:nvSpPr>
          <p:cNvPr id="37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2-9-1 경로 편집 — [＋] 진입</a:t>
            </a:r>
          </a:p>
        </p:txBody>
      </p:sp>
      <p:sp>
        <p:nvSpPr>
          <p:cNvPr id="38" name="지도 핀 표식"/>
          <p:cNvSpPr txBox="1"/>
          <p:nvPr/>
        </p:nvSpPr>
        <p:spPr>
          <a:xfrm>
            <a:off x="4965192" y="3849624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9" name="지도 핀 표식"/>
          <p:cNvSpPr txBox="1"/>
          <p:nvPr/>
        </p:nvSpPr>
        <p:spPr>
          <a:xfrm>
            <a:off x="5733288" y="4837176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0" name="필터"/>
          <p:cNvSpPr/>
          <p:nvPr/>
        </p:nvSpPr>
        <p:spPr>
          <a:xfrm>
            <a:off x="2706624" y="2071116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필터 라벨"/>
          <p:cNvSpPr txBox="1"/>
          <p:nvPr/>
        </p:nvSpPr>
        <p:spPr>
          <a:xfrm>
            <a:off x="2706624" y="2071116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42" name="유형 기준 라벨"/>
          <p:cNvSpPr txBox="1"/>
          <p:nvPr/>
        </p:nvSpPr>
        <p:spPr>
          <a:xfrm>
            <a:off x="1572768" y="2071116"/>
            <a:ext cx="107899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1" spc="-17">
                <a:solidFill>
                  <a:srgbClr val="5B6573"/>
                </a:solidFill>
                <a:latin typeface="Pretendard"/>
              </a:rPr>
              <a:t>저시력 기준</a:t>
            </a:r>
          </a:p>
        </p:txBody>
      </p:sp>
      <p:sp>
        <p:nvSpPr>
          <p:cNvPr id="43" name="정렬"/>
          <p:cNvSpPr/>
          <p:nvPr/>
        </p:nvSpPr>
        <p:spPr>
          <a:xfrm>
            <a:off x="3364992" y="2071116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정렬 라벨"/>
          <p:cNvSpPr txBox="1"/>
          <p:nvPr/>
        </p:nvSpPr>
        <p:spPr>
          <a:xfrm>
            <a:off x="3364992" y="2071116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45" name="소요시간"/>
          <p:cNvSpPr txBox="1"/>
          <p:nvPr/>
        </p:nvSpPr>
        <p:spPr>
          <a:xfrm>
            <a:off x="1572768" y="2564892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46" name="도착 시각 · 요금"/>
          <p:cNvSpPr txBox="1"/>
          <p:nvPr/>
        </p:nvSpPr>
        <p:spPr>
          <a:xfrm>
            <a:off x="1572768" y="2802636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47" name="구간 요약"/>
          <p:cNvSpPr txBox="1"/>
          <p:nvPr/>
        </p:nvSpPr>
        <p:spPr>
          <a:xfrm>
            <a:off x="1719072" y="32415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48" name="구간 요약"/>
          <p:cNvSpPr txBox="1"/>
          <p:nvPr/>
        </p:nvSpPr>
        <p:spPr>
          <a:xfrm>
            <a:off x="1865376" y="340614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49" name="구간 요약"/>
          <p:cNvSpPr txBox="1"/>
          <p:nvPr/>
        </p:nvSpPr>
        <p:spPr>
          <a:xfrm>
            <a:off x="1719072" y="35707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50" name="구간 요약"/>
          <p:cNvSpPr txBox="1"/>
          <p:nvPr/>
        </p:nvSpPr>
        <p:spPr>
          <a:xfrm>
            <a:off x="1719072" y="373532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51" name="구간 요약"/>
          <p:cNvSpPr txBox="1"/>
          <p:nvPr/>
        </p:nvSpPr>
        <p:spPr>
          <a:xfrm>
            <a:off x="1865376" y="3899915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52" name="구간 요약"/>
          <p:cNvSpPr txBox="1"/>
          <p:nvPr/>
        </p:nvSpPr>
        <p:spPr>
          <a:xfrm>
            <a:off x="1719072" y="40645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53" name="안내시작"/>
          <p:cNvSpPr/>
          <p:nvPr/>
        </p:nvSpPr>
        <p:spPr>
          <a:xfrm>
            <a:off x="1572768" y="426567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안내시작 라벨"/>
          <p:cNvSpPr txBox="1"/>
          <p:nvPr/>
        </p:nvSpPr>
        <p:spPr>
          <a:xfrm>
            <a:off x="1572768" y="426567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55" name="행 구분선"/>
          <p:cNvSpPr/>
          <p:nvPr/>
        </p:nvSpPr>
        <p:spPr>
          <a:xfrm>
            <a:off x="1399032" y="469544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소요시간"/>
          <p:cNvSpPr txBox="1"/>
          <p:nvPr/>
        </p:nvSpPr>
        <p:spPr>
          <a:xfrm>
            <a:off x="1572768" y="48234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57" name="도착 시각 · 요금"/>
          <p:cNvSpPr txBox="1"/>
          <p:nvPr/>
        </p:nvSpPr>
        <p:spPr>
          <a:xfrm>
            <a:off x="1572768" y="506120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58" name="전체 경로 바"/>
          <p:cNvSpPr/>
          <p:nvPr/>
        </p:nvSpPr>
        <p:spPr>
          <a:xfrm>
            <a:off x="1572768" y="5262372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전체 경로 바"/>
          <p:cNvSpPr/>
          <p:nvPr/>
        </p:nvSpPr>
        <p:spPr>
          <a:xfrm>
            <a:off x="217627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전체 경로 바"/>
          <p:cNvSpPr/>
          <p:nvPr/>
        </p:nvSpPr>
        <p:spPr>
          <a:xfrm>
            <a:off x="299923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경로 바 라벨"/>
          <p:cNvSpPr txBox="1"/>
          <p:nvPr/>
        </p:nvSpPr>
        <p:spPr>
          <a:xfrm>
            <a:off x="1609344" y="5280660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62" name="경로 바 라벨"/>
          <p:cNvSpPr txBox="1"/>
          <p:nvPr/>
        </p:nvSpPr>
        <p:spPr>
          <a:xfrm>
            <a:off x="221284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63" name="경로 바 라벨"/>
          <p:cNvSpPr txBox="1"/>
          <p:nvPr/>
        </p:nvSpPr>
        <p:spPr>
          <a:xfrm>
            <a:off x="303580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64" name="구간 요약"/>
          <p:cNvSpPr txBox="1"/>
          <p:nvPr/>
        </p:nvSpPr>
        <p:spPr>
          <a:xfrm>
            <a:off x="1719072" y="55001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65" name="구간 요약"/>
          <p:cNvSpPr txBox="1"/>
          <p:nvPr/>
        </p:nvSpPr>
        <p:spPr>
          <a:xfrm>
            <a:off x="1865376" y="56647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66" name="구간 요약"/>
          <p:cNvSpPr txBox="1"/>
          <p:nvPr/>
        </p:nvSpPr>
        <p:spPr>
          <a:xfrm>
            <a:off x="1865376" y="582930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67" name="안내시작"/>
          <p:cNvSpPr/>
          <p:nvPr/>
        </p:nvSpPr>
        <p:spPr>
          <a:xfrm>
            <a:off x="1572768" y="6030468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안내시작 라벨"/>
          <p:cNvSpPr txBox="1"/>
          <p:nvPr/>
        </p:nvSpPr>
        <p:spPr>
          <a:xfrm>
            <a:off x="1572768" y="6030468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69" name="지도 안내"/>
          <p:cNvSpPr txBox="1"/>
          <p:nvPr/>
        </p:nvSpPr>
        <p:spPr>
          <a:xfrm>
            <a:off x="4951476" y="332841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70" name="지점 링"/>
          <p:cNvSpPr/>
          <p:nvPr/>
        </p:nvSpPr>
        <p:spPr>
          <a:xfrm>
            <a:off x="4812030" y="1497330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지점 링"/>
          <p:cNvSpPr/>
          <p:nvPr/>
        </p:nvSpPr>
        <p:spPr>
          <a:xfrm>
            <a:off x="4812030" y="200939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지점 링"/>
          <p:cNvSpPr/>
          <p:nvPr/>
        </p:nvSpPr>
        <p:spPr>
          <a:xfrm>
            <a:off x="4812030" y="2521458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입력 카드"/>
          <p:cNvSpPr/>
          <p:nvPr/>
        </p:nvSpPr>
        <p:spPr>
          <a:xfrm>
            <a:off x="1700784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출발지 필드"/>
          <p:cNvSpPr txBox="1"/>
          <p:nvPr/>
        </p:nvSpPr>
        <p:spPr>
          <a:xfrm>
            <a:off x="2084831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초기화 면"/>
          <p:cNvSpPr/>
          <p:nvPr/>
        </p:nvSpPr>
        <p:spPr>
          <a:xfrm>
            <a:off x="3776472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초기화"/>
          <p:cNvSpPr txBox="1"/>
          <p:nvPr/>
        </p:nvSpPr>
        <p:spPr>
          <a:xfrm>
            <a:off x="3776472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77" name="순서 바꾸기 면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구분선"/>
          <p:cNvSpPr/>
          <p:nvPr/>
        </p:nvSpPr>
        <p:spPr>
          <a:xfrm>
            <a:off x="2084831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경유지 추가 면"/>
          <p:cNvSpPr/>
          <p:nvPr/>
        </p:nvSpPr>
        <p:spPr>
          <a:xfrm>
            <a:off x="332841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경유지 추가"/>
          <p:cNvSpPr txBox="1"/>
          <p:nvPr/>
        </p:nvSpPr>
        <p:spPr>
          <a:xfrm>
            <a:off x="332841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1" name="도착지 필드"/>
          <p:cNvSpPr txBox="1"/>
          <p:nvPr/>
        </p:nvSpPr>
        <p:spPr>
          <a:xfrm>
            <a:off x="2084831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82" name="순서 바꾸기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순서 바꾸기"/>
          <p:cNvSpPr txBox="1"/>
          <p:nvPr/>
        </p:nvSpPr>
        <p:spPr>
          <a:xfrm>
            <a:off x="1435608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84" name="지점 링"/>
          <p:cNvSpPr/>
          <p:nvPr/>
        </p:nvSpPr>
        <p:spPr>
          <a:xfrm>
            <a:off x="1858975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지점 링"/>
          <p:cNvSpPr/>
          <p:nvPr/>
        </p:nvSpPr>
        <p:spPr>
          <a:xfrm>
            <a:off x="1858975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지점 연결선"/>
          <p:cNvCxnSpPr/>
          <p:nvPr/>
        </p:nvCxnSpPr>
        <p:spPr>
          <a:xfrm>
            <a:off x="1623060" y="3319272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87" name="지점 연결선"/>
          <p:cNvCxnSpPr/>
          <p:nvPr/>
        </p:nvCxnSpPr>
        <p:spPr>
          <a:xfrm>
            <a:off x="1623060" y="3648456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88" name="지점 연결선"/>
          <p:cNvCxnSpPr/>
          <p:nvPr/>
        </p:nvCxnSpPr>
        <p:spPr>
          <a:xfrm>
            <a:off x="1623060" y="3813048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89" name="지점 표식"/>
          <p:cNvSpPr/>
          <p:nvPr/>
        </p:nvSpPr>
        <p:spPr>
          <a:xfrm>
            <a:off x="1581912" y="3278124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90" name="지점 표식"/>
          <p:cNvSpPr/>
          <p:nvPr/>
        </p:nvSpPr>
        <p:spPr>
          <a:xfrm>
            <a:off x="1581912" y="3607308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91" name="지점 표식"/>
          <p:cNvSpPr/>
          <p:nvPr/>
        </p:nvSpPr>
        <p:spPr>
          <a:xfrm>
            <a:off x="1581912" y="377190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2" name="지점 표식"/>
          <p:cNvSpPr/>
          <p:nvPr/>
        </p:nvSpPr>
        <p:spPr>
          <a:xfrm>
            <a:off x="1581912" y="4101084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3" name="지점 표식"/>
          <p:cNvSpPr/>
          <p:nvPr/>
        </p:nvSpPr>
        <p:spPr>
          <a:xfrm>
            <a:off x="1581912" y="553669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4" name="프레임 마스크"/>
          <p:cNvSpPr/>
          <p:nvPr/>
        </p:nvSpPr>
        <p:spPr>
          <a:xfrm>
            <a:off x="1353312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프레임 테두리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전체 경로 바"/>
          <p:cNvSpPr/>
          <p:nvPr/>
        </p:nvSpPr>
        <p:spPr>
          <a:xfrm>
            <a:off x="1572768" y="3003804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경로 바 라벨"/>
          <p:cNvSpPr txBox="1"/>
          <p:nvPr/>
        </p:nvSpPr>
        <p:spPr>
          <a:xfrm>
            <a:off x="1609344" y="3022092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98" name="전체 경로 바"/>
          <p:cNvSpPr/>
          <p:nvPr/>
        </p:nvSpPr>
        <p:spPr>
          <a:xfrm>
            <a:off x="2156155" y="3003804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경로 바 라벨"/>
          <p:cNvSpPr txBox="1"/>
          <p:nvPr/>
        </p:nvSpPr>
        <p:spPr>
          <a:xfrm>
            <a:off x="2192731" y="3022092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100" name="전체 경로 바"/>
          <p:cNvSpPr/>
          <p:nvPr/>
        </p:nvSpPr>
        <p:spPr>
          <a:xfrm>
            <a:off x="2751429" y="3003804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경로 바 라벨"/>
          <p:cNvSpPr txBox="1"/>
          <p:nvPr/>
        </p:nvSpPr>
        <p:spPr>
          <a:xfrm>
            <a:off x="2788005" y="3022092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102" name="전체 경로 바"/>
          <p:cNvSpPr/>
          <p:nvPr/>
        </p:nvSpPr>
        <p:spPr>
          <a:xfrm>
            <a:off x="3258007" y="3003804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경로 바 라벨"/>
          <p:cNvSpPr txBox="1"/>
          <p:nvPr/>
        </p:nvSpPr>
        <p:spPr>
          <a:xfrm>
            <a:off x="3294583" y="3022092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104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1161288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5" name="숫자배지 2"/>
          <p:cNvSpPr/>
          <p:nvPr/>
        </p:nvSpPr>
        <p:spPr>
          <a:xfrm>
            <a:off x="4315968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6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8836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편집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54108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경유지 · 순서 바꾸기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479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입력 필드 3행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· 경유지 · 도착지 3행 고정 · 지점 표식 ＋ 장소명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행은 빈 상태 허용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 선택 시 경유지 검색으로 이동 · 되돌아오면 이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⇅ 순서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사이마다 1개 — 총 2개(출발↔경유 · 경유↔도착)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이웃한 두 행을 맞바꿈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핀도 함께 변경 · 재탐색은 [확인]까지 보류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－ 경유지 삭제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 우측 · 경유지 입력 시에만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빈 필드로 복귀 · 행은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경로 편집 패널"/>
          <p:cNvSpPr/>
          <p:nvPr/>
        </p:nvSpPr>
        <p:spPr>
          <a:xfrm>
            <a:off x="3063240" y="1298448"/>
            <a:ext cx="2532888" cy="2066543"/>
          </a:xfrm>
          <a:prstGeom prst="roundRect">
            <a:avLst>
              <a:gd name="adj" fmla="val 829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점 라벨"/>
          <p:cNvSpPr txBox="1"/>
          <p:nvPr/>
        </p:nvSpPr>
        <p:spPr>
          <a:xfrm>
            <a:off x="3447288" y="1508760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순서 바꾸기"/>
          <p:cNvSpPr/>
          <p:nvPr/>
        </p:nvSpPr>
        <p:spPr>
          <a:xfrm>
            <a:off x="3108960" y="174193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순서 바꾸기 라벨"/>
          <p:cNvSpPr txBox="1"/>
          <p:nvPr/>
        </p:nvSpPr>
        <p:spPr>
          <a:xfrm>
            <a:off x="3108960" y="174193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1" name="구분선"/>
          <p:cNvSpPr/>
          <p:nvPr/>
        </p:nvSpPr>
        <p:spPr>
          <a:xfrm>
            <a:off x="3447288" y="1865376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점 라벨"/>
          <p:cNvSpPr txBox="1"/>
          <p:nvPr/>
        </p:nvSpPr>
        <p:spPr>
          <a:xfrm>
            <a:off x="3447288" y="2039112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0000 (경유)</a:t>
            </a:r>
          </a:p>
        </p:txBody>
      </p:sp>
      <p:sp>
        <p:nvSpPr>
          <p:cNvPr id="23" name="경유지 삭제"/>
          <p:cNvSpPr/>
          <p:nvPr/>
        </p:nvSpPr>
        <p:spPr>
          <a:xfrm>
            <a:off x="5248656" y="201625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삭제 라벨"/>
          <p:cNvSpPr txBox="1"/>
          <p:nvPr/>
        </p:nvSpPr>
        <p:spPr>
          <a:xfrm>
            <a:off x="5248656" y="201625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순서 바꾸기"/>
          <p:cNvSpPr/>
          <p:nvPr/>
        </p:nvSpPr>
        <p:spPr>
          <a:xfrm>
            <a:off x="3108960" y="2272284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순서 바꾸기 라벨"/>
          <p:cNvSpPr txBox="1"/>
          <p:nvPr/>
        </p:nvSpPr>
        <p:spPr>
          <a:xfrm>
            <a:off x="3108960" y="227228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7" name="구분선"/>
          <p:cNvSpPr/>
          <p:nvPr/>
        </p:nvSpPr>
        <p:spPr>
          <a:xfrm>
            <a:off x="3447288" y="2395728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점 라벨"/>
          <p:cNvSpPr txBox="1"/>
          <p:nvPr/>
        </p:nvSpPr>
        <p:spPr>
          <a:xfrm>
            <a:off x="3447288" y="2569464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9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419856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419856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1" name="패널 버튼 확인"/>
          <p:cNvSpPr/>
          <p:nvPr/>
        </p:nvSpPr>
        <p:spPr>
          <a:xfrm>
            <a:off x="4389120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패널 버튼 확인 라벨"/>
          <p:cNvSpPr txBox="1"/>
          <p:nvPr/>
        </p:nvSpPr>
        <p:spPr>
          <a:xfrm>
            <a:off x="4389120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3" name="지도 안내"/>
          <p:cNvSpPr txBox="1"/>
          <p:nvPr/>
        </p:nvSpPr>
        <p:spPr>
          <a:xfrm>
            <a:off x="3369564" y="360273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34" name="지도 핀"/>
          <p:cNvSpPr/>
          <p:nvPr/>
        </p:nvSpPr>
        <p:spPr>
          <a:xfrm>
            <a:off x="3383280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표식"/>
          <p:cNvSpPr txBox="1"/>
          <p:nvPr/>
        </p:nvSpPr>
        <p:spPr>
          <a:xfrm>
            <a:off x="3401568" y="405993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6" name="지도 핀 라벨"/>
          <p:cNvSpPr txBox="1"/>
          <p:nvPr/>
        </p:nvSpPr>
        <p:spPr>
          <a:xfrm>
            <a:off x="3621024" y="405993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7" name="지도 핀"/>
          <p:cNvSpPr/>
          <p:nvPr/>
        </p:nvSpPr>
        <p:spPr>
          <a:xfrm>
            <a:off x="4297680" y="459028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핀 표식"/>
          <p:cNvSpPr txBox="1"/>
          <p:nvPr/>
        </p:nvSpPr>
        <p:spPr>
          <a:xfrm>
            <a:off x="4315968" y="460857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경</a:t>
            </a:r>
          </a:p>
        </p:txBody>
      </p:sp>
      <p:sp>
        <p:nvSpPr>
          <p:cNvPr id="39" name="지도 핀 라벨"/>
          <p:cNvSpPr txBox="1"/>
          <p:nvPr/>
        </p:nvSpPr>
        <p:spPr>
          <a:xfrm>
            <a:off x="4535424" y="460857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0000 (경유)</a:t>
            </a:r>
          </a:p>
        </p:txBody>
      </p:sp>
      <p:sp>
        <p:nvSpPr>
          <p:cNvPr id="40" name="지도 핀"/>
          <p:cNvSpPr/>
          <p:nvPr/>
        </p:nvSpPr>
        <p:spPr>
          <a:xfrm>
            <a:off x="3749040" y="52303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핀 표식"/>
          <p:cNvSpPr txBox="1"/>
          <p:nvPr/>
        </p:nvSpPr>
        <p:spPr>
          <a:xfrm>
            <a:off x="3767328" y="524865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2" name="지도 핀 라벨"/>
          <p:cNvSpPr txBox="1"/>
          <p:nvPr/>
        </p:nvSpPr>
        <p:spPr>
          <a:xfrm>
            <a:off x="3986784" y="524865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43" name="지도 컨트롤"/>
          <p:cNvSpPr/>
          <p:nvPr/>
        </p:nvSpPr>
        <p:spPr>
          <a:xfrm>
            <a:off x="5285232" y="5175504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컨트롤 라벨"/>
          <p:cNvSpPr txBox="1"/>
          <p:nvPr/>
        </p:nvSpPr>
        <p:spPr>
          <a:xfrm>
            <a:off x="5340096" y="5239512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45" name="지도 컨트롤"/>
          <p:cNvSpPr/>
          <p:nvPr/>
        </p:nvSpPr>
        <p:spPr>
          <a:xfrm>
            <a:off x="5285232" y="5522976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컨트롤 라벨"/>
          <p:cNvSpPr txBox="1"/>
          <p:nvPr/>
        </p:nvSpPr>
        <p:spPr>
          <a:xfrm>
            <a:off x="5340096" y="558698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47" name="지도 컨트롤"/>
          <p:cNvSpPr/>
          <p:nvPr/>
        </p:nvSpPr>
        <p:spPr>
          <a:xfrm>
            <a:off x="4919472" y="5870448"/>
            <a:ext cx="676656" cy="27432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컨트롤 라벨"/>
          <p:cNvSpPr txBox="1"/>
          <p:nvPr/>
        </p:nvSpPr>
        <p:spPr>
          <a:xfrm>
            <a:off x="4992624" y="5925312"/>
            <a:ext cx="53035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49" name="숫자배지 1"/>
          <p:cNvSpPr/>
          <p:nvPr/>
        </p:nvSpPr>
        <p:spPr>
          <a:xfrm>
            <a:off x="2734056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0" name="숫자배지 2"/>
          <p:cNvSpPr/>
          <p:nvPr/>
        </p:nvSpPr>
        <p:spPr>
          <a:xfrm>
            <a:off x="2734056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3"/>
          <p:cNvSpPr/>
          <p:nvPr/>
        </p:nvSpPr>
        <p:spPr>
          <a:xfrm>
            <a:off x="5577840" y="2011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4"/>
          <p:cNvSpPr/>
          <p:nvPr/>
        </p:nvSpPr>
        <p:spPr>
          <a:xfrm>
            <a:off x="2734056" y="29809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3" name="숫자배지 5"/>
          <p:cNvSpPr/>
          <p:nvPr/>
        </p:nvSpPr>
        <p:spPr>
          <a:xfrm>
            <a:off x="2734056" y="34930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4" name="지점 링"/>
          <p:cNvSpPr/>
          <p:nvPr/>
        </p:nvSpPr>
        <p:spPr>
          <a:xfrm>
            <a:off x="3220974" y="1524762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지점 링"/>
          <p:cNvSpPr/>
          <p:nvPr/>
        </p:nvSpPr>
        <p:spPr>
          <a:xfrm>
            <a:off x="3220974" y="205511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지점 링"/>
          <p:cNvSpPr/>
          <p:nvPr/>
        </p:nvSpPr>
        <p:spPr>
          <a:xfrm>
            <a:off x="3220974" y="2585466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6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8836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편집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54108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경유지 · 순서 바꾸기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45714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[취소] · [확인]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[취소] — 변경 사항 미반영 · 2-9로 복귀 · 재탐색 없음 · 확인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[확인] — 변경 사항 반영 · 2-9로 이동 · 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[확인]은 상시 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경유지가 빈 채로 눌러도 됨 — 경유지 없이 적용하고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· 닫기 미제공 — OS 백키는 [취소]와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설정된 지점만 핀으로 표출 · 경로선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지도의 다른 장소 선택 시 무반응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복원은 방위가 정북이 아닐 때만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경로 편집 패널"/>
          <p:cNvSpPr/>
          <p:nvPr/>
        </p:nvSpPr>
        <p:spPr>
          <a:xfrm>
            <a:off x="3063240" y="1298448"/>
            <a:ext cx="2532888" cy="2066543"/>
          </a:xfrm>
          <a:prstGeom prst="roundRect">
            <a:avLst>
              <a:gd name="adj" fmla="val 829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점 라벨"/>
          <p:cNvSpPr txBox="1"/>
          <p:nvPr/>
        </p:nvSpPr>
        <p:spPr>
          <a:xfrm>
            <a:off x="3447288" y="1508760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순서 바꾸기"/>
          <p:cNvSpPr/>
          <p:nvPr/>
        </p:nvSpPr>
        <p:spPr>
          <a:xfrm>
            <a:off x="3108960" y="174193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순서 바꾸기 라벨"/>
          <p:cNvSpPr txBox="1"/>
          <p:nvPr/>
        </p:nvSpPr>
        <p:spPr>
          <a:xfrm>
            <a:off x="3108960" y="174193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1" name="구분선"/>
          <p:cNvSpPr/>
          <p:nvPr/>
        </p:nvSpPr>
        <p:spPr>
          <a:xfrm>
            <a:off x="3447288" y="1865376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점 라벨"/>
          <p:cNvSpPr txBox="1"/>
          <p:nvPr/>
        </p:nvSpPr>
        <p:spPr>
          <a:xfrm>
            <a:off x="3447288" y="2039112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0000 (경유)</a:t>
            </a:r>
          </a:p>
        </p:txBody>
      </p:sp>
      <p:sp>
        <p:nvSpPr>
          <p:cNvPr id="23" name="경유지 삭제"/>
          <p:cNvSpPr/>
          <p:nvPr/>
        </p:nvSpPr>
        <p:spPr>
          <a:xfrm>
            <a:off x="5248656" y="201625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삭제 라벨"/>
          <p:cNvSpPr txBox="1"/>
          <p:nvPr/>
        </p:nvSpPr>
        <p:spPr>
          <a:xfrm>
            <a:off x="5248656" y="201625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순서 바꾸기"/>
          <p:cNvSpPr/>
          <p:nvPr/>
        </p:nvSpPr>
        <p:spPr>
          <a:xfrm>
            <a:off x="3108960" y="2272284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순서 바꾸기 라벨"/>
          <p:cNvSpPr txBox="1"/>
          <p:nvPr/>
        </p:nvSpPr>
        <p:spPr>
          <a:xfrm>
            <a:off x="3108960" y="227228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7" name="구분선"/>
          <p:cNvSpPr/>
          <p:nvPr/>
        </p:nvSpPr>
        <p:spPr>
          <a:xfrm>
            <a:off x="3447288" y="2395728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점 라벨"/>
          <p:cNvSpPr txBox="1"/>
          <p:nvPr/>
        </p:nvSpPr>
        <p:spPr>
          <a:xfrm>
            <a:off x="3447288" y="2569464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9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419856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419856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1" name="패널 버튼 확인"/>
          <p:cNvSpPr/>
          <p:nvPr/>
        </p:nvSpPr>
        <p:spPr>
          <a:xfrm>
            <a:off x="4389120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패널 버튼 확인 라벨"/>
          <p:cNvSpPr txBox="1"/>
          <p:nvPr/>
        </p:nvSpPr>
        <p:spPr>
          <a:xfrm>
            <a:off x="4389120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3" name="지도 안내"/>
          <p:cNvSpPr txBox="1"/>
          <p:nvPr/>
        </p:nvSpPr>
        <p:spPr>
          <a:xfrm>
            <a:off x="3369564" y="360273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34" name="지도 핀"/>
          <p:cNvSpPr/>
          <p:nvPr/>
        </p:nvSpPr>
        <p:spPr>
          <a:xfrm>
            <a:off x="3383280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표식"/>
          <p:cNvSpPr txBox="1"/>
          <p:nvPr/>
        </p:nvSpPr>
        <p:spPr>
          <a:xfrm>
            <a:off x="3401568" y="405993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6" name="지도 핀 라벨"/>
          <p:cNvSpPr txBox="1"/>
          <p:nvPr/>
        </p:nvSpPr>
        <p:spPr>
          <a:xfrm>
            <a:off x="3621024" y="405993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7" name="지도 핀"/>
          <p:cNvSpPr/>
          <p:nvPr/>
        </p:nvSpPr>
        <p:spPr>
          <a:xfrm>
            <a:off x="4297680" y="459028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핀 표식"/>
          <p:cNvSpPr txBox="1"/>
          <p:nvPr/>
        </p:nvSpPr>
        <p:spPr>
          <a:xfrm>
            <a:off x="4315968" y="460857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경</a:t>
            </a:r>
          </a:p>
        </p:txBody>
      </p:sp>
      <p:sp>
        <p:nvSpPr>
          <p:cNvPr id="39" name="지도 핀 라벨"/>
          <p:cNvSpPr txBox="1"/>
          <p:nvPr/>
        </p:nvSpPr>
        <p:spPr>
          <a:xfrm>
            <a:off x="4535424" y="460857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0000 (경유)</a:t>
            </a:r>
          </a:p>
        </p:txBody>
      </p:sp>
      <p:sp>
        <p:nvSpPr>
          <p:cNvPr id="40" name="지도 핀"/>
          <p:cNvSpPr/>
          <p:nvPr/>
        </p:nvSpPr>
        <p:spPr>
          <a:xfrm>
            <a:off x="3749040" y="52303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핀 표식"/>
          <p:cNvSpPr txBox="1"/>
          <p:nvPr/>
        </p:nvSpPr>
        <p:spPr>
          <a:xfrm>
            <a:off x="3767328" y="524865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2" name="지도 핀 라벨"/>
          <p:cNvSpPr txBox="1"/>
          <p:nvPr/>
        </p:nvSpPr>
        <p:spPr>
          <a:xfrm>
            <a:off x="3986784" y="524865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43" name="지도 컨트롤"/>
          <p:cNvSpPr/>
          <p:nvPr/>
        </p:nvSpPr>
        <p:spPr>
          <a:xfrm>
            <a:off x="5285232" y="5175504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컨트롤 라벨"/>
          <p:cNvSpPr txBox="1"/>
          <p:nvPr/>
        </p:nvSpPr>
        <p:spPr>
          <a:xfrm>
            <a:off x="5340096" y="5239512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45" name="지도 컨트롤"/>
          <p:cNvSpPr/>
          <p:nvPr/>
        </p:nvSpPr>
        <p:spPr>
          <a:xfrm>
            <a:off x="5285232" y="5522976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컨트롤 라벨"/>
          <p:cNvSpPr txBox="1"/>
          <p:nvPr/>
        </p:nvSpPr>
        <p:spPr>
          <a:xfrm>
            <a:off x="5340096" y="558698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47" name="지도 컨트롤"/>
          <p:cNvSpPr/>
          <p:nvPr/>
        </p:nvSpPr>
        <p:spPr>
          <a:xfrm>
            <a:off x="4919472" y="5870448"/>
            <a:ext cx="676656" cy="27432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컨트롤 라벨"/>
          <p:cNvSpPr txBox="1"/>
          <p:nvPr/>
        </p:nvSpPr>
        <p:spPr>
          <a:xfrm>
            <a:off x="4992624" y="5925312"/>
            <a:ext cx="53035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49" name="지점 링"/>
          <p:cNvSpPr/>
          <p:nvPr/>
        </p:nvSpPr>
        <p:spPr>
          <a:xfrm>
            <a:off x="3220974" y="1524762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지점 링"/>
          <p:cNvSpPr/>
          <p:nvPr/>
        </p:nvSpPr>
        <p:spPr>
          <a:xfrm>
            <a:off x="3220974" y="205511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지점 링"/>
          <p:cNvSpPr/>
          <p:nvPr/>
        </p:nvSpPr>
        <p:spPr>
          <a:xfrm>
            <a:off x="3220974" y="2585466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숫자배지 1"/>
          <p:cNvSpPr/>
          <p:nvPr/>
        </p:nvSpPr>
        <p:spPr>
          <a:xfrm>
            <a:off x="2734056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/>
          <p:cNvSpPr/>
          <p:nvPr/>
        </p:nvSpPr>
        <p:spPr>
          <a:xfrm>
            <a:off x="2734056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숫자배지 3"/>
          <p:cNvSpPr/>
          <p:nvPr/>
        </p:nvSpPr>
        <p:spPr>
          <a:xfrm>
            <a:off x="5577840" y="2011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5" name="숫자배지 4"/>
          <p:cNvSpPr/>
          <p:nvPr/>
        </p:nvSpPr>
        <p:spPr>
          <a:xfrm>
            <a:off x="2734056" y="29809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6" name="숫자배지 5"/>
          <p:cNvSpPr/>
          <p:nvPr/>
        </p:nvSpPr>
        <p:spPr>
          <a:xfrm>
            <a:off x="2734056" y="34930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④ 경로 탐색 시작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504702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입력 블록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좌측 ⇅ · 가운데 입력 필드 · 우측 [✕]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뒤로가기(&lt;)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[✕] — 세 지점 초기화 후 2-0으로 이동 ·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  진행 중인 안내는 유지 · 확인 팝업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OS 백키 — 들어온 자리로 복귀 · 입력값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⇅ 순서 바꾸기 · [＋]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⇅는 행 사이마다 1개 — 2행 1개 · 3행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이웃한 두 행을 맞바꿈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[＋]는 필드 사이 · 경유지가 없을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[＋] 선택 시 2-9-1 경로 편집으로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필드 선택 시 2-1 장소 검색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151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필터 · 정렬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상단 고정 2종 — [필터 N] · [정렬 ⌄]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필터는 선택 개수를 라벨에 표출 · 선택 없으면 [필터]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정렬은 「최단거리」/「최소환승」 단일 선택 · 해제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유형이 필터 · 정렬 기본값을 결정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필터 왼쪽에 산출 기준 유형 표기 · 예: 「저시력 기준」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필터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279392" y="2052828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필터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279392" y="2052828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18" name="유형 기준 라벨"/>
          <p:cNvSpPr txBox="1"/>
          <p:nvPr/>
        </p:nvSpPr>
        <p:spPr>
          <a:xfrm>
            <a:off x="3145536" y="2052828"/>
            <a:ext cx="107899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1" spc="-17">
                <a:solidFill>
                  <a:srgbClr val="5B6573"/>
                </a:solidFill>
                <a:latin typeface="Pretendard"/>
              </a:rPr>
              <a:t>저시력 기준</a:t>
            </a:r>
          </a:p>
        </p:txBody>
      </p:sp>
      <p:sp>
        <p:nvSpPr>
          <p:cNvPr id="19" name="정렬"/>
          <p:cNvSpPr/>
          <p:nvPr/>
        </p:nvSpPr>
        <p:spPr>
          <a:xfrm>
            <a:off x="4937760" y="2052828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정렬 라벨"/>
          <p:cNvSpPr txBox="1"/>
          <p:nvPr/>
        </p:nvSpPr>
        <p:spPr>
          <a:xfrm>
            <a:off x="4937760" y="2052828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21" name="상단 구분선"/>
          <p:cNvSpPr/>
          <p:nvPr/>
        </p:nvSpPr>
        <p:spPr>
          <a:xfrm>
            <a:off x="2971800" y="247345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소요시간"/>
          <p:cNvSpPr txBox="1"/>
          <p:nvPr/>
        </p:nvSpPr>
        <p:spPr>
          <a:xfrm>
            <a:off x="3145536" y="258318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23" name="도착 시각 · 요금"/>
          <p:cNvSpPr txBox="1"/>
          <p:nvPr/>
        </p:nvSpPr>
        <p:spPr>
          <a:xfrm>
            <a:off x="3145536" y="282092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24" name="구간 요약"/>
          <p:cNvSpPr txBox="1"/>
          <p:nvPr/>
        </p:nvSpPr>
        <p:spPr>
          <a:xfrm>
            <a:off x="3291840" y="325983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25" name="구간 요약"/>
          <p:cNvSpPr txBox="1"/>
          <p:nvPr/>
        </p:nvSpPr>
        <p:spPr>
          <a:xfrm>
            <a:off x="3438144" y="34244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26" name="구간 요약"/>
          <p:cNvSpPr txBox="1"/>
          <p:nvPr/>
        </p:nvSpPr>
        <p:spPr>
          <a:xfrm>
            <a:off x="3291840" y="35890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27" name="구간 요약"/>
          <p:cNvSpPr txBox="1"/>
          <p:nvPr/>
        </p:nvSpPr>
        <p:spPr>
          <a:xfrm>
            <a:off x="3291840" y="37536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28" name="구간 요약"/>
          <p:cNvSpPr txBox="1"/>
          <p:nvPr/>
        </p:nvSpPr>
        <p:spPr>
          <a:xfrm>
            <a:off x="3438144" y="39182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29" name="구간 요약"/>
          <p:cNvSpPr txBox="1"/>
          <p:nvPr/>
        </p:nvSpPr>
        <p:spPr>
          <a:xfrm>
            <a:off x="3291840" y="40827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안내시작"/>
          <p:cNvSpPr/>
          <p:nvPr/>
        </p:nvSpPr>
        <p:spPr>
          <a:xfrm>
            <a:off x="3145536" y="4283964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안내시작 라벨"/>
          <p:cNvSpPr txBox="1"/>
          <p:nvPr/>
        </p:nvSpPr>
        <p:spPr>
          <a:xfrm>
            <a:off x="3145536" y="4283964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32" name="행 구분선"/>
          <p:cNvSpPr/>
          <p:nvPr/>
        </p:nvSpPr>
        <p:spPr>
          <a:xfrm>
            <a:off x="2971800" y="47137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소요시간"/>
          <p:cNvSpPr txBox="1"/>
          <p:nvPr/>
        </p:nvSpPr>
        <p:spPr>
          <a:xfrm>
            <a:off x="3145536" y="4841748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34" name="도착 시각 · 요금"/>
          <p:cNvSpPr txBox="1"/>
          <p:nvPr/>
        </p:nvSpPr>
        <p:spPr>
          <a:xfrm>
            <a:off x="3145536" y="50794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35" name="전체 경로 바"/>
          <p:cNvSpPr/>
          <p:nvPr/>
        </p:nvSpPr>
        <p:spPr>
          <a:xfrm>
            <a:off x="3145536" y="5280660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경로 바 라벨"/>
          <p:cNvSpPr txBox="1"/>
          <p:nvPr/>
        </p:nvSpPr>
        <p:spPr>
          <a:xfrm>
            <a:off x="3182112" y="5298948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37" name="전체 경로 바"/>
          <p:cNvSpPr/>
          <p:nvPr/>
        </p:nvSpPr>
        <p:spPr>
          <a:xfrm>
            <a:off x="374904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경로 바 라벨"/>
          <p:cNvSpPr txBox="1"/>
          <p:nvPr/>
        </p:nvSpPr>
        <p:spPr>
          <a:xfrm>
            <a:off x="378561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39" name="전체 경로 바"/>
          <p:cNvSpPr/>
          <p:nvPr/>
        </p:nvSpPr>
        <p:spPr>
          <a:xfrm>
            <a:off x="457200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경로 바 라벨"/>
          <p:cNvSpPr txBox="1"/>
          <p:nvPr/>
        </p:nvSpPr>
        <p:spPr>
          <a:xfrm>
            <a:off x="460857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41" name="구간 요약"/>
          <p:cNvSpPr txBox="1"/>
          <p:nvPr/>
        </p:nvSpPr>
        <p:spPr>
          <a:xfrm>
            <a:off x="3291840" y="55184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42" name="구간 요약"/>
          <p:cNvSpPr txBox="1"/>
          <p:nvPr/>
        </p:nvSpPr>
        <p:spPr>
          <a:xfrm>
            <a:off x="3438144" y="56829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43" name="구간 요약"/>
          <p:cNvSpPr txBox="1"/>
          <p:nvPr/>
        </p:nvSpPr>
        <p:spPr>
          <a:xfrm>
            <a:off x="3438144" y="584758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44" name="안내시작"/>
          <p:cNvSpPr/>
          <p:nvPr/>
        </p:nvSpPr>
        <p:spPr>
          <a:xfrm>
            <a:off x="3145536" y="604875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안내시작 라벨"/>
          <p:cNvSpPr txBox="1"/>
          <p:nvPr/>
        </p:nvSpPr>
        <p:spPr>
          <a:xfrm>
            <a:off x="3145536" y="604875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6" name="입력 카드"/>
          <p:cNvSpPr/>
          <p:nvPr/>
        </p:nvSpPr>
        <p:spPr>
          <a:xfrm>
            <a:off x="3273552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출발지 필드"/>
          <p:cNvSpPr txBox="1"/>
          <p:nvPr/>
        </p:nvSpPr>
        <p:spPr>
          <a:xfrm>
            <a:off x="3657600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초기화 면"/>
          <p:cNvSpPr/>
          <p:nvPr/>
        </p:nvSpPr>
        <p:spPr>
          <a:xfrm>
            <a:off x="5349240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초기화"/>
          <p:cNvSpPr txBox="1"/>
          <p:nvPr/>
        </p:nvSpPr>
        <p:spPr>
          <a:xfrm>
            <a:off x="5349240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50" name="순서 바꾸기 면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구분선"/>
          <p:cNvSpPr/>
          <p:nvPr/>
        </p:nvSpPr>
        <p:spPr>
          <a:xfrm>
            <a:off x="3657600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경유지 추가 면"/>
          <p:cNvSpPr/>
          <p:nvPr/>
        </p:nvSpPr>
        <p:spPr>
          <a:xfrm>
            <a:off x="4901184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경유지 추가"/>
          <p:cNvSpPr txBox="1"/>
          <p:nvPr/>
        </p:nvSpPr>
        <p:spPr>
          <a:xfrm>
            <a:off x="4901184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4" name="도착지 필드"/>
          <p:cNvSpPr txBox="1"/>
          <p:nvPr/>
        </p:nvSpPr>
        <p:spPr>
          <a:xfrm>
            <a:off x="3657600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5" name="순서 바꾸기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순서 바꾸기"/>
          <p:cNvSpPr txBox="1"/>
          <p:nvPr/>
        </p:nvSpPr>
        <p:spPr>
          <a:xfrm>
            <a:off x="300837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57" name="지점 링"/>
          <p:cNvSpPr/>
          <p:nvPr/>
        </p:nvSpPr>
        <p:spPr>
          <a:xfrm>
            <a:off x="3431743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지점 링"/>
          <p:cNvSpPr/>
          <p:nvPr/>
        </p:nvSpPr>
        <p:spPr>
          <a:xfrm>
            <a:off x="3431743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지점 연결선"/>
          <p:cNvCxnSpPr/>
          <p:nvPr/>
        </p:nvCxnSpPr>
        <p:spPr>
          <a:xfrm>
            <a:off x="3195828" y="3337560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60" name="지점 연결선"/>
          <p:cNvCxnSpPr/>
          <p:nvPr/>
        </p:nvCxnSpPr>
        <p:spPr>
          <a:xfrm>
            <a:off x="3195828" y="3666744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61" name="지점 연결선"/>
          <p:cNvCxnSpPr/>
          <p:nvPr/>
        </p:nvCxnSpPr>
        <p:spPr>
          <a:xfrm>
            <a:off x="3195828" y="3831336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62" name="지점 표식"/>
          <p:cNvSpPr/>
          <p:nvPr/>
        </p:nvSpPr>
        <p:spPr>
          <a:xfrm>
            <a:off x="3154680" y="3296412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63" name="지점 표식"/>
          <p:cNvSpPr/>
          <p:nvPr/>
        </p:nvSpPr>
        <p:spPr>
          <a:xfrm>
            <a:off x="3154680" y="3625596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64" name="지점 표식"/>
          <p:cNvSpPr/>
          <p:nvPr/>
        </p:nvSpPr>
        <p:spPr>
          <a:xfrm>
            <a:off x="3154680" y="3790188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5" name="지점 표식"/>
          <p:cNvSpPr/>
          <p:nvPr/>
        </p:nvSpPr>
        <p:spPr>
          <a:xfrm>
            <a:off x="3154680" y="411937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6" name="지점 표식"/>
          <p:cNvSpPr/>
          <p:nvPr/>
        </p:nvSpPr>
        <p:spPr>
          <a:xfrm>
            <a:off x="3154680" y="555498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7" name="프레임 마스크"/>
          <p:cNvSpPr/>
          <p:nvPr/>
        </p:nvSpPr>
        <p:spPr>
          <a:xfrm>
            <a:off x="2926080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프레임 테두리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새로고침"/>
          <p:cNvSpPr/>
          <p:nvPr/>
        </p:nvSpPr>
        <p:spPr>
          <a:xfrm>
            <a:off x="5175504" y="581284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새로고침 라벨"/>
          <p:cNvSpPr txBox="1"/>
          <p:nvPr/>
        </p:nvSpPr>
        <p:spPr>
          <a:xfrm>
            <a:off x="5175504" y="581284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71" name="전체 경로 바"/>
          <p:cNvSpPr/>
          <p:nvPr/>
        </p:nvSpPr>
        <p:spPr>
          <a:xfrm>
            <a:off x="3145536" y="3022092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경로 바 라벨"/>
          <p:cNvSpPr txBox="1"/>
          <p:nvPr/>
        </p:nvSpPr>
        <p:spPr>
          <a:xfrm>
            <a:off x="3182112" y="3040380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73" name="전체 경로 바"/>
          <p:cNvSpPr/>
          <p:nvPr/>
        </p:nvSpPr>
        <p:spPr>
          <a:xfrm>
            <a:off x="3728923" y="3022092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경로 바 라벨"/>
          <p:cNvSpPr txBox="1"/>
          <p:nvPr/>
        </p:nvSpPr>
        <p:spPr>
          <a:xfrm>
            <a:off x="3765499" y="3040380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75" name="전체 경로 바"/>
          <p:cNvSpPr/>
          <p:nvPr/>
        </p:nvSpPr>
        <p:spPr>
          <a:xfrm>
            <a:off x="4324197" y="3022092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경로 바 라벨"/>
          <p:cNvSpPr txBox="1"/>
          <p:nvPr/>
        </p:nvSpPr>
        <p:spPr>
          <a:xfrm>
            <a:off x="4360773" y="3040380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77" name="전체 경로 바"/>
          <p:cNvSpPr/>
          <p:nvPr/>
        </p:nvSpPr>
        <p:spPr>
          <a:xfrm>
            <a:off x="4830775" y="3022092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경로 바 라벨"/>
          <p:cNvSpPr txBox="1"/>
          <p:nvPr/>
        </p:nvSpPr>
        <p:spPr>
          <a:xfrm>
            <a:off x="4867351" y="3040380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79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2734056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2"/>
          <p:cNvSpPr/>
          <p:nvPr/>
        </p:nvSpPr>
        <p:spPr>
          <a:xfrm>
            <a:off x="2734056" y="17007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1" name="숫자배지 3"/>
          <p:cNvSpPr/>
          <p:nvPr/>
        </p:nvSpPr>
        <p:spPr>
          <a:xfrm>
            <a:off x="5577840" y="20299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2" name="숫자배지 4"/>
          <p:cNvSpPr/>
          <p:nvPr/>
        </p:nvSpPr>
        <p:spPr>
          <a:xfrm>
            <a:off x="2734056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3" name="숫자배지 5"/>
          <p:cNvSpPr/>
          <p:nvPr/>
        </p:nvSpPr>
        <p:spPr>
          <a:xfrm>
            <a:off x="2734056" y="384047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6"/>
          <p:cNvSpPr/>
          <p:nvPr/>
        </p:nvSpPr>
        <p:spPr>
          <a:xfrm>
            <a:off x="5577840" y="58494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④ 경로 탐색 시작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6253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경로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미제공 — 화면이 리스트만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행은 카드가 아니며 구분선 1개로만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= 소요시간 / 도착 시각 · 요금 / 전체 경로 바 / 구간 요약 / [안내시작]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탐색 기준 태그 · 이동수단 태그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탐색 중에는 원형 로딩 인디케이터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[안내시작] · 행 본체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[안내시작]은 행 하단 전폭 — 선택 시 2-4 내비게이션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출발지가 현위치에서 100m 초과 — [안내시작]을 막고 팝업 ＋ [확인] ·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중인 경로는 라벨이 「안내 중」 · 확인 없이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 다른 경로 선택 시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본체 선택 시 2-3 상세경로 · [상세] 버튼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 · 당겨서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[새로고침]은 화면 우하단 플로팅 · 리스트는 유지하고 도착 정보만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 최상단에서 당기면 경로 재탐색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필터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279392" y="2052828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필터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279392" y="2052828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18" name="유형 기준 라벨"/>
          <p:cNvSpPr txBox="1"/>
          <p:nvPr/>
        </p:nvSpPr>
        <p:spPr>
          <a:xfrm>
            <a:off x="3145536" y="2052828"/>
            <a:ext cx="107899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1" spc="-17">
                <a:solidFill>
                  <a:srgbClr val="5B6573"/>
                </a:solidFill>
                <a:latin typeface="Pretendard"/>
              </a:rPr>
              <a:t>저시력 기준</a:t>
            </a:r>
          </a:p>
        </p:txBody>
      </p:sp>
      <p:sp>
        <p:nvSpPr>
          <p:cNvPr id="19" name="정렬"/>
          <p:cNvSpPr/>
          <p:nvPr/>
        </p:nvSpPr>
        <p:spPr>
          <a:xfrm>
            <a:off x="4937760" y="2052828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정렬 라벨"/>
          <p:cNvSpPr txBox="1"/>
          <p:nvPr/>
        </p:nvSpPr>
        <p:spPr>
          <a:xfrm>
            <a:off x="4937760" y="2052828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21" name="상단 구분선"/>
          <p:cNvSpPr/>
          <p:nvPr/>
        </p:nvSpPr>
        <p:spPr>
          <a:xfrm>
            <a:off x="2971800" y="247345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소요시간"/>
          <p:cNvSpPr txBox="1"/>
          <p:nvPr/>
        </p:nvSpPr>
        <p:spPr>
          <a:xfrm>
            <a:off x="3145536" y="258318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23" name="도착 시각 · 요금"/>
          <p:cNvSpPr txBox="1"/>
          <p:nvPr/>
        </p:nvSpPr>
        <p:spPr>
          <a:xfrm>
            <a:off x="3145536" y="282092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24" name="구간 요약"/>
          <p:cNvSpPr txBox="1"/>
          <p:nvPr/>
        </p:nvSpPr>
        <p:spPr>
          <a:xfrm>
            <a:off x="3291840" y="325983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25" name="구간 요약"/>
          <p:cNvSpPr txBox="1"/>
          <p:nvPr/>
        </p:nvSpPr>
        <p:spPr>
          <a:xfrm>
            <a:off x="3438144" y="34244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26" name="구간 요약"/>
          <p:cNvSpPr txBox="1"/>
          <p:nvPr/>
        </p:nvSpPr>
        <p:spPr>
          <a:xfrm>
            <a:off x="3291840" y="35890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27" name="구간 요약"/>
          <p:cNvSpPr txBox="1"/>
          <p:nvPr/>
        </p:nvSpPr>
        <p:spPr>
          <a:xfrm>
            <a:off x="3291840" y="37536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28" name="구간 요약"/>
          <p:cNvSpPr txBox="1"/>
          <p:nvPr/>
        </p:nvSpPr>
        <p:spPr>
          <a:xfrm>
            <a:off x="3438144" y="39182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29" name="구간 요약"/>
          <p:cNvSpPr txBox="1"/>
          <p:nvPr/>
        </p:nvSpPr>
        <p:spPr>
          <a:xfrm>
            <a:off x="3291840" y="40827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안내시작"/>
          <p:cNvSpPr/>
          <p:nvPr/>
        </p:nvSpPr>
        <p:spPr>
          <a:xfrm>
            <a:off x="3145536" y="4283964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안내시작 라벨"/>
          <p:cNvSpPr txBox="1"/>
          <p:nvPr/>
        </p:nvSpPr>
        <p:spPr>
          <a:xfrm>
            <a:off x="3145536" y="4283964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32" name="행 구분선"/>
          <p:cNvSpPr/>
          <p:nvPr/>
        </p:nvSpPr>
        <p:spPr>
          <a:xfrm>
            <a:off x="2971800" y="47137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소요시간"/>
          <p:cNvSpPr txBox="1"/>
          <p:nvPr/>
        </p:nvSpPr>
        <p:spPr>
          <a:xfrm>
            <a:off x="3145536" y="4841748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34" name="도착 시각 · 요금"/>
          <p:cNvSpPr txBox="1"/>
          <p:nvPr/>
        </p:nvSpPr>
        <p:spPr>
          <a:xfrm>
            <a:off x="3145536" y="50794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35" name="전체 경로 바"/>
          <p:cNvSpPr/>
          <p:nvPr/>
        </p:nvSpPr>
        <p:spPr>
          <a:xfrm>
            <a:off x="3145536" y="5280660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경로 바 라벨"/>
          <p:cNvSpPr txBox="1"/>
          <p:nvPr/>
        </p:nvSpPr>
        <p:spPr>
          <a:xfrm>
            <a:off x="3182112" y="5298948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37" name="전체 경로 바"/>
          <p:cNvSpPr/>
          <p:nvPr/>
        </p:nvSpPr>
        <p:spPr>
          <a:xfrm>
            <a:off x="374904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경로 바 라벨"/>
          <p:cNvSpPr txBox="1"/>
          <p:nvPr/>
        </p:nvSpPr>
        <p:spPr>
          <a:xfrm>
            <a:off x="378561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39" name="전체 경로 바"/>
          <p:cNvSpPr/>
          <p:nvPr/>
        </p:nvSpPr>
        <p:spPr>
          <a:xfrm>
            <a:off x="457200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경로 바 라벨"/>
          <p:cNvSpPr txBox="1"/>
          <p:nvPr/>
        </p:nvSpPr>
        <p:spPr>
          <a:xfrm>
            <a:off x="460857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41" name="구간 요약"/>
          <p:cNvSpPr txBox="1"/>
          <p:nvPr/>
        </p:nvSpPr>
        <p:spPr>
          <a:xfrm>
            <a:off x="3291840" y="55184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42" name="구간 요약"/>
          <p:cNvSpPr txBox="1"/>
          <p:nvPr/>
        </p:nvSpPr>
        <p:spPr>
          <a:xfrm>
            <a:off x="3438144" y="56829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43" name="구간 요약"/>
          <p:cNvSpPr txBox="1"/>
          <p:nvPr/>
        </p:nvSpPr>
        <p:spPr>
          <a:xfrm>
            <a:off x="3438144" y="584758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44" name="안내시작"/>
          <p:cNvSpPr/>
          <p:nvPr/>
        </p:nvSpPr>
        <p:spPr>
          <a:xfrm>
            <a:off x="3145536" y="604875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안내시작 라벨"/>
          <p:cNvSpPr txBox="1"/>
          <p:nvPr/>
        </p:nvSpPr>
        <p:spPr>
          <a:xfrm>
            <a:off x="3145536" y="604875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6" name="입력 카드"/>
          <p:cNvSpPr/>
          <p:nvPr/>
        </p:nvSpPr>
        <p:spPr>
          <a:xfrm>
            <a:off x="3273552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출발지 필드"/>
          <p:cNvSpPr txBox="1"/>
          <p:nvPr/>
        </p:nvSpPr>
        <p:spPr>
          <a:xfrm>
            <a:off x="3657600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초기화 면"/>
          <p:cNvSpPr/>
          <p:nvPr/>
        </p:nvSpPr>
        <p:spPr>
          <a:xfrm>
            <a:off x="5349240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초기화"/>
          <p:cNvSpPr txBox="1"/>
          <p:nvPr/>
        </p:nvSpPr>
        <p:spPr>
          <a:xfrm>
            <a:off x="5349240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50" name="순서 바꾸기 면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구분선"/>
          <p:cNvSpPr/>
          <p:nvPr/>
        </p:nvSpPr>
        <p:spPr>
          <a:xfrm>
            <a:off x="3657600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경유지 추가 면"/>
          <p:cNvSpPr/>
          <p:nvPr/>
        </p:nvSpPr>
        <p:spPr>
          <a:xfrm>
            <a:off x="4901184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경유지 추가"/>
          <p:cNvSpPr txBox="1"/>
          <p:nvPr/>
        </p:nvSpPr>
        <p:spPr>
          <a:xfrm>
            <a:off x="4901184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4" name="도착지 필드"/>
          <p:cNvSpPr txBox="1"/>
          <p:nvPr/>
        </p:nvSpPr>
        <p:spPr>
          <a:xfrm>
            <a:off x="3657600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5" name="순서 바꾸기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순서 바꾸기"/>
          <p:cNvSpPr txBox="1"/>
          <p:nvPr/>
        </p:nvSpPr>
        <p:spPr>
          <a:xfrm>
            <a:off x="300837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57" name="지점 링"/>
          <p:cNvSpPr/>
          <p:nvPr/>
        </p:nvSpPr>
        <p:spPr>
          <a:xfrm>
            <a:off x="3431743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지점 링"/>
          <p:cNvSpPr/>
          <p:nvPr/>
        </p:nvSpPr>
        <p:spPr>
          <a:xfrm>
            <a:off x="3431743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지점 연결선"/>
          <p:cNvCxnSpPr/>
          <p:nvPr/>
        </p:nvCxnSpPr>
        <p:spPr>
          <a:xfrm>
            <a:off x="3195828" y="3337560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60" name="지점 연결선"/>
          <p:cNvCxnSpPr/>
          <p:nvPr/>
        </p:nvCxnSpPr>
        <p:spPr>
          <a:xfrm>
            <a:off x="3195828" y="3666744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61" name="지점 연결선"/>
          <p:cNvCxnSpPr/>
          <p:nvPr/>
        </p:nvCxnSpPr>
        <p:spPr>
          <a:xfrm>
            <a:off x="3195828" y="3831336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62" name="지점 표식"/>
          <p:cNvSpPr/>
          <p:nvPr/>
        </p:nvSpPr>
        <p:spPr>
          <a:xfrm>
            <a:off x="3154680" y="3296412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63" name="지점 표식"/>
          <p:cNvSpPr/>
          <p:nvPr/>
        </p:nvSpPr>
        <p:spPr>
          <a:xfrm>
            <a:off x="3154680" y="3625596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64" name="지점 표식"/>
          <p:cNvSpPr/>
          <p:nvPr/>
        </p:nvSpPr>
        <p:spPr>
          <a:xfrm>
            <a:off x="3154680" y="3790188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5" name="지점 표식"/>
          <p:cNvSpPr/>
          <p:nvPr/>
        </p:nvSpPr>
        <p:spPr>
          <a:xfrm>
            <a:off x="3154680" y="411937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6" name="지점 표식"/>
          <p:cNvSpPr/>
          <p:nvPr/>
        </p:nvSpPr>
        <p:spPr>
          <a:xfrm>
            <a:off x="3154680" y="555498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7" name="프레임 마스크"/>
          <p:cNvSpPr/>
          <p:nvPr/>
        </p:nvSpPr>
        <p:spPr>
          <a:xfrm>
            <a:off x="2926080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프레임 테두리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새로고침"/>
          <p:cNvSpPr/>
          <p:nvPr/>
        </p:nvSpPr>
        <p:spPr>
          <a:xfrm>
            <a:off x="5175504" y="581284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새로고침 라벨"/>
          <p:cNvSpPr txBox="1"/>
          <p:nvPr/>
        </p:nvSpPr>
        <p:spPr>
          <a:xfrm>
            <a:off x="5175504" y="581284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71" name="전체 경로 바"/>
          <p:cNvSpPr/>
          <p:nvPr/>
        </p:nvSpPr>
        <p:spPr>
          <a:xfrm>
            <a:off x="3145536" y="3022092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경로 바 라벨"/>
          <p:cNvSpPr txBox="1"/>
          <p:nvPr/>
        </p:nvSpPr>
        <p:spPr>
          <a:xfrm>
            <a:off x="3182112" y="3040380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73" name="전체 경로 바"/>
          <p:cNvSpPr/>
          <p:nvPr/>
        </p:nvSpPr>
        <p:spPr>
          <a:xfrm>
            <a:off x="3728923" y="3022092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경로 바 라벨"/>
          <p:cNvSpPr txBox="1"/>
          <p:nvPr/>
        </p:nvSpPr>
        <p:spPr>
          <a:xfrm>
            <a:off x="3765499" y="3040380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75" name="전체 경로 바"/>
          <p:cNvSpPr/>
          <p:nvPr/>
        </p:nvSpPr>
        <p:spPr>
          <a:xfrm>
            <a:off x="4324197" y="3022092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경로 바 라벨"/>
          <p:cNvSpPr txBox="1"/>
          <p:nvPr/>
        </p:nvSpPr>
        <p:spPr>
          <a:xfrm>
            <a:off x="4360773" y="3040380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77" name="전체 경로 바"/>
          <p:cNvSpPr/>
          <p:nvPr/>
        </p:nvSpPr>
        <p:spPr>
          <a:xfrm>
            <a:off x="4830775" y="3022092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경로 바 라벨"/>
          <p:cNvSpPr txBox="1"/>
          <p:nvPr/>
        </p:nvSpPr>
        <p:spPr>
          <a:xfrm>
            <a:off x="4867351" y="3040380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79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2734056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2"/>
          <p:cNvSpPr/>
          <p:nvPr/>
        </p:nvSpPr>
        <p:spPr>
          <a:xfrm>
            <a:off x="2734056" y="17007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1" name="숫자배지 3"/>
          <p:cNvSpPr/>
          <p:nvPr/>
        </p:nvSpPr>
        <p:spPr>
          <a:xfrm>
            <a:off x="5577840" y="20299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2" name="숫자배지 4"/>
          <p:cNvSpPr/>
          <p:nvPr/>
        </p:nvSpPr>
        <p:spPr>
          <a:xfrm>
            <a:off x="2734056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3" name="숫자배지 5"/>
          <p:cNvSpPr/>
          <p:nvPr/>
        </p:nvSpPr>
        <p:spPr>
          <a:xfrm>
            <a:off x="2734056" y="384047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6"/>
          <p:cNvSpPr/>
          <p:nvPr/>
        </p:nvSpPr>
        <p:spPr>
          <a:xfrm>
            <a:off x="5577840" y="58494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지하철 구간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1389888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1408176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1408176" y="2761488"/>
            <a:ext cx="2724912" cy="357530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1545336" y="290779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1408176" y="362102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1572768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1572768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1591056" y="379293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1755648" y="376732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1643177" y="3895345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1755648" y="3927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1591056" y="413125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1755648" y="410565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1874520" y="426567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27" name="목업 텍스트"/>
          <p:cNvSpPr/>
          <p:nvPr/>
        </p:nvSpPr>
        <p:spPr>
          <a:xfrm>
            <a:off x="1874520" y="442569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1874520" y="460400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29" name="목업 텍스트"/>
          <p:cNvSpPr/>
          <p:nvPr/>
        </p:nvSpPr>
        <p:spPr>
          <a:xfrm>
            <a:off x="1874520" y="476402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30" name="목업 텍스트"/>
          <p:cNvSpPr/>
          <p:nvPr/>
        </p:nvSpPr>
        <p:spPr>
          <a:xfrm>
            <a:off x="1874520" y="4942333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31" name="목업 텍스트"/>
          <p:cNvSpPr/>
          <p:nvPr/>
        </p:nvSpPr>
        <p:spPr>
          <a:xfrm>
            <a:off x="2354325" y="4942333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2" name="타임라인 표식"/>
          <p:cNvSpPr/>
          <p:nvPr/>
        </p:nvSpPr>
        <p:spPr>
          <a:xfrm>
            <a:off x="1591056" y="5146244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목업 텍스트"/>
          <p:cNvSpPr/>
          <p:nvPr/>
        </p:nvSpPr>
        <p:spPr>
          <a:xfrm>
            <a:off x="1755648" y="512064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34" name="구간 선"/>
          <p:cNvCxnSpPr/>
          <p:nvPr/>
        </p:nvCxnSpPr>
        <p:spPr>
          <a:xfrm>
            <a:off x="1643177" y="4233672"/>
            <a:ext cx="0" cy="914400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목업 텍스트"/>
          <p:cNvSpPr/>
          <p:nvPr/>
        </p:nvSpPr>
        <p:spPr>
          <a:xfrm>
            <a:off x="1755648" y="528066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36" name="구간 선"/>
          <p:cNvCxnSpPr/>
          <p:nvPr/>
        </p:nvCxnSpPr>
        <p:spPr>
          <a:xfrm>
            <a:off x="1643177" y="5248657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타임라인 표식"/>
          <p:cNvSpPr/>
          <p:nvPr/>
        </p:nvSpPr>
        <p:spPr>
          <a:xfrm>
            <a:off x="1591056" y="548457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8" name="목업 텍스트"/>
          <p:cNvSpPr/>
          <p:nvPr/>
        </p:nvSpPr>
        <p:spPr>
          <a:xfrm>
            <a:off x="1755648" y="545896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39" name="목업 프레임"/>
          <p:cNvSpPr/>
          <p:nvPr/>
        </p:nvSpPr>
        <p:spPr>
          <a:xfrm>
            <a:off x="45628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지도"/>
          <p:cNvSpPr/>
          <p:nvPr/>
        </p:nvSpPr>
        <p:spPr>
          <a:xfrm>
            <a:off x="45811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41" name="바텀시트"/>
          <p:cNvSpPr/>
          <p:nvPr/>
        </p:nvSpPr>
        <p:spPr>
          <a:xfrm>
            <a:off x="4581144" y="1572768"/>
            <a:ext cx="2724912" cy="476402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소요시간 배지"/>
          <p:cNvSpPr/>
          <p:nvPr/>
        </p:nvSpPr>
        <p:spPr>
          <a:xfrm>
            <a:off x="4718304" y="171907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3" name="리스트 구분선"/>
          <p:cNvSpPr/>
          <p:nvPr/>
        </p:nvSpPr>
        <p:spPr>
          <a:xfrm>
            <a:off x="4581144" y="243230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버튼 안내시작"/>
          <p:cNvSpPr/>
          <p:nvPr/>
        </p:nvSpPr>
        <p:spPr>
          <a:xfrm>
            <a:off x="47457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/>
          <p:cNvSpPr txBox="1"/>
          <p:nvPr/>
        </p:nvSpPr>
        <p:spPr>
          <a:xfrm>
            <a:off x="47457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6" name="타임라인 표식"/>
          <p:cNvSpPr/>
          <p:nvPr/>
        </p:nvSpPr>
        <p:spPr>
          <a:xfrm>
            <a:off x="4764024" y="260421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목업 텍스트"/>
          <p:cNvSpPr/>
          <p:nvPr/>
        </p:nvSpPr>
        <p:spPr>
          <a:xfrm>
            <a:off x="4928616" y="257860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48" name="구간 선"/>
          <p:cNvCxnSpPr/>
          <p:nvPr/>
        </p:nvCxnSpPr>
        <p:spPr>
          <a:xfrm>
            <a:off x="4816145" y="2706624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목업 텍스트"/>
          <p:cNvSpPr/>
          <p:nvPr/>
        </p:nvSpPr>
        <p:spPr>
          <a:xfrm>
            <a:off x="4928616" y="27386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0" name="타임라인 표식"/>
          <p:cNvSpPr/>
          <p:nvPr/>
        </p:nvSpPr>
        <p:spPr>
          <a:xfrm>
            <a:off x="4764024" y="294253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1" name="목업 텍스트"/>
          <p:cNvSpPr/>
          <p:nvPr/>
        </p:nvSpPr>
        <p:spPr>
          <a:xfrm>
            <a:off x="4928616" y="291693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52" name="목업 텍스트"/>
          <p:cNvSpPr/>
          <p:nvPr/>
        </p:nvSpPr>
        <p:spPr>
          <a:xfrm>
            <a:off x="5047488" y="307695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53" name="목업 텍스트"/>
          <p:cNvSpPr/>
          <p:nvPr/>
        </p:nvSpPr>
        <p:spPr>
          <a:xfrm>
            <a:off x="5047488" y="32369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54" name="목업 텍스트"/>
          <p:cNvSpPr/>
          <p:nvPr/>
        </p:nvSpPr>
        <p:spPr>
          <a:xfrm>
            <a:off x="5047488" y="34152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55" name="목업 텍스트"/>
          <p:cNvSpPr/>
          <p:nvPr/>
        </p:nvSpPr>
        <p:spPr>
          <a:xfrm>
            <a:off x="5047488" y="35753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56" name="목업 텍스트"/>
          <p:cNvSpPr/>
          <p:nvPr/>
        </p:nvSpPr>
        <p:spPr>
          <a:xfrm>
            <a:off x="5047488" y="37536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57" name="목업 텍스트"/>
          <p:cNvSpPr/>
          <p:nvPr/>
        </p:nvSpPr>
        <p:spPr>
          <a:xfrm>
            <a:off x="5527293" y="375361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∧</a:t>
            </a:r>
          </a:p>
        </p:txBody>
      </p:sp>
      <p:sp>
        <p:nvSpPr>
          <p:cNvPr id="58" name="목업 텍스트"/>
          <p:cNvSpPr/>
          <p:nvPr/>
        </p:nvSpPr>
        <p:spPr>
          <a:xfrm>
            <a:off x="5047488" y="39319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충정로</a:t>
            </a:r>
          </a:p>
        </p:txBody>
      </p:sp>
      <p:sp>
        <p:nvSpPr>
          <p:cNvPr id="59" name="목업 텍스트"/>
          <p:cNvSpPr/>
          <p:nvPr/>
        </p:nvSpPr>
        <p:spPr>
          <a:xfrm>
            <a:off x="5047488" y="40919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아현</a:t>
            </a:r>
          </a:p>
        </p:txBody>
      </p:sp>
      <p:sp>
        <p:nvSpPr>
          <p:cNvPr id="60" name="목업 텍스트"/>
          <p:cNvSpPr/>
          <p:nvPr/>
        </p:nvSpPr>
        <p:spPr>
          <a:xfrm>
            <a:off x="5047488" y="42519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이대</a:t>
            </a:r>
          </a:p>
        </p:txBody>
      </p:sp>
      <p:sp>
        <p:nvSpPr>
          <p:cNvPr id="61" name="목업 텍스트"/>
          <p:cNvSpPr/>
          <p:nvPr/>
        </p:nvSpPr>
        <p:spPr>
          <a:xfrm>
            <a:off x="5047488" y="441198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신촌</a:t>
            </a:r>
          </a:p>
        </p:txBody>
      </p:sp>
      <p:sp>
        <p:nvSpPr>
          <p:cNvPr id="62" name="목업 텍스트"/>
          <p:cNvSpPr/>
          <p:nvPr/>
        </p:nvSpPr>
        <p:spPr>
          <a:xfrm>
            <a:off x="5047488" y="45720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홍대입구</a:t>
            </a:r>
          </a:p>
        </p:txBody>
      </p:sp>
      <p:sp>
        <p:nvSpPr>
          <p:cNvPr id="63" name="목업 텍스트"/>
          <p:cNvSpPr/>
          <p:nvPr/>
        </p:nvSpPr>
        <p:spPr>
          <a:xfrm>
            <a:off x="5047488" y="47320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합정</a:t>
            </a:r>
          </a:p>
        </p:txBody>
      </p:sp>
      <p:sp>
        <p:nvSpPr>
          <p:cNvPr id="64" name="목업 텍스트"/>
          <p:cNvSpPr/>
          <p:nvPr/>
        </p:nvSpPr>
        <p:spPr>
          <a:xfrm>
            <a:off x="5047488" y="48920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</a:t>
            </a:r>
          </a:p>
        </p:txBody>
      </p:sp>
      <p:sp>
        <p:nvSpPr>
          <p:cNvPr id="65" name="타임라인 표식"/>
          <p:cNvSpPr/>
          <p:nvPr/>
        </p:nvSpPr>
        <p:spPr>
          <a:xfrm>
            <a:off x="4764024" y="509595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6" name="목업 텍스트"/>
          <p:cNvSpPr/>
          <p:nvPr/>
        </p:nvSpPr>
        <p:spPr>
          <a:xfrm>
            <a:off x="4928616" y="5070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67" name="구간 선"/>
          <p:cNvCxnSpPr/>
          <p:nvPr/>
        </p:nvCxnSpPr>
        <p:spPr>
          <a:xfrm>
            <a:off x="4816145" y="3044952"/>
            <a:ext cx="0" cy="2052828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목업 텍스트"/>
          <p:cNvSpPr/>
          <p:nvPr/>
        </p:nvSpPr>
        <p:spPr>
          <a:xfrm>
            <a:off x="4928616" y="52303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69" name="구간 선"/>
          <p:cNvCxnSpPr/>
          <p:nvPr/>
        </p:nvCxnSpPr>
        <p:spPr>
          <a:xfrm>
            <a:off x="4816145" y="5198364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임라인 표식"/>
          <p:cNvSpPr/>
          <p:nvPr/>
        </p:nvSpPr>
        <p:spPr>
          <a:xfrm>
            <a:off x="4764024" y="543427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목업 텍스트"/>
          <p:cNvSpPr/>
          <p:nvPr/>
        </p:nvSpPr>
        <p:spPr>
          <a:xfrm>
            <a:off x="4928616" y="54086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97880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방면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탑승역 아래에 종착 방면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빠른환승 · 승강장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 아래 한 줄에 그룹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승강장 정보는 없을 수 있음 — 없으면 빠른환승만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다음이 환승이면 ‘빠른환승’, 마지막 하차면 ‘빠른하차’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차기 · 차차기 도착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 옆에 2행 고정 (차기 → 차차기)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표기 3단 — 1분 미만 ‘곧 도착’ / 10분 미만 ‘N분 N초’ / 10분 이상 ‘N분’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10분 이상에는 초를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화면 골격 · 상시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2층 — 지도가 경로를 그리고 그 위에 상세 시트가 얹힘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3단계(최소 · 중간 · 최대) · 진입 기본값은 중간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어느 단계에서도 뒤로가기 · [안내시작] · [새로고침]은 사라지지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출발지가 현위치에서 100m를 넘으면 [안내시작]을 팝업으로 막음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뒤로가기"/>
          <p:cNvSpPr/>
          <p:nvPr/>
        </p:nvSpPr>
        <p:spPr>
          <a:xfrm>
            <a:off x="1481328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4" name="시간표"/>
          <p:cNvSpPr/>
          <p:nvPr/>
        </p:nvSpPr>
        <p:spPr>
          <a:xfrm>
            <a:off x="3493008" y="4411981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5" name="뒤로가기"/>
          <p:cNvSpPr/>
          <p:nvPr/>
        </p:nvSpPr>
        <p:spPr>
          <a:xfrm>
            <a:off x="46542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6" name="시간표"/>
          <p:cNvSpPr/>
          <p:nvPr/>
        </p:nvSpPr>
        <p:spPr>
          <a:xfrm>
            <a:off x="6665976" y="3223260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7" name="바텀시트 핸들"/>
          <p:cNvSpPr/>
          <p:nvPr/>
        </p:nvSpPr>
        <p:spPr>
          <a:xfrm>
            <a:off x="2592324" y="282549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전체 경로 바"/>
          <p:cNvSpPr/>
          <p:nvPr/>
        </p:nvSpPr>
        <p:spPr>
          <a:xfrm>
            <a:off x="1572768" y="338328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경로 바 라벨"/>
          <p:cNvSpPr txBox="1"/>
          <p:nvPr/>
        </p:nvSpPr>
        <p:spPr>
          <a:xfrm>
            <a:off x="1609344" y="340156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0" name="전체 경로 바"/>
          <p:cNvSpPr/>
          <p:nvPr/>
        </p:nvSpPr>
        <p:spPr>
          <a:xfrm>
            <a:off x="2176272" y="338328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경로 바 라벨"/>
          <p:cNvSpPr txBox="1"/>
          <p:nvPr/>
        </p:nvSpPr>
        <p:spPr>
          <a:xfrm>
            <a:off x="2212848" y="340156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2" name="전체 경로 바"/>
          <p:cNvSpPr/>
          <p:nvPr/>
        </p:nvSpPr>
        <p:spPr>
          <a:xfrm>
            <a:off x="3072384" y="338328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경로 바 라벨"/>
          <p:cNvSpPr txBox="1"/>
          <p:nvPr/>
        </p:nvSpPr>
        <p:spPr>
          <a:xfrm>
            <a:off x="3108960" y="340156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84" name="지도 안내"/>
          <p:cNvSpPr txBox="1"/>
          <p:nvPr/>
        </p:nvSpPr>
        <p:spPr>
          <a:xfrm>
            <a:off x="1481328" y="1906524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85" name="바텀시트 핸들"/>
          <p:cNvSpPr/>
          <p:nvPr/>
        </p:nvSpPr>
        <p:spPr>
          <a:xfrm>
            <a:off x="5765292" y="163677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전체 경로 바"/>
          <p:cNvSpPr/>
          <p:nvPr/>
        </p:nvSpPr>
        <p:spPr>
          <a:xfrm>
            <a:off x="4745736" y="219456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4782312" y="221284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5349240" y="219456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5385816" y="221284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0" name="전체 경로 바"/>
          <p:cNvSpPr/>
          <p:nvPr/>
        </p:nvSpPr>
        <p:spPr>
          <a:xfrm>
            <a:off x="6245352" y="219456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경로 바 라벨"/>
          <p:cNvSpPr txBox="1"/>
          <p:nvPr/>
        </p:nvSpPr>
        <p:spPr>
          <a:xfrm>
            <a:off x="6281928" y="221284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2" name="도착 시각 · 요금"/>
          <p:cNvSpPr txBox="1"/>
          <p:nvPr/>
        </p:nvSpPr>
        <p:spPr>
          <a:xfrm>
            <a:off x="1545336" y="320040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4718304" y="201168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94" name="뒤로가기"/>
          <p:cNvCxnSpPr/>
          <p:nvPr/>
        </p:nvCxnSpPr>
        <p:spPr>
          <a:xfrm flipH="1">
            <a:off x="1552956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/>
          <p:cNvCxnSpPr/>
          <p:nvPr/>
        </p:nvCxnSpPr>
        <p:spPr>
          <a:xfrm flipH="1" flipV="1">
            <a:off x="1552956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>
            <a:off x="47259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 flipV="1">
            <a:off x="47259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새로고침"/>
          <p:cNvSpPr/>
          <p:nvPr/>
        </p:nvSpPr>
        <p:spPr>
          <a:xfrm>
            <a:off x="3602736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새로고침 라벨"/>
          <p:cNvSpPr txBox="1"/>
          <p:nvPr/>
        </p:nvSpPr>
        <p:spPr>
          <a:xfrm>
            <a:off x="3602736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0" name="새로고침"/>
          <p:cNvSpPr/>
          <p:nvPr/>
        </p:nvSpPr>
        <p:spPr>
          <a:xfrm>
            <a:off x="67757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새로고침 라벨"/>
          <p:cNvSpPr txBox="1"/>
          <p:nvPr/>
        </p:nvSpPr>
        <p:spPr>
          <a:xfrm>
            <a:off x="67757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2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66744" y="16824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66744" y="16824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104" name="지도 컨트롤"/>
          <p:cNvSpPr/>
          <p:nvPr/>
        </p:nvSpPr>
        <p:spPr>
          <a:xfrm>
            <a:off x="3666744" y="20299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지도 컨트롤 라벨"/>
          <p:cNvSpPr txBox="1"/>
          <p:nvPr/>
        </p:nvSpPr>
        <p:spPr>
          <a:xfrm>
            <a:off x="3666744" y="20299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106" name="지도 컨트롤"/>
          <p:cNvSpPr/>
          <p:nvPr/>
        </p:nvSpPr>
        <p:spPr>
          <a:xfrm>
            <a:off x="3300984" y="23774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지도 컨트롤 라벨"/>
          <p:cNvSpPr txBox="1"/>
          <p:nvPr/>
        </p:nvSpPr>
        <p:spPr>
          <a:xfrm>
            <a:off x="3300984" y="23774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108" name="숫자배지 1"/>
          <p:cNvSpPr/>
          <p:nvPr/>
        </p:nvSpPr>
        <p:spPr>
          <a:xfrm>
            <a:off x="1143000" y="424738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9" name="숫자배지 2"/>
          <p:cNvSpPr/>
          <p:nvPr/>
        </p:nvSpPr>
        <p:spPr>
          <a:xfrm>
            <a:off x="1143000" y="440740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3"/>
          <p:cNvSpPr/>
          <p:nvPr/>
        </p:nvSpPr>
        <p:spPr>
          <a:xfrm>
            <a:off x="1143000" y="4585717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1" name="숫자배지 4"/>
          <p:cNvSpPr/>
          <p:nvPr/>
        </p:nvSpPr>
        <p:spPr>
          <a:xfrm>
            <a:off x="1143000" y="492404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4-1"/>
          <p:cNvSpPr/>
          <p:nvPr/>
        </p:nvSpPr>
        <p:spPr>
          <a:xfrm>
            <a:off x="4197096" y="441198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113" name="숫자배지 5"/>
          <p:cNvSpPr/>
          <p:nvPr/>
        </p:nvSpPr>
        <p:spPr>
          <a:xfrm>
            <a:off x="3698748" y="50292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지하철 구간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1389888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1408176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1408176" y="2761488"/>
            <a:ext cx="2724912" cy="357530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1545336" y="290779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1408176" y="362102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1572768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1572768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1591056" y="379293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1755648" y="376732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1643177" y="3895345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1755648" y="3927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1591056" y="413125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1755648" y="410565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1874520" y="426567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27" name="목업 텍스트"/>
          <p:cNvSpPr/>
          <p:nvPr/>
        </p:nvSpPr>
        <p:spPr>
          <a:xfrm>
            <a:off x="1874520" y="442569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1874520" y="460400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29" name="목업 텍스트"/>
          <p:cNvSpPr/>
          <p:nvPr/>
        </p:nvSpPr>
        <p:spPr>
          <a:xfrm>
            <a:off x="1874520" y="476402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30" name="목업 텍스트"/>
          <p:cNvSpPr/>
          <p:nvPr/>
        </p:nvSpPr>
        <p:spPr>
          <a:xfrm>
            <a:off x="1874520" y="4942333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31" name="목업 텍스트"/>
          <p:cNvSpPr/>
          <p:nvPr/>
        </p:nvSpPr>
        <p:spPr>
          <a:xfrm>
            <a:off x="2354325" y="4942333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2" name="타임라인 표식"/>
          <p:cNvSpPr/>
          <p:nvPr/>
        </p:nvSpPr>
        <p:spPr>
          <a:xfrm>
            <a:off x="1591056" y="5146244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목업 텍스트"/>
          <p:cNvSpPr/>
          <p:nvPr/>
        </p:nvSpPr>
        <p:spPr>
          <a:xfrm>
            <a:off x="1755648" y="512064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34" name="구간 선"/>
          <p:cNvCxnSpPr/>
          <p:nvPr/>
        </p:nvCxnSpPr>
        <p:spPr>
          <a:xfrm>
            <a:off x="1643177" y="4233672"/>
            <a:ext cx="0" cy="914400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목업 텍스트"/>
          <p:cNvSpPr/>
          <p:nvPr/>
        </p:nvSpPr>
        <p:spPr>
          <a:xfrm>
            <a:off x="1755648" y="528066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36" name="구간 선"/>
          <p:cNvCxnSpPr/>
          <p:nvPr/>
        </p:nvCxnSpPr>
        <p:spPr>
          <a:xfrm>
            <a:off x="1643177" y="5248657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타임라인 표식"/>
          <p:cNvSpPr/>
          <p:nvPr/>
        </p:nvSpPr>
        <p:spPr>
          <a:xfrm>
            <a:off x="1591056" y="548457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8" name="목업 텍스트"/>
          <p:cNvSpPr/>
          <p:nvPr/>
        </p:nvSpPr>
        <p:spPr>
          <a:xfrm>
            <a:off x="1755648" y="545896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39" name="목업 프레임"/>
          <p:cNvSpPr/>
          <p:nvPr/>
        </p:nvSpPr>
        <p:spPr>
          <a:xfrm>
            <a:off x="45628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지도"/>
          <p:cNvSpPr/>
          <p:nvPr/>
        </p:nvSpPr>
        <p:spPr>
          <a:xfrm>
            <a:off x="45811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41" name="바텀시트"/>
          <p:cNvSpPr/>
          <p:nvPr/>
        </p:nvSpPr>
        <p:spPr>
          <a:xfrm>
            <a:off x="4581144" y="1572768"/>
            <a:ext cx="2724912" cy="476402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소요시간 배지"/>
          <p:cNvSpPr/>
          <p:nvPr/>
        </p:nvSpPr>
        <p:spPr>
          <a:xfrm>
            <a:off x="4718304" y="171907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3" name="리스트 구분선"/>
          <p:cNvSpPr/>
          <p:nvPr/>
        </p:nvSpPr>
        <p:spPr>
          <a:xfrm>
            <a:off x="4581144" y="243230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버튼 안내시작"/>
          <p:cNvSpPr/>
          <p:nvPr/>
        </p:nvSpPr>
        <p:spPr>
          <a:xfrm>
            <a:off x="47457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/>
          <p:cNvSpPr txBox="1"/>
          <p:nvPr/>
        </p:nvSpPr>
        <p:spPr>
          <a:xfrm>
            <a:off x="47457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6" name="타임라인 표식"/>
          <p:cNvSpPr/>
          <p:nvPr/>
        </p:nvSpPr>
        <p:spPr>
          <a:xfrm>
            <a:off x="4764024" y="260421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목업 텍스트"/>
          <p:cNvSpPr/>
          <p:nvPr/>
        </p:nvSpPr>
        <p:spPr>
          <a:xfrm>
            <a:off x="4928616" y="257860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48" name="구간 선"/>
          <p:cNvCxnSpPr/>
          <p:nvPr/>
        </p:nvCxnSpPr>
        <p:spPr>
          <a:xfrm>
            <a:off x="4816145" y="2706624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목업 텍스트"/>
          <p:cNvSpPr/>
          <p:nvPr/>
        </p:nvSpPr>
        <p:spPr>
          <a:xfrm>
            <a:off x="4928616" y="27386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0" name="타임라인 표식"/>
          <p:cNvSpPr/>
          <p:nvPr/>
        </p:nvSpPr>
        <p:spPr>
          <a:xfrm>
            <a:off x="4764024" y="294253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1" name="목업 텍스트"/>
          <p:cNvSpPr/>
          <p:nvPr/>
        </p:nvSpPr>
        <p:spPr>
          <a:xfrm>
            <a:off x="4928616" y="291693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52" name="목업 텍스트"/>
          <p:cNvSpPr/>
          <p:nvPr/>
        </p:nvSpPr>
        <p:spPr>
          <a:xfrm>
            <a:off x="5047488" y="307695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53" name="목업 텍스트"/>
          <p:cNvSpPr/>
          <p:nvPr/>
        </p:nvSpPr>
        <p:spPr>
          <a:xfrm>
            <a:off x="5047488" y="32369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54" name="목업 텍스트"/>
          <p:cNvSpPr/>
          <p:nvPr/>
        </p:nvSpPr>
        <p:spPr>
          <a:xfrm>
            <a:off x="5047488" y="34152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55" name="목업 텍스트"/>
          <p:cNvSpPr/>
          <p:nvPr/>
        </p:nvSpPr>
        <p:spPr>
          <a:xfrm>
            <a:off x="5047488" y="35753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56" name="목업 텍스트"/>
          <p:cNvSpPr/>
          <p:nvPr/>
        </p:nvSpPr>
        <p:spPr>
          <a:xfrm>
            <a:off x="5047488" y="37536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57" name="목업 텍스트"/>
          <p:cNvSpPr/>
          <p:nvPr/>
        </p:nvSpPr>
        <p:spPr>
          <a:xfrm>
            <a:off x="5527293" y="375361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∧</a:t>
            </a:r>
          </a:p>
        </p:txBody>
      </p:sp>
      <p:sp>
        <p:nvSpPr>
          <p:cNvPr id="58" name="목업 텍스트"/>
          <p:cNvSpPr/>
          <p:nvPr/>
        </p:nvSpPr>
        <p:spPr>
          <a:xfrm>
            <a:off x="5047488" y="39319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충정로</a:t>
            </a:r>
          </a:p>
        </p:txBody>
      </p:sp>
      <p:sp>
        <p:nvSpPr>
          <p:cNvPr id="59" name="목업 텍스트"/>
          <p:cNvSpPr/>
          <p:nvPr/>
        </p:nvSpPr>
        <p:spPr>
          <a:xfrm>
            <a:off x="5047488" y="40919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아현</a:t>
            </a:r>
          </a:p>
        </p:txBody>
      </p:sp>
      <p:sp>
        <p:nvSpPr>
          <p:cNvPr id="60" name="목업 텍스트"/>
          <p:cNvSpPr/>
          <p:nvPr/>
        </p:nvSpPr>
        <p:spPr>
          <a:xfrm>
            <a:off x="5047488" y="42519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이대</a:t>
            </a:r>
          </a:p>
        </p:txBody>
      </p:sp>
      <p:sp>
        <p:nvSpPr>
          <p:cNvPr id="61" name="목업 텍스트"/>
          <p:cNvSpPr/>
          <p:nvPr/>
        </p:nvSpPr>
        <p:spPr>
          <a:xfrm>
            <a:off x="5047488" y="441198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신촌</a:t>
            </a:r>
          </a:p>
        </p:txBody>
      </p:sp>
      <p:sp>
        <p:nvSpPr>
          <p:cNvPr id="62" name="목업 텍스트"/>
          <p:cNvSpPr/>
          <p:nvPr/>
        </p:nvSpPr>
        <p:spPr>
          <a:xfrm>
            <a:off x="5047488" y="45720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홍대입구</a:t>
            </a:r>
          </a:p>
        </p:txBody>
      </p:sp>
      <p:sp>
        <p:nvSpPr>
          <p:cNvPr id="63" name="목업 텍스트"/>
          <p:cNvSpPr/>
          <p:nvPr/>
        </p:nvSpPr>
        <p:spPr>
          <a:xfrm>
            <a:off x="5047488" y="47320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합정</a:t>
            </a:r>
          </a:p>
        </p:txBody>
      </p:sp>
      <p:sp>
        <p:nvSpPr>
          <p:cNvPr id="64" name="목업 텍스트"/>
          <p:cNvSpPr/>
          <p:nvPr/>
        </p:nvSpPr>
        <p:spPr>
          <a:xfrm>
            <a:off x="5047488" y="48920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</a:t>
            </a:r>
          </a:p>
        </p:txBody>
      </p:sp>
      <p:sp>
        <p:nvSpPr>
          <p:cNvPr id="65" name="타임라인 표식"/>
          <p:cNvSpPr/>
          <p:nvPr/>
        </p:nvSpPr>
        <p:spPr>
          <a:xfrm>
            <a:off x="4764024" y="509595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6" name="목업 텍스트"/>
          <p:cNvSpPr/>
          <p:nvPr/>
        </p:nvSpPr>
        <p:spPr>
          <a:xfrm>
            <a:off x="4928616" y="5070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67" name="구간 선"/>
          <p:cNvCxnSpPr/>
          <p:nvPr/>
        </p:nvCxnSpPr>
        <p:spPr>
          <a:xfrm>
            <a:off x="4816145" y="3044952"/>
            <a:ext cx="0" cy="2052828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목업 텍스트"/>
          <p:cNvSpPr/>
          <p:nvPr/>
        </p:nvSpPr>
        <p:spPr>
          <a:xfrm>
            <a:off x="4928616" y="52303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69" name="구간 선"/>
          <p:cNvCxnSpPr/>
          <p:nvPr/>
        </p:nvCxnSpPr>
        <p:spPr>
          <a:xfrm>
            <a:off x="4816145" y="5198364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임라인 표식"/>
          <p:cNvSpPr/>
          <p:nvPr/>
        </p:nvSpPr>
        <p:spPr>
          <a:xfrm>
            <a:off x="4764024" y="543427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목업 텍스트"/>
          <p:cNvSpPr/>
          <p:nvPr/>
        </p:nvSpPr>
        <p:spPr>
          <a:xfrm>
            <a:off x="4928616" y="54086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07456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구간 요약 ·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‘N개 역 · N분’ — N은 탑승역 제외 (경유역 + 하차역)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[∨] 선택 시 경유역 목록 펼침 · 기본값은 접힘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경유역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상태에서만 표출 · 탑승 순서대로 이름만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소요시간 · 승강장을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플로팅 — [안내시작] 영역을 가리지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정보는 10초마다 자동 갱신 · [새로고침]으로 직접 당길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· 구간 구성은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선 표기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지하철은 노선 고유색 · 버스는 노선 유형색 · 도보는 도보색에 점선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구간 종류는 노선명 · ‘도보’ 문자로 함께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뒤로가기"/>
          <p:cNvSpPr/>
          <p:nvPr/>
        </p:nvSpPr>
        <p:spPr>
          <a:xfrm>
            <a:off x="1481328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4" name="시간표"/>
          <p:cNvSpPr/>
          <p:nvPr/>
        </p:nvSpPr>
        <p:spPr>
          <a:xfrm>
            <a:off x="3493008" y="4411981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5" name="뒤로가기"/>
          <p:cNvSpPr/>
          <p:nvPr/>
        </p:nvSpPr>
        <p:spPr>
          <a:xfrm>
            <a:off x="46542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6" name="시간표"/>
          <p:cNvSpPr/>
          <p:nvPr/>
        </p:nvSpPr>
        <p:spPr>
          <a:xfrm>
            <a:off x="6665976" y="3223260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7" name="바텀시트 핸들"/>
          <p:cNvSpPr/>
          <p:nvPr/>
        </p:nvSpPr>
        <p:spPr>
          <a:xfrm>
            <a:off x="2592324" y="282549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전체 경로 바"/>
          <p:cNvSpPr/>
          <p:nvPr/>
        </p:nvSpPr>
        <p:spPr>
          <a:xfrm>
            <a:off x="1572768" y="338328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경로 바 라벨"/>
          <p:cNvSpPr txBox="1"/>
          <p:nvPr/>
        </p:nvSpPr>
        <p:spPr>
          <a:xfrm>
            <a:off x="1609344" y="340156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0" name="전체 경로 바"/>
          <p:cNvSpPr/>
          <p:nvPr/>
        </p:nvSpPr>
        <p:spPr>
          <a:xfrm>
            <a:off x="2176272" y="338328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경로 바 라벨"/>
          <p:cNvSpPr txBox="1"/>
          <p:nvPr/>
        </p:nvSpPr>
        <p:spPr>
          <a:xfrm>
            <a:off x="2212848" y="340156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2" name="전체 경로 바"/>
          <p:cNvSpPr/>
          <p:nvPr/>
        </p:nvSpPr>
        <p:spPr>
          <a:xfrm>
            <a:off x="3072384" y="338328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경로 바 라벨"/>
          <p:cNvSpPr txBox="1"/>
          <p:nvPr/>
        </p:nvSpPr>
        <p:spPr>
          <a:xfrm>
            <a:off x="3108960" y="340156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84" name="지도 안내"/>
          <p:cNvSpPr txBox="1"/>
          <p:nvPr/>
        </p:nvSpPr>
        <p:spPr>
          <a:xfrm>
            <a:off x="1481328" y="1906524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85" name="바텀시트 핸들"/>
          <p:cNvSpPr/>
          <p:nvPr/>
        </p:nvSpPr>
        <p:spPr>
          <a:xfrm>
            <a:off x="5765292" y="163677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전체 경로 바"/>
          <p:cNvSpPr/>
          <p:nvPr/>
        </p:nvSpPr>
        <p:spPr>
          <a:xfrm>
            <a:off x="4745736" y="219456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4782312" y="221284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5349240" y="219456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5385816" y="221284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0" name="전체 경로 바"/>
          <p:cNvSpPr/>
          <p:nvPr/>
        </p:nvSpPr>
        <p:spPr>
          <a:xfrm>
            <a:off x="6245352" y="219456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경로 바 라벨"/>
          <p:cNvSpPr txBox="1"/>
          <p:nvPr/>
        </p:nvSpPr>
        <p:spPr>
          <a:xfrm>
            <a:off x="6281928" y="221284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2" name="도착 시각 · 요금"/>
          <p:cNvSpPr txBox="1"/>
          <p:nvPr/>
        </p:nvSpPr>
        <p:spPr>
          <a:xfrm>
            <a:off x="1545336" y="320040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4718304" y="201168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94" name="뒤로가기"/>
          <p:cNvCxnSpPr/>
          <p:nvPr/>
        </p:nvCxnSpPr>
        <p:spPr>
          <a:xfrm flipH="1">
            <a:off x="1552956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/>
          <p:cNvCxnSpPr/>
          <p:nvPr/>
        </p:nvCxnSpPr>
        <p:spPr>
          <a:xfrm flipH="1" flipV="1">
            <a:off x="1552956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>
            <a:off x="47259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 flipV="1">
            <a:off x="47259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새로고침"/>
          <p:cNvSpPr/>
          <p:nvPr/>
        </p:nvSpPr>
        <p:spPr>
          <a:xfrm>
            <a:off x="3602736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새로고침 라벨"/>
          <p:cNvSpPr txBox="1"/>
          <p:nvPr/>
        </p:nvSpPr>
        <p:spPr>
          <a:xfrm>
            <a:off x="3602736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0" name="새로고침"/>
          <p:cNvSpPr/>
          <p:nvPr/>
        </p:nvSpPr>
        <p:spPr>
          <a:xfrm>
            <a:off x="67757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새로고침 라벨"/>
          <p:cNvSpPr txBox="1"/>
          <p:nvPr/>
        </p:nvSpPr>
        <p:spPr>
          <a:xfrm>
            <a:off x="67757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2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66744" y="16824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66744" y="16824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104" name="지도 컨트롤"/>
          <p:cNvSpPr/>
          <p:nvPr/>
        </p:nvSpPr>
        <p:spPr>
          <a:xfrm>
            <a:off x="3666744" y="20299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지도 컨트롤 라벨"/>
          <p:cNvSpPr txBox="1"/>
          <p:nvPr/>
        </p:nvSpPr>
        <p:spPr>
          <a:xfrm>
            <a:off x="3666744" y="20299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106" name="지도 컨트롤"/>
          <p:cNvSpPr/>
          <p:nvPr/>
        </p:nvSpPr>
        <p:spPr>
          <a:xfrm>
            <a:off x="3300984" y="23774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지도 컨트롤 라벨"/>
          <p:cNvSpPr txBox="1"/>
          <p:nvPr/>
        </p:nvSpPr>
        <p:spPr>
          <a:xfrm>
            <a:off x="3300984" y="23774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108" name="숫자배지 1"/>
          <p:cNvSpPr/>
          <p:nvPr/>
        </p:nvSpPr>
        <p:spPr>
          <a:xfrm>
            <a:off x="1143000" y="424738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9" name="숫자배지 2"/>
          <p:cNvSpPr/>
          <p:nvPr/>
        </p:nvSpPr>
        <p:spPr>
          <a:xfrm>
            <a:off x="1143000" y="440740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3"/>
          <p:cNvSpPr/>
          <p:nvPr/>
        </p:nvSpPr>
        <p:spPr>
          <a:xfrm>
            <a:off x="1143000" y="4585717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1" name="숫자배지 4"/>
          <p:cNvSpPr/>
          <p:nvPr/>
        </p:nvSpPr>
        <p:spPr>
          <a:xfrm>
            <a:off x="1143000" y="492404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4-1"/>
          <p:cNvSpPr/>
          <p:nvPr/>
        </p:nvSpPr>
        <p:spPr>
          <a:xfrm>
            <a:off x="4197096" y="441198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113" name="숫자배지 5"/>
          <p:cNvSpPr/>
          <p:nvPr/>
        </p:nvSpPr>
        <p:spPr>
          <a:xfrm>
            <a:off x="3698748" y="50292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버스 구간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29626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29809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2980944" y="2295144"/>
            <a:ext cx="2724912" cy="4041648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3118104" y="244144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2980944" y="3154680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31455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31455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3163824" y="3326587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3328416" y="33009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3215945" y="3429000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3328416" y="3461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3163824" y="3664915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3328416" y="36393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3447288" y="38176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406번    간선</a:t>
            </a:r>
          </a:p>
        </p:txBody>
      </p:sp>
      <p:sp>
        <p:nvSpPr>
          <p:cNvPr id="27" name="승차 예약"/>
          <p:cNvSpPr/>
          <p:nvPr/>
        </p:nvSpPr>
        <p:spPr>
          <a:xfrm>
            <a:off x="4700016" y="3808476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3447288" y="3977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곧 도착 (일반) · 12분 (저상)</a:t>
            </a:r>
          </a:p>
        </p:txBody>
      </p:sp>
      <p:sp>
        <p:nvSpPr>
          <p:cNvPr id="29" name="리스트 구분선"/>
          <p:cNvSpPr/>
          <p:nvPr/>
        </p:nvSpPr>
        <p:spPr>
          <a:xfrm>
            <a:off x="3419856" y="4165092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목업 텍스트"/>
          <p:cNvSpPr/>
          <p:nvPr/>
        </p:nvSpPr>
        <p:spPr>
          <a:xfrm>
            <a:off x="3447288" y="42108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4212번  지선</a:t>
            </a:r>
          </a:p>
        </p:txBody>
      </p:sp>
      <p:sp>
        <p:nvSpPr>
          <p:cNvPr id="31" name="승차 예약"/>
          <p:cNvSpPr/>
          <p:nvPr/>
        </p:nvSpPr>
        <p:spPr>
          <a:xfrm>
            <a:off x="4700016" y="4201668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2" name="목업 텍스트"/>
          <p:cNvSpPr/>
          <p:nvPr/>
        </p:nvSpPr>
        <p:spPr>
          <a:xfrm>
            <a:off x="3447288" y="43708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3분 12초 (저상) · 15분 (저상)</a:t>
            </a:r>
          </a:p>
        </p:txBody>
      </p:sp>
      <p:sp>
        <p:nvSpPr>
          <p:cNvPr id="33" name="리스트 구분선"/>
          <p:cNvSpPr/>
          <p:nvPr/>
        </p:nvSpPr>
        <p:spPr>
          <a:xfrm>
            <a:off x="3419856" y="4558284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텍스트"/>
          <p:cNvSpPr/>
          <p:nvPr/>
        </p:nvSpPr>
        <p:spPr>
          <a:xfrm>
            <a:off x="3447288" y="4604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7016번  지선</a:t>
            </a:r>
          </a:p>
        </p:txBody>
      </p:sp>
      <p:sp>
        <p:nvSpPr>
          <p:cNvPr id="35" name="승차 예약"/>
          <p:cNvSpPr/>
          <p:nvPr/>
        </p:nvSpPr>
        <p:spPr>
          <a:xfrm>
            <a:off x="4700016" y="4594860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6" name="목업 텍스트"/>
          <p:cNvSpPr/>
          <p:nvPr/>
        </p:nvSpPr>
        <p:spPr>
          <a:xfrm>
            <a:off x="3447288" y="476402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4분 10초 (일반) · 18분 (일반)</a:t>
            </a:r>
          </a:p>
        </p:txBody>
      </p:sp>
      <p:sp>
        <p:nvSpPr>
          <p:cNvPr id="37" name="목업 텍스트"/>
          <p:cNvSpPr/>
          <p:nvPr/>
        </p:nvSpPr>
        <p:spPr>
          <a:xfrm>
            <a:off x="3447288" y="49423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6개 정류장 · 18분</a:t>
            </a:r>
          </a:p>
        </p:txBody>
      </p:sp>
      <p:sp>
        <p:nvSpPr>
          <p:cNvPr id="38" name="목업 텍스트"/>
          <p:cNvSpPr/>
          <p:nvPr/>
        </p:nvSpPr>
        <p:spPr>
          <a:xfrm>
            <a:off x="4069841" y="494233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9" name="타임라인 표식"/>
          <p:cNvSpPr/>
          <p:nvPr/>
        </p:nvSpPr>
        <p:spPr>
          <a:xfrm>
            <a:off x="3163824" y="51462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목업 텍스트"/>
          <p:cNvSpPr/>
          <p:nvPr/>
        </p:nvSpPr>
        <p:spPr>
          <a:xfrm>
            <a:off x="3328416" y="5120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119 앞 정류장   하차</a:t>
            </a:r>
          </a:p>
        </p:txBody>
      </p:sp>
      <p:cxnSp>
        <p:nvCxnSpPr>
          <p:cNvPr id="41" name="구간 선"/>
          <p:cNvCxnSpPr/>
          <p:nvPr/>
        </p:nvCxnSpPr>
        <p:spPr>
          <a:xfrm>
            <a:off x="3215945" y="3767328"/>
            <a:ext cx="0" cy="1380744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텍스트"/>
          <p:cNvSpPr/>
          <p:nvPr/>
        </p:nvSpPr>
        <p:spPr>
          <a:xfrm>
            <a:off x="3328416" y="52806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당산역까지 도보 23m (2분)</a:t>
            </a:r>
          </a:p>
        </p:txBody>
      </p:sp>
      <p:cxnSp>
        <p:nvCxnSpPr>
          <p:cNvPr id="43" name="구간 선"/>
          <p:cNvCxnSpPr/>
          <p:nvPr/>
        </p:nvCxnSpPr>
        <p:spPr>
          <a:xfrm>
            <a:off x="3215945" y="5248656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타임라인 표식"/>
          <p:cNvSpPr/>
          <p:nvPr/>
        </p:nvSpPr>
        <p:spPr>
          <a:xfrm>
            <a:off x="3163824" y="548457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목업 텍스트"/>
          <p:cNvSpPr/>
          <p:nvPr/>
        </p:nvSpPr>
        <p:spPr>
          <a:xfrm>
            <a:off x="3328416" y="54589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78779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노선 후보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노선명 + 유형(간선 · 지선)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차기 · 차차기 도착과 각 차량의 (저상) · (일반)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방면은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노선 수만큼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[승차 예약]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 행마다 1개 · 버튼 문구는 ‘승차 예약’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노선 상세(2-5-1)로 이동 — 노선 × 승차 정류장 승계 · 그 정류장 하이라이트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예약은 2-5-1에서 도착 건(편성)을 고른 뒤 신청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2-5-1의 뒤로가기는 이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표출 조건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 배차가 없는 노선에는 버튼을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지금 오는 차가 일반버스여도 저상 배차가 있으면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이미 신청한 편성이 있어도 버튼은 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구간 요약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‘N개 정류장 · N분’ — 노선 공통 1개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바텀시트 핸들"/>
          <p:cNvSpPr/>
          <p:nvPr/>
        </p:nvSpPr>
        <p:spPr>
          <a:xfrm>
            <a:off x="4165092" y="235915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전체 경로 바"/>
          <p:cNvSpPr/>
          <p:nvPr/>
        </p:nvSpPr>
        <p:spPr>
          <a:xfrm>
            <a:off x="3145536" y="291693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경로 바 라벨"/>
          <p:cNvSpPr txBox="1"/>
          <p:nvPr/>
        </p:nvSpPr>
        <p:spPr>
          <a:xfrm>
            <a:off x="3182112" y="2935224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50" name="전체 경로 바"/>
          <p:cNvSpPr/>
          <p:nvPr/>
        </p:nvSpPr>
        <p:spPr>
          <a:xfrm>
            <a:off x="3749040" y="2916936"/>
            <a:ext cx="786384" cy="182880"/>
          </a:xfrm>
          <a:prstGeom prst="roundRect">
            <a:avLst/>
          </a:prstGeom>
          <a:solidFill>
            <a:srgbClr val="3D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경로 바 라벨"/>
          <p:cNvSpPr txBox="1"/>
          <p:nvPr/>
        </p:nvSpPr>
        <p:spPr>
          <a:xfrm>
            <a:off x="3785616" y="2935224"/>
            <a:ext cx="71323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52" name="전체 경로 바"/>
          <p:cNvSpPr/>
          <p:nvPr/>
        </p:nvSpPr>
        <p:spPr>
          <a:xfrm>
            <a:off x="4572000" y="2916936"/>
            <a:ext cx="603504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경로 바 라벨"/>
          <p:cNvSpPr txBox="1"/>
          <p:nvPr/>
        </p:nvSpPr>
        <p:spPr>
          <a:xfrm>
            <a:off x="4608576" y="2935224"/>
            <a:ext cx="53035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2분</a:t>
            </a:r>
          </a:p>
        </p:txBody>
      </p:sp>
      <p:sp>
        <p:nvSpPr>
          <p:cNvPr id="54" name="지도 안내"/>
          <p:cNvSpPr txBox="1"/>
          <p:nvPr/>
        </p:nvSpPr>
        <p:spPr>
          <a:xfrm>
            <a:off x="3054096" y="1673352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55" name="뒤로가기"/>
          <p:cNvSpPr/>
          <p:nvPr/>
        </p:nvSpPr>
        <p:spPr>
          <a:xfrm>
            <a:off x="30540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56" name="도착 시각 · 요금"/>
          <p:cNvSpPr txBox="1"/>
          <p:nvPr/>
        </p:nvSpPr>
        <p:spPr>
          <a:xfrm>
            <a:off x="3118104" y="2734056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57" name="뒤로가기"/>
          <p:cNvCxnSpPr/>
          <p:nvPr/>
        </p:nvCxnSpPr>
        <p:spPr>
          <a:xfrm flipH="1">
            <a:off x="31257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31257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새로고침"/>
          <p:cNvSpPr/>
          <p:nvPr/>
        </p:nvSpPr>
        <p:spPr>
          <a:xfrm>
            <a:off x="51755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새로고침 라벨"/>
          <p:cNvSpPr txBox="1"/>
          <p:nvPr/>
        </p:nvSpPr>
        <p:spPr>
          <a:xfrm>
            <a:off x="51755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6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39512" y="156362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39512" y="156362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3" name="지도 컨트롤"/>
          <p:cNvSpPr/>
          <p:nvPr/>
        </p:nvSpPr>
        <p:spPr>
          <a:xfrm>
            <a:off x="5239512" y="1911095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컨트롤 라벨"/>
          <p:cNvSpPr txBox="1"/>
          <p:nvPr/>
        </p:nvSpPr>
        <p:spPr>
          <a:xfrm>
            <a:off x="5239512" y="1911095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4526280" y="1911095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4526280" y="1911095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2715768" y="37993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5413248" y="37901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숫자배지 2-1"/>
          <p:cNvSpPr/>
          <p:nvPr/>
        </p:nvSpPr>
        <p:spPr>
          <a:xfrm>
            <a:off x="5413248" y="457657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0" name="숫자배지 3"/>
          <p:cNvSpPr/>
          <p:nvPr/>
        </p:nvSpPr>
        <p:spPr>
          <a:xfrm>
            <a:off x="2715768" y="49240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1" name="숫자배지 4"/>
          <p:cNvSpPr/>
          <p:nvPr/>
        </p:nvSpPr>
        <p:spPr>
          <a:xfrm>
            <a:off x="4553712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버스 구간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29626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29809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2980944" y="2295144"/>
            <a:ext cx="2724912" cy="4041648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3118104" y="244144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2980944" y="3154680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31455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31455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3163824" y="3326587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3328416" y="33009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3215945" y="3429000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3328416" y="3461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3163824" y="3664915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3328416" y="36393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3447288" y="38176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406번    간선</a:t>
            </a:r>
          </a:p>
        </p:txBody>
      </p:sp>
      <p:sp>
        <p:nvSpPr>
          <p:cNvPr id="27" name="승차 예약"/>
          <p:cNvSpPr/>
          <p:nvPr/>
        </p:nvSpPr>
        <p:spPr>
          <a:xfrm>
            <a:off x="4700016" y="3808476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3447288" y="3977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곧 도착 (일반) · 12분 (저상)</a:t>
            </a:r>
          </a:p>
        </p:txBody>
      </p:sp>
      <p:sp>
        <p:nvSpPr>
          <p:cNvPr id="29" name="리스트 구분선"/>
          <p:cNvSpPr/>
          <p:nvPr/>
        </p:nvSpPr>
        <p:spPr>
          <a:xfrm>
            <a:off x="3419856" y="4165092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목업 텍스트"/>
          <p:cNvSpPr/>
          <p:nvPr/>
        </p:nvSpPr>
        <p:spPr>
          <a:xfrm>
            <a:off x="3447288" y="42108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4212번  지선</a:t>
            </a:r>
          </a:p>
        </p:txBody>
      </p:sp>
      <p:sp>
        <p:nvSpPr>
          <p:cNvPr id="31" name="승차 예약"/>
          <p:cNvSpPr/>
          <p:nvPr/>
        </p:nvSpPr>
        <p:spPr>
          <a:xfrm>
            <a:off x="4700016" y="4201668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2" name="목업 텍스트"/>
          <p:cNvSpPr/>
          <p:nvPr/>
        </p:nvSpPr>
        <p:spPr>
          <a:xfrm>
            <a:off x="3447288" y="43708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3분 12초 (저상) · 15분 (저상)</a:t>
            </a:r>
          </a:p>
        </p:txBody>
      </p:sp>
      <p:sp>
        <p:nvSpPr>
          <p:cNvPr id="33" name="리스트 구분선"/>
          <p:cNvSpPr/>
          <p:nvPr/>
        </p:nvSpPr>
        <p:spPr>
          <a:xfrm>
            <a:off x="3419856" y="4558284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텍스트"/>
          <p:cNvSpPr/>
          <p:nvPr/>
        </p:nvSpPr>
        <p:spPr>
          <a:xfrm>
            <a:off x="3447288" y="4604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7016번  지선</a:t>
            </a:r>
          </a:p>
        </p:txBody>
      </p:sp>
      <p:sp>
        <p:nvSpPr>
          <p:cNvPr id="35" name="승차 예약"/>
          <p:cNvSpPr/>
          <p:nvPr/>
        </p:nvSpPr>
        <p:spPr>
          <a:xfrm>
            <a:off x="4700016" y="4594860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6" name="목업 텍스트"/>
          <p:cNvSpPr/>
          <p:nvPr/>
        </p:nvSpPr>
        <p:spPr>
          <a:xfrm>
            <a:off x="3447288" y="476402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4분 10초 (일반) · 18분 (일반)</a:t>
            </a:r>
          </a:p>
        </p:txBody>
      </p:sp>
      <p:sp>
        <p:nvSpPr>
          <p:cNvPr id="37" name="목업 텍스트"/>
          <p:cNvSpPr/>
          <p:nvPr/>
        </p:nvSpPr>
        <p:spPr>
          <a:xfrm>
            <a:off x="3447288" y="49423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6개 정류장 · 18분</a:t>
            </a:r>
          </a:p>
        </p:txBody>
      </p:sp>
      <p:sp>
        <p:nvSpPr>
          <p:cNvPr id="38" name="목업 텍스트"/>
          <p:cNvSpPr/>
          <p:nvPr/>
        </p:nvSpPr>
        <p:spPr>
          <a:xfrm>
            <a:off x="4069841" y="494233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9" name="타임라인 표식"/>
          <p:cNvSpPr/>
          <p:nvPr/>
        </p:nvSpPr>
        <p:spPr>
          <a:xfrm>
            <a:off x="3163824" y="51462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목업 텍스트"/>
          <p:cNvSpPr/>
          <p:nvPr/>
        </p:nvSpPr>
        <p:spPr>
          <a:xfrm>
            <a:off x="3328416" y="5120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119 앞 정류장   하차</a:t>
            </a:r>
          </a:p>
        </p:txBody>
      </p:sp>
      <p:cxnSp>
        <p:nvCxnSpPr>
          <p:cNvPr id="41" name="구간 선"/>
          <p:cNvCxnSpPr/>
          <p:nvPr/>
        </p:nvCxnSpPr>
        <p:spPr>
          <a:xfrm>
            <a:off x="3215945" y="3767328"/>
            <a:ext cx="0" cy="1380744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텍스트"/>
          <p:cNvSpPr/>
          <p:nvPr/>
        </p:nvSpPr>
        <p:spPr>
          <a:xfrm>
            <a:off x="3328416" y="52806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당산역까지 도보 23m (2분)</a:t>
            </a:r>
          </a:p>
        </p:txBody>
      </p:sp>
      <p:cxnSp>
        <p:nvCxnSpPr>
          <p:cNvPr id="43" name="구간 선"/>
          <p:cNvCxnSpPr/>
          <p:nvPr/>
        </p:nvCxnSpPr>
        <p:spPr>
          <a:xfrm>
            <a:off x="3215945" y="5248656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타임라인 표식"/>
          <p:cNvSpPr/>
          <p:nvPr/>
        </p:nvSpPr>
        <p:spPr>
          <a:xfrm>
            <a:off x="3163824" y="548457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목업 텍스트"/>
          <p:cNvSpPr/>
          <p:nvPr/>
        </p:nvSpPr>
        <p:spPr>
          <a:xfrm>
            <a:off x="3328416" y="54589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2687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정보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+ [새로고침]으로 직접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· 구간 구성은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경로 전 구간이 들어오게 맞춤 — 시트에 가리지 않는 영역 기준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컨트롤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영역을 누르면 시트 최소화 · 타임라인 구간을 누르면 그 구간으로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소요시간 배지 아래 전체 경로 바 1줄 — 구간 구분 · 구간별 소요시간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예약]은 회원 전용이지만 이 화면에서 막지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비회원도 누르면 2-5-1로 이동 · 로그인 유도 팝업은 2-5-1의 [승차 예약]에서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 내역은 비회원에게 표출하지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바텀시트 핸들"/>
          <p:cNvSpPr/>
          <p:nvPr/>
        </p:nvSpPr>
        <p:spPr>
          <a:xfrm>
            <a:off x="4165092" y="235915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전체 경로 바"/>
          <p:cNvSpPr/>
          <p:nvPr/>
        </p:nvSpPr>
        <p:spPr>
          <a:xfrm>
            <a:off x="3145536" y="291693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경로 바 라벨"/>
          <p:cNvSpPr txBox="1"/>
          <p:nvPr/>
        </p:nvSpPr>
        <p:spPr>
          <a:xfrm>
            <a:off x="3182112" y="2935224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50" name="전체 경로 바"/>
          <p:cNvSpPr/>
          <p:nvPr/>
        </p:nvSpPr>
        <p:spPr>
          <a:xfrm>
            <a:off x="3749040" y="2916936"/>
            <a:ext cx="786384" cy="182880"/>
          </a:xfrm>
          <a:prstGeom prst="roundRect">
            <a:avLst/>
          </a:prstGeom>
          <a:solidFill>
            <a:srgbClr val="3D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경로 바 라벨"/>
          <p:cNvSpPr txBox="1"/>
          <p:nvPr/>
        </p:nvSpPr>
        <p:spPr>
          <a:xfrm>
            <a:off x="3785616" y="2935224"/>
            <a:ext cx="71323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52" name="전체 경로 바"/>
          <p:cNvSpPr/>
          <p:nvPr/>
        </p:nvSpPr>
        <p:spPr>
          <a:xfrm>
            <a:off x="4572000" y="2916936"/>
            <a:ext cx="603504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경로 바 라벨"/>
          <p:cNvSpPr txBox="1"/>
          <p:nvPr/>
        </p:nvSpPr>
        <p:spPr>
          <a:xfrm>
            <a:off x="4608576" y="2935224"/>
            <a:ext cx="53035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2분</a:t>
            </a:r>
          </a:p>
        </p:txBody>
      </p:sp>
      <p:sp>
        <p:nvSpPr>
          <p:cNvPr id="54" name="지도 안내"/>
          <p:cNvSpPr txBox="1"/>
          <p:nvPr/>
        </p:nvSpPr>
        <p:spPr>
          <a:xfrm>
            <a:off x="3054096" y="1673352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55" name="뒤로가기"/>
          <p:cNvSpPr/>
          <p:nvPr/>
        </p:nvSpPr>
        <p:spPr>
          <a:xfrm>
            <a:off x="30540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56" name="도착 시각 · 요금"/>
          <p:cNvSpPr txBox="1"/>
          <p:nvPr/>
        </p:nvSpPr>
        <p:spPr>
          <a:xfrm>
            <a:off x="3118104" y="2734056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57" name="뒤로가기"/>
          <p:cNvCxnSpPr/>
          <p:nvPr/>
        </p:nvCxnSpPr>
        <p:spPr>
          <a:xfrm flipH="1">
            <a:off x="31257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31257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새로고침"/>
          <p:cNvSpPr/>
          <p:nvPr/>
        </p:nvSpPr>
        <p:spPr>
          <a:xfrm>
            <a:off x="51755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새로고침 라벨"/>
          <p:cNvSpPr txBox="1"/>
          <p:nvPr/>
        </p:nvSpPr>
        <p:spPr>
          <a:xfrm>
            <a:off x="51755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6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39512" y="156362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39512" y="156362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3" name="지도 컨트롤"/>
          <p:cNvSpPr/>
          <p:nvPr/>
        </p:nvSpPr>
        <p:spPr>
          <a:xfrm>
            <a:off x="5239512" y="1911095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컨트롤 라벨"/>
          <p:cNvSpPr txBox="1"/>
          <p:nvPr/>
        </p:nvSpPr>
        <p:spPr>
          <a:xfrm>
            <a:off x="5239512" y="1911095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4526280" y="1911095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4526280" y="1911095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2715768" y="37993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5413248" y="37901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숫자배지 2-1"/>
          <p:cNvSpPr/>
          <p:nvPr/>
        </p:nvSpPr>
        <p:spPr>
          <a:xfrm>
            <a:off x="5413248" y="457657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0" name="숫자배지 3"/>
          <p:cNvSpPr/>
          <p:nvPr/>
        </p:nvSpPr>
        <p:spPr>
          <a:xfrm>
            <a:off x="2715768" y="49240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1" name="숫자배지 4"/>
          <p:cNvSpPr/>
          <p:nvPr/>
        </p:nvSpPr>
        <p:spPr>
          <a:xfrm>
            <a:off x="4553712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외 모든 유형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/>
          <p:cNvSpPr/>
          <p:nvPr/>
        </p:nvSpPr>
        <p:spPr>
          <a:xfrm>
            <a:off x="2966314" y="1190549"/>
            <a:ext cx="2734056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29192" y="1447800"/>
          <a:ext cx="2972409" cy="399836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2분할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상단 지도 베이스 안내 ＋ 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바텀시트 — 경로 요약 · 전체 경로 ·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문구와 경로는 교통약자 유형에 따라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위 상시 표출 · 시트를 접어도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1단 — 회전 아이콘 ＋ 남은 거리 ＋ 도로 종류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안에 같은 지시 문장을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배너 좌측 · 탑바 미제공 · 타이틀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안내를 시작한 자리로 이동 — 경로 리스트 또는 챗봇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안내를 중단하지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2D 고정뷰 · 컨트롤 4종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 · 재탐색 · 내 위치 · 확대 · 축소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지도"/>
          <p:cNvSpPr/>
          <p:nvPr/>
        </p:nvSpPr>
        <p:spPr>
          <a:xfrm>
            <a:off x="2975458" y="1207008"/>
            <a:ext cx="2715768" cy="386791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경로선"/>
          <p:cNvSpPr/>
          <p:nvPr/>
        </p:nvSpPr>
        <p:spPr>
          <a:xfrm>
            <a:off x="3364992" y="3017520"/>
            <a:ext cx="41148" cy="960120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경로선"/>
          <p:cNvSpPr/>
          <p:nvPr/>
        </p:nvSpPr>
        <p:spPr>
          <a:xfrm>
            <a:off x="3364992" y="3017520"/>
            <a:ext cx="1353312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경로선"/>
          <p:cNvSpPr/>
          <p:nvPr/>
        </p:nvSpPr>
        <p:spPr>
          <a:xfrm>
            <a:off x="4677156" y="2377440"/>
            <a:ext cx="41148" cy="68122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경로선"/>
          <p:cNvSpPr/>
          <p:nvPr/>
        </p:nvSpPr>
        <p:spPr>
          <a:xfrm>
            <a:off x="4677156" y="2377440"/>
            <a:ext cx="548640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경로 지점"/>
          <p:cNvSpPr/>
          <p:nvPr/>
        </p:nvSpPr>
        <p:spPr>
          <a:xfrm>
            <a:off x="5148072" y="2302459"/>
            <a:ext cx="150876" cy="150876"/>
          </a:xfrm>
          <a:prstGeom prst="ellipse">
            <a:avLst/>
          </a:prstGeom>
          <a:solidFill>
            <a:srgbClr val="E01B2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지도 안내"/>
          <p:cNvSpPr txBox="1"/>
          <p:nvPr/>
        </p:nvSpPr>
        <p:spPr>
          <a:xfrm>
            <a:off x="3240634" y="4224528"/>
            <a:ext cx="218541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5B6573"/>
                </a:solidFill>
                <a:latin typeface="Pretendard"/>
              </a:rPr>
              <a:t>실외 안내 — 정북 2D 고정뷰 · 경로선 ＋ 현위치</a:t>
            </a:r>
          </a:p>
        </p:txBody>
      </p:sp>
      <p:sp>
        <p:nvSpPr>
          <p:cNvPr id="22" name="다음 행동 지시 배너"/>
          <p:cNvSpPr/>
          <p:nvPr/>
        </p:nvSpPr>
        <p:spPr>
          <a:xfrm>
            <a:off x="3076042" y="1298448"/>
            <a:ext cx="2514600" cy="420624"/>
          </a:xfrm>
          <a:prstGeom prst="round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배너 구분선"/>
          <p:cNvSpPr/>
          <p:nvPr/>
        </p:nvSpPr>
        <p:spPr>
          <a:xfrm>
            <a:off x="3386938" y="1344168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배너 회전 아이콘"/>
          <p:cNvSpPr txBox="1"/>
          <p:nvPr/>
        </p:nvSpPr>
        <p:spPr>
          <a:xfrm>
            <a:off x="3460090" y="139903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↰</a:t>
            </a:r>
          </a:p>
        </p:txBody>
      </p:sp>
      <p:sp>
        <p:nvSpPr>
          <p:cNvPr id="25" name="배너 남은 거리"/>
          <p:cNvSpPr txBox="1"/>
          <p:nvPr/>
        </p:nvSpPr>
        <p:spPr>
          <a:xfrm>
            <a:off x="3752698" y="1353312"/>
            <a:ext cx="7315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30m</a:t>
            </a:r>
          </a:p>
        </p:txBody>
      </p:sp>
      <p:sp>
        <p:nvSpPr>
          <p:cNvPr id="26" name="배너 도로 종류"/>
          <p:cNvSpPr txBox="1"/>
          <p:nvPr/>
        </p:nvSpPr>
        <p:spPr>
          <a:xfrm>
            <a:off x="3752698" y="1545336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C7D3F7"/>
                </a:solidFill>
                <a:latin typeface="Pretendard"/>
              </a:rPr>
              <a:t>보행로</a:t>
            </a:r>
          </a:p>
        </p:txBody>
      </p:sp>
      <p:sp>
        <p:nvSpPr>
          <p:cNvPr id="27" name="지도 컨트롤"/>
          <p:cNvSpPr/>
          <p:nvPr/>
        </p:nvSpPr>
        <p:spPr>
          <a:xfrm>
            <a:off x="5307177" y="1956816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지도 컨트롤 라벨"/>
          <p:cNvSpPr txBox="1"/>
          <p:nvPr/>
        </p:nvSpPr>
        <p:spPr>
          <a:xfrm>
            <a:off x="5307177" y="195681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🧭</a:t>
            </a:r>
          </a:p>
        </p:txBody>
      </p:sp>
      <p:sp>
        <p:nvSpPr>
          <p:cNvPr id="29" name="지도 컨트롤"/>
          <p:cNvSpPr/>
          <p:nvPr/>
        </p:nvSpPr>
        <p:spPr>
          <a:xfrm>
            <a:off x="4996281" y="4782312"/>
            <a:ext cx="54864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지도 컨트롤 라벨"/>
          <p:cNvSpPr txBox="1"/>
          <p:nvPr/>
        </p:nvSpPr>
        <p:spPr>
          <a:xfrm>
            <a:off x="4996281" y="4782312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내 위치</a:t>
            </a:r>
          </a:p>
        </p:txBody>
      </p:sp>
      <p:sp>
        <p:nvSpPr>
          <p:cNvPr id="31" name="지도 컨트롤"/>
          <p:cNvSpPr/>
          <p:nvPr/>
        </p:nvSpPr>
        <p:spPr>
          <a:xfrm>
            <a:off x="5012740" y="448970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지도 컨트롤 라벨"/>
          <p:cNvSpPr txBox="1"/>
          <p:nvPr/>
        </p:nvSpPr>
        <p:spPr>
          <a:xfrm>
            <a:off x="5012740" y="448970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3" name="지도 컨트롤"/>
          <p:cNvSpPr/>
          <p:nvPr/>
        </p:nvSpPr>
        <p:spPr>
          <a:xfrm>
            <a:off x="3121761" y="4489704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지도 컨트롤 라벨"/>
          <p:cNvSpPr txBox="1"/>
          <p:nvPr/>
        </p:nvSpPr>
        <p:spPr>
          <a:xfrm>
            <a:off x="3121761" y="4489704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＋</a:t>
            </a:r>
          </a:p>
        </p:txBody>
      </p:sp>
      <p:sp>
        <p:nvSpPr>
          <p:cNvPr id="35" name="지도 컨트롤"/>
          <p:cNvSpPr/>
          <p:nvPr/>
        </p:nvSpPr>
        <p:spPr>
          <a:xfrm>
            <a:off x="3121761" y="4782312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지도 컨트롤 라벨"/>
          <p:cNvSpPr txBox="1"/>
          <p:nvPr/>
        </p:nvSpPr>
        <p:spPr>
          <a:xfrm>
            <a:off x="3121761" y="4782312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－</a:t>
            </a:r>
          </a:p>
        </p:txBody>
      </p:sp>
      <p:sp>
        <p:nvSpPr>
          <p:cNvPr id="37" name="바텀시트"/>
          <p:cNvSpPr/>
          <p:nvPr/>
        </p:nvSpPr>
        <p:spPr>
          <a:xfrm>
            <a:off x="2975458" y="5074920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시트 손잡이"/>
          <p:cNvSpPr/>
          <p:nvPr/>
        </p:nvSpPr>
        <p:spPr>
          <a:xfrm>
            <a:off x="4168750" y="5138928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남은 시간"/>
          <p:cNvSpPr txBox="1"/>
          <p:nvPr/>
        </p:nvSpPr>
        <p:spPr>
          <a:xfrm>
            <a:off x="3130906" y="5239512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0" name="버튼 안내 종료"/>
          <p:cNvSpPr/>
          <p:nvPr/>
        </p:nvSpPr>
        <p:spPr>
          <a:xfrm>
            <a:off x="4593946" y="5239512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버튼 라벨"/>
          <p:cNvSpPr txBox="1"/>
          <p:nvPr/>
        </p:nvSpPr>
        <p:spPr>
          <a:xfrm>
            <a:off x="4593946" y="5239512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2" name="도착 시각 · 요금"/>
          <p:cNvSpPr txBox="1"/>
          <p:nvPr/>
        </p:nvSpPr>
        <p:spPr>
          <a:xfrm>
            <a:off x="3130906" y="5550408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3" name="전체 경로 바"/>
          <p:cNvSpPr/>
          <p:nvPr/>
        </p:nvSpPr>
        <p:spPr>
          <a:xfrm>
            <a:off x="3130906" y="5788152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경로 바 라벨"/>
          <p:cNvSpPr txBox="1"/>
          <p:nvPr/>
        </p:nvSpPr>
        <p:spPr>
          <a:xfrm>
            <a:off x="3130906" y="5788152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3734410" y="5788152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3734410" y="5788152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4630522" y="5788152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4630522" y="5788152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49" name="현재 위치 표식"/>
          <p:cNvSpPr txBox="1"/>
          <p:nvPr/>
        </p:nvSpPr>
        <p:spPr>
          <a:xfrm>
            <a:off x="3514954" y="5989320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0" name="현재 위치 라벨"/>
          <p:cNvSpPr txBox="1"/>
          <p:nvPr/>
        </p:nvSpPr>
        <p:spPr>
          <a:xfrm>
            <a:off x="3825850" y="5989320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3202534" y="146227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202534" y="150799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현위치 마커"/>
          <p:cNvSpPr/>
          <p:nvPr/>
        </p:nvSpPr>
        <p:spPr>
          <a:xfrm>
            <a:off x="3308299" y="3898087"/>
            <a:ext cx="155448" cy="155448"/>
          </a:xfrm>
          <a:prstGeom prst="ellipse">
            <a:avLst/>
          </a:prstGeom>
          <a:solidFill>
            <a:srgbClr val="2D4CC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4" name="현위치 셰브론"/>
          <p:cNvSpPr txBox="1"/>
          <p:nvPr/>
        </p:nvSpPr>
        <p:spPr>
          <a:xfrm>
            <a:off x="3308299" y="3898087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∧</a:t>
            </a: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691994" y="11887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-2"/>
          <p:cNvSpPr/>
          <p:nvPr/>
        </p:nvSpPr>
        <p:spPr>
          <a:xfrm>
            <a:off x="2691994" y="14538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-1"/>
          <p:cNvSpPr/>
          <p:nvPr/>
        </p:nvSpPr>
        <p:spPr>
          <a:xfrm>
            <a:off x="5581498" y="139903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5581498" y="19568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2691994" y="51755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외 모든 유형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/>
          <p:cNvSpPr/>
          <p:nvPr/>
        </p:nvSpPr>
        <p:spPr>
          <a:xfrm>
            <a:off x="2966314" y="1190549"/>
            <a:ext cx="2734056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29192" y="1447800"/>
          <a:ext cx="2972409" cy="288411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·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접힘 — 남은 시간 · 도착 예정 · 요금 · 전체 경로 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— ＋ 경로 상세 · 남은 거리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종료]는 시트 안 · 접힘에도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확인 팝업 「안내를 종료할까요?」 — [취소] /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 시 세 지점 초기화 후 2-0으로 이동 · [취소] 시 안내 계속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전환 ·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 ⇄ 실내 ⇄ 대중교통은 끊김 없이 자동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수동 · 이탈 재탐색은 토스트 표출 · 자동 재탐색은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지도"/>
          <p:cNvSpPr/>
          <p:nvPr/>
        </p:nvSpPr>
        <p:spPr>
          <a:xfrm>
            <a:off x="2975458" y="1207008"/>
            <a:ext cx="2715768" cy="386791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경로선"/>
          <p:cNvSpPr/>
          <p:nvPr/>
        </p:nvSpPr>
        <p:spPr>
          <a:xfrm>
            <a:off x="3364992" y="3017520"/>
            <a:ext cx="41148" cy="960120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경로선"/>
          <p:cNvSpPr/>
          <p:nvPr/>
        </p:nvSpPr>
        <p:spPr>
          <a:xfrm>
            <a:off x="3364992" y="3017520"/>
            <a:ext cx="1353312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경로선"/>
          <p:cNvSpPr/>
          <p:nvPr/>
        </p:nvSpPr>
        <p:spPr>
          <a:xfrm>
            <a:off x="4677156" y="2377440"/>
            <a:ext cx="41148" cy="68122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경로선"/>
          <p:cNvSpPr/>
          <p:nvPr/>
        </p:nvSpPr>
        <p:spPr>
          <a:xfrm>
            <a:off x="4677156" y="2377440"/>
            <a:ext cx="548640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경로 지점"/>
          <p:cNvSpPr/>
          <p:nvPr/>
        </p:nvSpPr>
        <p:spPr>
          <a:xfrm>
            <a:off x="5148072" y="2302459"/>
            <a:ext cx="150876" cy="150876"/>
          </a:xfrm>
          <a:prstGeom prst="ellipse">
            <a:avLst/>
          </a:prstGeom>
          <a:solidFill>
            <a:srgbClr val="E01B2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지도 안내"/>
          <p:cNvSpPr txBox="1"/>
          <p:nvPr/>
        </p:nvSpPr>
        <p:spPr>
          <a:xfrm>
            <a:off x="3240634" y="4224528"/>
            <a:ext cx="218541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5B6573"/>
                </a:solidFill>
                <a:latin typeface="Pretendard"/>
              </a:rPr>
              <a:t>실외 안내 — 정북 2D 고정뷰 · 경로선 ＋ 현위치</a:t>
            </a:r>
          </a:p>
        </p:txBody>
      </p:sp>
      <p:sp>
        <p:nvSpPr>
          <p:cNvPr id="22" name="다음 행동 지시 배너"/>
          <p:cNvSpPr/>
          <p:nvPr/>
        </p:nvSpPr>
        <p:spPr>
          <a:xfrm>
            <a:off x="3076042" y="1298448"/>
            <a:ext cx="2514600" cy="420624"/>
          </a:xfrm>
          <a:prstGeom prst="round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배너 구분선"/>
          <p:cNvSpPr/>
          <p:nvPr/>
        </p:nvSpPr>
        <p:spPr>
          <a:xfrm>
            <a:off x="3386938" y="1344168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배너 회전 아이콘"/>
          <p:cNvSpPr txBox="1"/>
          <p:nvPr/>
        </p:nvSpPr>
        <p:spPr>
          <a:xfrm>
            <a:off x="3460090" y="139903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↰</a:t>
            </a:r>
          </a:p>
        </p:txBody>
      </p:sp>
      <p:sp>
        <p:nvSpPr>
          <p:cNvPr id="25" name="배너 남은 거리"/>
          <p:cNvSpPr txBox="1"/>
          <p:nvPr/>
        </p:nvSpPr>
        <p:spPr>
          <a:xfrm>
            <a:off x="3752698" y="1353312"/>
            <a:ext cx="7315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30m</a:t>
            </a:r>
          </a:p>
        </p:txBody>
      </p:sp>
      <p:sp>
        <p:nvSpPr>
          <p:cNvPr id="26" name="배너 도로 종류"/>
          <p:cNvSpPr txBox="1"/>
          <p:nvPr/>
        </p:nvSpPr>
        <p:spPr>
          <a:xfrm>
            <a:off x="3752698" y="1545336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C7D3F7"/>
                </a:solidFill>
                <a:latin typeface="Pretendard"/>
              </a:rPr>
              <a:t>보행로</a:t>
            </a:r>
          </a:p>
        </p:txBody>
      </p:sp>
      <p:sp>
        <p:nvSpPr>
          <p:cNvPr id="27" name="지도 컨트롤"/>
          <p:cNvSpPr/>
          <p:nvPr/>
        </p:nvSpPr>
        <p:spPr>
          <a:xfrm>
            <a:off x="5307177" y="1956816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지도 컨트롤 라벨"/>
          <p:cNvSpPr txBox="1"/>
          <p:nvPr/>
        </p:nvSpPr>
        <p:spPr>
          <a:xfrm>
            <a:off x="5307177" y="195681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🧭</a:t>
            </a:r>
          </a:p>
        </p:txBody>
      </p:sp>
      <p:sp>
        <p:nvSpPr>
          <p:cNvPr id="29" name="지도 컨트롤"/>
          <p:cNvSpPr/>
          <p:nvPr/>
        </p:nvSpPr>
        <p:spPr>
          <a:xfrm>
            <a:off x="4996281" y="4782312"/>
            <a:ext cx="54864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지도 컨트롤 라벨"/>
          <p:cNvSpPr txBox="1"/>
          <p:nvPr/>
        </p:nvSpPr>
        <p:spPr>
          <a:xfrm>
            <a:off x="4996281" y="4782312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내 위치</a:t>
            </a:r>
          </a:p>
        </p:txBody>
      </p:sp>
      <p:sp>
        <p:nvSpPr>
          <p:cNvPr id="31" name="지도 컨트롤"/>
          <p:cNvSpPr/>
          <p:nvPr/>
        </p:nvSpPr>
        <p:spPr>
          <a:xfrm>
            <a:off x="5012740" y="448970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지도 컨트롤 라벨"/>
          <p:cNvSpPr txBox="1"/>
          <p:nvPr/>
        </p:nvSpPr>
        <p:spPr>
          <a:xfrm>
            <a:off x="5012740" y="448970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3" name="지도 컨트롤"/>
          <p:cNvSpPr/>
          <p:nvPr/>
        </p:nvSpPr>
        <p:spPr>
          <a:xfrm>
            <a:off x="3121761" y="4489704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지도 컨트롤 라벨"/>
          <p:cNvSpPr txBox="1"/>
          <p:nvPr/>
        </p:nvSpPr>
        <p:spPr>
          <a:xfrm>
            <a:off x="3121761" y="4489704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＋</a:t>
            </a:r>
          </a:p>
        </p:txBody>
      </p:sp>
      <p:sp>
        <p:nvSpPr>
          <p:cNvPr id="35" name="지도 컨트롤"/>
          <p:cNvSpPr/>
          <p:nvPr/>
        </p:nvSpPr>
        <p:spPr>
          <a:xfrm>
            <a:off x="3121761" y="4782312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지도 컨트롤 라벨"/>
          <p:cNvSpPr txBox="1"/>
          <p:nvPr/>
        </p:nvSpPr>
        <p:spPr>
          <a:xfrm>
            <a:off x="3121761" y="4782312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－</a:t>
            </a:r>
          </a:p>
        </p:txBody>
      </p:sp>
      <p:sp>
        <p:nvSpPr>
          <p:cNvPr id="37" name="바텀시트"/>
          <p:cNvSpPr/>
          <p:nvPr/>
        </p:nvSpPr>
        <p:spPr>
          <a:xfrm>
            <a:off x="2975458" y="5074920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시트 손잡이"/>
          <p:cNvSpPr/>
          <p:nvPr/>
        </p:nvSpPr>
        <p:spPr>
          <a:xfrm>
            <a:off x="4168750" y="5138928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남은 시간"/>
          <p:cNvSpPr txBox="1"/>
          <p:nvPr/>
        </p:nvSpPr>
        <p:spPr>
          <a:xfrm>
            <a:off x="3130906" y="5239512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0" name="버튼 안내 종료"/>
          <p:cNvSpPr/>
          <p:nvPr/>
        </p:nvSpPr>
        <p:spPr>
          <a:xfrm>
            <a:off x="4593946" y="5239512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버튼 라벨"/>
          <p:cNvSpPr txBox="1"/>
          <p:nvPr/>
        </p:nvSpPr>
        <p:spPr>
          <a:xfrm>
            <a:off x="4593946" y="5239512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2" name="도착 시각 · 요금"/>
          <p:cNvSpPr txBox="1"/>
          <p:nvPr/>
        </p:nvSpPr>
        <p:spPr>
          <a:xfrm>
            <a:off x="3130906" y="5550408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3" name="전체 경로 바"/>
          <p:cNvSpPr/>
          <p:nvPr/>
        </p:nvSpPr>
        <p:spPr>
          <a:xfrm>
            <a:off x="3130906" y="5788152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경로 바 라벨"/>
          <p:cNvSpPr txBox="1"/>
          <p:nvPr/>
        </p:nvSpPr>
        <p:spPr>
          <a:xfrm>
            <a:off x="3130906" y="5788152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3734410" y="5788152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3734410" y="5788152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4630522" y="5788152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4630522" y="5788152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49" name="현재 위치 표식"/>
          <p:cNvSpPr txBox="1"/>
          <p:nvPr/>
        </p:nvSpPr>
        <p:spPr>
          <a:xfrm>
            <a:off x="3514954" y="5989320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0" name="현재 위치 라벨"/>
          <p:cNvSpPr txBox="1"/>
          <p:nvPr/>
        </p:nvSpPr>
        <p:spPr>
          <a:xfrm>
            <a:off x="3825850" y="5989320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3202534" y="146227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202534" y="150799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현위치 마커"/>
          <p:cNvSpPr/>
          <p:nvPr/>
        </p:nvSpPr>
        <p:spPr>
          <a:xfrm>
            <a:off x="3308299" y="3898087"/>
            <a:ext cx="155448" cy="155448"/>
          </a:xfrm>
          <a:prstGeom prst="ellipse">
            <a:avLst/>
          </a:prstGeom>
          <a:solidFill>
            <a:srgbClr val="2D4CC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4" name="현위치 셰브론"/>
          <p:cNvSpPr txBox="1"/>
          <p:nvPr/>
        </p:nvSpPr>
        <p:spPr>
          <a:xfrm>
            <a:off x="3308299" y="3898087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∧</a:t>
            </a: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691994" y="11887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-2"/>
          <p:cNvSpPr/>
          <p:nvPr/>
        </p:nvSpPr>
        <p:spPr>
          <a:xfrm>
            <a:off x="2691994" y="14538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-1"/>
          <p:cNvSpPr/>
          <p:nvPr/>
        </p:nvSpPr>
        <p:spPr>
          <a:xfrm>
            <a:off x="5581498" y="139903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5581498" y="19568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2691994" y="51755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F288CA83-7BFC-6081-4594-88CFB9A3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(1/5)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33137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배너 좌측 · 탑바 미제공 · 안내를 중단하지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전환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 → 실내 전환을 음성 · 진동 · 화면 3채널로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무음 전환 금지 · 전환 확인 팝업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실내 도면 · 현재 위치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뷰는 3D 회전뷰 — 사용자가 바라보는 방향이 화면 위쪽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지도가 돌고 내 위치 마커는 돌지 않음 · 뷰 모드 전환 컨트롤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위치는 작은 원 마커 하나로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원 안에 방향 화살표 · 화살표를 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다음 행동 지시 배너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4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9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6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090837"/>
            <a:ext cx="2162175" cy="926552"/>
            <a:chOff x="4876800" y="4493173"/>
            <a:chExt cx="2162175" cy="926552"/>
          </a:xfrm>
        </p:grpSpPr>
        <p:sp>
          <p:nvSpPr>
            <p:cNvPr id="40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61680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41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787798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42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999939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43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372100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44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5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7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1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4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6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9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1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3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4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5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7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9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1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5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7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1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5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9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2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4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5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7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9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1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2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3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5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7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9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1" name="숫자배지 4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3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4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5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6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7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8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26343465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(2/5)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250210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층 칩 · 층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도면 좌상단 위치 고정 · 칩에는 「보고 있는 층」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층 목록 드롭다운 · 고르면 그 층 도면으로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내가 있는 층에 표식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층 이동 마커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위 「↓ B1」 형태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지시 문장만 두지 않고 도면 위에도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그 층에서 나가는 지점과 들어오는 지점 양쪽에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다음 행동 지시 배너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4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9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6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090837"/>
            <a:ext cx="2162175" cy="926552"/>
            <a:chOff x="4876800" y="4493173"/>
            <a:chExt cx="2162175" cy="926552"/>
          </a:xfrm>
        </p:grpSpPr>
        <p:sp>
          <p:nvSpPr>
            <p:cNvPr id="40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61680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41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787798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42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999939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43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372100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44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5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7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1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4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6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9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1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3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4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5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7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9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1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5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7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1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5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9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2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4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5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7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9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1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2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3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5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7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9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1" name="숫자배지 4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3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4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5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6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7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8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(3/5)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19290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다른 층을 보는 동안 (예: B2에서 B1 보기)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 위치 마커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내가 있는 층은 층 목록 드롭다운에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[현위치로] 표출 + 10초 뒤 자동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다른 층의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보고 있는 층에 걸친 구간을 그 층의 진입점부터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보고 있는 층 밖의 구간은 함께 그리지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다음 행동 지시 배너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B1 ⌄</a:t>
            </a:r>
          </a:p>
        </p:txBody>
      </p:sp>
      <p:sp>
        <p:nvSpPr>
          <p:cNvPr id="24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30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2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33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35" name="지도 컨트롤"/>
          <p:cNvSpPr/>
          <p:nvPr/>
        </p:nvSpPr>
        <p:spPr>
          <a:xfrm>
            <a:off x="6618427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지도 컨트롤 라벨"/>
          <p:cNvSpPr txBox="1"/>
          <p:nvPr/>
        </p:nvSpPr>
        <p:spPr>
          <a:xfrm>
            <a:off x="6618427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7" name="지도 컨트롤"/>
          <p:cNvSpPr/>
          <p:nvPr/>
        </p:nvSpPr>
        <p:spPr>
          <a:xfrm>
            <a:off x="6528816" y="4791456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지도 컨트롤 라벨"/>
          <p:cNvSpPr txBox="1"/>
          <p:nvPr/>
        </p:nvSpPr>
        <p:spPr>
          <a:xfrm>
            <a:off x="6528816" y="4791456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39" name="층 이동 마커"/>
          <p:cNvSpPr txBox="1"/>
          <p:nvPr/>
        </p:nvSpPr>
        <p:spPr>
          <a:xfrm>
            <a:off x="5623560" y="4224528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↑ B2</a:t>
            </a:r>
          </a:p>
        </p:txBody>
      </p:sp>
      <p:sp>
        <p:nvSpPr>
          <p:cNvPr id="40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42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44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도면 구역"/>
          <p:cNvSpPr/>
          <p:nvPr/>
        </p:nvSpPr>
        <p:spPr>
          <a:xfrm>
            <a:off x="5394960" y="356616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도면 구역 라벨"/>
          <p:cNvSpPr txBox="1"/>
          <p:nvPr/>
        </p:nvSpPr>
        <p:spPr>
          <a:xfrm>
            <a:off x="5394960" y="356616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48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출구</a:t>
            </a:r>
          </a:p>
        </p:txBody>
      </p:sp>
      <p:sp>
        <p:nvSpPr>
          <p:cNvPr id="50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도면 경로선"/>
          <p:cNvSpPr/>
          <p:nvPr/>
        </p:nvSpPr>
        <p:spPr>
          <a:xfrm>
            <a:off x="6133338" y="2327148"/>
            <a:ext cx="32004" cy="18608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56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0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63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5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6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68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70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72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73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74" name="바텀시트"/>
          <p:cNvSpPr/>
          <p:nvPr/>
        </p:nvSpPr>
        <p:spPr>
          <a:xfrm>
            <a:off x="4572000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시트 손잡이"/>
          <p:cNvSpPr/>
          <p:nvPr/>
        </p:nvSpPr>
        <p:spPr>
          <a:xfrm>
            <a:off x="5765292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남은 시간"/>
          <p:cNvSpPr txBox="1"/>
          <p:nvPr/>
        </p:nvSpPr>
        <p:spPr>
          <a:xfrm>
            <a:off x="4727448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77" name="버튼 안내 종료"/>
          <p:cNvSpPr/>
          <p:nvPr/>
        </p:nvSpPr>
        <p:spPr>
          <a:xfrm>
            <a:off x="6190488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버튼 라벨"/>
          <p:cNvSpPr txBox="1"/>
          <p:nvPr/>
        </p:nvSpPr>
        <p:spPr>
          <a:xfrm>
            <a:off x="6190488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79" name="도착 시각 · 요금"/>
          <p:cNvSpPr txBox="1"/>
          <p:nvPr/>
        </p:nvSpPr>
        <p:spPr>
          <a:xfrm>
            <a:off x="4727448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80" name="전체 경로 바"/>
          <p:cNvSpPr/>
          <p:nvPr/>
        </p:nvSpPr>
        <p:spPr>
          <a:xfrm>
            <a:off x="4727448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경로 바 라벨"/>
          <p:cNvSpPr txBox="1"/>
          <p:nvPr/>
        </p:nvSpPr>
        <p:spPr>
          <a:xfrm>
            <a:off x="4727448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2" name="전체 경로 바"/>
          <p:cNvSpPr/>
          <p:nvPr/>
        </p:nvSpPr>
        <p:spPr>
          <a:xfrm>
            <a:off x="5330952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경로 바 라벨"/>
          <p:cNvSpPr txBox="1"/>
          <p:nvPr/>
        </p:nvSpPr>
        <p:spPr>
          <a:xfrm>
            <a:off x="5330952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4" name="전체 경로 바"/>
          <p:cNvSpPr/>
          <p:nvPr/>
        </p:nvSpPr>
        <p:spPr>
          <a:xfrm>
            <a:off x="6227064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경로 바 라벨"/>
          <p:cNvSpPr txBox="1"/>
          <p:nvPr/>
        </p:nvSpPr>
        <p:spPr>
          <a:xfrm>
            <a:off x="6227064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86" name="현재 위치 표식"/>
          <p:cNvSpPr txBox="1"/>
          <p:nvPr/>
        </p:nvSpPr>
        <p:spPr>
          <a:xfrm>
            <a:off x="5111496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87" name="현재 위치 라벨"/>
          <p:cNvSpPr txBox="1"/>
          <p:nvPr/>
        </p:nvSpPr>
        <p:spPr>
          <a:xfrm>
            <a:off x="5422392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88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90" name="숫자배지 4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1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4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95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6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7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8" name="숫자배지 3-2"/>
          <p:cNvSpPr/>
          <p:nvPr/>
        </p:nvSpPr>
        <p:spPr>
          <a:xfrm>
            <a:off x="5760720" y="25968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99" name="숫자배지 3-3"/>
          <p:cNvSpPr/>
          <p:nvPr/>
        </p:nvSpPr>
        <p:spPr>
          <a:xfrm>
            <a:off x="6309360" y="4169663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(4/5)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29192" y="1447800"/>
          <a:ext cx="2972409" cy="329153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지시 단위 4종 — 회전 · 층 이동 · 시설물 · 게이트 통과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 대신 행동이 단위 · 재탐색 중에도 직전 지시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 5종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 칩 · 정북 복원 · [현위치로] · [재탐색] · 확대 · 축소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 상시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[현위치로]는 조건부 — 지도 이동 · 확대 · 축소 · 정북 상태 · 다른 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기본 뷰로 즉시 복귀 · 층까지 되돌림 · 조작 10초 뒤 자동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「내 위치」는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도면 위 POI · 시설물은 눌러도 반응하지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목업 프레임"/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다음 행동 지시 배너"/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층 칩"/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0" name="바텀시트"/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1" name="시트 손잡이"/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시트 총 소요"/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23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경로 노드 점"/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경로 노드 점"/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경로 노드 점"/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8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타임라인 축"/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타임라인 축"/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59760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32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496976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33" name="경로 노드"/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5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4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2144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385462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47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9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0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5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0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2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3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4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8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0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4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6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0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4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다음 행동 지시 라벨"/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8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1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4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6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8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0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1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2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4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6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8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0" name="숫자배지 4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1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2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3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5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6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7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(5/5)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29192" y="1447800"/>
          <a:ext cx="2972409" cy="324972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시설물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계단 · 엘리베이터 · 에스컬레이터 · 경사로를 접근 시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유형에 따라 회피 · 우선이 갈림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운행 중지 설비는 경로에서 빼고 사유를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042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목업은 접힘 · 펼침 2종을 나란히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경로 상세 — 실내 구간 단계에 이용 설비를 괄호로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이탈 시 자동 재탐색 · 토스트 「경로를 벗어나 새로운 경로로 안내합니다.」 ＋ 음성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상단 지시 배너를 상태 문구로 대체하지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목업 프레임"/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다음 행동 지시 배너"/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층 칩"/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0" name="바텀시트"/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1" name="시트 손잡이"/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시트 총 소요"/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23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경로 노드 점"/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경로 노드 점"/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경로 노드 점"/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8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타임라인 축"/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타임라인 축"/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59760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32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496976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33" name="경로 노드"/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5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4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2144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385462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47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9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0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5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0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2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3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4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8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0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4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6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0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4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다음 행동 지시 라벨"/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8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1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4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6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8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0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1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2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4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6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8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0" name="숫자배지 4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1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2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3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5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6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7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(1/3)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29192" y="1447800"/>
          <a:ext cx="2972409" cy="434888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비지도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적용 조건은 계정의 교통약자 유형 「전맹」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· 배너를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탑바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뒤로가기만 표출 · 타이틀 없음 · 설정 진입점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안내를 시작한 자리로 이동 — 음성으로 시작했으면 챗봇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안내를 중단하지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카드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3줄 — 라벨 「도착지」 ＋ 장소명 ＋ 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누를 수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방향 지시면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화살표 ＋ 잔여거리 ＋ 방향 라벨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방향은 「12시 방향」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잔여거리는 다음 행동 지점까지의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누르면 현재 안내 재낭독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3095599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3095599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3197199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3349599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7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3349599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8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3349599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19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3813149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4257649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3987895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2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4533995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3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3095599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12시 방향</a:t>
            </a:r>
          </a:p>
        </p:txBody>
      </p:sp>
      <p:sp>
        <p:nvSpPr>
          <p:cNvPr id="24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3197199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3857599" y="49569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3095599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3197199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28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3197199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29" name="S2/길안내 종료 버튼"/>
          <p:cNvSpPr/>
          <p:nvPr/>
        </p:nvSpPr>
        <p:spPr>
          <a:xfrm>
            <a:off x="3197199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길안내 종료 라벨"/>
          <p:cNvSpPr txBox="1"/>
          <p:nvPr/>
        </p:nvSpPr>
        <p:spPr>
          <a:xfrm>
            <a:off x="3959199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32" name="뒤로가기"/>
          <p:cNvCxnSpPr/>
          <p:nvPr/>
        </p:nvCxnSpPr>
        <p:spPr>
          <a:xfrm flipH="1">
            <a:off x="3280172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3280172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820924" y="1225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5618988" y="131673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561898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5618988" y="31821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숫자배지 4"/>
          <p:cNvSpPr/>
          <p:nvPr/>
        </p:nvSpPr>
        <p:spPr>
          <a:xfrm>
            <a:off x="5618988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9" name="숫자배지 5"/>
          <p:cNvSpPr/>
          <p:nvPr/>
        </p:nvSpPr>
        <p:spPr>
          <a:xfrm>
            <a:off x="5618988" y="605332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(2/3)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29192" y="1447800"/>
          <a:ext cx="2972409" cy="43978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버튼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세로 직렬 — [음성인식 시작하기] ·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종료]는 낭독 순서 마지막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질의는 [음성인식 시작하기]가 단일 입구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현재 위치 블록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2줄 — 라벨 「현재 위치」 ＋ 주소 · 누를 수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측위 미확정 시 「위치를 확인하는 중입니다.」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두지 않는 것 · 음성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하단 Nav · 진행 단계 표시 · 절대 방위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「내 앞에 무엇이 있나요?」 · 하차 알림 · 잔여 정류장 등의 기능은 음성 명령으로 실행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문장 4형 — 직진 · 회전 예고 · 회전 시점 · 도착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화면 문장 = 음성 문장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3095599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3095599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3197199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3349599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7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3349599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8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3349599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19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3813149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4257649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3987895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2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4533995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3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3095599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12시 방향</a:t>
            </a:r>
          </a:p>
        </p:txBody>
      </p:sp>
      <p:sp>
        <p:nvSpPr>
          <p:cNvPr id="24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3197199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3857599" y="49569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3095599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3197199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28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3197199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29" name="S2/길안내 종료 버튼"/>
          <p:cNvSpPr/>
          <p:nvPr/>
        </p:nvSpPr>
        <p:spPr>
          <a:xfrm>
            <a:off x="3197199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길안내 종료 라벨"/>
          <p:cNvSpPr txBox="1"/>
          <p:nvPr/>
        </p:nvSpPr>
        <p:spPr>
          <a:xfrm>
            <a:off x="3959199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32" name="뒤로가기"/>
          <p:cNvCxnSpPr/>
          <p:nvPr/>
        </p:nvCxnSpPr>
        <p:spPr>
          <a:xfrm flipH="1">
            <a:off x="3280172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3280172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820924" y="1225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5618988" y="131673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561898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5618988" y="31821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숫자배지 4"/>
          <p:cNvSpPr/>
          <p:nvPr/>
        </p:nvSpPr>
        <p:spPr>
          <a:xfrm>
            <a:off x="5618988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9" name="숫자배지 5"/>
          <p:cNvSpPr/>
          <p:nvPr/>
        </p:nvSpPr>
        <p:spPr>
          <a:xfrm>
            <a:off x="5618988" y="605332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(3/3)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29192" y="1447800"/>
          <a:ext cx="2972409" cy="348254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 안내 낭독 시점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잔여거리 갱신에 aria-live를 걸지 않음 — 안내는 앱 TTS 단일 채널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계기 3종 — 행동 이벤트(회전 예고 · 회전 시점 · 도착) · 거리 경과 · 사용자 요청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 경과 주기 — 100m 초과 50m마다 / 100m 이하 30m마다 / 30m 이하 10m마다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 예고는 30m 앞 · 이벤트가 거리 경과를 이김 — 겹치면 거리 경과를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낭독 순서 · 예외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도착지 카드 → 방향 지시면 → [음성인식 시작하기] → 현재 위치 →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종료]만 화면 순서를 따르지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문안은 「도착했습니다.」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마이크 권한이 없으면 챗봇에서 권한 안내 문구와 [설정으로 이동]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3095599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3095599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3197199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3349599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7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3349599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8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3349599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19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3813149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4257649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3987895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2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4533995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3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3095599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12시 방향</a:t>
            </a:r>
          </a:p>
        </p:txBody>
      </p:sp>
      <p:sp>
        <p:nvSpPr>
          <p:cNvPr id="24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3197199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3857599" y="49569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3095599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3197199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28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3197199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29" name="S2/길안내 종료 버튼"/>
          <p:cNvSpPr/>
          <p:nvPr/>
        </p:nvSpPr>
        <p:spPr>
          <a:xfrm>
            <a:off x="3197199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길안내 종료 라벨"/>
          <p:cNvSpPr txBox="1"/>
          <p:nvPr/>
        </p:nvSpPr>
        <p:spPr>
          <a:xfrm>
            <a:off x="3959199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32" name="뒤로가기"/>
          <p:cNvCxnSpPr/>
          <p:nvPr/>
        </p:nvCxnSpPr>
        <p:spPr>
          <a:xfrm flipH="1">
            <a:off x="3280172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3280172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820924" y="1225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5618988" y="131673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561898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5618988" y="31821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숫자배지 4"/>
          <p:cNvSpPr/>
          <p:nvPr/>
        </p:nvSpPr>
        <p:spPr>
          <a:xfrm>
            <a:off x="5618988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9" name="숫자배지 5"/>
          <p:cNvSpPr/>
          <p:nvPr/>
        </p:nvSpPr>
        <p:spPr>
          <a:xfrm>
            <a:off x="5618988" y="605332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(1/2)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29192" y="1447800"/>
          <a:ext cx="2972409" cy="293172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45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비지도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도면을 쓰지 않음 — 지도 컨트롤 5종을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 축은 살아 있음 — 낭독 ①이 현재 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낭독 순서 — 층이 맨 앞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층 → 방향 지시면(지시 ＋ 남은 거리) → 도착지 → [음성인식 시작하기] →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층이 바뀌면 바뀐 층을 먼저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층 이동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이용 설비를 함께 낭독 — 엘리베이터 · 에스컬레이터 · 계단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 이동은 별도 안내 단계로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층을 바꿔 보는 수단은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8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19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0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3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4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5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6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0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1" name="S2/길안내 종료 버튼"/>
          <p:cNvSpPr/>
          <p:nvPr/>
        </p:nvSpPr>
        <p:spPr>
          <a:xfrm>
            <a:off x="166466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2" name="S2/길안내 종료 라벨"/>
          <p:cNvSpPr txBox="1"/>
          <p:nvPr/>
        </p:nvSpPr>
        <p:spPr>
          <a:xfrm>
            <a:off x="242666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3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37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38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39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2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3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4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5" name="S2/방향 다시 듣기 버튼"/>
          <p:cNvSpPr/>
          <p:nvPr/>
        </p:nvSpPr>
        <p:spPr>
          <a:xfrm>
            <a:off x="461741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6" name="S2/방향 다시 듣기 라벨"/>
          <p:cNvSpPr txBox="1"/>
          <p:nvPr/>
        </p:nvSpPr>
        <p:spPr>
          <a:xfrm>
            <a:off x="517939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7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49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0" name="S2/길안내 종료 버튼"/>
          <p:cNvSpPr/>
          <p:nvPr/>
        </p:nvSpPr>
        <p:spPr>
          <a:xfrm>
            <a:off x="461741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1" name="S2/길안내 종료 라벨"/>
          <p:cNvSpPr txBox="1"/>
          <p:nvPr/>
        </p:nvSpPr>
        <p:spPr>
          <a:xfrm>
            <a:off x="537941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1288390" y="1234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/>
          <p:cNvSpPr/>
          <p:nvPr/>
        </p:nvSpPr>
        <p:spPr>
          <a:xfrm>
            <a:off x="4104742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숫자배지 3"/>
          <p:cNvSpPr/>
          <p:nvPr/>
        </p:nvSpPr>
        <p:spPr>
          <a:xfrm>
            <a:off x="4104742" y="42519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5" name="숫자배지 4"/>
          <p:cNvSpPr/>
          <p:nvPr/>
        </p:nvSpPr>
        <p:spPr>
          <a:xfrm>
            <a:off x="4104742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56" name="뒤로가기"/>
          <p:cNvCxnSpPr/>
          <p:nvPr/>
        </p:nvCxnSpPr>
        <p:spPr>
          <a:xfrm flipH="1">
            <a:off x="174763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뒤로가기"/>
          <p:cNvCxnSpPr/>
          <p:nvPr/>
        </p:nvCxnSpPr>
        <p:spPr>
          <a:xfrm flipH="1" flipV="1">
            <a:off x="174763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>
            <a:off x="470038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70038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(2/2)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29192" y="1447800"/>
          <a:ext cx="2972409" cy="212008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[다시 듣기] 전용 버튼 미제공 · 재낭독은 방향 지시면 누르기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원칙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다음 행동 지시는 낭독에서도 한 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 경로는 실외 · 실내를 나누지 않고 한 흐름으로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진동은 음성과 함께 제공 — 단독 안내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측위 저하 · 경로 이탈도 낭독으로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8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19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0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3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4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5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6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0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1" name="S2/길안내 종료 버튼"/>
          <p:cNvSpPr/>
          <p:nvPr/>
        </p:nvSpPr>
        <p:spPr>
          <a:xfrm>
            <a:off x="166466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2" name="S2/길안내 종료 라벨"/>
          <p:cNvSpPr txBox="1"/>
          <p:nvPr/>
        </p:nvSpPr>
        <p:spPr>
          <a:xfrm>
            <a:off x="242666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3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37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38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39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2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3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4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5" name="S2/방향 다시 듣기 버튼"/>
          <p:cNvSpPr/>
          <p:nvPr/>
        </p:nvSpPr>
        <p:spPr>
          <a:xfrm>
            <a:off x="461741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6" name="S2/방향 다시 듣기 라벨"/>
          <p:cNvSpPr txBox="1"/>
          <p:nvPr/>
        </p:nvSpPr>
        <p:spPr>
          <a:xfrm>
            <a:off x="517939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7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49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0" name="S2/길안내 종료 버튼"/>
          <p:cNvSpPr/>
          <p:nvPr/>
        </p:nvSpPr>
        <p:spPr>
          <a:xfrm>
            <a:off x="461741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1" name="S2/길안내 종료 라벨"/>
          <p:cNvSpPr txBox="1"/>
          <p:nvPr/>
        </p:nvSpPr>
        <p:spPr>
          <a:xfrm>
            <a:off x="537941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1288390" y="1234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/>
          <p:cNvSpPr/>
          <p:nvPr/>
        </p:nvSpPr>
        <p:spPr>
          <a:xfrm>
            <a:off x="4104742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숫자배지 3"/>
          <p:cNvSpPr/>
          <p:nvPr/>
        </p:nvSpPr>
        <p:spPr>
          <a:xfrm>
            <a:off x="4104742" y="42519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5" name="숫자배지 4"/>
          <p:cNvSpPr/>
          <p:nvPr/>
        </p:nvSpPr>
        <p:spPr>
          <a:xfrm>
            <a:off x="4104742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56" name="뒤로가기"/>
          <p:cNvCxnSpPr/>
          <p:nvPr/>
        </p:nvCxnSpPr>
        <p:spPr>
          <a:xfrm flipH="1">
            <a:off x="174763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뒤로가기"/>
          <p:cNvCxnSpPr/>
          <p:nvPr/>
        </p:nvCxnSpPr>
        <p:spPr>
          <a:xfrm flipH="1" flipV="1">
            <a:off x="174763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>
            <a:off x="470038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70038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40836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의도 5종 응답 규격 및 음성으로 제공 불가 기능 예시</a:t>
            </a:r>
          </a:p>
        </p:txBody>
      </p:sp>
      <p:sp>
        <p:nvSpPr>
          <p:cNvPr id="7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1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2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‘하차 알림 해줘’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4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‘몇 정거장 남았어?’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7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‘안내를 시작할까요?’로 확인</a:t>
            </a:r>
          </a:p>
        </p:txBody>
      </p:sp>
      <p:sp>
        <p:nvSpPr>
          <p:cNvPr id="20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=‘내 앞에 무엇이 있나요?’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3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‘승차 위치가 어디야?’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6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‘순서’ ‘몇 번째로 들어와?’</a:t>
            </a:r>
          </a:p>
        </p:txBody>
      </p:sp>
      <p:sp>
        <p:nvSpPr>
          <p:cNvPr id="32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3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‘예약 취소해줘’</a:t>
            </a:r>
          </a:p>
        </p:txBody>
      </p:sp>
      <p:sp>
        <p:nvSpPr>
          <p:cNvPr id="35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‘미리 예약해둘래’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‘사용자가 정류장에 있을 때’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39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‘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?’</a:t>
            </a:r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2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4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6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(1/3)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458152" y="128282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604456" y="136055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840952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57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83756"/>
            <a:ext cx="2433901" cy="1102872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음성으로 목적지를 찾거나 도움을 받을 수 있어요.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마이크 권한이 필요해요. 다음 화면에서 허용해 주세요.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58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97677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59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463553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없어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음성으로 말할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0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4220766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2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63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5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72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4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5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277502" y="1447800"/>
          <a:ext cx="2553309" cy="271530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유형을 전맹으로 선택한 사용자에게만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7" name="섹션 액션 편집"/>
          <p:cNvSpPr txBox="1"/>
          <p:nvPr/>
        </p:nvSpPr>
        <p:spPr>
          <a:xfrm>
            <a:off x="2413826" y="5033256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217839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0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8939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1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42934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3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41720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4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(2/3)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458152" y="128282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604456" y="136055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840952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57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83756"/>
            <a:ext cx="2433901" cy="1102872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음성으로 목적지를 찾거나 도움을 받을 수 있어요.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마이크 권한이 필요해요. 다음 화면에서 허용해 주세요.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58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97677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59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463553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없어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음성으로 말할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0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4220436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2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63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5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72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4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5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277502" y="1447800"/>
          <a:ext cx="2553309" cy="42687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알겠어요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마이크 권한이 켜져 있으면 튜토리얼 종료 후 음성인식 페이지로 진입(3)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꺼져 있으면 마이크 권한 설정 안내문구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666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마이크 권한 설정 안내문구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「마이크 권한이 없어 음성으로 말할 수 없어요. 설정에서 마이크를 켜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권한 판단은 최초 1회가 아니라 챗봇 진입 시마다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설정에서 켜지 않고 돌아와도 챗봇 페이지로 — 튜토리얼로 되돌리지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앱의 권한 화면으로 바로 이동(딥링크)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권한 안내가 서면 초점이 이 버튼으로 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앱을 벗어난다는 사실을 낭독 라벨로 사전 고지 · 확인 팝업은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7" name="섹션 액션 편집"/>
          <p:cNvSpPr txBox="1"/>
          <p:nvPr/>
        </p:nvSpPr>
        <p:spPr>
          <a:xfrm>
            <a:off x="2413826" y="5033256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217839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0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8939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1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42934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3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417197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4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(3/3)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277502" y="1447800"/>
          <a:ext cx="2553309" cy="350794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· 챗봇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페이지 진입 시마다 「화면 어디든 길게 눌러 음성인식을 시작해 보세요.」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짧게 누르기(탭)는 아무 동작도 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길게 누르기는 진행 중 낭독을 중단하고 수집을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텍스트 입력창은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666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전맹 길안내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지도에서 직접 영역을 눌러 장소를 선택하는 기능 미제공 · 음성 또는 검색 툴로만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7칩은 「저시력 · 전맹」 기준 순서로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도착지는 최신 2건 표출 — 시트를 넘치면 내부 스크롤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칩 추가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5" name="칩 추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7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8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0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4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8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0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43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458152" y="128282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604456" y="136055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8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840952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1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83756"/>
            <a:ext cx="2433901" cy="1102872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음성으로 목적지를 찾거나 도움을 받을 수 있어요.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마이크 권한이 필요해요. 다음 화면에서 허용해 주세요.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62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97677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63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463553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없어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음성으로 말할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4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4220436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65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6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7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7" name="섹션 액션 편집"/>
          <p:cNvSpPr txBox="1"/>
          <p:nvPr/>
        </p:nvSpPr>
        <p:spPr>
          <a:xfrm>
            <a:off x="2413826" y="5033256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217839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0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8939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1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42934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3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417197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4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(1/4)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2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5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 보기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 설정하기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이 장소로 길안내 시작하기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51511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0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5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277502" y="1447800"/>
          <a:ext cx="2553309" cy="431317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유저가 「음성인식 시작하기」로 대화하며 장소를 검색한 경우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026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응답 — 음성 ＋ 텍스트 동시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「화면 어디든 길게 눌러~」는 사라지고 「손을 떼면 음성인식이 끝나요.」만 표출 · 읽어주지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음성인식을 통한 장소 검색 완료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화면 어디든 길게 눌러 시작 · 시작 · 종료 시 효과음 ＋ 진동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사용자 질의 말풍선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 인식(STT) 결과를 텍스트로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잘못 인식되면 화면을 다시 길게 눌러 재질의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39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2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4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39496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48660" y="4944679"/>
            <a:ext cx="2142171" cy="82461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2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3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4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5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6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7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(2/4)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277502" y="1447800"/>
          <a:ext cx="2553309" cy="50582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6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결과 응답 말풍선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음성 ＋ 텍스트 동시 · 음성 우선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낭독 순서 — 머리 문장 → 장소명 → 주소 → 접근성 3행 → 설정된 슬롯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지번 풀주소에 광역 포함 · 도로명 하위주소를 괄호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정확도 최상위 1건만 안내 — 나열하지 않음 · 결과 없음 · 실패도 사유를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장소 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다음 순위 1건을 새 말풍선으로 표출 · 단계는 바뀌지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3650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단계별 버튼 — 슬롯 상태로 갈림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1단계(빈 슬롯) — [다음 장소 보기] · [이 장소로 길안내 시작하기] · [출발지로 설정하기] · [대화 종료] · 2단계(출발지)는 3번째가 [경유지 추가하기]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3단계(출발지 · 도착지) — [다음 장소 보기] · [경유지 추가 후 길안내 시작] · [대화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전맹은 세로 직렬 · [이 장소로 길안내 시작하기]는 탐색 후 확인 루프 · 설정 버튼은 슬롯을 채우고 대기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 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설정하기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 장소로 길안내 시작하기</a:t>
            </a:r>
          </a:p>
        </p:txBody>
      </p:sp>
      <p:sp>
        <p:nvSpPr>
          <p:cNvPr id="28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51511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4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3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4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39496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48660" y="4944679"/>
            <a:ext cx="2142171" cy="82461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2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3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4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5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6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7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(3/4)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277502" y="1447800"/>
          <a:ext cx="2553309" cy="78623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 종료 후 이전 페이지로 복귀 · 채팅을 별도로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1802955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4650073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5013570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4894699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5654565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5013570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4967509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 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2163479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2044607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2300469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2781585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2623495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4990640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4971374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설정하기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4971374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 장소로 길안내 시작하기</a:t>
            </a:r>
          </a:p>
        </p:txBody>
      </p:sp>
      <p:sp>
        <p:nvSpPr>
          <p:cNvPr id="28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4925654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1955355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1955355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4802473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4802473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4745323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4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4783423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4783423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4783423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6846694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6656708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4874702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4814763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4532829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3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4709029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4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2469672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5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2146302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3788743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(4/4)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277502" y="1447800"/>
          <a:ext cx="2553309" cy="405556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42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응답 대기 · 무음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대기가 길어지면 「답을 찾고 있어요.」를 한 번만 낭독 — 반복하지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제한 시간을 넘기면 「답을 받지 못했어요. 화면을 길게 누르고 다시 말씀해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인식 결과가 비면 「잘 못 들었어요. 화면을 길게 누르고 다시 말씀해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자동으로 다시 듣기를 시작하지 않음 · 토스트로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팝업 · 토스트는 대화 안으로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2-7 안에서는 팝업도 토스트도 쓰지 않음 — 대화 위에 레이어를 얹지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완료 고지는 응답 말풍선이 겸함 · 확인이 필요한 건은 응답 말풍선 ＋ 챗봇 버튼이 받음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말풍선은 흐름에 남아 다시 훑을 수 있음 — 자동으로 걷어내지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 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설정하기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 장소로 길안내 시작하기</a:t>
            </a:r>
          </a:p>
        </p:txBody>
      </p:sp>
      <p:sp>
        <p:nvSpPr>
          <p:cNvPr id="28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51511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4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3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4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39496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48660" y="4944679"/>
            <a:ext cx="2142171" cy="82461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2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3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4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5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6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7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 (1/3)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540620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981631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414292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5477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39008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79489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512344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6243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30592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41939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66398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4299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29192" y="1447800"/>
          <a:ext cx="2972409" cy="268990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중에는 화면을 눌러도 안내가 멈추지 않음을 먼저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 · 현재 음성 안내 중임을 화면에도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적용 범위는 짧게 누르기(탭)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길게 누르기는 안내를 중단하고 수집을 시작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숫자배지 1-5"/>
          <p:cNvSpPr/>
          <p:nvPr/>
        </p:nvSpPr>
        <p:spPr>
          <a:xfrm>
            <a:off x="1104595" y="4629607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5" name="숫자배지 1-5"/>
          <p:cNvSpPr/>
          <p:nvPr/>
        </p:nvSpPr>
        <p:spPr>
          <a:xfrm>
            <a:off x="4553712" y="3877056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사용자 질의 버블"/>
          <p:cNvSpPr/>
          <p:nvPr/>
        </p:nvSpPr>
        <p:spPr>
          <a:xfrm>
            <a:off x="2734056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8" name="사용자 질의 버블"/>
          <p:cNvSpPr/>
          <p:nvPr/>
        </p:nvSpPr>
        <p:spPr>
          <a:xfrm>
            <a:off x="6181344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9" name="숫자배지 1-3-1"/>
          <p:cNvSpPr/>
          <p:nvPr/>
        </p:nvSpPr>
        <p:spPr>
          <a:xfrm>
            <a:off x="1143000" y="34015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1-3-1</a:t>
            </a:r>
          </a:p>
        </p:txBody>
      </p:sp>
      <p:sp>
        <p:nvSpPr>
          <p:cNvPr id="50" name="숫자배지 1-3-2"/>
          <p:cNvSpPr/>
          <p:nvPr/>
        </p:nvSpPr>
        <p:spPr>
          <a:xfrm>
            <a:off x="1069848" y="370332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 (2/3)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540620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981631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414292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5477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39008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79489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512344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6243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30592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41939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66398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4299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29192" y="1447800"/>
          <a:ext cx="2972714" cy="4644387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 · 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계단은 오르내림까지 붙임 — 「계단(내려가는 방향)」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탐색 범위 · 개수 상한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반경 50m · 전 방위 — 앞쪽으로 좁히지 않음 · 최대 4개 — 넘치면 읽지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읽는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안전 지물(계단 · 횡단보도 · 경사로) 먼저 → 그 안에서는 가까운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나머지는 가까운 순 · 거리가 같으면 앞쪽(10~2시) 먼저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다시 듣기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마지막 응답을 재생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길안내 화면으로 돌아가기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화면으로 복귀하며 대화도 함께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정상 · 측위 실패 양쪽에 모두 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숫자배지 1-5"/>
          <p:cNvSpPr/>
          <p:nvPr/>
        </p:nvSpPr>
        <p:spPr>
          <a:xfrm>
            <a:off x="1104595" y="4629607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5" name="숫자배지 1-5"/>
          <p:cNvSpPr/>
          <p:nvPr/>
        </p:nvSpPr>
        <p:spPr>
          <a:xfrm>
            <a:off x="4553712" y="3877056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사용자 질의 버블"/>
          <p:cNvSpPr/>
          <p:nvPr/>
        </p:nvSpPr>
        <p:spPr>
          <a:xfrm>
            <a:off x="2734056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8" name="사용자 질의 버블"/>
          <p:cNvSpPr/>
          <p:nvPr/>
        </p:nvSpPr>
        <p:spPr>
          <a:xfrm>
            <a:off x="6181344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9" name="숫자배지 1-3-1"/>
          <p:cNvSpPr/>
          <p:nvPr/>
        </p:nvSpPr>
        <p:spPr>
          <a:xfrm>
            <a:off x="1143000" y="34015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1-3-1</a:t>
            </a:r>
          </a:p>
        </p:txBody>
      </p:sp>
      <p:sp>
        <p:nvSpPr>
          <p:cNvPr id="50" name="숫자배지 1-3-2"/>
          <p:cNvSpPr/>
          <p:nvPr/>
        </p:nvSpPr>
        <p:spPr>
          <a:xfrm>
            <a:off x="1069848" y="370332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 (3/3)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540620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981631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414292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5477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39008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79489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512344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6243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30592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41939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66398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4299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29192" y="1447800"/>
          <a:ext cx="2972409" cy="182372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" name="숫자배지 1-5"/>
          <p:cNvSpPr/>
          <p:nvPr/>
        </p:nvSpPr>
        <p:spPr>
          <a:xfrm>
            <a:off x="1104595" y="4629607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5" name="숫자배지 1-5"/>
          <p:cNvSpPr/>
          <p:nvPr/>
        </p:nvSpPr>
        <p:spPr>
          <a:xfrm>
            <a:off x="4553712" y="3877056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사용자 질의 버블"/>
          <p:cNvSpPr/>
          <p:nvPr/>
        </p:nvSpPr>
        <p:spPr>
          <a:xfrm>
            <a:off x="2734056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8" name="사용자 질의 버블"/>
          <p:cNvSpPr/>
          <p:nvPr/>
        </p:nvSpPr>
        <p:spPr>
          <a:xfrm>
            <a:off x="6181344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9" name="숫자배지 1-3-1"/>
          <p:cNvSpPr/>
          <p:nvPr/>
        </p:nvSpPr>
        <p:spPr>
          <a:xfrm>
            <a:off x="1143000" y="34015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1-3-1</a:t>
            </a:r>
          </a:p>
        </p:txBody>
      </p:sp>
      <p:sp>
        <p:nvSpPr>
          <p:cNvPr id="50" name="숫자배지 1-3-2"/>
          <p:cNvSpPr/>
          <p:nvPr/>
        </p:nvSpPr>
        <p:spPr>
          <a:xfrm>
            <a:off x="1069848" y="370332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1-3-2</a:t>
            </a:r>
          </a:p>
        </p:txBody>
      </p:sp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46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8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277502" y="1447801"/>
          <a:ext cx="2553309" cy="34539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변경을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★ 3단 흐름은 음성 전용 모드 안에서만 적용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★ 그 밖의 화면은 공통 긴급 안내 팝업으로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3채널 동시 · 전용 진동 패턴 · 임의 종료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 전용 모드 대기 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발화 전에 긴급 안내가 온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채팅을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발생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포커스를 긴급 영역으로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1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46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8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277502" y="1447801"/>
          <a:ext cx="2553309" cy="383915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긴급 안내 종료 후 재개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중단됐던 안내를 이름으로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임의로 재개 · 종료하지 않고 반드시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무응답 시 길 안내 중이면 일정 시간 뒤 자동으로 이어감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그 외에는 대기 — 자동으로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공통 원칙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 뒤로가기가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[대화 종료]는 안내가 끝난 뒤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여러 건은 표출 중인 건을 끊지 않고 온 순서대로 · 같은 건의 갱신은 대체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진동 미지원 · 무음 단말에 대체 채널을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외 유형도 같은 긴급 알림을 받음 — 포그라운드 팝업 / 백그라운드 푸시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1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91440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‘시청역’ 하차 알림이 켜져 있어요. 1정거장 전에 알려드릴게요.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277502" y="1447800"/>
          <a:ext cx="2553309" cy="421477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하차 알림 —「하차 알림 해줘」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대중교통 안내 중이면 하차 알림은 이미 켜져 있음 — 기본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「설정했어요」로 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응답은 켜져 있다는 사실 ＋ 대상 역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「‘시청역’ 하차 알림이 켜져 있어요. 1정거장 전에 알려드릴게요.」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설정 결과 카드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대상 역 · 알림 방식을 채팅으로 남김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 · 즉시 해제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대화로도 가능하지만 버튼으로도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문구로 다시 재생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1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277502" y="1447800"/>
          <a:ext cx="2553309" cy="185140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—‘몇 정거장 남았어?’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1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제공 불가 기능 예시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12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3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 보세요.</a:t>
            </a:r>
          </a:p>
        </p:txBody>
      </p:sp>
      <p:sp>
        <p:nvSpPr>
          <p:cNvPr id="19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1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29192" y="1447800"/>
          <a:ext cx="2972409" cy="364815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침묵하거나, 모른다고 단일 답변하지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제공하지 않는 기능임을 명확히 안내하고 대신 알려줄 수 있는 정보를 함께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6963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 불가 4건 — 대안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① 버스 도착 순서 「몇 번째로 들어와?」 — 저상버스가 도착하면 바로 알림 · [도착 알림 켜기]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예약 취소 「예약 취소해줘」 — 「예약 신청 완료」는 취소 가능 · 확인을 먼저 물음 · 「예약 확정됨」은 취소 불가 · 도착 시 알림 · [예약 내역 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③ 예약 사전 발신 「미리 예약해둘래」 — 그때까지 「예약 신청 완료」로 표시 · 상태는 신청함 / 확정됨 2단 · 발송 시점을 거리 · 정거장 수로 말하지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④ 만차 · 혼잡도 「자리 있어?」 — 이번 릴리즈 범위 밖 · 저상버스 도착 여부까지만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59956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751960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885310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751960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885310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751960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885310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751960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885310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751960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885310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751960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885310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751960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885310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609084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018660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75196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75196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숫자배지 1"/>
          <p:cNvSpPr/>
          <p:nvPr/>
        </p:nvSpPr>
        <p:spPr>
          <a:xfrm>
            <a:off x="370960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8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유형별 표출 순서</a:t>
            </a:r>
          </a:p>
        </p:txBody>
      </p:sp>
      <p:sp>
        <p:nvSpPr>
          <p:cNvPr id="32" name="Description 제목"/>
          <p:cNvSpPr txBox="1"/>
          <p:nvPr/>
        </p:nvSpPr>
        <p:spPr>
          <a:xfrm>
            <a:off x="3749040" y="1114425"/>
            <a:ext cx="237744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교통약자 유형별 표출 순위</a:t>
            </a:r>
          </a:p>
        </p:txBody>
      </p:sp>
      <p:sp>
        <p:nvSpPr>
          <p:cNvPr id="33" name="Description 밑줄"/>
          <p:cNvSpPr/>
          <p:nvPr/>
        </p:nvSpPr>
        <p:spPr>
          <a:xfrm>
            <a:off x="3749040" y="1352550"/>
            <a:ext cx="49377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4" name="유형별 표출 순위 표"/>
          <p:cNvGraphicFramePr>
            <a:graphicFrameLocks noGrp="1"/>
          </p:cNvGraphicFramePr>
          <p:nvPr/>
        </p:nvGraphicFramePr>
        <p:xfrm>
          <a:off x="3749040" y="1444752"/>
          <a:ext cx="4937760" cy="2871216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순위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휠체어·유모차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노약자·임산부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저시력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15656"/>
              </p:ext>
            </p:extLst>
          </p:nvPr>
        </p:nvGraphicFramePr>
        <p:xfrm>
          <a:off x="9277502" y="1447800"/>
          <a:ext cx="2553309" cy="228264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순서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개수는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그대로이고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좌측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순위표를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적용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1-2 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2-0 길안내 시트 7칩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 휠체어 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350m · 영등포구 당산동4가 80-5</a:t>
            </a:r>
          </a:p>
        </p:txBody>
      </p:sp>
      <p:sp>
        <p:nvSpPr>
          <p:cNvPr id="39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420m · 영등포구 당산동3가 82-3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680m · 영등포구 영등포동 1-9</a:t>
            </a:r>
          </a:p>
        </p:txBody>
      </p:sp>
      <p:sp>
        <p:nvSpPr>
          <p:cNvPr id="43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10912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10912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5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259004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259004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7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9200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9200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9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277292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277292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9200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9200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3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277292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277292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277502" y="1447800"/>
          <a:ext cx="2553309" cy="443438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인근 편의시설 — 카테고리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탑바 — 뒤로가기 ＋ 제목 「인근 편의시설」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카테고리 7종 · 1열 세로 리스트 — 2열 그리드가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항목명만 표기 — 부가 설명 · 아이콘 배지를 붙이지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「인근」 기준은 현위치 반경 300m · 택 1 하면 지도 ＋ 바텀시트로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표시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표시 순서는 교통약자 유형별로 갈림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컨트롤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리스트에 오른 장소를 전량 핀으로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항목은 핀이 더 크게 — 다른 핀을 지우지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단계와 무관하게 상시 노출 · 뒤로가기는 지도 좌상단 원형 플로팅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8" name="즐겨찾기 토글"/>
          <p:cNvSpPr/>
          <p:nvPr/>
        </p:nvSpPr>
        <p:spPr>
          <a:xfrm>
            <a:off x="7296912" y="3622163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59" name="주소 펼침"/>
          <p:cNvSpPr/>
          <p:nvPr/>
        </p:nvSpPr>
        <p:spPr>
          <a:xfrm>
            <a:off x="6265306" y="3859907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0" name="즐겨찾기 토글"/>
          <p:cNvSpPr/>
          <p:nvPr/>
        </p:nvSpPr>
        <p:spPr>
          <a:xfrm>
            <a:off x="7296912" y="4530338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1" name="주소 펼침"/>
          <p:cNvSpPr/>
          <p:nvPr/>
        </p:nvSpPr>
        <p:spPr>
          <a:xfrm>
            <a:off x="6265306" y="4768082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2" name="즐겨찾기 토글"/>
          <p:cNvSpPr/>
          <p:nvPr/>
        </p:nvSpPr>
        <p:spPr>
          <a:xfrm>
            <a:off x="7296912" y="5478356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3" name="주소 펼침"/>
          <p:cNvSpPr/>
          <p:nvPr/>
        </p:nvSpPr>
        <p:spPr>
          <a:xfrm>
            <a:off x="6179454" y="5716100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4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카테고리 선택 · 시설 목록 (1/3)</a:t>
            </a:r>
          </a:p>
        </p:txBody>
      </p:sp>
      <p:sp>
        <p:nvSpPr>
          <p:cNvPr id="65" name="숫자배지 1"/>
          <p:cNvSpPr/>
          <p:nvPr/>
        </p:nvSpPr>
        <p:spPr>
          <a:xfrm>
            <a:off x="1078992" y="20208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1-1"/>
          <p:cNvSpPr/>
          <p:nvPr/>
        </p:nvSpPr>
        <p:spPr>
          <a:xfrm>
            <a:off x="996696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7296912" y="20299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4526280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4526280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7626096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6510528" y="38221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7626096" y="4114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 휠체어 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350m · 영등포구 당산동4가 80-5</a:t>
            </a:r>
          </a:p>
        </p:txBody>
      </p:sp>
      <p:sp>
        <p:nvSpPr>
          <p:cNvPr id="39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420m · 영등포구 당산동3가 82-3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680m · 영등포구 영등포동 1-9</a:t>
            </a:r>
          </a:p>
        </p:txBody>
      </p:sp>
      <p:sp>
        <p:nvSpPr>
          <p:cNvPr id="43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10912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10912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5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259004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259004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7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9200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9200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9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277292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277292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9200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9200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3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277292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277292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277502" y="1447800"/>
          <a:ext cx="2553309" cy="42179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2단계 · 진입 기본값 최대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높이는 리스트 콘텐츠 양을 따름 — 고정 높이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전환은 손잡이 누르기 토글 하나 · 드래그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탭 = 최소화 · 지도 이동 · 확대로는 단계 불변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목록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— 이름(강조) / 거리 · 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2번째 줄은 거리 → 주소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기준 직선거리 · m 단위 정수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지번에서 광역 1개만 생략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자체가 장소 상세 진입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한켠 · 아이콘 토글 하나 · 텍스트 버튼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/ ★ 형태로 on / off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8" name="즐겨찾기 토글"/>
          <p:cNvSpPr/>
          <p:nvPr/>
        </p:nvSpPr>
        <p:spPr>
          <a:xfrm>
            <a:off x="7296912" y="3622163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59" name="주소 펼침"/>
          <p:cNvSpPr/>
          <p:nvPr/>
        </p:nvSpPr>
        <p:spPr>
          <a:xfrm>
            <a:off x="6265306" y="3859907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0" name="즐겨찾기 토글"/>
          <p:cNvSpPr/>
          <p:nvPr/>
        </p:nvSpPr>
        <p:spPr>
          <a:xfrm>
            <a:off x="7296912" y="4530338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1" name="주소 펼침"/>
          <p:cNvSpPr/>
          <p:nvPr/>
        </p:nvSpPr>
        <p:spPr>
          <a:xfrm>
            <a:off x="6265306" y="4768082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2" name="즐겨찾기 토글"/>
          <p:cNvSpPr/>
          <p:nvPr/>
        </p:nvSpPr>
        <p:spPr>
          <a:xfrm>
            <a:off x="7296912" y="5478356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3" name="주소 펼침"/>
          <p:cNvSpPr/>
          <p:nvPr/>
        </p:nvSpPr>
        <p:spPr>
          <a:xfrm>
            <a:off x="6179454" y="5716100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4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카테고리 선택 · 시설 목록 (2/3)</a:t>
            </a:r>
          </a:p>
        </p:txBody>
      </p:sp>
      <p:sp>
        <p:nvSpPr>
          <p:cNvPr id="65" name="숫자배지 1"/>
          <p:cNvSpPr/>
          <p:nvPr/>
        </p:nvSpPr>
        <p:spPr>
          <a:xfrm>
            <a:off x="1078992" y="20208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1-1"/>
          <p:cNvSpPr/>
          <p:nvPr/>
        </p:nvSpPr>
        <p:spPr>
          <a:xfrm>
            <a:off x="996696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7296912" y="20299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4526280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4526280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7626096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6510528" y="38221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7626096" y="4114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 휠체어 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350m · 영등포구 당산동4가 80-5</a:t>
            </a:r>
          </a:p>
        </p:txBody>
      </p:sp>
      <p:sp>
        <p:nvSpPr>
          <p:cNvPr id="39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420m · 영등포구 당산동3가 82-3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680m · 영등포구 영등포동 1-9</a:t>
            </a:r>
          </a:p>
        </p:txBody>
      </p:sp>
      <p:sp>
        <p:nvSpPr>
          <p:cNvPr id="43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10912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10912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5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259004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259004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7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9200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9200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9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277292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277292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9200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9200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3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277292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277292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277502" y="1447800"/>
          <a:ext cx="2553309" cy="364494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[∨] 주소 종류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 줄 오른쪽 아이콘 하나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 주소가 있을 때만 표출 — 없으면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메뉴는 2행 고정 — 「지번」 / 「도로명」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행은 종류 라벨 ＋ 주소 · 광역 1개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가로 2열 「출발」 ·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 시 2-3 상세경로로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20건씩 스크롤로 이어 받음 · 핀도 함께 증가 · 지도 뷰 재조정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요약 헤더(「인근 시설 N곳 · 반경 300m」)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8" name="즐겨찾기 토글"/>
          <p:cNvSpPr/>
          <p:nvPr/>
        </p:nvSpPr>
        <p:spPr>
          <a:xfrm>
            <a:off x="7296912" y="3622163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59" name="주소 펼침"/>
          <p:cNvSpPr/>
          <p:nvPr/>
        </p:nvSpPr>
        <p:spPr>
          <a:xfrm>
            <a:off x="6265306" y="3859907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0" name="즐겨찾기 토글"/>
          <p:cNvSpPr/>
          <p:nvPr/>
        </p:nvSpPr>
        <p:spPr>
          <a:xfrm>
            <a:off x="7296912" y="4530338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1" name="주소 펼침"/>
          <p:cNvSpPr/>
          <p:nvPr/>
        </p:nvSpPr>
        <p:spPr>
          <a:xfrm>
            <a:off x="6265306" y="4768082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2" name="즐겨찾기 토글"/>
          <p:cNvSpPr/>
          <p:nvPr/>
        </p:nvSpPr>
        <p:spPr>
          <a:xfrm>
            <a:off x="7296912" y="5478356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3" name="주소 펼침"/>
          <p:cNvSpPr/>
          <p:nvPr/>
        </p:nvSpPr>
        <p:spPr>
          <a:xfrm>
            <a:off x="6179454" y="5716100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4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카테고리 선택 · 시설 목록 (3/3)</a:t>
            </a:r>
          </a:p>
        </p:txBody>
      </p:sp>
      <p:sp>
        <p:nvSpPr>
          <p:cNvPr id="65" name="숫자배지 1"/>
          <p:cNvSpPr/>
          <p:nvPr/>
        </p:nvSpPr>
        <p:spPr>
          <a:xfrm>
            <a:off x="1078992" y="20208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1-1"/>
          <p:cNvSpPr/>
          <p:nvPr/>
        </p:nvSpPr>
        <p:spPr>
          <a:xfrm>
            <a:off x="996696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7296912" y="20299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4526280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4526280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7626096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6510528" y="38221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7626096" y="4114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657" y="228600"/>
            <a:ext cx="114208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장소 상세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277502" y="1447800"/>
          <a:ext cx="2553309" cy="445658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상세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행을 누르면 진입 —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 장소 1건만 핀 · 다른 장소 선택 시 무반응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장소명 · 업종 ·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1줄 · 업종명은 다음 줄 보조 표기 · 공급 분류명 그대로 사용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직선거리 · m 정수 · 방위 없음 · 바뀌면 재계산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지번 풀주소 — 광역 포함 ＋ 도로명 하위주소 괄호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도로명이 없으면 괄호째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이미지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가로 캐러셀 — 한 번에 한 장 · 「1 / N」은 사진 우측 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[‹] [›] 좌우 버튼을 함께 둠 — 스와이프만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1장이면 캐러셀 없음 · 원본 비율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8" name="지도"/>
          <p:cNvSpPr/>
          <p:nvPr/>
        </p:nvSpPr>
        <p:spPr>
          <a:xfrm>
            <a:off x="1311250" y="1300277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지도 안내"/>
          <p:cNvSpPr txBox="1"/>
          <p:nvPr/>
        </p:nvSpPr>
        <p:spPr>
          <a:xfrm>
            <a:off x="1942186" y="2104949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지도에 핀 형태로 선택 장소 표출</a:t>
            </a:r>
          </a:p>
        </p:txBody>
      </p:sp>
      <p:sp>
        <p:nvSpPr>
          <p:cNvPr id="20" name="뒤로가기 플로팅"/>
          <p:cNvSpPr/>
          <p:nvPr/>
        </p:nvSpPr>
        <p:spPr>
          <a:xfrm>
            <a:off x="1439265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바텀시트"/>
          <p:cNvSpPr/>
          <p:nvPr/>
        </p:nvSpPr>
        <p:spPr>
          <a:xfrm>
            <a:off x="1311250" y="3238805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시트 손잡이"/>
          <p:cNvSpPr/>
          <p:nvPr/>
        </p:nvSpPr>
        <p:spPr>
          <a:xfrm>
            <a:off x="2490826" y="3330245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장소명"/>
          <p:cNvSpPr txBox="1"/>
          <p:nvPr/>
        </p:nvSpPr>
        <p:spPr>
          <a:xfrm>
            <a:off x="1484986" y="3421685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홍대입구역 휠체어 충전소</a:t>
            </a:r>
          </a:p>
        </p:txBody>
      </p:sp>
      <p:sp>
        <p:nvSpPr>
          <p:cNvPr id="24" name="업종 · 거리"/>
          <p:cNvSpPr txBox="1"/>
          <p:nvPr/>
        </p:nvSpPr>
        <p:spPr>
          <a:xfrm>
            <a:off x="1484986" y="3677717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휠체어 급속충전기 · 350m</a:t>
            </a:r>
          </a:p>
        </p:txBody>
      </p:sp>
      <p:sp>
        <p:nvSpPr>
          <p:cNvPr id="25" name="지번 주소"/>
          <p:cNvSpPr txBox="1"/>
          <p:nvPr/>
        </p:nvSpPr>
        <p:spPr>
          <a:xfrm>
            <a:off x="1484986" y="3860597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26" name="도로명 주소"/>
          <p:cNvSpPr txBox="1"/>
          <p:nvPr/>
        </p:nvSpPr>
        <p:spPr>
          <a:xfrm>
            <a:off x="1484986" y="4025189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(영등포구 양평로 21)</a:t>
            </a:r>
          </a:p>
        </p:txBody>
      </p:sp>
      <p:sp>
        <p:nvSpPr>
          <p:cNvPr id="27" name="장소 이미지"/>
          <p:cNvSpPr/>
          <p:nvPr/>
        </p:nvSpPr>
        <p:spPr>
          <a:xfrm>
            <a:off x="1484986" y="4244645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장수 표시"/>
          <p:cNvSpPr txBox="1"/>
          <p:nvPr/>
        </p:nvSpPr>
        <p:spPr>
          <a:xfrm>
            <a:off x="2618842" y="4848149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9" name="사진 이동"/>
          <p:cNvSpPr txBox="1"/>
          <p:nvPr/>
        </p:nvSpPr>
        <p:spPr>
          <a:xfrm>
            <a:off x="1521562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30" name="사진 이동"/>
          <p:cNvSpPr txBox="1"/>
          <p:nvPr/>
        </p:nvSpPr>
        <p:spPr>
          <a:xfrm>
            <a:off x="2783433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1484986" y="515904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2948026" y="5159045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1484986" y="5378501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계단 유무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2948026" y="5378501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5" name="접근성 항목"/>
          <p:cNvSpPr txBox="1"/>
          <p:nvPr/>
        </p:nvSpPr>
        <p:spPr>
          <a:xfrm>
            <a:off x="1484986" y="5597957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6" name="접근성 값"/>
          <p:cNvSpPr txBox="1"/>
          <p:nvPr/>
        </p:nvSpPr>
        <p:spPr>
          <a:xfrm>
            <a:off x="2948026" y="5597957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7" name="즐겨찾기 토글"/>
          <p:cNvSpPr txBox="1"/>
          <p:nvPr/>
        </p:nvSpPr>
        <p:spPr>
          <a:xfrm>
            <a:off x="1484986" y="5982005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2326234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2326234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0" name="역할 버튼"/>
          <p:cNvSpPr/>
          <p:nvPr/>
        </p:nvSpPr>
        <p:spPr>
          <a:xfrm>
            <a:off x="3112618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역할 버튼 라벨"/>
          <p:cNvSpPr txBox="1"/>
          <p:nvPr/>
        </p:nvSpPr>
        <p:spPr>
          <a:xfrm>
            <a:off x="3112618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42" name="뒤로가기"/>
          <p:cNvCxnSpPr/>
          <p:nvPr/>
        </p:nvCxnSpPr>
        <p:spPr>
          <a:xfrm flipH="1">
            <a:off x="1547469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1547469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부제"/>
          <p:cNvSpPr txBox="1"/>
          <p:nvPr/>
        </p:nvSpPr>
        <p:spPr>
          <a:xfrm>
            <a:off x="2218335" y="228600"/>
            <a:ext cx="87087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인근 편의시설에서 진입 (1/2)</a:t>
            </a:r>
          </a:p>
        </p:txBody>
      </p:sp>
      <p:sp>
        <p:nvSpPr>
          <p:cNvPr id="45" name="뒤로가기 플로팅"/>
          <p:cNvSpPr/>
          <p:nvPr/>
        </p:nvSpPr>
        <p:spPr>
          <a:xfrm>
            <a:off x="5032857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/>
          <p:cNvCxnSpPr/>
          <p:nvPr/>
        </p:nvCxnSpPr>
        <p:spPr>
          <a:xfrm flipH="1">
            <a:off x="5141061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5141061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554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0" name="숫자배지 1"/>
          <p:cNvSpPr/>
          <p:nvPr/>
        </p:nvSpPr>
        <p:spPr>
          <a:xfrm>
            <a:off x="106984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1" name="숫자배지 1-1"/>
          <p:cNvSpPr/>
          <p:nvPr/>
        </p:nvSpPr>
        <p:spPr>
          <a:xfrm>
            <a:off x="996696" y="342900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/>
          <p:cNvSpPr/>
          <p:nvPr/>
        </p:nvSpPr>
        <p:spPr>
          <a:xfrm>
            <a:off x="996696" y="3877056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/>
          <p:cNvSpPr/>
          <p:nvPr/>
        </p:nvSpPr>
        <p:spPr>
          <a:xfrm>
            <a:off x="996696" y="4279392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4" name="숫자배지 1-4"/>
          <p:cNvSpPr/>
          <p:nvPr/>
        </p:nvSpPr>
        <p:spPr>
          <a:xfrm>
            <a:off x="996696" y="521208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55" name="숫자배지 1-5"/>
          <p:cNvSpPr/>
          <p:nvPr/>
        </p:nvSpPr>
        <p:spPr>
          <a:xfrm>
            <a:off x="996696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56" name="숫자배지 1-6"/>
          <p:cNvSpPr/>
          <p:nvPr/>
        </p:nvSpPr>
        <p:spPr>
          <a:xfrm>
            <a:off x="4078224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14208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장소 상세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277502" y="1447800"/>
          <a:ext cx="2553309" cy="486079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36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접근성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3행 — 여닫이문 · 계단 유무 · 경사도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 기준 시점 함께 표기 — 「조사 기준 YYYY년 M월」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조사되지 않은 항목은 「미조사」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아이콘 토글 하나 · 텍스트 버튼 미제공 · 누르면 그 자리에서 등록 · 해제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가로 2열 「출발」 ·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 시 2-3 상세경로로 이동 · 시트 최소화에서도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선택해서 들어온 장소 1건만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지도 좌상단 원형 플로팅 — 탑바를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최소화하면 지도를 크게 확인 · 다시 올리면 상세까지 표출 · 드래그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전환은 손잡이 누르기 토글 하나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8" name="지도"/>
          <p:cNvSpPr/>
          <p:nvPr/>
        </p:nvSpPr>
        <p:spPr>
          <a:xfrm>
            <a:off x="1311250" y="1300277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지도 안내"/>
          <p:cNvSpPr txBox="1"/>
          <p:nvPr/>
        </p:nvSpPr>
        <p:spPr>
          <a:xfrm>
            <a:off x="1942186" y="2104949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지도에 핀 형태로 선택 장소 표출</a:t>
            </a:r>
          </a:p>
        </p:txBody>
      </p:sp>
      <p:sp>
        <p:nvSpPr>
          <p:cNvPr id="20" name="뒤로가기 플로팅"/>
          <p:cNvSpPr/>
          <p:nvPr/>
        </p:nvSpPr>
        <p:spPr>
          <a:xfrm>
            <a:off x="1439265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바텀시트"/>
          <p:cNvSpPr/>
          <p:nvPr/>
        </p:nvSpPr>
        <p:spPr>
          <a:xfrm>
            <a:off x="1311250" y="3238805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시트 손잡이"/>
          <p:cNvSpPr/>
          <p:nvPr/>
        </p:nvSpPr>
        <p:spPr>
          <a:xfrm>
            <a:off x="2490826" y="3330245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장소명"/>
          <p:cNvSpPr txBox="1"/>
          <p:nvPr/>
        </p:nvSpPr>
        <p:spPr>
          <a:xfrm>
            <a:off x="1484986" y="3421685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홍대입구역 휠체어 충전소</a:t>
            </a:r>
          </a:p>
        </p:txBody>
      </p:sp>
      <p:sp>
        <p:nvSpPr>
          <p:cNvPr id="24" name="업종 · 거리"/>
          <p:cNvSpPr txBox="1"/>
          <p:nvPr/>
        </p:nvSpPr>
        <p:spPr>
          <a:xfrm>
            <a:off x="1484986" y="3677717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휠체어 급속충전기 · 350m</a:t>
            </a:r>
          </a:p>
        </p:txBody>
      </p:sp>
      <p:sp>
        <p:nvSpPr>
          <p:cNvPr id="25" name="지번 주소"/>
          <p:cNvSpPr txBox="1"/>
          <p:nvPr/>
        </p:nvSpPr>
        <p:spPr>
          <a:xfrm>
            <a:off x="1484986" y="3860597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26" name="도로명 주소"/>
          <p:cNvSpPr txBox="1"/>
          <p:nvPr/>
        </p:nvSpPr>
        <p:spPr>
          <a:xfrm>
            <a:off x="1484986" y="4025189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(영등포구 양평로 21)</a:t>
            </a:r>
          </a:p>
        </p:txBody>
      </p:sp>
      <p:sp>
        <p:nvSpPr>
          <p:cNvPr id="27" name="장소 이미지"/>
          <p:cNvSpPr/>
          <p:nvPr/>
        </p:nvSpPr>
        <p:spPr>
          <a:xfrm>
            <a:off x="1484986" y="4244645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장수 표시"/>
          <p:cNvSpPr txBox="1"/>
          <p:nvPr/>
        </p:nvSpPr>
        <p:spPr>
          <a:xfrm>
            <a:off x="2618842" y="4848149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9" name="사진 이동"/>
          <p:cNvSpPr txBox="1"/>
          <p:nvPr/>
        </p:nvSpPr>
        <p:spPr>
          <a:xfrm>
            <a:off x="1521562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30" name="사진 이동"/>
          <p:cNvSpPr txBox="1"/>
          <p:nvPr/>
        </p:nvSpPr>
        <p:spPr>
          <a:xfrm>
            <a:off x="2783433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1484986" y="515904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2948026" y="5159045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1484986" y="5378501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계단 유무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2948026" y="5378501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5" name="접근성 항목"/>
          <p:cNvSpPr txBox="1"/>
          <p:nvPr/>
        </p:nvSpPr>
        <p:spPr>
          <a:xfrm>
            <a:off x="1484986" y="5597957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6" name="접근성 값"/>
          <p:cNvSpPr txBox="1"/>
          <p:nvPr/>
        </p:nvSpPr>
        <p:spPr>
          <a:xfrm>
            <a:off x="2948026" y="5597957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7" name="즐겨찾기 토글"/>
          <p:cNvSpPr txBox="1"/>
          <p:nvPr/>
        </p:nvSpPr>
        <p:spPr>
          <a:xfrm>
            <a:off x="1484986" y="5982005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2326234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2326234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0" name="역할 버튼"/>
          <p:cNvSpPr/>
          <p:nvPr/>
        </p:nvSpPr>
        <p:spPr>
          <a:xfrm>
            <a:off x="3112618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역할 버튼 라벨"/>
          <p:cNvSpPr txBox="1"/>
          <p:nvPr/>
        </p:nvSpPr>
        <p:spPr>
          <a:xfrm>
            <a:off x="3112618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42" name="뒤로가기"/>
          <p:cNvCxnSpPr/>
          <p:nvPr/>
        </p:nvCxnSpPr>
        <p:spPr>
          <a:xfrm flipH="1">
            <a:off x="1547469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1547469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부제"/>
          <p:cNvSpPr txBox="1"/>
          <p:nvPr/>
        </p:nvSpPr>
        <p:spPr>
          <a:xfrm>
            <a:off x="2218335" y="228600"/>
            <a:ext cx="87087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인근 편의시설에서 진입 (2/2)</a:t>
            </a:r>
          </a:p>
        </p:txBody>
      </p:sp>
      <p:sp>
        <p:nvSpPr>
          <p:cNvPr id="45" name="뒤로가기 플로팅"/>
          <p:cNvSpPr/>
          <p:nvPr/>
        </p:nvSpPr>
        <p:spPr>
          <a:xfrm>
            <a:off x="5032857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/>
          <p:cNvCxnSpPr/>
          <p:nvPr/>
        </p:nvCxnSpPr>
        <p:spPr>
          <a:xfrm flipH="1">
            <a:off x="5141061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5141061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숫자배지 2-1"/>
          <p:cNvSpPr/>
          <p:nvPr/>
        </p:nvSpPr>
        <p:spPr>
          <a:xfrm>
            <a:off x="4552950" y="6038850"/>
            <a:ext cx="314554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0" name="숫자배지 1"/>
          <p:cNvSpPr/>
          <p:nvPr/>
        </p:nvSpPr>
        <p:spPr>
          <a:xfrm>
            <a:off x="106984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1" name="숫자배지 1-1"/>
          <p:cNvSpPr/>
          <p:nvPr/>
        </p:nvSpPr>
        <p:spPr>
          <a:xfrm>
            <a:off x="996696" y="342900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/>
          <p:cNvSpPr/>
          <p:nvPr/>
        </p:nvSpPr>
        <p:spPr>
          <a:xfrm>
            <a:off x="996696" y="3877056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/>
          <p:cNvSpPr/>
          <p:nvPr/>
        </p:nvSpPr>
        <p:spPr>
          <a:xfrm>
            <a:off x="996696" y="4279392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4" name="숫자배지 1-4"/>
          <p:cNvSpPr/>
          <p:nvPr/>
        </p:nvSpPr>
        <p:spPr>
          <a:xfrm>
            <a:off x="996696" y="521208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55" name="숫자배지 1-5"/>
          <p:cNvSpPr/>
          <p:nvPr/>
        </p:nvSpPr>
        <p:spPr>
          <a:xfrm>
            <a:off x="996696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56" name="숫자배지 1-6"/>
          <p:cNvSpPr/>
          <p:nvPr/>
        </p:nvSpPr>
        <p:spPr>
          <a:xfrm>
            <a:off x="4078224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13" name="흐름 2-5 버스정류장 정보"/>
          <p:cNvSpPr/>
          <p:nvPr/>
        </p:nvSpPr>
        <p:spPr>
          <a:xfrm>
            <a:off x="446379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5" name="흐름 2-5-1 노선 상세"/>
          <p:cNvSpPr/>
          <p:nvPr/>
        </p:nvSpPr>
        <p:spPr>
          <a:xfrm>
            <a:off x="697839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708317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7" name="흐름 2-6 저상버스 승하차 예약"/>
          <p:cNvSpPr/>
          <p:nvPr/>
        </p:nvSpPr>
        <p:spPr>
          <a:xfrm>
            <a:off x="697839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708317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예약 신청 팝업</a:t>
            </a:r>
          </a:p>
        </p:txBody>
      </p:sp>
      <p:sp>
        <p:nvSpPr>
          <p:cNvPr id="19" name="흐름 예약 완료 알림"/>
          <p:cNvSpPr/>
          <p:nvPr/>
        </p:nvSpPr>
        <p:spPr>
          <a:xfrm>
            <a:off x="697839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708317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탑승 확인 팝업</a:t>
            </a: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3" idx="3"/>
            <a:endCxn id="15" idx="1"/>
          </p:cNvCxnSpPr>
          <p:nvPr/>
        </p:nvCxnSpPr>
        <p:spPr>
          <a:xfrm>
            <a:off x="4052621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5" idx="3"/>
            <a:endCxn id="17" idx="1"/>
          </p:cNvCxnSpPr>
          <p:nvPr/>
        </p:nvCxnSpPr>
        <p:spPr>
          <a:xfrm>
            <a:off x="6292901" y="2363724"/>
            <a:ext cx="68580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9" idx="2"/>
            <a:endCxn id="21" idx="0"/>
          </p:cNvCxnSpPr>
          <p:nvPr/>
        </p:nvCxnSpPr>
        <p:spPr>
          <a:xfrm>
            <a:off x="789279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26" name="연결선"/>
          <p:cNvCxnSpPr>
            <a:stCxn id="17" idx="2"/>
            <a:endCxn id="19" idx="0"/>
          </p:cNvCxnSpPr>
          <p:nvPr/>
        </p:nvCxnSpPr>
        <p:spPr>
          <a:xfrm>
            <a:off x="7892796" y="2647188"/>
            <a:ext cx="0" cy="85039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흐름 2-5-1 노선 상세"/>
          <p:cNvSpPr/>
          <p:nvPr/>
        </p:nvSpPr>
        <p:spPr>
          <a:xfrm>
            <a:off x="9676181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8" name="연결선"/>
          <p:cNvCxnSpPr>
            <a:stCxn id="15" idx="3"/>
            <a:endCxn id="17" idx="1"/>
          </p:cNvCxnSpPr>
          <p:nvPr/>
        </p:nvCxnSpPr>
        <p:spPr>
          <a:xfrm>
            <a:off x="8807501" y="2363724"/>
            <a:ext cx="8686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흐름 제목"/>
          <p:cNvSpPr txBox="1"/>
          <p:nvPr/>
        </p:nvSpPr>
        <p:spPr>
          <a:xfrm>
            <a:off x="9780422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3-4 저상버스 예약 내역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277502" y="1447800"/>
          <a:ext cx="2553309" cy="481639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「버스정류장 검색」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실행 버튼을 두지 않음 — 입력하는 대로 결과가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② 포커스 · 한 글자라도 입력하면 ③ · 비우면 ① 기본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스크린리더 이름 「버스정류장 검색」 — 입력 중에도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버스 픽토그램 ＋ 3줄 — 정류장명 ＋ 번호 / 방면 / 거리 · 배지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방면은 「다음 정류장명 ＋ 방면」 — 노선별 방면을 나열하지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배지는 유형 텍스트 병기 — 노선번호를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[&gt;]를 두지 않음 · ☆를 행에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탭 → 2-5 버스정류장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골라서 확정된 정류장만 쌓임 — 검색어 문자열을 남기지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장소 검색의 최근 검색과 섞지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 검색</a:t>
            </a:r>
          </a:p>
        </p:txBody>
      </p:sp>
      <p:sp>
        <p:nvSpPr>
          <p:cNvPr id="22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702259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3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2059229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702259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5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2059229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702259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sp>
        <p:nvSpPr>
          <p:cNvPr id="27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2059229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702259" y="40453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sp>
        <p:nvSpPr>
          <p:cNvPr id="2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2059229" y="40635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3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702259" y="46927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1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2059229" y="47109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32" name="정류장 방면"/>
          <p:cNvSpPr txBox="1"/>
          <p:nvPr/>
        </p:nvSpPr>
        <p:spPr>
          <a:xfrm>
            <a:off x="702259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33" name="정류장 거리 · 노선"/>
          <p:cNvSpPr txBox="1"/>
          <p:nvPr/>
        </p:nvSpPr>
        <p:spPr>
          <a:xfrm>
            <a:off x="702259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34" name="정류장 방면"/>
          <p:cNvSpPr txBox="1"/>
          <p:nvPr/>
        </p:nvSpPr>
        <p:spPr>
          <a:xfrm>
            <a:off x="702259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35" name="정류장 거리 · 노선"/>
          <p:cNvSpPr txBox="1"/>
          <p:nvPr/>
        </p:nvSpPr>
        <p:spPr>
          <a:xfrm>
            <a:off x="702259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36" name="정류장 방면"/>
          <p:cNvSpPr txBox="1"/>
          <p:nvPr/>
        </p:nvSpPr>
        <p:spPr>
          <a:xfrm>
            <a:off x="702259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세종초교앞 방면</a:t>
            </a:r>
          </a:p>
        </p:txBody>
      </p:sp>
      <p:sp>
        <p:nvSpPr>
          <p:cNvPr id="37" name="정류장 거리 · 노선"/>
          <p:cNvSpPr txBox="1"/>
          <p:nvPr/>
        </p:nvSpPr>
        <p:spPr>
          <a:xfrm>
            <a:off x="702259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280m · [지선]</a:t>
            </a:r>
          </a:p>
        </p:txBody>
      </p:sp>
      <p:sp>
        <p:nvSpPr>
          <p:cNvPr id="38" name="정류장 방면"/>
          <p:cNvSpPr txBox="1"/>
          <p:nvPr/>
        </p:nvSpPr>
        <p:spPr>
          <a:xfrm>
            <a:off x="702259" y="426476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어린이대공원 방면</a:t>
            </a:r>
          </a:p>
        </p:txBody>
      </p:sp>
      <p:sp>
        <p:nvSpPr>
          <p:cNvPr id="39" name="정류장 거리 · 노선"/>
          <p:cNvSpPr txBox="1"/>
          <p:nvPr/>
        </p:nvSpPr>
        <p:spPr>
          <a:xfrm>
            <a:off x="702259" y="442935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290m · [간선]</a:t>
            </a:r>
          </a:p>
        </p:txBody>
      </p:sp>
      <p:sp>
        <p:nvSpPr>
          <p:cNvPr id="40" name="정류장 방면"/>
          <p:cNvSpPr txBox="1"/>
          <p:nvPr/>
        </p:nvSpPr>
        <p:spPr>
          <a:xfrm>
            <a:off x="702259" y="49121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41" name="정류장 거리 · 노선"/>
          <p:cNvSpPr txBox="1"/>
          <p:nvPr/>
        </p:nvSpPr>
        <p:spPr>
          <a:xfrm>
            <a:off x="702259" y="5076748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300m · [지선]</a:t>
            </a:r>
          </a:p>
        </p:txBody>
      </p:sp>
      <p:sp>
        <p:nvSpPr>
          <p:cNvPr id="42" name="pic"/>
          <p:cNvSpPr/>
          <p:nvPr/>
        </p:nvSpPr>
        <p:spPr>
          <a:xfrm>
            <a:off x="452628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452628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4" name="pic"/>
          <p:cNvSpPr/>
          <p:nvPr/>
        </p:nvSpPr>
        <p:spPr>
          <a:xfrm>
            <a:off x="452628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452628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6" name="pic"/>
          <p:cNvSpPr/>
          <p:nvPr/>
        </p:nvSpPr>
        <p:spPr>
          <a:xfrm>
            <a:off x="452628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452628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8" name="pic"/>
          <p:cNvSpPr/>
          <p:nvPr/>
        </p:nvSpPr>
        <p:spPr>
          <a:xfrm>
            <a:off x="452628" y="40407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452628" y="40955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0" name="pic"/>
          <p:cNvSpPr/>
          <p:nvPr/>
        </p:nvSpPr>
        <p:spPr>
          <a:xfrm>
            <a:off x="452628" y="4688129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452628" y="4742993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2" name="목업 프레임"/>
          <p:cNvSpPr/>
          <p:nvPr/>
        </p:nvSpPr>
        <p:spPr>
          <a:xfrm>
            <a:off x="6101791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탑바 구분선"/>
          <p:cNvSpPr/>
          <p:nvPr/>
        </p:nvSpPr>
        <p:spPr>
          <a:xfrm>
            <a:off x="6111850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검색창"/>
          <p:cNvSpPr/>
          <p:nvPr/>
        </p:nvSpPr>
        <p:spPr>
          <a:xfrm>
            <a:off x="6463894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검색창 문구"/>
          <p:cNvSpPr txBox="1"/>
          <p:nvPr/>
        </p:nvSpPr>
        <p:spPr>
          <a:xfrm>
            <a:off x="6610198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14181F"/>
                </a:solidFill>
                <a:latin typeface="Pretendard"/>
              </a:rPr>
              <a:t>군자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섹션 제목"/>
          <p:cNvSpPr txBox="1"/>
          <p:nvPr/>
        </p:nvSpPr>
        <p:spPr>
          <a:xfrm>
            <a:off x="6504127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57" name="본문"/>
          <p:cNvSpPr txBox="1"/>
          <p:nvPr/>
        </p:nvSpPr>
        <p:spPr>
          <a:xfrm>
            <a:off x="7861097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58" name="섹션 제목"/>
          <p:cNvSpPr txBox="1"/>
          <p:nvPr/>
        </p:nvSpPr>
        <p:spPr>
          <a:xfrm>
            <a:off x="6504127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9" name="본문"/>
          <p:cNvSpPr txBox="1"/>
          <p:nvPr/>
        </p:nvSpPr>
        <p:spPr>
          <a:xfrm>
            <a:off x="7861097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60" name="섹션 제목"/>
          <p:cNvSpPr txBox="1"/>
          <p:nvPr/>
        </p:nvSpPr>
        <p:spPr>
          <a:xfrm>
            <a:off x="6504127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군자역사거리</a:t>
            </a:r>
          </a:p>
        </p:txBody>
      </p:sp>
      <p:sp>
        <p:nvSpPr>
          <p:cNvPr id="61" name="본문"/>
          <p:cNvSpPr txBox="1"/>
          <p:nvPr/>
        </p:nvSpPr>
        <p:spPr>
          <a:xfrm>
            <a:off x="7861097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05888</a:t>
            </a:r>
          </a:p>
        </p:txBody>
      </p:sp>
      <p:sp>
        <p:nvSpPr>
          <p:cNvPr id="62" name="정류장 방면"/>
          <p:cNvSpPr txBox="1"/>
          <p:nvPr/>
        </p:nvSpPr>
        <p:spPr>
          <a:xfrm>
            <a:off x="6504127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63" name="정류장 거리 · 노선"/>
          <p:cNvSpPr txBox="1"/>
          <p:nvPr/>
        </p:nvSpPr>
        <p:spPr>
          <a:xfrm>
            <a:off x="6504127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64" name="정류장 방면"/>
          <p:cNvSpPr txBox="1"/>
          <p:nvPr/>
        </p:nvSpPr>
        <p:spPr>
          <a:xfrm>
            <a:off x="6504127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65" name="정류장 거리 · 노선"/>
          <p:cNvSpPr txBox="1"/>
          <p:nvPr/>
        </p:nvSpPr>
        <p:spPr>
          <a:xfrm>
            <a:off x="6504127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66" name="정류장 방면"/>
          <p:cNvSpPr txBox="1"/>
          <p:nvPr/>
        </p:nvSpPr>
        <p:spPr>
          <a:xfrm>
            <a:off x="6504127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67" name="정류장 거리 · 노선"/>
          <p:cNvSpPr txBox="1"/>
          <p:nvPr/>
        </p:nvSpPr>
        <p:spPr>
          <a:xfrm>
            <a:off x="6504127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1,240m · [지선] [마을]</a:t>
            </a:r>
          </a:p>
        </p:txBody>
      </p:sp>
      <p:sp>
        <p:nvSpPr>
          <p:cNvPr id="68" name="pic"/>
          <p:cNvSpPr/>
          <p:nvPr/>
        </p:nvSpPr>
        <p:spPr>
          <a:xfrm>
            <a:off x="6254496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6254496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0" name="pic"/>
          <p:cNvSpPr/>
          <p:nvPr/>
        </p:nvSpPr>
        <p:spPr>
          <a:xfrm>
            <a:off x="6254496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6254496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2" name="pic"/>
          <p:cNvSpPr/>
          <p:nvPr/>
        </p:nvSpPr>
        <p:spPr>
          <a:xfrm>
            <a:off x="6254496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6254496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4" name="t"/>
          <p:cNvSpPr txBox="1"/>
          <p:nvPr/>
        </p:nvSpPr>
        <p:spPr>
          <a:xfrm>
            <a:off x="3376879" y="185623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75" name="pic"/>
          <p:cNvSpPr/>
          <p:nvPr/>
        </p:nvSpPr>
        <p:spPr>
          <a:xfrm>
            <a:off x="3376879" y="21899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3376879" y="22448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7" name="섹션 제목"/>
          <p:cNvSpPr txBox="1"/>
          <p:nvPr/>
        </p:nvSpPr>
        <p:spPr>
          <a:xfrm>
            <a:off x="3626510" y="21945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78" name="정류장 거리 · 노선"/>
          <p:cNvSpPr txBox="1"/>
          <p:nvPr/>
        </p:nvSpPr>
        <p:spPr>
          <a:xfrm>
            <a:off x="4992624" y="22128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09.16</a:t>
            </a:r>
          </a:p>
        </p:txBody>
      </p:sp>
      <p:sp>
        <p:nvSpPr>
          <p:cNvPr id="79" name="t"/>
          <p:cNvSpPr txBox="1"/>
          <p:nvPr/>
        </p:nvSpPr>
        <p:spPr>
          <a:xfrm>
            <a:off x="5596128" y="22128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0" name="pic"/>
          <p:cNvSpPr/>
          <p:nvPr/>
        </p:nvSpPr>
        <p:spPr>
          <a:xfrm>
            <a:off x="3376879" y="26471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1" name="t"/>
          <p:cNvSpPr txBox="1"/>
          <p:nvPr/>
        </p:nvSpPr>
        <p:spPr>
          <a:xfrm>
            <a:off x="3376879" y="27020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2" name="섹션 제목"/>
          <p:cNvSpPr txBox="1"/>
          <p:nvPr/>
        </p:nvSpPr>
        <p:spPr>
          <a:xfrm>
            <a:off x="3626510" y="26517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</a:t>
            </a:r>
          </a:p>
        </p:txBody>
      </p:sp>
      <p:sp>
        <p:nvSpPr>
          <p:cNvPr id="83" name="정류장 거리 · 노선"/>
          <p:cNvSpPr txBox="1"/>
          <p:nvPr/>
        </p:nvSpPr>
        <p:spPr>
          <a:xfrm>
            <a:off x="4992624" y="26700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84" name="t"/>
          <p:cNvSpPr txBox="1"/>
          <p:nvPr/>
        </p:nvSpPr>
        <p:spPr>
          <a:xfrm>
            <a:off x="5596128" y="26700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5" name="pic"/>
          <p:cNvSpPr/>
          <p:nvPr/>
        </p:nvSpPr>
        <p:spPr>
          <a:xfrm>
            <a:off x="3376879" y="31043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3376879" y="31592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7" name="섹션 제목"/>
          <p:cNvSpPr txBox="1"/>
          <p:nvPr/>
        </p:nvSpPr>
        <p:spPr>
          <a:xfrm>
            <a:off x="3626510" y="31089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여의도환승센터</a:t>
            </a:r>
          </a:p>
        </p:txBody>
      </p:sp>
      <p:sp>
        <p:nvSpPr>
          <p:cNvPr id="88" name="정류장 거리 · 노선"/>
          <p:cNvSpPr txBox="1"/>
          <p:nvPr/>
        </p:nvSpPr>
        <p:spPr>
          <a:xfrm>
            <a:off x="4992624" y="31272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89" name="t"/>
          <p:cNvSpPr txBox="1"/>
          <p:nvPr/>
        </p:nvSpPr>
        <p:spPr>
          <a:xfrm>
            <a:off x="5596128" y="31272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90" name="keypad"/>
          <p:cNvSpPr/>
          <p:nvPr/>
        </p:nvSpPr>
        <p:spPr>
          <a:xfrm>
            <a:off x="3251606" y="4160520"/>
            <a:ext cx="2678278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3233318" y="5175504"/>
            <a:ext cx="271485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9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300m · 거리순</a:t>
            </a:r>
          </a:p>
        </p:txBody>
      </p:sp>
      <p:sp>
        <p:nvSpPr>
          <p:cNvPr id="9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94" name="t"/>
          <p:cNvSpPr txBox="1"/>
          <p:nvPr/>
        </p:nvSpPr>
        <p:spPr>
          <a:xfrm>
            <a:off x="6101791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정류장</a:t>
            </a:r>
          </a:p>
        </p:txBody>
      </p:sp>
      <p:cxnSp>
        <p:nvCxnSpPr>
          <p:cNvPr id="9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>
            <a:off x="337672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뒤로가기"/>
          <p:cNvCxnSpPr/>
          <p:nvPr/>
        </p:nvCxnSpPr>
        <p:spPr>
          <a:xfrm flipH="1" flipV="1">
            <a:off x="337672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뒤로가기"/>
          <p:cNvCxnSpPr/>
          <p:nvPr/>
        </p:nvCxnSpPr>
        <p:spPr>
          <a:xfrm flipH="1">
            <a:off x="6254267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뒤로가기"/>
          <p:cNvCxnSpPr/>
          <p:nvPr/>
        </p:nvCxnSpPr>
        <p:spPr>
          <a:xfrm flipH="1" flipV="1">
            <a:off x="6254267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300m · 5곳</a:t>
            </a:r>
          </a:p>
        </p:txBody>
      </p:sp>
      <p:sp>
        <p:nvSpPr>
          <p:cNvPr id="102" name="결과 건수"/>
          <p:cNvSpPr txBox="1"/>
          <p:nvPr/>
        </p:nvSpPr>
        <p:spPr>
          <a:xfrm>
            <a:off x="6248095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103" name="숫자배지 1"/>
          <p:cNvSpPr/>
          <p:nvPr/>
        </p:nvSpPr>
        <p:spPr>
          <a:xfrm>
            <a:off x="2249424" y="1143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4" name="숫자배지 2"/>
          <p:cNvSpPr/>
          <p:nvPr/>
        </p:nvSpPr>
        <p:spPr>
          <a:xfrm>
            <a:off x="265176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5" name="숫자배지 3"/>
          <p:cNvSpPr/>
          <p:nvPr/>
        </p:nvSpPr>
        <p:spPr>
          <a:xfrm>
            <a:off x="5440680" y="1828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845820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277502" y="1447800"/>
          <a:ext cx="2553309" cy="33391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한글 키패드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검색창을 눌렀을 때 올림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관련 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글자라도 입력하면 최근 검색을 대신함 — 정류장명 · 번호 둘 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구성은 2와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 키워드 행 · 즐겨찾기 섹션을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 대상 — 반경 300m에 갇히지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1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아래 한 줄 — ① 「인근 300m · N곳」 / ③ 「검색 결과 N곳」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N은 전체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최근 검색 · 0건에는 미표출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 검색</a:t>
            </a:r>
          </a:p>
        </p:txBody>
      </p:sp>
      <p:sp>
        <p:nvSpPr>
          <p:cNvPr id="22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702259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3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2059229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702259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5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2059229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702259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sp>
        <p:nvSpPr>
          <p:cNvPr id="27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2059229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702259" y="40453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sp>
        <p:nvSpPr>
          <p:cNvPr id="2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2059229" y="40635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3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702259" y="46927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1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2059229" y="47109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32" name="정류장 방면"/>
          <p:cNvSpPr txBox="1"/>
          <p:nvPr/>
        </p:nvSpPr>
        <p:spPr>
          <a:xfrm>
            <a:off x="702259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33" name="정류장 거리 · 노선"/>
          <p:cNvSpPr txBox="1"/>
          <p:nvPr/>
        </p:nvSpPr>
        <p:spPr>
          <a:xfrm>
            <a:off x="702259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34" name="정류장 방면"/>
          <p:cNvSpPr txBox="1"/>
          <p:nvPr/>
        </p:nvSpPr>
        <p:spPr>
          <a:xfrm>
            <a:off x="702259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35" name="정류장 거리 · 노선"/>
          <p:cNvSpPr txBox="1"/>
          <p:nvPr/>
        </p:nvSpPr>
        <p:spPr>
          <a:xfrm>
            <a:off x="702259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36" name="정류장 방면"/>
          <p:cNvSpPr txBox="1"/>
          <p:nvPr/>
        </p:nvSpPr>
        <p:spPr>
          <a:xfrm>
            <a:off x="702259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세종초교앞 방면</a:t>
            </a:r>
          </a:p>
        </p:txBody>
      </p:sp>
      <p:sp>
        <p:nvSpPr>
          <p:cNvPr id="37" name="정류장 거리 · 노선"/>
          <p:cNvSpPr txBox="1"/>
          <p:nvPr/>
        </p:nvSpPr>
        <p:spPr>
          <a:xfrm>
            <a:off x="702259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280m · [지선]</a:t>
            </a:r>
          </a:p>
        </p:txBody>
      </p:sp>
      <p:sp>
        <p:nvSpPr>
          <p:cNvPr id="38" name="정류장 방면"/>
          <p:cNvSpPr txBox="1"/>
          <p:nvPr/>
        </p:nvSpPr>
        <p:spPr>
          <a:xfrm>
            <a:off x="702259" y="426476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어린이대공원 방면</a:t>
            </a:r>
          </a:p>
        </p:txBody>
      </p:sp>
      <p:sp>
        <p:nvSpPr>
          <p:cNvPr id="39" name="정류장 거리 · 노선"/>
          <p:cNvSpPr txBox="1"/>
          <p:nvPr/>
        </p:nvSpPr>
        <p:spPr>
          <a:xfrm>
            <a:off x="702259" y="442935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290m · [간선]</a:t>
            </a:r>
          </a:p>
        </p:txBody>
      </p:sp>
      <p:sp>
        <p:nvSpPr>
          <p:cNvPr id="40" name="정류장 방면"/>
          <p:cNvSpPr txBox="1"/>
          <p:nvPr/>
        </p:nvSpPr>
        <p:spPr>
          <a:xfrm>
            <a:off x="702259" y="49121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41" name="정류장 거리 · 노선"/>
          <p:cNvSpPr txBox="1"/>
          <p:nvPr/>
        </p:nvSpPr>
        <p:spPr>
          <a:xfrm>
            <a:off x="702259" y="5076748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300m · [지선]</a:t>
            </a:r>
          </a:p>
        </p:txBody>
      </p:sp>
      <p:sp>
        <p:nvSpPr>
          <p:cNvPr id="42" name="pic"/>
          <p:cNvSpPr/>
          <p:nvPr/>
        </p:nvSpPr>
        <p:spPr>
          <a:xfrm>
            <a:off x="452628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452628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4" name="pic"/>
          <p:cNvSpPr/>
          <p:nvPr/>
        </p:nvSpPr>
        <p:spPr>
          <a:xfrm>
            <a:off x="452628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452628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6" name="pic"/>
          <p:cNvSpPr/>
          <p:nvPr/>
        </p:nvSpPr>
        <p:spPr>
          <a:xfrm>
            <a:off x="452628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452628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8" name="pic"/>
          <p:cNvSpPr/>
          <p:nvPr/>
        </p:nvSpPr>
        <p:spPr>
          <a:xfrm>
            <a:off x="452628" y="40407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452628" y="40955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0" name="pic"/>
          <p:cNvSpPr/>
          <p:nvPr/>
        </p:nvSpPr>
        <p:spPr>
          <a:xfrm>
            <a:off x="452628" y="4688129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452628" y="4742993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2" name="목업 프레임"/>
          <p:cNvSpPr/>
          <p:nvPr/>
        </p:nvSpPr>
        <p:spPr>
          <a:xfrm>
            <a:off x="6101791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탑바 구분선"/>
          <p:cNvSpPr/>
          <p:nvPr/>
        </p:nvSpPr>
        <p:spPr>
          <a:xfrm>
            <a:off x="6111850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검색창"/>
          <p:cNvSpPr/>
          <p:nvPr/>
        </p:nvSpPr>
        <p:spPr>
          <a:xfrm>
            <a:off x="6463894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검색창 문구"/>
          <p:cNvSpPr txBox="1"/>
          <p:nvPr/>
        </p:nvSpPr>
        <p:spPr>
          <a:xfrm>
            <a:off x="6610198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14181F"/>
                </a:solidFill>
                <a:latin typeface="Pretendard"/>
              </a:rPr>
              <a:t>군자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섹션 제목"/>
          <p:cNvSpPr txBox="1"/>
          <p:nvPr/>
        </p:nvSpPr>
        <p:spPr>
          <a:xfrm>
            <a:off x="6504127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57" name="본문"/>
          <p:cNvSpPr txBox="1"/>
          <p:nvPr/>
        </p:nvSpPr>
        <p:spPr>
          <a:xfrm>
            <a:off x="7861097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58" name="섹션 제목"/>
          <p:cNvSpPr txBox="1"/>
          <p:nvPr/>
        </p:nvSpPr>
        <p:spPr>
          <a:xfrm>
            <a:off x="6504127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9" name="본문"/>
          <p:cNvSpPr txBox="1"/>
          <p:nvPr/>
        </p:nvSpPr>
        <p:spPr>
          <a:xfrm>
            <a:off x="7861097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60" name="섹션 제목"/>
          <p:cNvSpPr txBox="1"/>
          <p:nvPr/>
        </p:nvSpPr>
        <p:spPr>
          <a:xfrm>
            <a:off x="6504127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군자역사거리</a:t>
            </a:r>
          </a:p>
        </p:txBody>
      </p:sp>
      <p:sp>
        <p:nvSpPr>
          <p:cNvPr id="61" name="본문"/>
          <p:cNvSpPr txBox="1"/>
          <p:nvPr/>
        </p:nvSpPr>
        <p:spPr>
          <a:xfrm>
            <a:off x="7861097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05888</a:t>
            </a:r>
          </a:p>
        </p:txBody>
      </p:sp>
      <p:sp>
        <p:nvSpPr>
          <p:cNvPr id="62" name="정류장 방면"/>
          <p:cNvSpPr txBox="1"/>
          <p:nvPr/>
        </p:nvSpPr>
        <p:spPr>
          <a:xfrm>
            <a:off x="6504127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63" name="정류장 거리 · 노선"/>
          <p:cNvSpPr txBox="1"/>
          <p:nvPr/>
        </p:nvSpPr>
        <p:spPr>
          <a:xfrm>
            <a:off x="6504127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64" name="정류장 방면"/>
          <p:cNvSpPr txBox="1"/>
          <p:nvPr/>
        </p:nvSpPr>
        <p:spPr>
          <a:xfrm>
            <a:off x="6504127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65" name="정류장 거리 · 노선"/>
          <p:cNvSpPr txBox="1"/>
          <p:nvPr/>
        </p:nvSpPr>
        <p:spPr>
          <a:xfrm>
            <a:off x="6504127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66" name="정류장 방면"/>
          <p:cNvSpPr txBox="1"/>
          <p:nvPr/>
        </p:nvSpPr>
        <p:spPr>
          <a:xfrm>
            <a:off x="6504127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67" name="정류장 거리 · 노선"/>
          <p:cNvSpPr txBox="1"/>
          <p:nvPr/>
        </p:nvSpPr>
        <p:spPr>
          <a:xfrm>
            <a:off x="6504127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1,240m · [지선] [마을]</a:t>
            </a:r>
          </a:p>
        </p:txBody>
      </p:sp>
      <p:sp>
        <p:nvSpPr>
          <p:cNvPr id="68" name="pic"/>
          <p:cNvSpPr/>
          <p:nvPr/>
        </p:nvSpPr>
        <p:spPr>
          <a:xfrm>
            <a:off x="6254496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6254496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0" name="pic"/>
          <p:cNvSpPr/>
          <p:nvPr/>
        </p:nvSpPr>
        <p:spPr>
          <a:xfrm>
            <a:off x="6254496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6254496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2" name="pic"/>
          <p:cNvSpPr/>
          <p:nvPr/>
        </p:nvSpPr>
        <p:spPr>
          <a:xfrm>
            <a:off x="6254496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6254496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4" name="t"/>
          <p:cNvSpPr txBox="1"/>
          <p:nvPr/>
        </p:nvSpPr>
        <p:spPr>
          <a:xfrm>
            <a:off x="3376879" y="185623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75" name="pic"/>
          <p:cNvSpPr/>
          <p:nvPr/>
        </p:nvSpPr>
        <p:spPr>
          <a:xfrm>
            <a:off x="3376879" y="21899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3376879" y="22448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7" name="섹션 제목"/>
          <p:cNvSpPr txBox="1"/>
          <p:nvPr/>
        </p:nvSpPr>
        <p:spPr>
          <a:xfrm>
            <a:off x="3626510" y="21945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78" name="정류장 거리 · 노선"/>
          <p:cNvSpPr txBox="1"/>
          <p:nvPr/>
        </p:nvSpPr>
        <p:spPr>
          <a:xfrm>
            <a:off x="4992624" y="22128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09.16</a:t>
            </a:r>
          </a:p>
        </p:txBody>
      </p:sp>
      <p:sp>
        <p:nvSpPr>
          <p:cNvPr id="79" name="t"/>
          <p:cNvSpPr txBox="1"/>
          <p:nvPr/>
        </p:nvSpPr>
        <p:spPr>
          <a:xfrm>
            <a:off x="5596128" y="22128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0" name="pic"/>
          <p:cNvSpPr/>
          <p:nvPr/>
        </p:nvSpPr>
        <p:spPr>
          <a:xfrm>
            <a:off x="3376879" y="26471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1" name="t"/>
          <p:cNvSpPr txBox="1"/>
          <p:nvPr/>
        </p:nvSpPr>
        <p:spPr>
          <a:xfrm>
            <a:off x="3376879" y="27020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2" name="섹션 제목"/>
          <p:cNvSpPr txBox="1"/>
          <p:nvPr/>
        </p:nvSpPr>
        <p:spPr>
          <a:xfrm>
            <a:off x="3626510" y="26517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</a:t>
            </a:r>
          </a:p>
        </p:txBody>
      </p:sp>
      <p:sp>
        <p:nvSpPr>
          <p:cNvPr id="83" name="정류장 거리 · 노선"/>
          <p:cNvSpPr txBox="1"/>
          <p:nvPr/>
        </p:nvSpPr>
        <p:spPr>
          <a:xfrm>
            <a:off x="4992624" y="26700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84" name="t"/>
          <p:cNvSpPr txBox="1"/>
          <p:nvPr/>
        </p:nvSpPr>
        <p:spPr>
          <a:xfrm>
            <a:off x="5596128" y="26700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5" name="pic"/>
          <p:cNvSpPr/>
          <p:nvPr/>
        </p:nvSpPr>
        <p:spPr>
          <a:xfrm>
            <a:off x="3376879" y="31043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3376879" y="31592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7" name="섹션 제목"/>
          <p:cNvSpPr txBox="1"/>
          <p:nvPr/>
        </p:nvSpPr>
        <p:spPr>
          <a:xfrm>
            <a:off x="3626510" y="31089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여의도환승센터</a:t>
            </a:r>
          </a:p>
        </p:txBody>
      </p:sp>
      <p:sp>
        <p:nvSpPr>
          <p:cNvPr id="88" name="정류장 거리 · 노선"/>
          <p:cNvSpPr txBox="1"/>
          <p:nvPr/>
        </p:nvSpPr>
        <p:spPr>
          <a:xfrm>
            <a:off x="4992624" y="31272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89" name="t"/>
          <p:cNvSpPr txBox="1"/>
          <p:nvPr/>
        </p:nvSpPr>
        <p:spPr>
          <a:xfrm>
            <a:off x="5596128" y="31272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90" name="keypad"/>
          <p:cNvSpPr/>
          <p:nvPr/>
        </p:nvSpPr>
        <p:spPr>
          <a:xfrm>
            <a:off x="3251606" y="4160520"/>
            <a:ext cx="2678278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3233318" y="5175504"/>
            <a:ext cx="271485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9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300m · 거리순</a:t>
            </a:r>
          </a:p>
        </p:txBody>
      </p:sp>
      <p:sp>
        <p:nvSpPr>
          <p:cNvPr id="9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94" name="t"/>
          <p:cNvSpPr txBox="1"/>
          <p:nvPr/>
        </p:nvSpPr>
        <p:spPr>
          <a:xfrm>
            <a:off x="6101791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정류장</a:t>
            </a:r>
          </a:p>
        </p:txBody>
      </p:sp>
      <p:cxnSp>
        <p:nvCxnSpPr>
          <p:cNvPr id="9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>
            <a:off x="337672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뒤로가기"/>
          <p:cNvCxnSpPr/>
          <p:nvPr/>
        </p:nvCxnSpPr>
        <p:spPr>
          <a:xfrm flipH="1" flipV="1">
            <a:off x="337672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뒤로가기"/>
          <p:cNvCxnSpPr/>
          <p:nvPr/>
        </p:nvCxnSpPr>
        <p:spPr>
          <a:xfrm flipH="1">
            <a:off x="6254267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뒤로가기"/>
          <p:cNvCxnSpPr/>
          <p:nvPr/>
        </p:nvCxnSpPr>
        <p:spPr>
          <a:xfrm flipH="1" flipV="1">
            <a:off x="6254267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300m · 5곳</a:t>
            </a:r>
          </a:p>
        </p:txBody>
      </p:sp>
      <p:sp>
        <p:nvSpPr>
          <p:cNvPr id="102" name="결과 건수"/>
          <p:cNvSpPr txBox="1"/>
          <p:nvPr/>
        </p:nvSpPr>
        <p:spPr>
          <a:xfrm>
            <a:off x="6248095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103" name="숫자배지 1"/>
          <p:cNvSpPr/>
          <p:nvPr/>
        </p:nvSpPr>
        <p:spPr>
          <a:xfrm>
            <a:off x="2249424" y="1143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4" name="숫자배지 2"/>
          <p:cNvSpPr/>
          <p:nvPr/>
        </p:nvSpPr>
        <p:spPr>
          <a:xfrm>
            <a:off x="265176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5" name="숫자배지 3"/>
          <p:cNvSpPr/>
          <p:nvPr/>
        </p:nvSpPr>
        <p:spPr>
          <a:xfrm>
            <a:off x="5440680" y="1828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845820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8629192" y="1447800"/>
          <a:ext cx="2972713" cy="459678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 — 지도 위 플로팅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좌상단 원형 버튼 1개 · 탑바를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들어온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정류장 1개만 핀으로 표시 — 주변은 찍지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초기 뷰는 핀이 시트에 가리지 않는 영역에 맞춤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/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 없는 지도 영역을 누르면 시트 최소화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—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· 진입 기본값은 최대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높이는 콘텐츠 양을 따름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정류장 헤더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이름 / 「방면 · 거리」 / 주소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방면은 다음 정류장명 기준 — 없으면 그 줄을 생략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기준 직선거리 · m 단위 정수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지번 풀주소 — 광역 붙임 · 도로명 안 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1324533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map"/>
          <p:cNvSpPr/>
          <p:nvPr/>
        </p:nvSpPr>
        <p:spPr>
          <a:xfrm>
            <a:off x="1324966" y="1194206"/>
            <a:ext cx="2707538" cy="1920240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13" name="back"/>
          <p:cNvSpPr/>
          <p:nvPr/>
        </p:nvSpPr>
        <p:spPr>
          <a:xfrm>
            <a:off x="1378001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1476933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1476933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1321045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2560127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1502939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1519270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0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1572820" y="3959352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1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1519270" y="4764024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1519270" y="5155042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3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1873087" y="5118753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4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1519270" y="5318342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5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2290410" y="51368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26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2290410" y="53001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27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1519270" y="5626798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8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1873087" y="5590509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9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1519270" y="5790098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0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2290410" y="5608653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· 5번째 전</a:t>
            </a:r>
          </a:p>
        </p:txBody>
      </p:sp>
      <p:sp>
        <p:nvSpPr>
          <p:cNvPr id="31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1589655" y="4160520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32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1625944" y="4398264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33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1771100" y="4398264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34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1625944" y="4599432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35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1771100" y="4599432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36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2654503" y="4983480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37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3616250" y="4988052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8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3752333" y="5001768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9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1456836" y="5105457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1456836" y="5512290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refresh-bg"/>
          <p:cNvSpPr/>
          <p:nvPr/>
        </p:nvSpPr>
        <p:spPr>
          <a:xfrm>
            <a:off x="3639312" y="5440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42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504688"/>
            <a:ext cx="143437" cy="150267"/>
          </a:xfrm>
          <a:prstGeom prst="rect">
            <a:avLst/>
          </a:prstGeom>
        </p:spPr>
      </p:pic>
      <p:sp>
        <p:nvSpPr>
          <p:cNvPr id="43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44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45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(1/3)</a:t>
            </a:r>
          </a:p>
        </p:txBody>
      </p:sp>
      <p:sp>
        <p:nvSpPr>
          <p:cNvPr id="46" name="t"/>
          <p:cNvSpPr txBox="1"/>
          <p:nvPr/>
        </p:nvSpPr>
        <p:spPr>
          <a:xfrm>
            <a:off x="1518818" y="380390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sp>
        <p:nvSpPr>
          <p:cNvPr id="47" name="t"/>
          <p:cNvSpPr txBox="1"/>
          <p:nvPr/>
        </p:nvSpPr>
        <p:spPr>
          <a:xfrm>
            <a:off x="2103120" y="4786884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1376172" y="594360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1426464" y="60350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50" name="role"/>
          <p:cNvSpPr/>
          <p:nvPr/>
        </p:nvSpPr>
        <p:spPr>
          <a:xfrm>
            <a:off x="1737360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737360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52" name="role"/>
          <p:cNvSpPr/>
          <p:nvPr/>
        </p:nvSpPr>
        <p:spPr>
          <a:xfrm>
            <a:off x="2871216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2871216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54" name="t"/>
          <p:cNvSpPr txBox="1"/>
          <p:nvPr/>
        </p:nvSpPr>
        <p:spPr>
          <a:xfrm>
            <a:off x="1324966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기본 — 시트 최대</a:t>
            </a:r>
          </a:p>
        </p:txBody>
      </p:sp>
      <p:sp>
        <p:nvSpPr>
          <p:cNvPr id="55" name="목업 프레임 3"/>
          <p:cNvSpPr/>
          <p:nvPr/>
        </p:nvSpPr>
        <p:spPr>
          <a:xfrm>
            <a:off x="4754880" y="1194206"/>
            <a:ext cx="2707538" cy="5107838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map2"/>
          <p:cNvSpPr/>
          <p:nvPr/>
        </p:nvSpPr>
        <p:spPr>
          <a:xfrm>
            <a:off x="4754880" y="1194206"/>
            <a:ext cx="2707538" cy="4767682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57" name="back2"/>
          <p:cNvSpPr/>
          <p:nvPr/>
        </p:nvSpPr>
        <p:spPr>
          <a:xfrm>
            <a:off x="4807915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58" name="뒤로가기"/>
          <p:cNvCxnSpPr/>
          <p:nvPr/>
        </p:nvCxnSpPr>
        <p:spPr>
          <a:xfrm flipH="1">
            <a:off x="4906670" y="13761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06670" y="14228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heet-min"/>
          <p:cNvSpPr/>
          <p:nvPr/>
        </p:nvSpPr>
        <p:spPr>
          <a:xfrm>
            <a:off x="4751222" y="5961888"/>
            <a:ext cx="2714854" cy="340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61" name="ln"/>
          <p:cNvCxnSpPr/>
          <p:nvPr/>
        </p:nvCxnSpPr>
        <p:spPr>
          <a:xfrm>
            <a:off x="5943600" y="6053328"/>
            <a:ext cx="349301" cy="0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4754880" y="6144768"/>
            <a:ext cx="270753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군자역6번출구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4880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시트 최소 — 손잡이 누르기 토글</a:t>
            </a:r>
          </a:p>
        </p:txBody>
      </p:sp>
      <p:sp>
        <p:nvSpPr>
          <p:cNvPr id="64" name="지도 안내"/>
          <p:cNvSpPr txBox="1"/>
          <p:nvPr/>
        </p:nvSpPr>
        <p:spPr>
          <a:xfrm>
            <a:off x="1947672" y="182879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3218688" y="262432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3218688" y="262432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584448" y="19293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584448" y="19293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9" name="지도 컨트롤"/>
          <p:cNvSpPr/>
          <p:nvPr/>
        </p:nvSpPr>
        <p:spPr>
          <a:xfrm>
            <a:off x="3584448" y="227685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컨트롤 라벨"/>
          <p:cNvSpPr txBox="1"/>
          <p:nvPr/>
        </p:nvSpPr>
        <p:spPr>
          <a:xfrm>
            <a:off x="3584448" y="227685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1" name="지도 안내"/>
          <p:cNvSpPr txBox="1"/>
          <p:nvPr/>
        </p:nvSpPr>
        <p:spPr>
          <a:xfrm>
            <a:off x="5376672" y="330555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72" name="지도 컨트롤"/>
          <p:cNvSpPr/>
          <p:nvPr/>
        </p:nvSpPr>
        <p:spPr>
          <a:xfrm>
            <a:off x="6647688" y="55778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지도 컨트롤 라벨"/>
          <p:cNvSpPr txBox="1"/>
          <p:nvPr/>
        </p:nvSpPr>
        <p:spPr>
          <a:xfrm>
            <a:off x="6647688" y="55778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4" name="지도 컨트롤"/>
          <p:cNvSpPr/>
          <p:nvPr/>
        </p:nvSpPr>
        <p:spPr>
          <a:xfrm>
            <a:off x="7013448" y="48828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 컨트롤 라벨"/>
          <p:cNvSpPr txBox="1"/>
          <p:nvPr/>
        </p:nvSpPr>
        <p:spPr>
          <a:xfrm>
            <a:off x="7013448" y="48828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76" name="지도 컨트롤"/>
          <p:cNvSpPr/>
          <p:nvPr/>
        </p:nvSpPr>
        <p:spPr>
          <a:xfrm>
            <a:off x="7013448" y="52303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지도 컨트롤 라벨"/>
          <p:cNvSpPr txBox="1"/>
          <p:nvPr/>
        </p:nvSpPr>
        <p:spPr>
          <a:xfrm>
            <a:off x="7013448" y="52303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70432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3913632" y="1993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2359152" y="30449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70432" y="3355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1170432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1170432" y="4764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4" name="숫자배지 7"/>
          <p:cNvSpPr/>
          <p:nvPr/>
        </p:nvSpPr>
        <p:spPr>
          <a:xfrm>
            <a:off x="3959352" y="4983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5" name="숫자배지 8"/>
          <p:cNvSpPr/>
          <p:nvPr/>
        </p:nvSpPr>
        <p:spPr>
          <a:xfrm>
            <a:off x="1170432" y="51206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6" name="숫자배지 9"/>
          <p:cNvSpPr/>
          <p:nvPr/>
        </p:nvSpPr>
        <p:spPr>
          <a:xfrm>
            <a:off x="3831336" y="52303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7" name="숫자배지 10"/>
          <p:cNvSpPr/>
          <p:nvPr/>
        </p:nvSpPr>
        <p:spPr>
          <a:xfrm>
            <a:off x="1170432" y="60350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8629192" y="1447800"/>
          <a:ext cx="2972713" cy="457138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접근성 설비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 + 값 텍스트 병기 — 아이콘 단독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조사되지 않은 정보는 「미조사」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「없음」과 「미조사」를 다른 문자열로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 기준 시점 함께 표기 — 「조사 기준 YYYY년 M월」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실시간 버스정보 · 갱신 시각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오른쪽에 「HH:MM 기준」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서버가 내리는 갱신 시각을 그대로 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— 자동 갱신은 따로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 켜짐 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끄면 일반 버스도 함께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노선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 배지 + 노선번호 + 방면 + 도착 최대 2건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자체가 2-5-1 노선 상세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정렬은 도착 임박순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없는 노선 · 연계 실패 노선은 뒤로 보내되 빼지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1324533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map"/>
          <p:cNvSpPr/>
          <p:nvPr/>
        </p:nvSpPr>
        <p:spPr>
          <a:xfrm>
            <a:off x="1324966" y="1194206"/>
            <a:ext cx="2707538" cy="1920240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13" name="back"/>
          <p:cNvSpPr/>
          <p:nvPr/>
        </p:nvSpPr>
        <p:spPr>
          <a:xfrm>
            <a:off x="1378001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1476933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1476933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1321045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2560127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1502939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1519270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0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1572820" y="3959352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1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1519270" y="4764024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1519270" y="5155042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3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1873087" y="5118753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4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1519270" y="5318342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5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2290410" y="51368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26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2290410" y="53001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27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1519270" y="5626798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8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1873087" y="5590509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9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1519270" y="5790098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0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2290410" y="5608653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· 5번째 전</a:t>
            </a:r>
          </a:p>
        </p:txBody>
      </p:sp>
      <p:sp>
        <p:nvSpPr>
          <p:cNvPr id="31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1589655" y="4160520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32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1625944" y="4398264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33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1771100" y="4398264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34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1625944" y="4599432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35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1771100" y="4599432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36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2654503" y="4983480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37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3616250" y="4988052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8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3752333" y="5001768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9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1456836" y="5105457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1456836" y="5512290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refresh-bg"/>
          <p:cNvSpPr/>
          <p:nvPr/>
        </p:nvSpPr>
        <p:spPr>
          <a:xfrm>
            <a:off x="3639312" y="5440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42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504688"/>
            <a:ext cx="143437" cy="150267"/>
          </a:xfrm>
          <a:prstGeom prst="rect">
            <a:avLst/>
          </a:prstGeom>
        </p:spPr>
      </p:pic>
      <p:sp>
        <p:nvSpPr>
          <p:cNvPr id="43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44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45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(2/3)</a:t>
            </a:r>
          </a:p>
        </p:txBody>
      </p:sp>
      <p:sp>
        <p:nvSpPr>
          <p:cNvPr id="46" name="t"/>
          <p:cNvSpPr txBox="1"/>
          <p:nvPr/>
        </p:nvSpPr>
        <p:spPr>
          <a:xfrm>
            <a:off x="1518818" y="380390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sp>
        <p:nvSpPr>
          <p:cNvPr id="47" name="t"/>
          <p:cNvSpPr txBox="1"/>
          <p:nvPr/>
        </p:nvSpPr>
        <p:spPr>
          <a:xfrm>
            <a:off x="2103120" y="4786884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1376172" y="594360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1426464" y="60350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50" name="role"/>
          <p:cNvSpPr/>
          <p:nvPr/>
        </p:nvSpPr>
        <p:spPr>
          <a:xfrm>
            <a:off x="1737360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737360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52" name="role"/>
          <p:cNvSpPr/>
          <p:nvPr/>
        </p:nvSpPr>
        <p:spPr>
          <a:xfrm>
            <a:off x="2871216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2871216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54" name="t"/>
          <p:cNvSpPr txBox="1"/>
          <p:nvPr/>
        </p:nvSpPr>
        <p:spPr>
          <a:xfrm>
            <a:off x="1324966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기본 — 시트 최대</a:t>
            </a:r>
          </a:p>
        </p:txBody>
      </p:sp>
      <p:sp>
        <p:nvSpPr>
          <p:cNvPr id="55" name="목업 프레임 3"/>
          <p:cNvSpPr/>
          <p:nvPr/>
        </p:nvSpPr>
        <p:spPr>
          <a:xfrm>
            <a:off x="4754880" y="1194206"/>
            <a:ext cx="2707538" cy="5107838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map2"/>
          <p:cNvSpPr/>
          <p:nvPr/>
        </p:nvSpPr>
        <p:spPr>
          <a:xfrm>
            <a:off x="4754880" y="1194206"/>
            <a:ext cx="2707538" cy="4767682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57" name="back2"/>
          <p:cNvSpPr/>
          <p:nvPr/>
        </p:nvSpPr>
        <p:spPr>
          <a:xfrm>
            <a:off x="4807915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58" name="뒤로가기"/>
          <p:cNvCxnSpPr/>
          <p:nvPr/>
        </p:nvCxnSpPr>
        <p:spPr>
          <a:xfrm flipH="1">
            <a:off x="4906670" y="13761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06670" y="14228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heet-min"/>
          <p:cNvSpPr/>
          <p:nvPr/>
        </p:nvSpPr>
        <p:spPr>
          <a:xfrm>
            <a:off x="4751222" y="5961888"/>
            <a:ext cx="2714854" cy="340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61" name="ln"/>
          <p:cNvCxnSpPr/>
          <p:nvPr/>
        </p:nvCxnSpPr>
        <p:spPr>
          <a:xfrm>
            <a:off x="5943600" y="6053328"/>
            <a:ext cx="349301" cy="0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4754880" y="6144768"/>
            <a:ext cx="270753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군자역6번출구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4880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시트 최소 — 손잡이 누르기 토글</a:t>
            </a:r>
          </a:p>
        </p:txBody>
      </p:sp>
      <p:sp>
        <p:nvSpPr>
          <p:cNvPr id="64" name="지도 안내"/>
          <p:cNvSpPr txBox="1"/>
          <p:nvPr/>
        </p:nvSpPr>
        <p:spPr>
          <a:xfrm>
            <a:off x="1947672" y="182879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3218688" y="262432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3218688" y="262432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584448" y="19293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584448" y="19293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9" name="지도 컨트롤"/>
          <p:cNvSpPr/>
          <p:nvPr/>
        </p:nvSpPr>
        <p:spPr>
          <a:xfrm>
            <a:off x="3584448" y="227685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컨트롤 라벨"/>
          <p:cNvSpPr txBox="1"/>
          <p:nvPr/>
        </p:nvSpPr>
        <p:spPr>
          <a:xfrm>
            <a:off x="3584448" y="227685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1" name="지도 안내"/>
          <p:cNvSpPr txBox="1"/>
          <p:nvPr/>
        </p:nvSpPr>
        <p:spPr>
          <a:xfrm>
            <a:off x="5376672" y="330555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72" name="지도 컨트롤"/>
          <p:cNvSpPr/>
          <p:nvPr/>
        </p:nvSpPr>
        <p:spPr>
          <a:xfrm>
            <a:off x="6647688" y="55778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지도 컨트롤 라벨"/>
          <p:cNvSpPr txBox="1"/>
          <p:nvPr/>
        </p:nvSpPr>
        <p:spPr>
          <a:xfrm>
            <a:off x="6647688" y="55778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4" name="지도 컨트롤"/>
          <p:cNvSpPr/>
          <p:nvPr/>
        </p:nvSpPr>
        <p:spPr>
          <a:xfrm>
            <a:off x="7013448" y="48828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 컨트롤 라벨"/>
          <p:cNvSpPr txBox="1"/>
          <p:nvPr/>
        </p:nvSpPr>
        <p:spPr>
          <a:xfrm>
            <a:off x="7013448" y="48828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76" name="지도 컨트롤"/>
          <p:cNvSpPr/>
          <p:nvPr/>
        </p:nvSpPr>
        <p:spPr>
          <a:xfrm>
            <a:off x="7013448" y="52303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지도 컨트롤 라벨"/>
          <p:cNvSpPr txBox="1"/>
          <p:nvPr/>
        </p:nvSpPr>
        <p:spPr>
          <a:xfrm>
            <a:off x="7013448" y="52303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70432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3913632" y="1993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2359152" y="30449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70432" y="3355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1170432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1170432" y="4764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4" name="숫자배지 7"/>
          <p:cNvSpPr/>
          <p:nvPr/>
        </p:nvSpPr>
        <p:spPr>
          <a:xfrm>
            <a:off x="3959352" y="4983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5" name="숫자배지 8"/>
          <p:cNvSpPr/>
          <p:nvPr/>
        </p:nvSpPr>
        <p:spPr>
          <a:xfrm>
            <a:off x="1170432" y="51206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6" name="숫자배지 9"/>
          <p:cNvSpPr/>
          <p:nvPr/>
        </p:nvSpPr>
        <p:spPr>
          <a:xfrm>
            <a:off x="3831336" y="52303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7" name="숫자배지 10"/>
          <p:cNvSpPr/>
          <p:nvPr/>
        </p:nvSpPr>
        <p:spPr>
          <a:xfrm>
            <a:off x="1170432" y="60350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8629192" y="1447800"/>
          <a:ext cx="2972713" cy="231109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 — 플로팅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안 목록 위에 떠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도착 정보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갱신 뒤 결과를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· 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 줄 — 노선 목록과 함께 스크롤되지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「출발」 / 「도착」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☆는 이 줄 왼쪽 한 자리뿐 — 검색 결과 행에는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1324533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map"/>
          <p:cNvSpPr/>
          <p:nvPr/>
        </p:nvSpPr>
        <p:spPr>
          <a:xfrm>
            <a:off x="1324966" y="1194206"/>
            <a:ext cx="2707538" cy="1920240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13" name="back"/>
          <p:cNvSpPr/>
          <p:nvPr/>
        </p:nvSpPr>
        <p:spPr>
          <a:xfrm>
            <a:off x="1378001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1476933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1476933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1321045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2560127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1502939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1519270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0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1572820" y="3959352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1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1519270" y="4764024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1519270" y="5155042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3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1873087" y="5118753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4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1519270" y="5318342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5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2290410" y="51368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26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2290410" y="53001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27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1519270" y="5626798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8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1873087" y="5590509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9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1519270" y="5790098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0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2290410" y="5608653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· 5번째 전</a:t>
            </a:r>
          </a:p>
        </p:txBody>
      </p:sp>
      <p:sp>
        <p:nvSpPr>
          <p:cNvPr id="31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1589655" y="4160520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32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1625944" y="4398264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33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1771100" y="4398264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34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1625944" y="4599432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35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1771100" y="4599432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36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2654503" y="4983480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37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3616250" y="4988052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8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3752333" y="5001768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9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1456836" y="5105457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1456836" y="5512290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refresh-bg"/>
          <p:cNvSpPr/>
          <p:nvPr/>
        </p:nvSpPr>
        <p:spPr>
          <a:xfrm>
            <a:off x="3639312" y="5440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42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504688"/>
            <a:ext cx="143437" cy="150267"/>
          </a:xfrm>
          <a:prstGeom prst="rect">
            <a:avLst/>
          </a:prstGeom>
        </p:spPr>
      </p:pic>
      <p:sp>
        <p:nvSpPr>
          <p:cNvPr id="43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44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45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(3/3)</a:t>
            </a:r>
          </a:p>
        </p:txBody>
      </p:sp>
      <p:sp>
        <p:nvSpPr>
          <p:cNvPr id="46" name="t"/>
          <p:cNvSpPr txBox="1"/>
          <p:nvPr/>
        </p:nvSpPr>
        <p:spPr>
          <a:xfrm>
            <a:off x="1518818" y="380390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sp>
        <p:nvSpPr>
          <p:cNvPr id="47" name="t"/>
          <p:cNvSpPr txBox="1"/>
          <p:nvPr/>
        </p:nvSpPr>
        <p:spPr>
          <a:xfrm>
            <a:off x="2103120" y="4786884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1376172" y="594360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1426464" y="60350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50" name="role"/>
          <p:cNvSpPr/>
          <p:nvPr/>
        </p:nvSpPr>
        <p:spPr>
          <a:xfrm>
            <a:off x="1737360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737360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52" name="role"/>
          <p:cNvSpPr/>
          <p:nvPr/>
        </p:nvSpPr>
        <p:spPr>
          <a:xfrm>
            <a:off x="2871216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2871216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54" name="t"/>
          <p:cNvSpPr txBox="1"/>
          <p:nvPr/>
        </p:nvSpPr>
        <p:spPr>
          <a:xfrm>
            <a:off x="1324966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기본 — 시트 최대</a:t>
            </a:r>
          </a:p>
        </p:txBody>
      </p:sp>
      <p:sp>
        <p:nvSpPr>
          <p:cNvPr id="55" name="목업 프레임 3"/>
          <p:cNvSpPr/>
          <p:nvPr/>
        </p:nvSpPr>
        <p:spPr>
          <a:xfrm>
            <a:off x="4754880" y="1194206"/>
            <a:ext cx="2707538" cy="5107838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map2"/>
          <p:cNvSpPr/>
          <p:nvPr/>
        </p:nvSpPr>
        <p:spPr>
          <a:xfrm>
            <a:off x="4754880" y="1194206"/>
            <a:ext cx="2707538" cy="4767682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57" name="back2"/>
          <p:cNvSpPr/>
          <p:nvPr/>
        </p:nvSpPr>
        <p:spPr>
          <a:xfrm>
            <a:off x="4807915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58" name="뒤로가기"/>
          <p:cNvCxnSpPr/>
          <p:nvPr/>
        </p:nvCxnSpPr>
        <p:spPr>
          <a:xfrm flipH="1">
            <a:off x="4906670" y="13761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06670" y="14228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heet-min"/>
          <p:cNvSpPr/>
          <p:nvPr/>
        </p:nvSpPr>
        <p:spPr>
          <a:xfrm>
            <a:off x="4751222" y="5961888"/>
            <a:ext cx="2714854" cy="340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61" name="ln"/>
          <p:cNvCxnSpPr/>
          <p:nvPr/>
        </p:nvCxnSpPr>
        <p:spPr>
          <a:xfrm>
            <a:off x="5943600" y="6053328"/>
            <a:ext cx="349301" cy="0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4754880" y="6144768"/>
            <a:ext cx="270753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군자역6번출구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4880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시트 최소 — 손잡이 누르기 토글</a:t>
            </a:r>
          </a:p>
        </p:txBody>
      </p:sp>
      <p:sp>
        <p:nvSpPr>
          <p:cNvPr id="64" name="지도 안내"/>
          <p:cNvSpPr txBox="1"/>
          <p:nvPr/>
        </p:nvSpPr>
        <p:spPr>
          <a:xfrm>
            <a:off x="1947672" y="182879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3218688" y="262432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3218688" y="262432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584448" y="19293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584448" y="19293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9" name="지도 컨트롤"/>
          <p:cNvSpPr/>
          <p:nvPr/>
        </p:nvSpPr>
        <p:spPr>
          <a:xfrm>
            <a:off x="3584448" y="227685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컨트롤 라벨"/>
          <p:cNvSpPr txBox="1"/>
          <p:nvPr/>
        </p:nvSpPr>
        <p:spPr>
          <a:xfrm>
            <a:off x="3584448" y="227685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1" name="지도 안내"/>
          <p:cNvSpPr txBox="1"/>
          <p:nvPr/>
        </p:nvSpPr>
        <p:spPr>
          <a:xfrm>
            <a:off x="5376672" y="330555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72" name="지도 컨트롤"/>
          <p:cNvSpPr/>
          <p:nvPr/>
        </p:nvSpPr>
        <p:spPr>
          <a:xfrm>
            <a:off x="6647688" y="55778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지도 컨트롤 라벨"/>
          <p:cNvSpPr txBox="1"/>
          <p:nvPr/>
        </p:nvSpPr>
        <p:spPr>
          <a:xfrm>
            <a:off x="6647688" y="55778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4" name="지도 컨트롤"/>
          <p:cNvSpPr/>
          <p:nvPr/>
        </p:nvSpPr>
        <p:spPr>
          <a:xfrm>
            <a:off x="7013448" y="48828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 컨트롤 라벨"/>
          <p:cNvSpPr txBox="1"/>
          <p:nvPr/>
        </p:nvSpPr>
        <p:spPr>
          <a:xfrm>
            <a:off x="7013448" y="48828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76" name="지도 컨트롤"/>
          <p:cNvSpPr/>
          <p:nvPr/>
        </p:nvSpPr>
        <p:spPr>
          <a:xfrm>
            <a:off x="7013448" y="52303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지도 컨트롤 라벨"/>
          <p:cNvSpPr txBox="1"/>
          <p:nvPr/>
        </p:nvSpPr>
        <p:spPr>
          <a:xfrm>
            <a:off x="7013448" y="52303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70432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3913632" y="1993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2359152" y="30449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70432" y="3355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1170432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1170432" y="4764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4" name="숫자배지 7"/>
          <p:cNvSpPr/>
          <p:nvPr/>
        </p:nvSpPr>
        <p:spPr>
          <a:xfrm>
            <a:off x="3959352" y="4983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5" name="숫자배지 8"/>
          <p:cNvSpPr/>
          <p:nvPr/>
        </p:nvSpPr>
        <p:spPr>
          <a:xfrm>
            <a:off x="1170432" y="51206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6" name="숫자배지 9"/>
          <p:cNvSpPr/>
          <p:nvPr/>
        </p:nvSpPr>
        <p:spPr>
          <a:xfrm>
            <a:off x="3831336" y="52303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7" name="숫자배지 10"/>
          <p:cNvSpPr/>
          <p:nvPr/>
        </p:nvSpPr>
        <p:spPr>
          <a:xfrm>
            <a:off x="1170432" y="60350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저상버스만 표시 OFF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1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551176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2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4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5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6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7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8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꺼짐</a:t>
            </a:r>
          </a:p>
        </p:txBody>
      </p:sp>
      <p:sp>
        <p:nvSpPr>
          <p:cNvPr id="29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1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32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33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4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35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10초 · 2번째 전</a:t>
            </a:r>
          </a:p>
        </p:txBody>
      </p:sp>
      <p:sp>
        <p:nvSpPr>
          <p:cNvPr id="36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37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38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9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40초 · 3번째 전</a:t>
            </a:r>
          </a:p>
        </p:txBody>
      </p:sp>
      <p:sp>
        <p:nvSpPr>
          <p:cNvPr id="40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· 5번째 전</a:t>
            </a:r>
          </a:p>
        </p:txBody>
      </p:sp>
      <p:sp>
        <p:nvSpPr>
          <p:cNvPr id="41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2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43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44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45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6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47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48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49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5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6601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6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57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44753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 · 켜짐 / 꺼짐을 텍스트로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 · 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「저상 운행 없음」을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빈칸 · 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문구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도착이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「도착 정보 없음」 — 행을 숨기거나 「운행 종료」로 단정하지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refresh-bg"/>
          <p:cNvSpPr/>
          <p:nvPr/>
        </p:nvSpPr>
        <p:spPr>
          <a:xfrm>
            <a:off x="5157216" y="53583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59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5422392"/>
            <a:ext cx="143437" cy="150267"/>
          </a:xfrm>
          <a:prstGeom prst="rect">
            <a:avLst/>
          </a:prstGeom>
        </p:spPr>
      </p:pic>
      <p:sp>
        <p:nvSpPr>
          <p:cNvPr id="60" name="t"/>
          <p:cNvSpPr txBox="1"/>
          <p:nvPr/>
        </p:nvSpPr>
        <p:spPr>
          <a:xfrm>
            <a:off x="3165653" y="2395728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cxnSp>
        <p:nvCxnSpPr>
          <p:cNvPr id="61" name="ln"/>
          <p:cNvCxnSpPr/>
          <p:nvPr/>
        </p:nvCxnSpPr>
        <p:spPr>
          <a:xfrm>
            <a:off x="3035808" y="5998464"/>
            <a:ext cx="25968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3090672" y="6071616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63" name="role"/>
          <p:cNvSpPr/>
          <p:nvPr/>
        </p:nvSpPr>
        <p:spPr>
          <a:xfrm>
            <a:off x="3401568" y="6044184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3401568" y="6103620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65" name="role"/>
          <p:cNvSpPr/>
          <p:nvPr/>
        </p:nvSpPr>
        <p:spPr>
          <a:xfrm>
            <a:off x="4526280" y="6044184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4526280" y="6103620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(1/6)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t"/>
          <p:cNvSpPr txBox="1"/>
          <p:nvPr/>
        </p:nvSpPr>
        <p:spPr>
          <a:xfrm>
            <a:off x="2103120" y="2505075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sp>
        <p:nvSpPr>
          <p:cNvPr id="23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4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5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7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8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9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30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2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3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5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6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8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0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승차 예약을 신청했습니다.</a:t>
            </a:r>
          </a:p>
        </p:txBody>
      </p:sp>
      <p:sp>
        <p:nvSpPr>
          <p:cNvPr id="43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4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45978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헤더 · [예약 내역 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 유형 배지 ＋ 노선번호 ＋ 방면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 값은 2-5에서 누른 그 노선 행의 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[예약 내역 보기] 탑바 우측 텍스트 버튼 · 상시 노출 · 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3-4 저상버스 예약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운행 정보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첫차 · 막차 · 배차간격 — 헤더 아래 · 정류장 리스트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첫차 · 막차는 시각 · 배차간격은 범위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공급되지 않는 항목은 그 줄을 생략 — 「정보 없음」 · 「-」를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셋 다 없으면 영역 자체를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756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 · 갱신 시각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「실시간 버스정보」 섹션 제목 오른쪽 아이콘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오른쪽에 「HH:MM 기준」 · 서버 갱신 시각을 그대로 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· 차량 위치를 갱신 · 10초마다 자동 갱신도 함께 동작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정류장 순서 리스트는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0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1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3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5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6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57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58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9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 중</a:t>
            </a:r>
          </a:p>
        </p:txBody>
      </p:sp>
      <p:sp>
        <p:nvSpPr>
          <p:cNvPr id="60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1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3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5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6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2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7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9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0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1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2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3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4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5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6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(2/6)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t"/>
          <p:cNvSpPr txBox="1"/>
          <p:nvPr/>
        </p:nvSpPr>
        <p:spPr>
          <a:xfrm>
            <a:off x="2103120" y="2505075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sp>
        <p:nvSpPr>
          <p:cNvPr id="23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4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5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7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8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9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30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2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3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5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6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8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0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승차 예약을 신청했습니다.</a:t>
            </a:r>
          </a:p>
        </p:txBody>
      </p:sp>
      <p:sp>
        <p:nvSpPr>
          <p:cNvPr id="43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4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4767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정류장 순서 리스트 · 승차 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세로 노선도 형태 — 정류장명 ＋ 정류장 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하이라이트는 들어온 그 정류장 — GPS 현위치가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「승차 정류장」 텍스트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그 행이 보이도록 화면을 맞춤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지나온 정류장을 접거나 숨기지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2건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하이라이트된 승차 정류장 행에만 2건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 · 일반을 건마다 앞에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다른 정류장 행에는 도착 정보를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0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1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3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5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6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57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58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9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 중</a:t>
            </a:r>
          </a:p>
        </p:txBody>
      </p:sp>
      <p:sp>
        <p:nvSpPr>
          <p:cNvPr id="60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1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3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5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6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2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7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9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0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1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2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3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4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5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6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(3/6)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t"/>
          <p:cNvSpPr txBox="1"/>
          <p:nvPr/>
        </p:nvSpPr>
        <p:spPr>
          <a:xfrm>
            <a:off x="2103120" y="2505075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sp>
        <p:nvSpPr>
          <p:cNvPr id="23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4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5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7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8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9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30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2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3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5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6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8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0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승차 예약을 신청했습니다.</a:t>
            </a:r>
          </a:p>
        </p:txBody>
      </p:sp>
      <p:sp>
        <p:nvSpPr>
          <p:cNvPr id="43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4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50328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[승차 예약]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2건 중 저상인 건에만 그 건 아래 노출 — 일반 건에는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 건마다 1개 — 두 건 모두 저상이면 버튼도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승차 정류장은 하이라이트된 정류장으로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 전용 — 비회원도 버튼은 보이고 누르면 로그인 유도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화면 이동 없이 예약 신청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이미 신청한 편성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건 줄에 「예약 신청 완료」 상태 텍스트 · 확정 후 「예약 확정됨」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 버튼은 비활성 · 문구는 「승차 예약」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상태를 버튼 표시 문구로 대체하지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[더보기]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2건 · 노선 위에 세 번째 차량이 있을 때만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번에 2건씩 이어서 펼침 · 총 6건 상한 · 차고지 출발 전 편성은 제외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정거장 수 · 저상 여부는 차량 위치로 표기 — 「저상 12분 · 7번째 전」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표기는 기본 2건과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0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1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3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5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6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57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58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9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60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 중</a:t>
            </a:r>
          </a:p>
        </p:txBody>
      </p:sp>
      <p:sp>
        <p:nvSpPr>
          <p:cNvPr id="61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2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3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4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6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7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2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7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9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0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1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2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3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4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5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6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(4/6)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t"/>
          <p:cNvSpPr txBox="1"/>
          <p:nvPr/>
        </p:nvSpPr>
        <p:spPr>
          <a:xfrm>
            <a:off x="2103120" y="2505075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sp>
        <p:nvSpPr>
          <p:cNvPr id="23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4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5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7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8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9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30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2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3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5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6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8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0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승차 예약을 신청했습니다.</a:t>
            </a:r>
          </a:p>
        </p:txBody>
      </p:sp>
      <p:sp>
        <p:nvSpPr>
          <p:cNvPr id="43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4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713" cy="3619549"/>
        </p:xfrm>
        <a:graphic>
          <a:graphicData uri="http://schemas.openxmlformats.org/drawingml/2006/table">
            <a:tbl>
              <a:tblPr/>
              <a:tblGrid>
                <a:gridCol w="495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차량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차량 위치를 정류장 단위로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정차 중은 그 정류장 칸 안 · 이동 중은 두 정류장 사이 라인 위에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정류장에 여러 대면 대수만큼 겹쳐 표시 — 「N대」로 바꾸지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차량번호 · 저상 여부를 텍스트로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예약 신청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이후 조건이 맞으면 앱이 자동으로 BMS에 발신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[하차 정류장 지정 (선택)]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 신청 팝업의 보조 버튼 — [확인]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지정하지 않고도 예약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예약 신청 팝업을 닫고 하차 정류장 지정 시트를 엶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0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1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3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5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6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57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58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9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 중</a:t>
            </a:r>
          </a:p>
        </p:txBody>
      </p:sp>
      <p:sp>
        <p:nvSpPr>
          <p:cNvPr id="60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1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3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5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6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2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7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9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0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1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2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3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4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5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6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(5/6)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t"/>
          <p:cNvSpPr txBox="1"/>
          <p:nvPr/>
        </p:nvSpPr>
        <p:spPr>
          <a:xfrm>
            <a:off x="2103120" y="2505075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sp>
        <p:nvSpPr>
          <p:cNvPr id="23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4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5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7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8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9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30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2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3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5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6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8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0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118872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13410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16524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승차 예약을 신청했습니다.</a:t>
            </a:r>
          </a:p>
        </p:txBody>
      </p:sp>
      <p:sp>
        <p:nvSpPr>
          <p:cNvPr id="43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183348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4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256795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256795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713" cy="3839158"/>
        </p:xfrm>
        <a:graphic>
          <a:graphicData uri="http://schemas.openxmlformats.org/drawingml/2006/table">
            <a:tbl>
              <a:tblPr/>
              <a:tblGrid>
                <a:gridCol w="495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하차 정류장 지정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헤더(제목 ＋ [✕]) · 노선 ＋ 방면 1줄 · 단일 선택 목록 · 하단 [지정]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맨 위는 「지정하지 않음」 — 비우는 것이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승차 정류장 다음부터 노선 종점까지 표출 — 지나온 구간은 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정류장명 ＋ 정류장 번호 · 검색 · 필터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 확정 이후에는 열 수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[지정] · [✕] 후 노선 상세로 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탑승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트리거 — 예약 차량이 다음 정류장으로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앱이 전면이면 팝업 · 백그라운드면 Push · 예약 1건당 1회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놓치면 「탑승 확인 필요」로 남아 홈 위젯 · 3-4에서 답할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[네] → 탑승완료 · [아니요] → 미탑승 (둘 다 종결)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팝업 (탑승 확인)"/>
          <p:cNvSpPr/>
          <p:nvPr/>
        </p:nvSpPr>
        <p:spPr>
          <a:xfrm>
            <a:off x="5047200" y="3337559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팝업 문구"/>
          <p:cNvSpPr txBox="1"/>
          <p:nvPr/>
        </p:nvSpPr>
        <p:spPr>
          <a:xfrm>
            <a:off x="5238000" y="34887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0" name="팝업 문구"/>
          <p:cNvSpPr txBox="1"/>
          <p:nvPr/>
        </p:nvSpPr>
        <p:spPr>
          <a:xfrm>
            <a:off x="5238000" y="37983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1" name="팝업 버튼 아니요"/>
          <p:cNvSpPr/>
          <p:nvPr/>
        </p:nvSpPr>
        <p:spPr>
          <a:xfrm>
            <a:off x="52596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/>
          <p:cNvSpPr txBox="1"/>
          <p:nvPr/>
        </p:nvSpPr>
        <p:spPr>
          <a:xfrm>
            <a:off x="52596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3" name="팝업 버튼 네"/>
          <p:cNvSpPr/>
          <p:nvPr/>
        </p:nvSpPr>
        <p:spPr>
          <a:xfrm>
            <a:off x="62208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팝업 버튼 라벨"/>
          <p:cNvSpPr txBox="1"/>
          <p:nvPr/>
        </p:nvSpPr>
        <p:spPr>
          <a:xfrm>
            <a:off x="62208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5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6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57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58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9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 중</a:t>
            </a:r>
          </a:p>
        </p:txBody>
      </p:sp>
      <p:sp>
        <p:nvSpPr>
          <p:cNvPr id="60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1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3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5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6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팝업 보조 버튼"/>
          <p:cNvSpPr txBox="1"/>
          <p:nvPr/>
        </p:nvSpPr>
        <p:spPr>
          <a:xfrm>
            <a:off x="5239512" y="222048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2" name="alight-sheet"/>
          <p:cNvSpPr/>
          <p:nvPr/>
        </p:nvSpPr>
        <p:spPr>
          <a:xfrm>
            <a:off x="5047488" y="4910328"/>
            <a:ext cx="2322576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5138928" y="49834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하차 정류장 지정</a:t>
            </a:r>
          </a:p>
        </p:txBody>
      </p:sp>
      <p:sp>
        <p:nvSpPr>
          <p:cNvPr id="74" name="t"/>
          <p:cNvSpPr txBox="1"/>
          <p:nvPr/>
        </p:nvSpPr>
        <p:spPr>
          <a:xfrm>
            <a:off x="7132320" y="498348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75" name="t"/>
          <p:cNvSpPr txBox="1"/>
          <p:nvPr/>
        </p:nvSpPr>
        <p:spPr>
          <a:xfrm>
            <a:off x="5138928" y="5157216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간선 240 · 중랑공영차고지 방면</a:t>
            </a:r>
          </a:p>
        </p:txBody>
      </p:sp>
      <p:sp>
        <p:nvSpPr>
          <p:cNvPr id="76" name="radio"/>
          <p:cNvSpPr/>
          <p:nvPr/>
        </p:nvSpPr>
        <p:spPr>
          <a:xfrm>
            <a:off x="5148072" y="5340096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7" name="t"/>
          <p:cNvSpPr txBox="1"/>
          <p:nvPr/>
        </p:nvSpPr>
        <p:spPr>
          <a:xfrm>
            <a:off x="5294376" y="533095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지정하지 않음</a:t>
            </a:r>
          </a:p>
        </p:txBody>
      </p:sp>
      <p:sp>
        <p:nvSpPr>
          <p:cNvPr id="78" name="radio"/>
          <p:cNvSpPr/>
          <p:nvPr/>
        </p:nvSpPr>
        <p:spPr>
          <a:xfrm>
            <a:off x="5148072" y="5500116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9" name="t"/>
          <p:cNvSpPr txBox="1"/>
          <p:nvPr/>
        </p:nvSpPr>
        <p:spPr>
          <a:xfrm>
            <a:off x="5294376" y="54909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능동우편취급국</a:t>
            </a:r>
          </a:p>
        </p:txBody>
      </p:sp>
      <p:sp>
        <p:nvSpPr>
          <p:cNvPr id="80" name="t"/>
          <p:cNvSpPr txBox="1"/>
          <p:nvPr/>
        </p:nvSpPr>
        <p:spPr>
          <a:xfrm>
            <a:off x="6492240" y="5490972"/>
            <a:ext cx="80467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09-131</a:t>
            </a:r>
          </a:p>
        </p:txBody>
      </p:sp>
      <p:sp>
        <p:nvSpPr>
          <p:cNvPr id="81" name="radio"/>
          <p:cNvSpPr/>
          <p:nvPr/>
        </p:nvSpPr>
        <p:spPr>
          <a:xfrm>
            <a:off x="5148072" y="5660136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82" name="t"/>
          <p:cNvSpPr txBox="1"/>
          <p:nvPr/>
        </p:nvSpPr>
        <p:spPr>
          <a:xfrm>
            <a:off x="5294376" y="565099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어린이대공원후문</a:t>
            </a:r>
          </a:p>
        </p:txBody>
      </p:sp>
      <p:sp>
        <p:nvSpPr>
          <p:cNvPr id="83" name="t"/>
          <p:cNvSpPr txBox="1"/>
          <p:nvPr/>
        </p:nvSpPr>
        <p:spPr>
          <a:xfrm>
            <a:off x="6492240" y="5650992"/>
            <a:ext cx="80467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09-132</a:t>
            </a:r>
          </a:p>
        </p:txBody>
      </p:sp>
      <p:sp>
        <p:nvSpPr>
          <p:cNvPr id="84" name="designate"/>
          <p:cNvSpPr/>
          <p:nvPr/>
        </p:nvSpPr>
        <p:spPr>
          <a:xfrm>
            <a:off x="5138928" y="5833872"/>
            <a:ext cx="2139696" cy="219456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t"/>
          <p:cNvSpPr txBox="1"/>
          <p:nvPr/>
        </p:nvSpPr>
        <p:spPr>
          <a:xfrm>
            <a:off x="5138928" y="5893308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FFFFFF"/>
                </a:solidFill>
                <a:latin typeface="Pretendard"/>
                <a:ea typeface="Pretendard"/>
              </a:rPr>
              <a:t>지정</a:t>
            </a:r>
          </a:p>
        </p:txBody>
      </p:sp>
      <p:sp>
        <p:nvSpPr>
          <p:cNvPr id="86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87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88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89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0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1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2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3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4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5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6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7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8" name="숫자배지 10"/>
          <p:cNvSpPr/>
          <p:nvPr/>
        </p:nvSpPr>
        <p:spPr>
          <a:xfrm>
            <a:off x="4846320" y="11963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9" name="숫자배지 10-1"/>
          <p:cNvSpPr/>
          <p:nvPr/>
        </p:nvSpPr>
        <p:spPr>
          <a:xfrm>
            <a:off x="4882896" y="220219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100" name="숫자배지 11"/>
          <p:cNvSpPr/>
          <p:nvPr/>
        </p:nvSpPr>
        <p:spPr>
          <a:xfrm>
            <a:off x="4846320" y="33461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01" name="숫자배지 10-2"/>
          <p:cNvSpPr/>
          <p:nvPr/>
        </p:nvSpPr>
        <p:spPr>
          <a:xfrm>
            <a:off x="4645152" y="4928616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(6/6)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t"/>
          <p:cNvSpPr txBox="1"/>
          <p:nvPr/>
        </p:nvSpPr>
        <p:spPr>
          <a:xfrm>
            <a:off x="2103120" y="2505075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sp>
        <p:nvSpPr>
          <p:cNvPr id="23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4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5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7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8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9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30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2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3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5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6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8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0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118872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13410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16524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승차 예약을 신청했습니다.</a:t>
            </a:r>
          </a:p>
        </p:txBody>
      </p:sp>
      <p:sp>
        <p:nvSpPr>
          <p:cNvPr id="43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183348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4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256795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256795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90951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하차 안내 — 탑승 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탑승이 확인되고 하차 정류장이 지정된 건에만 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하차 예고 — 하차 정류장 2정거장 전 · PUSH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하차 임박 — 하차 정류장 1개 전 통과 · PUSH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미지정이면 안내하지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팝업을 띄우지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표기 · 비회원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도착이 한 건도 없으면 「도착 정보 없음」 — 행을 비워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도착이 1건뿐이면 그 1건만 표출 — 2건째 자리를 만들지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[예약 내역 보기] · 3-4는 비회원에게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팝업 (탑승 확인)"/>
          <p:cNvSpPr/>
          <p:nvPr/>
        </p:nvSpPr>
        <p:spPr>
          <a:xfrm>
            <a:off x="5047200" y="3337559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팝업 문구"/>
          <p:cNvSpPr txBox="1"/>
          <p:nvPr/>
        </p:nvSpPr>
        <p:spPr>
          <a:xfrm>
            <a:off x="5238000" y="34887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0" name="팝업 문구"/>
          <p:cNvSpPr txBox="1"/>
          <p:nvPr/>
        </p:nvSpPr>
        <p:spPr>
          <a:xfrm>
            <a:off x="5238000" y="37983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1" name="팝업 버튼 아니요"/>
          <p:cNvSpPr/>
          <p:nvPr/>
        </p:nvSpPr>
        <p:spPr>
          <a:xfrm>
            <a:off x="52596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/>
          <p:cNvSpPr txBox="1"/>
          <p:nvPr/>
        </p:nvSpPr>
        <p:spPr>
          <a:xfrm>
            <a:off x="52596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3" name="팝업 버튼 네"/>
          <p:cNvSpPr/>
          <p:nvPr/>
        </p:nvSpPr>
        <p:spPr>
          <a:xfrm>
            <a:off x="62208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팝업 버튼 라벨"/>
          <p:cNvSpPr txBox="1"/>
          <p:nvPr/>
        </p:nvSpPr>
        <p:spPr>
          <a:xfrm>
            <a:off x="62208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5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6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20초 · 1번째 전</a:t>
            </a:r>
          </a:p>
        </p:txBody>
      </p:sp>
      <p:sp>
        <p:nvSpPr>
          <p:cNvPr id="57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30초 · 5번째 전</a:t>
            </a:r>
          </a:p>
        </p:txBody>
      </p:sp>
      <p:sp>
        <p:nvSpPr>
          <p:cNvPr id="58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9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 중</a:t>
            </a:r>
          </a:p>
        </p:txBody>
      </p:sp>
      <p:sp>
        <p:nvSpPr>
          <p:cNvPr id="60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1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3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5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6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팝업 보조 버튼"/>
          <p:cNvSpPr txBox="1"/>
          <p:nvPr/>
        </p:nvSpPr>
        <p:spPr>
          <a:xfrm>
            <a:off x="5239512" y="222048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2" name="push"/>
          <p:cNvSpPr/>
          <p:nvPr/>
        </p:nvSpPr>
        <p:spPr>
          <a:xfrm>
            <a:off x="5047488" y="4910328"/>
            <a:ext cx="2322576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5138928" y="4974336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하차 안내 PUSH — 2단</a:t>
            </a:r>
          </a:p>
        </p:txBody>
      </p:sp>
      <p:sp>
        <p:nvSpPr>
          <p:cNvPr id="74" name="t"/>
          <p:cNvSpPr txBox="1"/>
          <p:nvPr/>
        </p:nvSpPr>
        <p:spPr>
          <a:xfrm>
            <a:off x="5138928" y="5157216"/>
            <a:ext cx="213969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① 하차 예고  능동우편취급국에서 하차 (2 정거장 남음)</a:t>
            </a:r>
          </a:p>
        </p:txBody>
      </p:sp>
      <p:sp>
        <p:nvSpPr>
          <p:cNvPr id="75" name="t"/>
          <p:cNvSpPr txBox="1"/>
          <p:nvPr/>
        </p:nvSpPr>
        <p:spPr>
          <a:xfrm>
            <a:off x="5138928" y="5321808"/>
            <a:ext cx="213969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② 하차 임박  다음 어린이대공원후문에서 하차</a:t>
            </a:r>
          </a:p>
        </p:txBody>
      </p:sp>
      <p:sp>
        <p:nvSpPr>
          <p:cNvPr id="76" name="t"/>
          <p:cNvSpPr txBox="1"/>
          <p:nvPr/>
        </p:nvSpPr>
        <p:spPr>
          <a:xfrm>
            <a:off x="5138928" y="5513832"/>
            <a:ext cx="213969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지정된 건에만 · 팝업을 띄우지 않음</a:t>
            </a:r>
          </a:p>
        </p:txBody>
      </p:sp>
      <p:sp>
        <p:nvSpPr>
          <p:cNvPr id="77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8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9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80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1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3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4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5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6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7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8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9" name="숫자배지 10"/>
          <p:cNvSpPr/>
          <p:nvPr/>
        </p:nvSpPr>
        <p:spPr>
          <a:xfrm>
            <a:off x="4846320" y="11963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0" name="숫자배지 10-1"/>
          <p:cNvSpPr/>
          <p:nvPr/>
        </p:nvSpPr>
        <p:spPr>
          <a:xfrm>
            <a:off x="4882896" y="220219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91" name="숫자배지 11"/>
          <p:cNvSpPr/>
          <p:nvPr/>
        </p:nvSpPr>
        <p:spPr>
          <a:xfrm>
            <a:off x="4846320" y="33461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92" name="숫자배지 12"/>
          <p:cNvSpPr/>
          <p:nvPr/>
        </p:nvSpPr>
        <p:spPr>
          <a:xfrm>
            <a:off x="4700016" y="49286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9548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3523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1-4 지하철역 검색</a:t>
            </a:r>
          </a:p>
        </p:txBody>
      </p:sp>
      <p:sp>
        <p:nvSpPr>
          <p:cNvPr id="13" name="흐름 1-5 지하철역 정보"/>
          <p:cNvSpPr/>
          <p:nvPr/>
        </p:nvSpPr>
        <p:spPr>
          <a:xfrm>
            <a:off x="463296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1-4-1 역 정보</a:t>
            </a:r>
          </a:p>
        </p:txBody>
      </p:sp>
      <p:sp>
        <p:nvSpPr>
          <p:cNvPr id="15" name="흐름 전화 연결"/>
          <p:cNvSpPr/>
          <p:nvPr/>
        </p:nvSpPr>
        <p:spPr>
          <a:xfrm>
            <a:off x="7421880" y="213512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7526655" y="213512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7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"/>
          <p:cNvCxnSpPr>
            <a:stCxn id="15" idx="3"/>
            <a:endCxn id="17" idx="1"/>
          </p:cNvCxnSpPr>
          <p:nvPr/>
        </p:nvCxnSpPr>
        <p:spPr>
          <a:xfrm>
            <a:off x="6462065" y="3424428"/>
            <a:ext cx="68580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1" name="흐름 전화 연결"/>
          <p:cNvSpPr/>
          <p:nvPr/>
        </p:nvSpPr>
        <p:spPr>
          <a:xfrm>
            <a:off x="7422185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7526426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1-4-2 시간표</a:t>
            </a:r>
          </a:p>
        </p:txBody>
      </p:sp>
      <p:sp>
        <p:nvSpPr>
          <p:cNvPr id="23" name="흐름 전화 연결"/>
          <p:cNvSpPr/>
          <p:nvPr/>
        </p:nvSpPr>
        <p:spPr>
          <a:xfrm>
            <a:off x="7422185" y="414680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흐름 제목"/>
          <p:cNvSpPr txBox="1"/>
          <p:nvPr/>
        </p:nvSpPr>
        <p:spPr>
          <a:xfrm>
            <a:off x="7526426" y="414680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2-3 상세경로</a:t>
            </a:r>
          </a:p>
        </p:txBody>
      </p:sp>
      <p:cxnSp>
        <p:nvCxnSpPr>
          <p:cNvPr id="25" name="연결선"/>
          <p:cNvCxnSpPr>
            <a:stCxn id="15" idx="3"/>
            <a:endCxn id="17" idx="1"/>
          </p:cNvCxnSpPr>
          <p:nvPr/>
        </p:nvCxnSpPr>
        <p:spPr>
          <a:xfrm>
            <a:off x="7147865" y="2418588"/>
            <a:ext cx="0" cy="201168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7147865" y="2418588"/>
            <a:ext cx="2743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147865" y="4430268"/>
            <a:ext cx="2743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8600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(1/2)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검색창"/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검색창 문구"/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"/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 문구"/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7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277502" y="1447800"/>
          <a:ext cx="2553309" cy="484179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「지하철역 검색」 — 접두어를 붙이지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실행 버튼을 두지 않음 — 입력하는 대로 결과가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② 포커스 · 한 글자라도 입력하면 ③ · 비우면 ① 기본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스크린리더 이름 「지하철역 검색」 — 입력 중에도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 배지 ＋ 역명 1줄 — 행에 있는 것은 이 둘뿐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 · 주소를 행에 넣지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 — 하나로 합치지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[&gt;]·☆를 행에 두지 않음 · 행 탭 → 1-4-1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노선 배지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호선별 노선색을 배경으로 하는 태그 — 안에 「N호선」 텍스트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지선도 본선 호선으로만 표기 — 「2호선」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2" name="목업 프레임"/>
          <p:cNvSpPr/>
          <p:nvPr/>
        </p:nvSpPr>
        <p:spPr>
          <a:xfrm>
            <a:off x="614842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/>
          <p:cNvSpPr/>
          <p:nvPr/>
        </p:nvSpPr>
        <p:spPr>
          <a:xfrm>
            <a:off x="6158484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검색창"/>
          <p:cNvSpPr/>
          <p:nvPr/>
        </p:nvSpPr>
        <p:spPr>
          <a:xfrm>
            <a:off x="6510528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검색창 문구"/>
          <p:cNvSpPr txBox="1"/>
          <p:nvPr/>
        </p:nvSpPr>
        <p:spPr>
          <a:xfrm>
            <a:off x="6656832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</a:t>
            </a:r>
          </a:p>
        </p:txBody>
      </p:sp>
      <p:sp>
        <p:nvSpPr>
          <p:cNvPr id="26" name="linebadge"/>
          <p:cNvSpPr/>
          <p:nvPr/>
        </p:nvSpPr>
        <p:spPr>
          <a:xfrm>
            <a:off x="455371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"/>
          <p:cNvSpPr txBox="1"/>
          <p:nvPr/>
        </p:nvSpPr>
        <p:spPr>
          <a:xfrm>
            <a:off x="455371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28" name="t"/>
          <p:cNvSpPr txBox="1"/>
          <p:nvPr/>
        </p:nvSpPr>
        <p:spPr>
          <a:xfrm>
            <a:off x="921715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29" name="linebadge"/>
          <p:cNvSpPr/>
          <p:nvPr/>
        </p:nvSpPr>
        <p:spPr>
          <a:xfrm>
            <a:off x="455371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"/>
          <p:cNvSpPr txBox="1"/>
          <p:nvPr/>
        </p:nvSpPr>
        <p:spPr>
          <a:xfrm>
            <a:off x="455371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1" name="t"/>
          <p:cNvSpPr txBox="1"/>
          <p:nvPr/>
        </p:nvSpPr>
        <p:spPr>
          <a:xfrm>
            <a:off x="921715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32" name="ln"/>
          <p:cNvCxnSpPr/>
          <p:nvPr/>
        </p:nvCxnSpPr>
        <p:spPr>
          <a:xfrm>
            <a:off x="455371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3" name="linebadge"/>
          <p:cNvSpPr/>
          <p:nvPr/>
        </p:nvSpPr>
        <p:spPr>
          <a:xfrm>
            <a:off x="455371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"/>
          <p:cNvSpPr txBox="1"/>
          <p:nvPr/>
        </p:nvSpPr>
        <p:spPr>
          <a:xfrm>
            <a:off x="455371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35" name="t"/>
          <p:cNvSpPr txBox="1"/>
          <p:nvPr/>
        </p:nvSpPr>
        <p:spPr>
          <a:xfrm>
            <a:off x="921715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어린이대공원</a:t>
            </a:r>
          </a:p>
        </p:txBody>
      </p:sp>
      <p:cxnSp>
        <p:nvCxnSpPr>
          <p:cNvPr id="36" name="ln"/>
          <p:cNvCxnSpPr/>
          <p:nvPr/>
        </p:nvCxnSpPr>
        <p:spPr>
          <a:xfrm>
            <a:off x="455371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7" name="t"/>
          <p:cNvSpPr txBox="1"/>
          <p:nvPr/>
        </p:nvSpPr>
        <p:spPr>
          <a:xfrm>
            <a:off x="3379622" y="187452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38" name="linebadge"/>
          <p:cNvSpPr/>
          <p:nvPr/>
        </p:nvSpPr>
        <p:spPr>
          <a:xfrm>
            <a:off x="3379622" y="21945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"/>
          <p:cNvSpPr txBox="1"/>
          <p:nvPr/>
        </p:nvSpPr>
        <p:spPr>
          <a:xfrm>
            <a:off x="3379622" y="22357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40" name="t"/>
          <p:cNvSpPr txBox="1"/>
          <p:nvPr/>
        </p:nvSpPr>
        <p:spPr>
          <a:xfrm>
            <a:off x="3845966" y="21899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41" name="t"/>
          <p:cNvSpPr txBox="1"/>
          <p:nvPr/>
        </p:nvSpPr>
        <p:spPr>
          <a:xfrm>
            <a:off x="5190134" y="22037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09.16</a:t>
            </a:r>
          </a:p>
        </p:txBody>
      </p:sp>
      <p:sp>
        <p:nvSpPr>
          <p:cNvPr id="42" name="t"/>
          <p:cNvSpPr txBox="1"/>
          <p:nvPr/>
        </p:nvSpPr>
        <p:spPr>
          <a:xfrm>
            <a:off x="5674766" y="21991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43" name="linebadge"/>
          <p:cNvSpPr/>
          <p:nvPr/>
        </p:nvSpPr>
        <p:spPr>
          <a:xfrm>
            <a:off x="3379622" y="26517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00A8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3379622" y="26929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2호선</a:t>
            </a:r>
          </a:p>
        </p:txBody>
      </p:sp>
      <p:sp>
        <p:nvSpPr>
          <p:cNvPr id="45" name="t"/>
          <p:cNvSpPr txBox="1"/>
          <p:nvPr/>
        </p:nvSpPr>
        <p:spPr>
          <a:xfrm>
            <a:off x="3845966" y="26471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왕십리역</a:t>
            </a:r>
          </a:p>
        </p:txBody>
      </p:sp>
      <p:sp>
        <p:nvSpPr>
          <p:cNvPr id="46" name="t"/>
          <p:cNvSpPr txBox="1"/>
          <p:nvPr/>
        </p:nvSpPr>
        <p:spPr>
          <a:xfrm>
            <a:off x="5190134" y="26609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09.14</a:t>
            </a:r>
          </a:p>
        </p:txBody>
      </p:sp>
      <p:sp>
        <p:nvSpPr>
          <p:cNvPr id="47" name="t"/>
          <p:cNvSpPr txBox="1"/>
          <p:nvPr/>
        </p:nvSpPr>
        <p:spPr>
          <a:xfrm>
            <a:off x="5674766" y="26563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3379622" y="2523744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49" name="keypad"/>
          <p:cNvSpPr/>
          <p:nvPr/>
        </p:nvSpPr>
        <p:spPr>
          <a:xfrm>
            <a:off x="3251606" y="4160520"/>
            <a:ext cx="2678278" cy="2057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3251606" y="5138928"/>
            <a:ext cx="267827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51" name="linebadge"/>
          <p:cNvSpPr/>
          <p:nvPr/>
        </p:nvSpPr>
        <p:spPr>
          <a:xfrm>
            <a:off x="6303874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303874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53" name="t"/>
          <p:cNvSpPr txBox="1"/>
          <p:nvPr/>
        </p:nvSpPr>
        <p:spPr>
          <a:xfrm>
            <a:off x="6770218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54" name="linebadge"/>
          <p:cNvSpPr/>
          <p:nvPr/>
        </p:nvSpPr>
        <p:spPr>
          <a:xfrm>
            <a:off x="6303874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6303874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56" name="t"/>
          <p:cNvSpPr txBox="1"/>
          <p:nvPr/>
        </p:nvSpPr>
        <p:spPr>
          <a:xfrm>
            <a:off x="6770218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57" name="ln"/>
          <p:cNvCxnSpPr/>
          <p:nvPr/>
        </p:nvCxnSpPr>
        <p:spPr>
          <a:xfrm>
            <a:off x="6303874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58" name="linebadge"/>
          <p:cNvSpPr/>
          <p:nvPr/>
        </p:nvSpPr>
        <p:spPr>
          <a:xfrm>
            <a:off x="6303874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6303874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60" name="t"/>
          <p:cNvSpPr txBox="1"/>
          <p:nvPr/>
        </p:nvSpPr>
        <p:spPr>
          <a:xfrm>
            <a:off x="6770218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군자역사거리</a:t>
            </a:r>
          </a:p>
        </p:txBody>
      </p:sp>
      <p:cxnSp>
        <p:nvCxnSpPr>
          <p:cNvPr id="61" name="ln"/>
          <p:cNvCxnSpPr/>
          <p:nvPr/>
        </p:nvCxnSpPr>
        <p:spPr>
          <a:xfrm>
            <a:off x="6303874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5km · 거리순</a:t>
            </a:r>
          </a:p>
        </p:txBody>
      </p:sp>
      <p:sp>
        <p:nvSpPr>
          <p:cNvPr id="6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64" name="t"/>
          <p:cNvSpPr txBox="1"/>
          <p:nvPr/>
        </p:nvSpPr>
        <p:spPr>
          <a:xfrm>
            <a:off x="614842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역</a:t>
            </a:r>
          </a:p>
        </p:txBody>
      </p:sp>
      <p:cxnSp>
        <p:nvCxnSpPr>
          <p:cNvPr id="6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>
            <a:off x="3376611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 flipV="1">
            <a:off x="3376611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>
            <a:off x="6300902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/>
          <p:cNvCxnSpPr/>
          <p:nvPr/>
        </p:nvCxnSpPr>
        <p:spPr>
          <a:xfrm flipH="1" flipV="1">
            <a:off x="6300902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5km · 3곳</a:t>
            </a:r>
          </a:p>
        </p:txBody>
      </p:sp>
      <p:sp>
        <p:nvSpPr>
          <p:cNvPr id="72" name="결과 건수"/>
          <p:cNvSpPr txBox="1"/>
          <p:nvPr/>
        </p:nvSpPr>
        <p:spPr>
          <a:xfrm>
            <a:off x="6294730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73" name="숫자배지 1"/>
          <p:cNvSpPr/>
          <p:nvPr/>
        </p:nvSpPr>
        <p:spPr>
          <a:xfrm>
            <a:off x="2350008" y="11155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숫자배지 2"/>
          <p:cNvSpPr/>
          <p:nvPr/>
        </p:nvSpPr>
        <p:spPr>
          <a:xfrm>
            <a:off x="265176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3"/>
          <p:cNvSpPr/>
          <p:nvPr/>
        </p:nvSpPr>
        <p:spPr>
          <a:xfrm>
            <a:off x="384048" y="23591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6" name="숫자배지 4"/>
          <p:cNvSpPr/>
          <p:nvPr/>
        </p:nvSpPr>
        <p:spPr>
          <a:xfrm>
            <a:off x="5440680" y="18470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7" name="숫자배지 5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8" name="숫자배지 6"/>
          <p:cNvSpPr/>
          <p:nvPr/>
        </p:nvSpPr>
        <p:spPr>
          <a:xfrm>
            <a:off x="850392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9" name="숫자배지 7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8600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(2/2)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검색창"/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검색창 문구"/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"/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 문구"/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7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277502" y="1447800"/>
          <a:ext cx="2553309" cy="508040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골라서 확정된 역만 쌓임 — 검색어 문자열을 남기지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노선까지 함께 쌓음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= 노선 배지 ＋ 역명 ＋ 날짜 ＋ [✕] · 선택하면 곧바로 역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· 1-3의 최근 검색과 같은 리스트를 쓰지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한글 키패드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검색창을 눌렀을 때 올림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관련 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글자라도 입력하면 최근 검색을 대신함 — 대상은 역명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구성은 2와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 키워드 행 · 즐겨찾기 섹션을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반경 5km에 갇히지 않음 — 전체 대상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1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아래 한 줄 — ① 「인근 5km · N곳」 / ③ 「검색 결과 N곳」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N은 전체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최근 검색 · 0건에는 미표출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2" name="목업 프레임"/>
          <p:cNvSpPr/>
          <p:nvPr/>
        </p:nvSpPr>
        <p:spPr>
          <a:xfrm>
            <a:off x="614842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/>
          <p:cNvSpPr/>
          <p:nvPr/>
        </p:nvSpPr>
        <p:spPr>
          <a:xfrm>
            <a:off x="6158484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검색창"/>
          <p:cNvSpPr/>
          <p:nvPr/>
        </p:nvSpPr>
        <p:spPr>
          <a:xfrm>
            <a:off x="6510528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검색창 문구"/>
          <p:cNvSpPr txBox="1"/>
          <p:nvPr/>
        </p:nvSpPr>
        <p:spPr>
          <a:xfrm>
            <a:off x="6656832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</a:t>
            </a:r>
          </a:p>
        </p:txBody>
      </p:sp>
      <p:sp>
        <p:nvSpPr>
          <p:cNvPr id="26" name="linebadge"/>
          <p:cNvSpPr/>
          <p:nvPr/>
        </p:nvSpPr>
        <p:spPr>
          <a:xfrm>
            <a:off x="455371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"/>
          <p:cNvSpPr txBox="1"/>
          <p:nvPr/>
        </p:nvSpPr>
        <p:spPr>
          <a:xfrm>
            <a:off x="455371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28" name="t"/>
          <p:cNvSpPr txBox="1"/>
          <p:nvPr/>
        </p:nvSpPr>
        <p:spPr>
          <a:xfrm>
            <a:off x="921715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29" name="linebadge"/>
          <p:cNvSpPr/>
          <p:nvPr/>
        </p:nvSpPr>
        <p:spPr>
          <a:xfrm>
            <a:off x="455371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"/>
          <p:cNvSpPr txBox="1"/>
          <p:nvPr/>
        </p:nvSpPr>
        <p:spPr>
          <a:xfrm>
            <a:off x="455371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1" name="t"/>
          <p:cNvSpPr txBox="1"/>
          <p:nvPr/>
        </p:nvSpPr>
        <p:spPr>
          <a:xfrm>
            <a:off x="921715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32" name="ln"/>
          <p:cNvCxnSpPr/>
          <p:nvPr/>
        </p:nvCxnSpPr>
        <p:spPr>
          <a:xfrm>
            <a:off x="455371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3" name="linebadge"/>
          <p:cNvSpPr/>
          <p:nvPr/>
        </p:nvSpPr>
        <p:spPr>
          <a:xfrm>
            <a:off x="455371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"/>
          <p:cNvSpPr txBox="1"/>
          <p:nvPr/>
        </p:nvSpPr>
        <p:spPr>
          <a:xfrm>
            <a:off x="455371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35" name="t"/>
          <p:cNvSpPr txBox="1"/>
          <p:nvPr/>
        </p:nvSpPr>
        <p:spPr>
          <a:xfrm>
            <a:off x="921715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어린이대공원</a:t>
            </a:r>
          </a:p>
        </p:txBody>
      </p:sp>
      <p:cxnSp>
        <p:nvCxnSpPr>
          <p:cNvPr id="36" name="ln"/>
          <p:cNvCxnSpPr/>
          <p:nvPr/>
        </p:nvCxnSpPr>
        <p:spPr>
          <a:xfrm>
            <a:off x="455371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7" name="t"/>
          <p:cNvSpPr txBox="1"/>
          <p:nvPr/>
        </p:nvSpPr>
        <p:spPr>
          <a:xfrm>
            <a:off x="3379622" y="187452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38" name="linebadge"/>
          <p:cNvSpPr/>
          <p:nvPr/>
        </p:nvSpPr>
        <p:spPr>
          <a:xfrm>
            <a:off x="3379622" y="21945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"/>
          <p:cNvSpPr txBox="1"/>
          <p:nvPr/>
        </p:nvSpPr>
        <p:spPr>
          <a:xfrm>
            <a:off x="3379622" y="22357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40" name="t"/>
          <p:cNvSpPr txBox="1"/>
          <p:nvPr/>
        </p:nvSpPr>
        <p:spPr>
          <a:xfrm>
            <a:off x="3845966" y="21899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41" name="t"/>
          <p:cNvSpPr txBox="1"/>
          <p:nvPr/>
        </p:nvSpPr>
        <p:spPr>
          <a:xfrm>
            <a:off x="5190134" y="22037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09.16</a:t>
            </a:r>
          </a:p>
        </p:txBody>
      </p:sp>
      <p:sp>
        <p:nvSpPr>
          <p:cNvPr id="42" name="t"/>
          <p:cNvSpPr txBox="1"/>
          <p:nvPr/>
        </p:nvSpPr>
        <p:spPr>
          <a:xfrm>
            <a:off x="5674766" y="21991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43" name="linebadge"/>
          <p:cNvSpPr/>
          <p:nvPr/>
        </p:nvSpPr>
        <p:spPr>
          <a:xfrm>
            <a:off x="3379622" y="26517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00A8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3379622" y="26929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2호선</a:t>
            </a:r>
          </a:p>
        </p:txBody>
      </p:sp>
      <p:sp>
        <p:nvSpPr>
          <p:cNvPr id="45" name="t"/>
          <p:cNvSpPr txBox="1"/>
          <p:nvPr/>
        </p:nvSpPr>
        <p:spPr>
          <a:xfrm>
            <a:off x="3845966" y="26471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왕십리역</a:t>
            </a:r>
          </a:p>
        </p:txBody>
      </p:sp>
      <p:sp>
        <p:nvSpPr>
          <p:cNvPr id="46" name="t"/>
          <p:cNvSpPr txBox="1"/>
          <p:nvPr/>
        </p:nvSpPr>
        <p:spPr>
          <a:xfrm>
            <a:off x="5190134" y="26609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09.14</a:t>
            </a:r>
          </a:p>
        </p:txBody>
      </p:sp>
      <p:sp>
        <p:nvSpPr>
          <p:cNvPr id="47" name="t"/>
          <p:cNvSpPr txBox="1"/>
          <p:nvPr/>
        </p:nvSpPr>
        <p:spPr>
          <a:xfrm>
            <a:off x="5674766" y="26563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3379622" y="2523744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49" name="keypad"/>
          <p:cNvSpPr/>
          <p:nvPr/>
        </p:nvSpPr>
        <p:spPr>
          <a:xfrm>
            <a:off x="3251606" y="4160520"/>
            <a:ext cx="2678278" cy="2057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3251606" y="5138928"/>
            <a:ext cx="267827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51" name="linebadge"/>
          <p:cNvSpPr/>
          <p:nvPr/>
        </p:nvSpPr>
        <p:spPr>
          <a:xfrm>
            <a:off x="6303874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303874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53" name="t"/>
          <p:cNvSpPr txBox="1"/>
          <p:nvPr/>
        </p:nvSpPr>
        <p:spPr>
          <a:xfrm>
            <a:off x="6770218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54" name="linebadge"/>
          <p:cNvSpPr/>
          <p:nvPr/>
        </p:nvSpPr>
        <p:spPr>
          <a:xfrm>
            <a:off x="6303874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6303874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56" name="t"/>
          <p:cNvSpPr txBox="1"/>
          <p:nvPr/>
        </p:nvSpPr>
        <p:spPr>
          <a:xfrm>
            <a:off x="6770218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57" name="ln"/>
          <p:cNvCxnSpPr/>
          <p:nvPr/>
        </p:nvCxnSpPr>
        <p:spPr>
          <a:xfrm>
            <a:off x="6303874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58" name="linebadge"/>
          <p:cNvSpPr/>
          <p:nvPr/>
        </p:nvSpPr>
        <p:spPr>
          <a:xfrm>
            <a:off x="6303874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6303874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60" name="t"/>
          <p:cNvSpPr txBox="1"/>
          <p:nvPr/>
        </p:nvSpPr>
        <p:spPr>
          <a:xfrm>
            <a:off x="6770218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군자역사거리</a:t>
            </a:r>
          </a:p>
        </p:txBody>
      </p:sp>
      <p:cxnSp>
        <p:nvCxnSpPr>
          <p:cNvPr id="61" name="ln"/>
          <p:cNvCxnSpPr/>
          <p:nvPr/>
        </p:nvCxnSpPr>
        <p:spPr>
          <a:xfrm>
            <a:off x="6303874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5km · 거리순</a:t>
            </a:r>
          </a:p>
        </p:txBody>
      </p:sp>
      <p:sp>
        <p:nvSpPr>
          <p:cNvPr id="6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64" name="t"/>
          <p:cNvSpPr txBox="1"/>
          <p:nvPr/>
        </p:nvSpPr>
        <p:spPr>
          <a:xfrm>
            <a:off x="614842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역</a:t>
            </a:r>
          </a:p>
        </p:txBody>
      </p:sp>
      <p:cxnSp>
        <p:nvCxnSpPr>
          <p:cNvPr id="6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>
            <a:off x="3376611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 flipV="1">
            <a:off x="3376611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>
            <a:off x="6300902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/>
          <p:cNvCxnSpPr/>
          <p:nvPr/>
        </p:nvCxnSpPr>
        <p:spPr>
          <a:xfrm flipH="1" flipV="1">
            <a:off x="6300902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5km · 3곳</a:t>
            </a:r>
          </a:p>
        </p:txBody>
      </p:sp>
      <p:sp>
        <p:nvSpPr>
          <p:cNvPr id="72" name="결과 건수"/>
          <p:cNvSpPr txBox="1"/>
          <p:nvPr/>
        </p:nvSpPr>
        <p:spPr>
          <a:xfrm>
            <a:off x="6294730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73" name="숫자배지 1"/>
          <p:cNvSpPr/>
          <p:nvPr/>
        </p:nvSpPr>
        <p:spPr>
          <a:xfrm>
            <a:off x="2350008" y="11155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숫자배지 2"/>
          <p:cNvSpPr/>
          <p:nvPr/>
        </p:nvSpPr>
        <p:spPr>
          <a:xfrm>
            <a:off x="265176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3"/>
          <p:cNvSpPr/>
          <p:nvPr/>
        </p:nvSpPr>
        <p:spPr>
          <a:xfrm>
            <a:off x="384048" y="23591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6" name="숫자배지 4"/>
          <p:cNvSpPr/>
          <p:nvPr/>
        </p:nvSpPr>
        <p:spPr>
          <a:xfrm>
            <a:off x="5440680" y="18470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7" name="숫자배지 5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8" name="숫자배지 6"/>
          <p:cNvSpPr/>
          <p:nvPr/>
        </p:nvSpPr>
        <p:spPr>
          <a:xfrm>
            <a:off x="850392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9" name="숫자배지 7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(1/4)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479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 · 지도 · 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좌상단 원형 플로팅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선택한 역 1개만 핀으로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/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 없는 지도 영역을 누르면 시트 최소화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—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· 진입 기본값은 최대 · 높이는 콘텐츠 양을 따름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 헤더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1줄 역명 ＋ 노선 배지 — 들어온 노선 1개만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환승역이라고 노선을 전부 나열하지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거리(m 단위 정수) ＋ 환승 노선 원 / 3줄 지번 풀주소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(2/4)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484179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환승 노선 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환승할 수 있는 역일 때만 표출 — 「환승 없음」을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표식 하나가 노선 하나 — 노선 고유색 ＋ 가운데 식별자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① 숫자는 숫자 1자 원 ② 그 외는 첫 글자 1자 원 ③ 겹치면 2글자 타원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약칭은 노선마다 고정 — 역마다 달라지지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내부환승 · 이동 설비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내부환승은 가능한 경우에만 표출 — 불가한 역에는 줄 자체가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이동 설비 4행 · 아이콘 ＋ 항목명 ＋ 상태값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있음 / 없음 / 미조사 3값 — 위치 · 개수 · 경로를 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 기준 시점 함께 표기 — 「조사 기준 YYYY년 M월」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행을 눌러 그 목록으로 보내지 않음 — 표시 전용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인접역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줄 3칸 — 가운데가 선택한 역 · 좌우가 이전 · 다음 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표시 전용 — 눌러도 이동하지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종점이면 한쪽 칸은 빈칸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(3/4)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8105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세그먼티드 — 실시간 / 시간표 기준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2종 · 기본값 「실시간」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바뀌는 것은 남은 시간의 근거뿐 — 목록 구조는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정보 — 가로 2열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열 하나가 방면 하나 · 열 머리에 방면 이름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셀 = 「행선지 ＋ 남은 시간」 한 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「출발역 › 종착역」은 한 방향에 종착이 여럿일 때만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방면이 1개인 역은 1열이 전폭 · 열은 2개를 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세그먼티드 오른쪽 아이콘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두 모드 모두에서 누를 수 있음 — 시간표 모드에서 비활성하지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— 자동 갱신은 따로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(4/4)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29153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[시간표] · 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콘텐츠의 끝 · 가로 2열 — 왼쪽 [시간표] · 오른쪽 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고정에 들어가지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[시간표] → 1-4-2 (들어온 노선 · 방면을 들고 감)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[전화 연결] → 앱 밖 발신 · 번호 없는 역은 비활성 ＋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· 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 줄 — 설비 · 도착 목록과 함께 스크롤되지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「출발」 /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저장 단위는 역 1개 — 노선별로 따로 저장하지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같은 역의 두 행은 ☆ 상태를 공유함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 시간표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요일 · 방면 2열 (1/2)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2629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앱바 · [새로고침]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「{역명} {노선} 시간표」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[새로고침] 앱바 오른쪽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들어온 화면 (1-4-1 · 2-3)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요일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3종 「평일」/「토요일」/「공휴일」 · 기본값은 오늘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방면 — 표의 열 머리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조작 컨트롤이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열 하나가 방면 하나 — 1-4-1 도착 2열과 같은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들고 온 방면 열 하나만 강조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요일 구분과 같은 세그먼티드 형태로 그리지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t"/>
          <p:cNvSpPr txBox="1"/>
          <p:nvPr/>
        </p:nvSpPr>
        <p:spPr>
          <a:xfrm>
            <a:off x="1664208" y="1353312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군자역 5호선 시간표</a:t>
            </a:r>
          </a:p>
        </p:txBody>
      </p:sp>
      <p:sp>
        <p:nvSpPr>
          <p:cNvPr id="16" name="refresh"/>
          <p:cNvSpPr/>
          <p:nvPr/>
        </p:nvSpPr>
        <p:spPr>
          <a:xfrm>
            <a:off x="3685032" y="1325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7" name="t"/>
          <p:cNvSpPr txBox="1"/>
          <p:nvPr/>
        </p:nvSpPr>
        <p:spPr>
          <a:xfrm>
            <a:off x="3666744" y="1376172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day"/>
          <p:cNvSpPr/>
          <p:nvPr/>
        </p:nvSpPr>
        <p:spPr>
          <a:xfrm>
            <a:off x="148132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8132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평일</a:t>
            </a:r>
          </a:p>
        </p:txBody>
      </p:sp>
      <p:sp>
        <p:nvSpPr>
          <p:cNvPr id="21" name="day"/>
          <p:cNvSpPr/>
          <p:nvPr/>
        </p:nvSpPr>
        <p:spPr>
          <a:xfrm>
            <a:off x="230428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230428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토요일</a:t>
            </a:r>
          </a:p>
        </p:txBody>
      </p:sp>
      <p:sp>
        <p:nvSpPr>
          <p:cNvPr id="23" name="day"/>
          <p:cNvSpPr/>
          <p:nvPr/>
        </p:nvSpPr>
        <p:spPr>
          <a:xfrm>
            <a:off x="312724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312724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공휴일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98092" y="13982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98092" y="14439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lhi"/>
          <p:cNvSpPr/>
          <p:nvPr/>
        </p:nvSpPr>
        <p:spPr>
          <a:xfrm>
            <a:off x="1773936" y="2121408"/>
            <a:ext cx="1152144" cy="274320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"/>
          <p:cNvSpPr txBox="1"/>
          <p:nvPr/>
        </p:nvSpPr>
        <p:spPr>
          <a:xfrm>
            <a:off x="1792224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29" name="t"/>
          <p:cNvSpPr txBox="1"/>
          <p:nvPr/>
        </p:nvSpPr>
        <p:spPr>
          <a:xfrm>
            <a:off x="2926080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5B6573"/>
                </a:solidFill>
                <a:latin typeface="Pretendard"/>
                <a:ea typeface="Pretendard"/>
              </a:rPr>
              <a:t>마천 · 하남 방면</a:t>
            </a:r>
          </a:p>
        </p:txBody>
      </p:sp>
      <p:sp>
        <p:nvSpPr>
          <p:cNvPr id="30" name="t"/>
          <p:cNvSpPr txBox="1"/>
          <p:nvPr/>
        </p:nvSpPr>
        <p:spPr>
          <a:xfrm>
            <a:off x="1481328" y="2688336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31" name="t"/>
          <p:cNvSpPr txBox="1"/>
          <p:nvPr/>
        </p:nvSpPr>
        <p:spPr>
          <a:xfrm>
            <a:off x="1792224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05:31</a:t>
            </a:r>
          </a:p>
        </p:txBody>
      </p:sp>
      <p:sp>
        <p:nvSpPr>
          <p:cNvPr id="32" name="t"/>
          <p:cNvSpPr txBox="1"/>
          <p:nvPr/>
        </p:nvSpPr>
        <p:spPr>
          <a:xfrm>
            <a:off x="1792224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33" name="t"/>
          <p:cNvSpPr txBox="1"/>
          <p:nvPr/>
        </p:nvSpPr>
        <p:spPr>
          <a:xfrm>
            <a:off x="1792224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05:48</a:t>
            </a:r>
          </a:p>
        </p:txBody>
      </p:sp>
      <p:sp>
        <p:nvSpPr>
          <p:cNvPr id="34" name="t"/>
          <p:cNvSpPr txBox="1"/>
          <p:nvPr/>
        </p:nvSpPr>
        <p:spPr>
          <a:xfrm>
            <a:off x="1792224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35" name="t"/>
          <p:cNvSpPr txBox="1"/>
          <p:nvPr/>
        </p:nvSpPr>
        <p:spPr>
          <a:xfrm>
            <a:off x="2926080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05:29</a:t>
            </a:r>
          </a:p>
        </p:txBody>
      </p:sp>
      <p:sp>
        <p:nvSpPr>
          <p:cNvPr id="36" name="t"/>
          <p:cNvSpPr txBox="1"/>
          <p:nvPr/>
        </p:nvSpPr>
        <p:spPr>
          <a:xfrm>
            <a:off x="2926080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37" name="t"/>
          <p:cNvSpPr txBox="1"/>
          <p:nvPr/>
        </p:nvSpPr>
        <p:spPr>
          <a:xfrm>
            <a:off x="2926080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05:52</a:t>
            </a:r>
          </a:p>
        </p:txBody>
      </p:sp>
      <p:sp>
        <p:nvSpPr>
          <p:cNvPr id="38" name="t"/>
          <p:cNvSpPr txBox="1"/>
          <p:nvPr/>
        </p:nvSpPr>
        <p:spPr>
          <a:xfrm>
            <a:off x="2926080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39" name="t"/>
          <p:cNvSpPr txBox="1"/>
          <p:nvPr/>
        </p:nvSpPr>
        <p:spPr>
          <a:xfrm>
            <a:off x="1481328" y="347472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40" name="t"/>
          <p:cNvSpPr txBox="1"/>
          <p:nvPr/>
        </p:nvSpPr>
        <p:spPr>
          <a:xfrm>
            <a:off x="1792224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06:02</a:t>
            </a:r>
          </a:p>
        </p:txBody>
      </p:sp>
      <p:sp>
        <p:nvSpPr>
          <p:cNvPr id="41" name="t"/>
          <p:cNvSpPr txBox="1"/>
          <p:nvPr/>
        </p:nvSpPr>
        <p:spPr>
          <a:xfrm>
            <a:off x="1792224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42" name="t"/>
          <p:cNvSpPr txBox="1"/>
          <p:nvPr/>
        </p:nvSpPr>
        <p:spPr>
          <a:xfrm>
            <a:off x="1792224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06:27</a:t>
            </a:r>
          </a:p>
        </p:txBody>
      </p:sp>
      <p:sp>
        <p:nvSpPr>
          <p:cNvPr id="43" name="t"/>
          <p:cNvSpPr txBox="1"/>
          <p:nvPr/>
        </p:nvSpPr>
        <p:spPr>
          <a:xfrm>
            <a:off x="1792224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44" name="t"/>
          <p:cNvSpPr txBox="1"/>
          <p:nvPr/>
        </p:nvSpPr>
        <p:spPr>
          <a:xfrm>
            <a:off x="2926080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06:07</a:t>
            </a:r>
          </a:p>
        </p:txBody>
      </p:sp>
      <p:sp>
        <p:nvSpPr>
          <p:cNvPr id="45" name="t"/>
          <p:cNvSpPr txBox="1"/>
          <p:nvPr/>
        </p:nvSpPr>
        <p:spPr>
          <a:xfrm>
            <a:off x="2926080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46" name="t"/>
          <p:cNvSpPr txBox="1"/>
          <p:nvPr/>
        </p:nvSpPr>
        <p:spPr>
          <a:xfrm>
            <a:off x="2926080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06:31</a:t>
            </a:r>
          </a:p>
        </p:txBody>
      </p:sp>
      <p:sp>
        <p:nvSpPr>
          <p:cNvPr id="47" name="t"/>
          <p:cNvSpPr txBox="1"/>
          <p:nvPr/>
        </p:nvSpPr>
        <p:spPr>
          <a:xfrm>
            <a:off x="2926080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48" name="t"/>
          <p:cNvSpPr txBox="1"/>
          <p:nvPr/>
        </p:nvSpPr>
        <p:spPr>
          <a:xfrm>
            <a:off x="1389888" y="402336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⋮</a:t>
            </a:r>
          </a:p>
        </p:txBody>
      </p:sp>
      <p:sp>
        <p:nvSpPr>
          <p:cNvPr id="49" name="nowrow"/>
          <p:cNvSpPr/>
          <p:nvPr/>
        </p:nvSpPr>
        <p:spPr>
          <a:xfrm>
            <a:off x="1389888" y="4187952"/>
            <a:ext cx="2651760" cy="786384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nowbar"/>
          <p:cNvSpPr/>
          <p:nvPr/>
        </p:nvSpPr>
        <p:spPr>
          <a:xfrm>
            <a:off x="1389888" y="4187952"/>
            <a:ext cx="27432" cy="786384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481328" y="44805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52" name="t"/>
          <p:cNvSpPr txBox="1"/>
          <p:nvPr/>
        </p:nvSpPr>
        <p:spPr>
          <a:xfrm>
            <a:off x="1792224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14:25</a:t>
            </a:r>
          </a:p>
        </p:txBody>
      </p:sp>
      <p:sp>
        <p:nvSpPr>
          <p:cNvPr id="53" name="t"/>
          <p:cNvSpPr txBox="1"/>
          <p:nvPr/>
        </p:nvSpPr>
        <p:spPr>
          <a:xfrm>
            <a:off x="1792224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54" name="t"/>
          <p:cNvSpPr txBox="1"/>
          <p:nvPr/>
        </p:nvSpPr>
        <p:spPr>
          <a:xfrm>
            <a:off x="1792224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14:47</a:t>
            </a:r>
          </a:p>
        </p:txBody>
      </p:sp>
      <p:sp>
        <p:nvSpPr>
          <p:cNvPr id="55" name="t"/>
          <p:cNvSpPr txBox="1"/>
          <p:nvPr/>
        </p:nvSpPr>
        <p:spPr>
          <a:xfrm>
            <a:off x="1792224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56" name="t"/>
          <p:cNvSpPr txBox="1"/>
          <p:nvPr/>
        </p:nvSpPr>
        <p:spPr>
          <a:xfrm>
            <a:off x="2926080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14:21</a:t>
            </a:r>
          </a:p>
        </p:txBody>
      </p:sp>
      <p:sp>
        <p:nvSpPr>
          <p:cNvPr id="57" name="t"/>
          <p:cNvSpPr txBox="1"/>
          <p:nvPr/>
        </p:nvSpPr>
        <p:spPr>
          <a:xfrm>
            <a:off x="2926080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58" name="t"/>
          <p:cNvSpPr txBox="1"/>
          <p:nvPr/>
        </p:nvSpPr>
        <p:spPr>
          <a:xfrm>
            <a:off x="2926080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14:43</a:t>
            </a:r>
          </a:p>
        </p:txBody>
      </p:sp>
      <p:sp>
        <p:nvSpPr>
          <p:cNvPr id="59" name="t"/>
          <p:cNvSpPr txBox="1"/>
          <p:nvPr/>
        </p:nvSpPr>
        <p:spPr>
          <a:xfrm>
            <a:off x="2926080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60" name="t"/>
          <p:cNvSpPr txBox="1"/>
          <p:nvPr/>
        </p:nvSpPr>
        <p:spPr>
          <a:xfrm>
            <a:off x="1481328" y="5266944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61" name="t"/>
          <p:cNvSpPr txBox="1"/>
          <p:nvPr/>
        </p:nvSpPr>
        <p:spPr>
          <a:xfrm>
            <a:off x="1792224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15:04</a:t>
            </a:r>
          </a:p>
        </p:txBody>
      </p:sp>
      <p:sp>
        <p:nvSpPr>
          <p:cNvPr id="62" name="t"/>
          <p:cNvSpPr txBox="1"/>
          <p:nvPr/>
        </p:nvSpPr>
        <p:spPr>
          <a:xfrm>
            <a:off x="1792224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792224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15:26</a:t>
            </a:r>
          </a:p>
        </p:txBody>
      </p:sp>
      <p:sp>
        <p:nvSpPr>
          <p:cNvPr id="64" name="t"/>
          <p:cNvSpPr txBox="1"/>
          <p:nvPr/>
        </p:nvSpPr>
        <p:spPr>
          <a:xfrm>
            <a:off x="1792224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65" name="t"/>
          <p:cNvSpPr txBox="1"/>
          <p:nvPr/>
        </p:nvSpPr>
        <p:spPr>
          <a:xfrm>
            <a:off x="2926080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15:08</a:t>
            </a:r>
          </a:p>
        </p:txBody>
      </p:sp>
      <p:sp>
        <p:nvSpPr>
          <p:cNvPr id="66" name="t"/>
          <p:cNvSpPr txBox="1"/>
          <p:nvPr/>
        </p:nvSpPr>
        <p:spPr>
          <a:xfrm>
            <a:off x="2926080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67" name="t"/>
          <p:cNvSpPr txBox="1"/>
          <p:nvPr/>
        </p:nvSpPr>
        <p:spPr>
          <a:xfrm>
            <a:off x="2926080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15:30</a:t>
            </a:r>
          </a:p>
        </p:txBody>
      </p:sp>
      <p:sp>
        <p:nvSpPr>
          <p:cNvPr id="68" name="t"/>
          <p:cNvSpPr txBox="1"/>
          <p:nvPr/>
        </p:nvSpPr>
        <p:spPr>
          <a:xfrm>
            <a:off x="2926080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cxnSp>
        <p:nvCxnSpPr>
          <p:cNvPr id="69" name="ln"/>
          <p:cNvCxnSpPr/>
          <p:nvPr/>
        </p:nvCxnSpPr>
        <p:spPr>
          <a:xfrm>
            <a:off x="1389888" y="2395728"/>
            <a:ext cx="2651760" cy="0"/>
          </a:xfrm>
          <a:prstGeom prst="line">
            <a:avLst/>
          </a:prstGeom>
          <a:ln w="12700">
            <a:solidFill>
              <a:srgbClr val="D7DDE5"/>
            </a:solidFill>
          </a:ln>
        </p:spPr>
      </p:cxnSp>
      <p:cxnSp>
        <p:nvCxnSpPr>
          <p:cNvPr id="70" name="ln"/>
          <p:cNvCxnSpPr/>
          <p:nvPr/>
        </p:nvCxnSpPr>
        <p:spPr>
          <a:xfrm>
            <a:off x="1389888" y="318211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1" name="ln"/>
          <p:cNvCxnSpPr/>
          <p:nvPr/>
        </p:nvCxnSpPr>
        <p:spPr>
          <a:xfrm>
            <a:off x="1389888" y="396849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2" name="ln"/>
          <p:cNvCxnSpPr/>
          <p:nvPr/>
        </p:nvCxnSpPr>
        <p:spPr>
          <a:xfrm>
            <a:off x="1389888" y="418795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3" name="ln"/>
          <p:cNvCxnSpPr/>
          <p:nvPr/>
        </p:nvCxnSpPr>
        <p:spPr>
          <a:xfrm>
            <a:off x="1389888" y="497433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4" name="ln"/>
          <p:cNvCxnSpPr/>
          <p:nvPr/>
        </p:nvCxnSpPr>
        <p:spPr>
          <a:xfrm>
            <a:off x="1389888" y="5760720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5" name="ln"/>
          <p:cNvCxnSpPr/>
          <p:nvPr/>
        </p:nvCxnSpPr>
        <p:spPr>
          <a:xfrm>
            <a:off x="1773936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6" name="ln"/>
          <p:cNvCxnSpPr/>
          <p:nvPr/>
        </p:nvCxnSpPr>
        <p:spPr>
          <a:xfrm>
            <a:off x="2907792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389888" y="5888736"/>
            <a:ext cx="2651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현재 시각대 강조 — 진입 시 그 행으로 스크롤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15568" y="1335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1115568" y="1755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1115568" y="21396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15568" y="24323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4114800" y="4443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 시간표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요일 · 방면 2열 (2/2)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8105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시(時) 행 · 편성 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맨 왼쪽 열이 시 · 2자리 · 두 방면 열에 공통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셀 2줄 — 1줄 시각 · 2줄 「출발역 › 종착역」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편성이 없는 시간대는 행 자체가 없음 — 빈 행을 만들지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한쪽 방면에만 편성이 있으면 행은 남고 반대쪽 칸이 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편성은 자기 열 안에 세로로 쌓임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하이라이트 — 현재 시간대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시각 기준 「가장 가까운 시간대」 한 곳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매초 따라 움직이지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오늘 · 현재 요일 구분을 보고 있을 때만 강조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그 시간대로 스크롤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테두리 · 아이콘을 함께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막차가 지난 시각이면 강조가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긴 역명은 말줄임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t"/>
          <p:cNvSpPr txBox="1"/>
          <p:nvPr/>
        </p:nvSpPr>
        <p:spPr>
          <a:xfrm>
            <a:off x="1664208" y="1353312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군자역 5호선 시간표</a:t>
            </a:r>
          </a:p>
        </p:txBody>
      </p:sp>
      <p:sp>
        <p:nvSpPr>
          <p:cNvPr id="16" name="refresh"/>
          <p:cNvSpPr/>
          <p:nvPr/>
        </p:nvSpPr>
        <p:spPr>
          <a:xfrm>
            <a:off x="3685032" y="1325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7" name="t"/>
          <p:cNvSpPr txBox="1"/>
          <p:nvPr/>
        </p:nvSpPr>
        <p:spPr>
          <a:xfrm>
            <a:off x="3666744" y="1376172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day"/>
          <p:cNvSpPr/>
          <p:nvPr/>
        </p:nvSpPr>
        <p:spPr>
          <a:xfrm>
            <a:off x="148132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8132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평일</a:t>
            </a:r>
          </a:p>
        </p:txBody>
      </p:sp>
      <p:sp>
        <p:nvSpPr>
          <p:cNvPr id="21" name="day"/>
          <p:cNvSpPr/>
          <p:nvPr/>
        </p:nvSpPr>
        <p:spPr>
          <a:xfrm>
            <a:off x="230428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230428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토요일</a:t>
            </a:r>
          </a:p>
        </p:txBody>
      </p:sp>
      <p:sp>
        <p:nvSpPr>
          <p:cNvPr id="23" name="day"/>
          <p:cNvSpPr/>
          <p:nvPr/>
        </p:nvSpPr>
        <p:spPr>
          <a:xfrm>
            <a:off x="312724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312724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공휴일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98092" y="13982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98092" y="14439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lhi"/>
          <p:cNvSpPr/>
          <p:nvPr/>
        </p:nvSpPr>
        <p:spPr>
          <a:xfrm>
            <a:off x="1773936" y="2121408"/>
            <a:ext cx="1152144" cy="274320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"/>
          <p:cNvSpPr txBox="1"/>
          <p:nvPr/>
        </p:nvSpPr>
        <p:spPr>
          <a:xfrm>
            <a:off x="1792224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29" name="t"/>
          <p:cNvSpPr txBox="1"/>
          <p:nvPr/>
        </p:nvSpPr>
        <p:spPr>
          <a:xfrm>
            <a:off x="2926080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5B6573"/>
                </a:solidFill>
                <a:latin typeface="Pretendard"/>
                <a:ea typeface="Pretendard"/>
              </a:rPr>
              <a:t>마천 · 하남 방면</a:t>
            </a:r>
          </a:p>
        </p:txBody>
      </p:sp>
      <p:sp>
        <p:nvSpPr>
          <p:cNvPr id="30" name="t"/>
          <p:cNvSpPr txBox="1"/>
          <p:nvPr/>
        </p:nvSpPr>
        <p:spPr>
          <a:xfrm>
            <a:off x="1481328" y="2688336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31" name="t"/>
          <p:cNvSpPr txBox="1"/>
          <p:nvPr/>
        </p:nvSpPr>
        <p:spPr>
          <a:xfrm>
            <a:off x="1792224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05:31</a:t>
            </a:r>
          </a:p>
        </p:txBody>
      </p:sp>
      <p:sp>
        <p:nvSpPr>
          <p:cNvPr id="32" name="t"/>
          <p:cNvSpPr txBox="1"/>
          <p:nvPr/>
        </p:nvSpPr>
        <p:spPr>
          <a:xfrm>
            <a:off x="1792224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33" name="t"/>
          <p:cNvSpPr txBox="1"/>
          <p:nvPr/>
        </p:nvSpPr>
        <p:spPr>
          <a:xfrm>
            <a:off x="1792224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05:48</a:t>
            </a:r>
          </a:p>
        </p:txBody>
      </p:sp>
      <p:sp>
        <p:nvSpPr>
          <p:cNvPr id="34" name="t"/>
          <p:cNvSpPr txBox="1"/>
          <p:nvPr/>
        </p:nvSpPr>
        <p:spPr>
          <a:xfrm>
            <a:off x="1792224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35" name="t"/>
          <p:cNvSpPr txBox="1"/>
          <p:nvPr/>
        </p:nvSpPr>
        <p:spPr>
          <a:xfrm>
            <a:off x="2926080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05:29</a:t>
            </a:r>
          </a:p>
        </p:txBody>
      </p:sp>
      <p:sp>
        <p:nvSpPr>
          <p:cNvPr id="36" name="t"/>
          <p:cNvSpPr txBox="1"/>
          <p:nvPr/>
        </p:nvSpPr>
        <p:spPr>
          <a:xfrm>
            <a:off x="2926080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37" name="t"/>
          <p:cNvSpPr txBox="1"/>
          <p:nvPr/>
        </p:nvSpPr>
        <p:spPr>
          <a:xfrm>
            <a:off x="2926080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05:52</a:t>
            </a:r>
          </a:p>
        </p:txBody>
      </p:sp>
      <p:sp>
        <p:nvSpPr>
          <p:cNvPr id="38" name="t"/>
          <p:cNvSpPr txBox="1"/>
          <p:nvPr/>
        </p:nvSpPr>
        <p:spPr>
          <a:xfrm>
            <a:off x="2926080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39" name="t"/>
          <p:cNvSpPr txBox="1"/>
          <p:nvPr/>
        </p:nvSpPr>
        <p:spPr>
          <a:xfrm>
            <a:off x="1481328" y="347472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40" name="t"/>
          <p:cNvSpPr txBox="1"/>
          <p:nvPr/>
        </p:nvSpPr>
        <p:spPr>
          <a:xfrm>
            <a:off x="1792224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06:02</a:t>
            </a:r>
          </a:p>
        </p:txBody>
      </p:sp>
      <p:sp>
        <p:nvSpPr>
          <p:cNvPr id="41" name="t"/>
          <p:cNvSpPr txBox="1"/>
          <p:nvPr/>
        </p:nvSpPr>
        <p:spPr>
          <a:xfrm>
            <a:off x="1792224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42" name="t"/>
          <p:cNvSpPr txBox="1"/>
          <p:nvPr/>
        </p:nvSpPr>
        <p:spPr>
          <a:xfrm>
            <a:off x="1792224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06:27</a:t>
            </a:r>
          </a:p>
        </p:txBody>
      </p:sp>
      <p:sp>
        <p:nvSpPr>
          <p:cNvPr id="43" name="t"/>
          <p:cNvSpPr txBox="1"/>
          <p:nvPr/>
        </p:nvSpPr>
        <p:spPr>
          <a:xfrm>
            <a:off x="1792224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44" name="t"/>
          <p:cNvSpPr txBox="1"/>
          <p:nvPr/>
        </p:nvSpPr>
        <p:spPr>
          <a:xfrm>
            <a:off x="2926080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06:07</a:t>
            </a:r>
          </a:p>
        </p:txBody>
      </p:sp>
      <p:sp>
        <p:nvSpPr>
          <p:cNvPr id="45" name="t"/>
          <p:cNvSpPr txBox="1"/>
          <p:nvPr/>
        </p:nvSpPr>
        <p:spPr>
          <a:xfrm>
            <a:off x="2926080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46" name="t"/>
          <p:cNvSpPr txBox="1"/>
          <p:nvPr/>
        </p:nvSpPr>
        <p:spPr>
          <a:xfrm>
            <a:off x="2926080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06:31</a:t>
            </a:r>
          </a:p>
        </p:txBody>
      </p:sp>
      <p:sp>
        <p:nvSpPr>
          <p:cNvPr id="47" name="t"/>
          <p:cNvSpPr txBox="1"/>
          <p:nvPr/>
        </p:nvSpPr>
        <p:spPr>
          <a:xfrm>
            <a:off x="2926080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48" name="t"/>
          <p:cNvSpPr txBox="1"/>
          <p:nvPr/>
        </p:nvSpPr>
        <p:spPr>
          <a:xfrm>
            <a:off x="1389888" y="402336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⋮</a:t>
            </a:r>
          </a:p>
        </p:txBody>
      </p:sp>
      <p:sp>
        <p:nvSpPr>
          <p:cNvPr id="49" name="nowrow"/>
          <p:cNvSpPr/>
          <p:nvPr/>
        </p:nvSpPr>
        <p:spPr>
          <a:xfrm>
            <a:off x="1389888" y="4187952"/>
            <a:ext cx="2651760" cy="786384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nowbar"/>
          <p:cNvSpPr/>
          <p:nvPr/>
        </p:nvSpPr>
        <p:spPr>
          <a:xfrm>
            <a:off x="1389888" y="4187952"/>
            <a:ext cx="27432" cy="786384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481328" y="44805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52" name="t"/>
          <p:cNvSpPr txBox="1"/>
          <p:nvPr/>
        </p:nvSpPr>
        <p:spPr>
          <a:xfrm>
            <a:off x="1792224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14:25</a:t>
            </a:r>
          </a:p>
        </p:txBody>
      </p:sp>
      <p:sp>
        <p:nvSpPr>
          <p:cNvPr id="53" name="t"/>
          <p:cNvSpPr txBox="1"/>
          <p:nvPr/>
        </p:nvSpPr>
        <p:spPr>
          <a:xfrm>
            <a:off x="1792224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54" name="t"/>
          <p:cNvSpPr txBox="1"/>
          <p:nvPr/>
        </p:nvSpPr>
        <p:spPr>
          <a:xfrm>
            <a:off x="1792224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14:47</a:t>
            </a:r>
          </a:p>
        </p:txBody>
      </p:sp>
      <p:sp>
        <p:nvSpPr>
          <p:cNvPr id="55" name="t"/>
          <p:cNvSpPr txBox="1"/>
          <p:nvPr/>
        </p:nvSpPr>
        <p:spPr>
          <a:xfrm>
            <a:off x="1792224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56" name="t"/>
          <p:cNvSpPr txBox="1"/>
          <p:nvPr/>
        </p:nvSpPr>
        <p:spPr>
          <a:xfrm>
            <a:off x="2926080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14:21</a:t>
            </a:r>
          </a:p>
        </p:txBody>
      </p:sp>
      <p:sp>
        <p:nvSpPr>
          <p:cNvPr id="57" name="t"/>
          <p:cNvSpPr txBox="1"/>
          <p:nvPr/>
        </p:nvSpPr>
        <p:spPr>
          <a:xfrm>
            <a:off x="2926080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58" name="t"/>
          <p:cNvSpPr txBox="1"/>
          <p:nvPr/>
        </p:nvSpPr>
        <p:spPr>
          <a:xfrm>
            <a:off x="2926080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14:43</a:t>
            </a:r>
          </a:p>
        </p:txBody>
      </p:sp>
      <p:sp>
        <p:nvSpPr>
          <p:cNvPr id="59" name="t"/>
          <p:cNvSpPr txBox="1"/>
          <p:nvPr/>
        </p:nvSpPr>
        <p:spPr>
          <a:xfrm>
            <a:off x="2926080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60" name="t"/>
          <p:cNvSpPr txBox="1"/>
          <p:nvPr/>
        </p:nvSpPr>
        <p:spPr>
          <a:xfrm>
            <a:off x="1481328" y="5266944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61" name="t"/>
          <p:cNvSpPr txBox="1"/>
          <p:nvPr/>
        </p:nvSpPr>
        <p:spPr>
          <a:xfrm>
            <a:off x="1792224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15:04</a:t>
            </a:r>
          </a:p>
        </p:txBody>
      </p:sp>
      <p:sp>
        <p:nvSpPr>
          <p:cNvPr id="62" name="t"/>
          <p:cNvSpPr txBox="1"/>
          <p:nvPr/>
        </p:nvSpPr>
        <p:spPr>
          <a:xfrm>
            <a:off x="1792224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792224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15:26</a:t>
            </a:r>
          </a:p>
        </p:txBody>
      </p:sp>
      <p:sp>
        <p:nvSpPr>
          <p:cNvPr id="64" name="t"/>
          <p:cNvSpPr txBox="1"/>
          <p:nvPr/>
        </p:nvSpPr>
        <p:spPr>
          <a:xfrm>
            <a:off x="1792224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65" name="t"/>
          <p:cNvSpPr txBox="1"/>
          <p:nvPr/>
        </p:nvSpPr>
        <p:spPr>
          <a:xfrm>
            <a:off x="2926080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15:08</a:t>
            </a:r>
          </a:p>
        </p:txBody>
      </p:sp>
      <p:sp>
        <p:nvSpPr>
          <p:cNvPr id="66" name="t"/>
          <p:cNvSpPr txBox="1"/>
          <p:nvPr/>
        </p:nvSpPr>
        <p:spPr>
          <a:xfrm>
            <a:off x="2926080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67" name="t"/>
          <p:cNvSpPr txBox="1"/>
          <p:nvPr/>
        </p:nvSpPr>
        <p:spPr>
          <a:xfrm>
            <a:off x="2926080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15:30</a:t>
            </a:r>
          </a:p>
        </p:txBody>
      </p:sp>
      <p:sp>
        <p:nvSpPr>
          <p:cNvPr id="68" name="t"/>
          <p:cNvSpPr txBox="1"/>
          <p:nvPr/>
        </p:nvSpPr>
        <p:spPr>
          <a:xfrm>
            <a:off x="2926080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cxnSp>
        <p:nvCxnSpPr>
          <p:cNvPr id="69" name="ln"/>
          <p:cNvCxnSpPr/>
          <p:nvPr/>
        </p:nvCxnSpPr>
        <p:spPr>
          <a:xfrm>
            <a:off x="1389888" y="2395728"/>
            <a:ext cx="2651760" cy="0"/>
          </a:xfrm>
          <a:prstGeom prst="line">
            <a:avLst/>
          </a:prstGeom>
          <a:ln w="12700">
            <a:solidFill>
              <a:srgbClr val="D7DDE5"/>
            </a:solidFill>
          </a:ln>
        </p:spPr>
      </p:cxnSp>
      <p:cxnSp>
        <p:nvCxnSpPr>
          <p:cNvPr id="70" name="ln"/>
          <p:cNvCxnSpPr/>
          <p:nvPr/>
        </p:nvCxnSpPr>
        <p:spPr>
          <a:xfrm>
            <a:off x="1389888" y="318211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1" name="ln"/>
          <p:cNvCxnSpPr/>
          <p:nvPr/>
        </p:nvCxnSpPr>
        <p:spPr>
          <a:xfrm>
            <a:off x="1389888" y="396849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2" name="ln"/>
          <p:cNvCxnSpPr/>
          <p:nvPr/>
        </p:nvCxnSpPr>
        <p:spPr>
          <a:xfrm>
            <a:off x="1389888" y="418795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3" name="ln"/>
          <p:cNvCxnSpPr/>
          <p:nvPr/>
        </p:nvCxnSpPr>
        <p:spPr>
          <a:xfrm>
            <a:off x="1389888" y="497433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4" name="ln"/>
          <p:cNvCxnSpPr/>
          <p:nvPr/>
        </p:nvCxnSpPr>
        <p:spPr>
          <a:xfrm>
            <a:off x="1389888" y="5760720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5" name="ln"/>
          <p:cNvCxnSpPr/>
          <p:nvPr/>
        </p:nvCxnSpPr>
        <p:spPr>
          <a:xfrm>
            <a:off x="1773936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6" name="ln"/>
          <p:cNvCxnSpPr/>
          <p:nvPr/>
        </p:nvCxnSpPr>
        <p:spPr>
          <a:xfrm>
            <a:off x="2907792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389888" y="5888736"/>
            <a:ext cx="2651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현재 시각대 강조 — 진입 시 그 행으로 스크롤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15568" y="1335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1115568" y="1755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1115568" y="21396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15568" y="24323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4114800" y="4443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83338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87313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장애인 콜택시 (카드)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장애인 복지콜 (카드)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서울엄마아빠택시 타다 예약 (카드)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서울엄마아빠택시 파파 예약 (카드)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밖 이탈 — 발신 · 브라우저 · 스토어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438400" y="3483864"/>
            <a:ext cx="54864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132496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29192" y="1447800"/>
          <a:ext cx="2972409" cy="402376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탑바 · 서비스 카드 4개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제목 「택시 호출」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카드 4개 세로 나열 · 순서 고정 — ① 콜택시 ② 복지콜 ③④ 엄마아빠택시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[홈페이지] · [앱 다운로드] · [바우처 신청]은 라벨 옆 ↗ 아이콘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자격 고지 — 4카드 공통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서비스명 바로 아래 · 대표번호보다 위 · 4카드가 같은 자리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운영기관 공식 표기 그대로 사용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번호는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카드당 1개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[전화 연결] — 콜택시 · 복지콜 2종만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「전화 걸기」가 아니라 「전화 연결」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OS 기본 발신 확인 팝업이 바로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통화 종료 시 직전 화면 그대로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/>
          <p:cNvSpPr/>
          <p:nvPr/>
        </p:nvSpPr>
        <p:spPr>
          <a:xfrm>
            <a:off x="4607662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1324966" y="1335024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택시 호출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t"/>
          <p:cNvSpPr txBox="1"/>
          <p:nvPr/>
        </p:nvSpPr>
        <p:spPr>
          <a:xfrm>
            <a:off x="1480414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콜택시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80414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중증보행장애인(중증장애인이면서 보행상장애가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있는 장애인)·국가유공자 등 한정 서비스입니다.</a:t>
            </a:r>
          </a:p>
        </p:txBody>
      </p:sp>
      <p:sp>
        <p:nvSpPr>
          <p:cNvPr id="19" name="t"/>
          <p:cNvSpPr txBox="1"/>
          <p:nvPr/>
        </p:nvSpPr>
        <p:spPr>
          <a:xfrm>
            <a:off x="1480414" y="22951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0" name="t"/>
          <p:cNvSpPr txBox="1"/>
          <p:nvPr/>
        </p:nvSpPr>
        <p:spPr>
          <a:xfrm>
            <a:off x="2577694" y="229514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1588-4388</a:t>
            </a:r>
          </a:p>
        </p:txBody>
      </p:sp>
      <p:sp>
        <p:nvSpPr>
          <p:cNvPr id="21" name="act"/>
          <p:cNvSpPr/>
          <p:nvPr/>
        </p:nvSpPr>
        <p:spPr>
          <a:xfrm>
            <a:off x="14804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14804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23" name="act"/>
          <p:cNvSpPr/>
          <p:nvPr/>
        </p:nvSpPr>
        <p:spPr>
          <a:xfrm>
            <a:off x="27377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27377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416406" y="2880360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80414" y="302666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복지콜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80414" y="320954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시각 또는 신장장애인 한정 서비스입니다.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80414" y="339242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9" name="t"/>
          <p:cNvSpPr txBox="1"/>
          <p:nvPr/>
        </p:nvSpPr>
        <p:spPr>
          <a:xfrm>
            <a:off x="2577694" y="339242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1600-4477</a:t>
            </a:r>
          </a:p>
        </p:txBody>
      </p:sp>
      <p:sp>
        <p:nvSpPr>
          <p:cNvPr id="30" name="act"/>
          <p:cNvSpPr/>
          <p:nvPr/>
        </p:nvSpPr>
        <p:spPr>
          <a:xfrm>
            <a:off x="14804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4804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32" name="act"/>
          <p:cNvSpPr/>
          <p:nvPr/>
        </p:nvSpPr>
        <p:spPr>
          <a:xfrm>
            <a:off x="27377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27377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sp>
        <p:nvSpPr>
          <p:cNvPr id="34" name="t"/>
          <p:cNvSpPr txBox="1"/>
          <p:nvPr/>
        </p:nvSpPr>
        <p:spPr>
          <a:xfrm>
            <a:off x="4607662" y="1335024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스크롤 하단 — 카드 ③ ④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616806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t"/>
          <p:cNvSpPr txBox="1"/>
          <p:nvPr/>
        </p:nvSpPr>
        <p:spPr>
          <a:xfrm>
            <a:off x="4763110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타다 예약</a:t>
            </a:r>
          </a:p>
        </p:txBody>
      </p:sp>
      <p:sp>
        <p:nvSpPr>
          <p:cNvPr id="37" name="t"/>
          <p:cNvSpPr txBox="1"/>
          <p:nvPr/>
        </p:nvSpPr>
        <p:spPr>
          <a:xfrm>
            <a:off x="4763110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38" name="t"/>
          <p:cNvSpPr txBox="1"/>
          <p:nvPr/>
        </p:nvSpPr>
        <p:spPr>
          <a:xfrm>
            <a:off x="4763110" y="2295144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· 앱 내 문의만 제공</a:t>
            </a:r>
          </a:p>
        </p:txBody>
      </p:sp>
      <p:sp>
        <p:nvSpPr>
          <p:cNvPr id="39" name="act"/>
          <p:cNvSpPr/>
          <p:nvPr/>
        </p:nvSpPr>
        <p:spPr>
          <a:xfrm>
            <a:off x="47631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0" name="t"/>
          <p:cNvSpPr txBox="1"/>
          <p:nvPr/>
        </p:nvSpPr>
        <p:spPr>
          <a:xfrm>
            <a:off x="47631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 ↗</a:t>
            </a:r>
          </a:p>
        </p:txBody>
      </p:sp>
      <p:sp>
        <p:nvSpPr>
          <p:cNvPr id="41" name="act"/>
          <p:cNvSpPr/>
          <p:nvPr/>
        </p:nvSpPr>
        <p:spPr>
          <a:xfrm>
            <a:off x="60204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60204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sp>
        <p:nvSpPr>
          <p:cNvPr id="43" name="voucher"/>
          <p:cNvSpPr/>
          <p:nvPr/>
        </p:nvSpPr>
        <p:spPr>
          <a:xfrm>
            <a:off x="4763110" y="2825496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763110" y="2884932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 ↗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4699102" y="3191256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6" name="t"/>
          <p:cNvSpPr txBox="1"/>
          <p:nvPr/>
        </p:nvSpPr>
        <p:spPr>
          <a:xfrm>
            <a:off x="4763110" y="3337560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파파 예약</a:t>
            </a:r>
          </a:p>
        </p:txBody>
      </p:sp>
      <p:sp>
        <p:nvSpPr>
          <p:cNvPr id="47" name="t"/>
          <p:cNvSpPr txBox="1"/>
          <p:nvPr/>
        </p:nvSpPr>
        <p:spPr>
          <a:xfrm>
            <a:off x="4763110" y="3520440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48" name="t"/>
          <p:cNvSpPr txBox="1"/>
          <p:nvPr/>
        </p:nvSpPr>
        <p:spPr>
          <a:xfrm>
            <a:off x="4763110" y="3840480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· 앱 내 문의만 제공</a:t>
            </a:r>
          </a:p>
        </p:txBody>
      </p:sp>
      <p:sp>
        <p:nvSpPr>
          <p:cNvPr id="49" name="act"/>
          <p:cNvSpPr/>
          <p:nvPr/>
        </p:nvSpPr>
        <p:spPr>
          <a:xfrm>
            <a:off x="47631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47631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 ↗</a:t>
            </a:r>
          </a:p>
        </p:txBody>
      </p:sp>
      <p:sp>
        <p:nvSpPr>
          <p:cNvPr id="51" name="act"/>
          <p:cNvSpPr/>
          <p:nvPr/>
        </p:nvSpPr>
        <p:spPr>
          <a:xfrm>
            <a:off x="60204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0204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sp>
        <p:nvSpPr>
          <p:cNvPr id="53" name="voucher"/>
          <p:cNvSpPr/>
          <p:nvPr/>
        </p:nvSpPr>
        <p:spPr>
          <a:xfrm>
            <a:off x="4763110" y="4370832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4763110" y="4430268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 ↗</a:t>
            </a:r>
          </a:p>
        </p:txBody>
      </p:sp>
      <p:sp>
        <p:nvSpPr>
          <p:cNvPr id="55" name="t"/>
          <p:cNvSpPr txBox="1"/>
          <p:nvPr/>
        </p:nvSpPr>
        <p:spPr>
          <a:xfrm>
            <a:off x="132496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카드 ① ②</a:t>
            </a:r>
          </a:p>
        </p:txBody>
      </p:sp>
      <p:sp>
        <p:nvSpPr>
          <p:cNvPr id="56" name="부제"/>
          <p:cNvSpPr txBox="1"/>
          <p:nvPr/>
        </p:nvSpPr>
        <p:spPr>
          <a:xfrm>
            <a:off x="1865376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서비스 카드 4종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cxnSp>
        <p:nvCxnSpPr>
          <p:cNvPr id="57" name="뒤로가기"/>
          <p:cNvCxnSpPr/>
          <p:nvPr/>
        </p:nvCxnSpPr>
        <p:spPr>
          <a:xfrm flipH="1">
            <a:off x="1497178" y="1379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1497178" y="142570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숫자배지 1"/>
          <p:cNvSpPr/>
          <p:nvPr/>
        </p:nvSpPr>
        <p:spPr>
          <a:xfrm>
            <a:off x="111556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111556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2496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440740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4407408" y="280720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132496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29192" y="1447800"/>
          <a:ext cx="2972409" cy="214548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엄마아빠택시 2종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대표번호 자리에 「전화 상담 없음 · 앱 내 문의만 제공」 한 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[앱 다운로드]는 스토어 앱의 상세 페이지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[바우처 신청 (몽땅정보만능키)]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엄마아빠택시 2종에만 표출 · 액션 2버튼 아래 단에 전폭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괄호까지가 라벨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타다 · 파파가 같은 곳으로 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/>
          <p:cNvSpPr/>
          <p:nvPr/>
        </p:nvSpPr>
        <p:spPr>
          <a:xfrm>
            <a:off x="4607662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1324966" y="1335024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택시 호출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t"/>
          <p:cNvSpPr txBox="1"/>
          <p:nvPr/>
        </p:nvSpPr>
        <p:spPr>
          <a:xfrm>
            <a:off x="1480414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콜택시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80414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중증보행장애인(중증장애인이면서 보행상장애가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있는 장애인)·국가유공자 등 한정 서비스입니다.</a:t>
            </a:r>
          </a:p>
        </p:txBody>
      </p:sp>
      <p:sp>
        <p:nvSpPr>
          <p:cNvPr id="19" name="t"/>
          <p:cNvSpPr txBox="1"/>
          <p:nvPr/>
        </p:nvSpPr>
        <p:spPr>
          <a:xfrm>
            <a:off x="1480414" y="22951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0" name="t"/>
          <p:cNvSpPr txBox="1"/>
          <p:nvPr/>
        </p:nvSpPr>
        <p:spPr>
          <a:xfrm>
            <a:off x="2577694" y="229514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1588-4388</a:t>
            </a:r>
          </a:p>
        </p:txBody>
      </p:sp>
      <p:sp>
        <p:nvSpPr>
          <p:cNvPr id="21" name="act"/>
          <p:cNvSpPr/>
          <p:nvPr/>
        </p:nvSpPr>
        <p:spPr>
          <a:xfrm>
            <a:off x="14804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14804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23" name="act"/>
          <p:cNvSpPr/>
          <p:nvPr/>
        </p:nvSpPr>
        <p:spPr>
          <a:xfrm>
            <a:off x="27377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27377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416406" y="2880360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80414" y="302666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복지콜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80414" y="320954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시각 또는 신장장애인 한정 서비스입니다.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80414" y="339242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9" name="t"/>
          <p:cNvSpPr txBox="1"/>
          <p:nvPr/>
        </p:nvSpPr>
        <p:spPr>
          <a:xfrm>
            <a:off x="2577694" y="339242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1600-4477</a:t>
            </a:r>
          </a:p>
        </p:txBody>
      </p:sp>
      <p:sp>
        <p:nvSpPr>
          <p:cNvPr id="30" name="act"/>
          <p:cNvSpPr/>
          <p:nvPr/>
        </p:nvSpPr>
        <p:spPr>
          <a:xfrm>
            <a:off x="14804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4804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32" name="act"/>
          <p:cNvSpPr/>
          <p:nvPr/>
        </p:nvSpPr>
        <p:spPr>
          <a:xfrm>
            <a:off x="27377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27377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sp>
        <p:nvSpPr>
          <p:cNvPr id="34" name="t"/>
          <p:cNvSpPr txBox="1"/>
          <p:nvPr/>
        </p:nvSpPr>
        <p:spPr>
          <a:xfrm>
            <a:off x="4607662" y="1335024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스크롤 하단 — 카드 ③ ④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616806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t"/>
          <p:cNvSpPr txBox="1"/>
          <p:nvPr/>
        </p:nvSpPr>
        <p:spPr>
          <a:xfrm>
            <a:off x="4763110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타다 예약</a:t>
            </a:r>
          </a:p>
        </p:txBody>
      </p:sp>
      <p:sp>
        <p:nvSpPr>
          <p:cNvPr id="37" name="t"/>
          <p:cNvSpPr txBox="1"/>
          <p:nvPr/>
        </p:nvSpPr>
        <p:spPr>
          <a:xfrm>
            <a:off x="4763110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38" name="t"/>
          <p:cNvSpPr txBox="1"/>
          <p:nvPr/>
        </p:nvSpPr>
        <p:spPr>
          <a:xfrm>
            <a:off x="4763110" y="2295144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· 앱 내 문의만 제공</a:t>
            </a:r>
          </a:p>
        </p:txBody>
      </p:sp>
      <p:sp>
        <p:nvSpPr>
          <p:cNvPr id="39" name="act"/>
          <p:cNvSpPr/>
          <p:nvPr/>
        </p:nvSpPr>
        <p:spPr>
          <a:xfrm>
            <a:off x="47631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0" name="t"/>
          <p:cNvSpPr txBox="1"/>
          <p:nvPr/>
        </p:nvSpPr>
        <p:spPr>
          <a:xfrm>
            <a:off x="47631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 ↗</a:t>
            </a:r>
          </a:p>
        </p:txBody>
      </p:sp>
      <p:sp>
        <p:nvSpPr>
          <p:cNvPr id="41" name="act"/>
          <p:cNvSpPr/>
          <p:nvPr/>
        </p:nvSpPr>
        <p:spPr>
          <a:xfrm>
            <a:off x="60204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60204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sp>
        <p:nvSpPr>
          <p:cNvPr id="43" name="voucher"/>
          <p:cNvSpPr/>
          <p:nvPr/>
        </p:nvSpPr>
        <p:spPr>
          <a:xfrm>
            <a:off x="4763110" y="2825496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763110" y="2884932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 ↗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4699102" y="3191256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6" name="t"/>
          <p:cNvSpPr txBox="1"/>
          <p:nvPr/>
        </p:nvSpPr>
        <p:spPr>
          <a:xfrm>
            <a:off x="4763110" y="3337560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파파 예약</a:t>
            </a:r>
          </a:p>
        </p:txBody>
      </p:sp>
      <p:sp>
        <p:nvSpPr>
          <p:cNvPr id="47" name="t"/>
          <p:cNvSpPr txBox="1"/>
          <p:nvPr/>
        </p:nvSpPr>
        <p:spPr>
          <a:xfrm>
            <a:off x="4763110" y="3520440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48" name="t"/>
          <p:cNvSpPr txBox="1"/>
          <p:nvPr/>
        </p:nvSpPr>
        <p:spPr>
          <a:xfrm>
            <a:off x="4763110" y="3840480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· 앱 내 문의만 제공</a:t>
            </a:r>
          </a:p>
        </p:txBody>
      </p:sp>
      <p:sp>
        <p:nvSpPr>
          <p:cNvPr id="49" name="act"/>
          <p:cNvSpPr/>
          <p:nvPr/>
        </p:nvSpPr>
        <p:spPr>
          <a:xfrm>
            <a:off x="47631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47631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 ↗</a:t>
            </a:r>
          </a:p>
        </p:txBody>
      </p:sp>
      <p:sp>
        <p:nvSpPr>
          <p:cNvPr id="51" name="act"/>
          <p:cNvSpPr/>
          <p:nvPr/>
        </p:nvSpPr>
        <p:spPr>
          <a:xfrm>
            <a:off x="60204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0204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 ↗</a:t>
            </a:r>
          </a:p>
        </p:txBody>
      </p:sp>
      <p:sp>
        <p:nvSpPr>
          <p:cNvPr id="53" name="voucher"/>
          <p:cNvSpPr/>
          <p:nvPr/>
        </p:nvSpPr>
        <p:spPr>
          <a:xfrm>
            <a:off x="4763110" y="4370832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4763110" y="4430268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 ↗</a:t>
            </a:r>
          </a:p>
        </p:txBody>
      </p:sp>
      <p:sp>
        <p:nvSpPr>
          <p:cNvPr id="55" name="t"/>
          <p:cNvSpPr txBox="1"/>
          <p:nvPr/>
        </p:nvSpPr>
        <p:spPr>
          <a:xfrm>
            <a:off x="132496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카드 ① ②</a:t>
            </a:r>
          </a:p>
        </p:txBody>
      </p:sp>
      <p:sp>
        <p:nvSpPr>
          <p:cNvPr id="56" name="부제"/>
          <p:cNvSpPr txBox="1"/>
          <p:nvPr/>
        </p:nvSpPr>
        <p:spPr>
          <a:xfrm>
            <a:off x="1865376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서비스 카드 4종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cxnSp>
        <p:nvCxnSpPr>
          <p:cNvPr id="57" name="뒤로가기"/>
          <p:cNvCxnSpPr/>
          <p:nvPr/>
        </p:nvCxnSpPr>
        <p:spPr>
          <a:xfrm flipH="1">
            <a:off x="1497178" y="1379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1497178" y="142570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숫자배지 1"/>
          <p:cNvSpPr/>
          <p:nvPr/>
        </p:nvSpPr>
        <p:spPr>
          <a:xfrm>
            <a:off x="111556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111556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2496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440740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4407408" y="280720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흐름 신고 상세"/>
          <p:cNvSpPr/>
          <p:nvPr/>
        </p:nvSpPr>
        <p:spPr>
          <a:xfrm>
            <a:off x="8725205" y="5349240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8829446" y="5349240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수정 모드 → 저장하기</a:t>
            </a:r>
          </a:p>
        </p:txBody>
      </p:sp>
      <p:cxnSp>
        <p:nvCxnSpPr>
          <p:cNvPr id="31" name="연결선"/>
          <p:cNvCxnSpPr>
            <a:stCxn id="15" idx="3"/>
            <a:endCxn id="17" idx="1"/>
          </p:cNvCxnSpPr>
          <p:nvPr/>
        </p:nvCxnSpPr>
        <p:spPr>
          <a:xfrm>
            <a:off x="9593885" y="4946904"/>
            <a:ext cx="0" cy="40233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로그인 팝업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434929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4531385" y="19764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4531385" y="24228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630936" y="2971800"/>
            <a:ext cx="1892808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불편신고는 로그인 후 이용 가능합니다.</a:t>
            </a:r>
          </a:p>
        </p:txBody>
      </p:sp>
      <p:pic>
        <p:nvPicPr>
          <p:cNvPr id="14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5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16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17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435881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476839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9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450169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450169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3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269311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탑바 · 1열 2행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제목 「불편신고」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1열 2행 — 「불편신고」 / 「나의 불편신고 내역」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1-6-1 등록 · 1-6-2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로그인 팝업 — 비회원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「불편신고는 로그인 후 이용 가능합니다.」 · [닫기] / [로그인]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뒷 배경 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[닫기] → 팝업 닫힘 · [로그인] → 0-1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「나의 불편신고 내역」도 차단 — 「신고 내역은 로그인 후 이용 가능합니다」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6" name="t"/>
          <p:cNvSpPr txBox="1"/>
          <p:nvPr/>
        </p:nvSpPr>
        <p:spPr>
          <a:xfrm>
            <a:off x="457200" y="1024128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비회원 진입 — 로그인 팝업</a:t>
            </a:r>
          </a:p>
        </p:txBody>
      </p:sp>
      <p:sp>
        <p:nvSpPr>
          <p:cNvPr id="27" name="t"/>
          <p:cNvSpPr txBox="1"/>
          <p:nvPr/>
        </p:nvSpPr>
        <p:spPr>
          <a:xfrm>
            <a:off x="434888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회원 — 1열 2행 리스트</a:t>
            </a:r>
          </a:p>
        </p:txBody>
      </p:sp>
      <p:sp>
        <p:nvSpPr>
          <p:cNvPr id="28" name="숫자배지 1"/>
          <p:cNvSpPr/>
          <p:nvPr/>
        </p:nvSpPr>
        <p:spPr>
          <a:xfrm>
            <a:off x="4261104" y="2011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숫자배지 2"/>
          <p:cNvSpPr/>
          <p:nvPr/>
        </p:nvSpPr>
        <p:spPr>
          <a:xfrm>
            <a:off x="457200" y="28803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1-6-1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 등록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등록 폼 · 지도 지정 상태 (1/3)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1325313" y="119078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map"/>
          <p:cNvSpPr/>
          <p:nvPr/>
        </p:nvSpPr>
        <p:spPr>
          <a:xfrm>
            <a:off x="1526134" y="2103120"/>
            <a:ext cx="2073859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1526134" y="4370832"/>
            <a:ext cx="2073859" cy="420624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 주세요. (예시: 보도폭이 좁아 휠체어 이용이 어렵습니다.)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1559052" y="5468112"/>
            <a:ext cx="2073859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1386509" y="164798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1796084" y="130508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1529384" y="137214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1529384" y="141938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40269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사용자 안내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폼 최상단 · 상시 표출 텍스트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「…신고하여」까지 볼드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위치 지정 — 지도 ＋ 주소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문구 아래 폼 최상단 · 두 방식 모두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ⓐ GPS 현재 위치 자동 측정 — 측정 중 「위치를 확인하는 중입니다.」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ⓑ 폼의 지도를 누르면 「지도 지정 상태」로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「지번 풀주소 (도로명 하위주소)」 한 줄 형식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지정 상태 — 제목 「위치 선택」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중앙 고정 핀 — 지도가 움직이고 핀은 고정 · 핀 아래 좌표가 신고 지점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세로 스택 — 「내 위치」 하단 고정 앵커 · 정북 복원은 조건부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 위치로 지정] → 폼 복귀 · 확정 / 뒤로가기 → 종전 위치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1526134" y="4992624"/>
            <a:ext cx="2073859" cy="292608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1526134" y="2395728"/>
            <a:ext cx="2073859" cy="164592"/>
          </a:xfrm>
          <a:prstGeom prst="roundRect">
            <a:avLst>
              <a:gd name="adj" fmla="val 20097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1526134" y="2889504"/>
            <a:ext cx="20738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(영등포구 당산로41길 12)</a:t>
            </a:r>
          </a:p>
        </p:txBody>
      </p: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안내 문구 배너 (등록)"/>
          <p:cNvSpPr/>
          <p:nvPr/>
        </p:nvSpPr>
        <p:spPr>
          <a:xfrm>
            <a:off x="1525866" y="172877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25" name="입력 라벨 상세 내용 입력"/>
          <p:cNvSpPr/>
          <p:nvPr/>
        </p:nvSpPr>
        <p:spPr>
          <a:xfrm>
            <a:off x="1526134" y="4059936"/>
            <a:ext cx="2073859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26" name="입력 라벨 신고 사항"/>
          <p:cNvSpPr/>
          <p:nvPr/>
        </p:nvSpPr>
        <p:spPr>
          <a:xfrm>
            <a:off x="1523996" y="32186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신고 유형</a:t>
            </a:r>
          </a:p>
        </p:txBody>
      </p:sp>
      <p:sp>
        <p:nvSpPr>
          <p:cNvPr id="27" name="입력 라벨 사진 첨부"/>
          <p:cNvSpPr/>
          <p:nvPr/>
        </p:nvSpPr>
        <p:spPr>
          <a:xfrm>
            <a:off x="1527048" y="48188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사진 첨부 (선택)</a:t>
            </a:r>
          </a:p>
        </p:txBody>
      </p:sp>
      <p:sp>
        <p:nvSpPr>
          <p:cNvPr id="28" name="라디오"/>
          <p:cNvSpPr/>
          <p:nvPr/>
        </p:nvSpPr>
        <p:spPr>
          <a:xfrm>
            <a:off x="1542284" y="3434738"/>
            <a:ext cx="128016" cy="128016"/>
          </a:xfrm>
          <a:prstGeom prst="roundRect">
            <a:avLst>
              <a:gd name="adj" fmla="val 692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 라벨"/>
          <p:cNvSpPr/>
          <p:nvPr/>
        </p:nvSpPr>
        <p:spPr>
          <a:xfrm>
            <a:off x="1725164" y="341645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단차 (높이 2cm 이상)</a:t>
            </a:r>
          </a:p>
        </p:txBody>
      </p:sp>
      <p:sp>
        <p:nvSpPr>
          <p:cNvPr id="30" name="라디오"/>
          <p:cNvSpPr/>
          <p:nvPr/>
        </p:nvSpPr>
        <p:spPr>
          <a:xfrm>
            <a:off x="1542284" y="3654193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라디오 라벨"/>
          <p:cNvSpPr/>
          <p:nvPr/>
        </p:nvSpPr>
        <p:spPr>
          <a:xfrm>
            <a:off x="1725164" y="363590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경사 (경사도 1/8 이상)</a:t>
            </a:r>
          </a:p>
        </p:txBody>
      </p:sp>
      <p:sp>
        <p:nvSpPr>
          <p:cNvPr id="32" name="라디오"/>
          <p:cNvSpPr/>
          <p:nvPr/>
        </p:nvSpPr>
        <p:spPr>
          <a:xfrm>
            <a:off x="1542284" y="3873649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라디오 라벨"/>
          <p:cNvSpPr/>
          <p:nvPr/>
        </p:nvSpPr>
        <p:spPr>
          <a:xfrm>
            <a:off x="1725164" y="385536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보도폭 (1.2m 이하)</a:t>
            </a:r>
          </a:p>
        </p:txBody>
      </p:sp>
      <p:sp>
        <p:nvSpPr>
          <p:cNvPr id="34" name="radio"/>
          <p:cNvSpPr/>
          <p:nvPr/>
        </p:nvSpPr>
        <p:spPr>
          <a:xfrm>
            <a:off x="1542593" y="3434486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dot"/>
          <p:cNvSpPr/>
          <p:nvPr/>
        </p:nvSpPr>
        <p:spPr>
          <a:xfrm>
            <a:off x="1570025" y="346191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adio"/>
          <p:cNvSpPr/>
          <p:nvPr/>
        </p:nvSpPr>
        <p:spPr>
          <a:xfrm>
            <a:off x="1542593" y="365394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7" name="radio"/>
          <p:cNvSpPr/>
          <p:nvPr/>
        </p:nvSpPr>
        <p:spPr>
          <a:xfrm>
            <a:off x="1542593" y="387339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8" name="t"/>
          <p:cNvSpPr txBox="1"/>
          <p:nvPr/>
        </p:nvSpPr>
        <p:spPr>
          <a:xfrm>
            <a:off x="1526134" y="4224528"/>
            <a:ext cx="207385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39" name="비활성 사유"/>
          <p:cNvSpPr txBox="1"/>
          <p:nvPr/>
        </p:nvSpPr>
        <p:spPr>
          <a:xfrm>
            <a:off x="1527048" y="5312664"/>
            <a:ext cx="2075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내용을 적어 주세요.</a:t>
            </a:r>
          </a:p>
        </p:txBody>
      </p:sp>
      <p:sp>
        <p:nvSpPr>
          <p:cNvPr id="40" name="목업 프레임 2"/>
          <p:cNvSpPr/>
          <p:nvPr/>
        </p:nvSpPr>
        <p:spPr>
          <a:xfrm>
            <a:off x="4607662" y="1190549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t"/>
          <p:cNvSpPr txBox="1"/>
          <p:nvPr/>
        </p:nvSpPr>
        <p:spPr>
          <a:xfrm>
            <a:off x="4607662" y="1298448"/>
            <a:ext cx="247528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위치 선택</a:t>
            </a:r>
          </a:p>
        </p:txBody>
      </p:sp>
      <p:cxnSp>
        <p:nvCxnSpPr>
          <p:cNvPr id="42" name="ln"/>
          <p:cNvCxnSpPr/>
          <p:nvPr/>
        </p:nvCxnSpPr>
        <p:spPr>
          <a:xfrm>
            <a:off x="4616806" y="1609344"/>
            <a:ext cx="2456993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3" name="map2"/>
          <p:cNvSpPr/>
          <p:nvPr/>
        </p:nvSpPr>
        <p:spPr>
          <a:xfrm>
            <a:off x="4616806" y="1609344"/>
            <a:ext cx="2456993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607662" y="2816352"/>
            <a:ext cx="247528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1" dirty="0">
                <a:solidFill>
                  <a:srgbClr val="E01B24"/>
                </a:solidFill>
                <a:latin typeface="Pretendard"/>
                <a:ea typeface="Pretendard"/>
              </a:rPr>
              <a:t>▼</a:t>
            </a:r>
          </a:p>
        </p:txBody>
      </p:sp>
      <p:sp>
        <p:nvSpPr>
          <p:cNvPr id="45" name="t"/>
          <p:cNvSpPr txBox="1"/>
          <p:nvPr/>
        </p:nvSpPr>
        <p:spPr>
          <a:xfrm>
            <a:off x="4607662" y="3017520"/>
            <a:ext cx="247528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중앙 고정 핀 — 지도가 움직이고 핀은 고정</a:t>
            </a:r>
          </a:p>
        </p:txBody>
      </p:sp>
      <p:sp>
        <p:nvSpPr>
          <p:cNvPr id="46" name="t"/>
          <p:cNvSpPr txBox="1"/>
          <p:nvPr/>
        </p:nvSpPr>
        <p:spPr>
          <a:xfrm>
            <a:off x="4790542" y="4334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sp>
        <p:nvSpPr>
          <p:cNvPr id="47" name="confirm"/>
          <p:cNvSpPr/>
          <p:nvPr/>
        </p:nvSpPr>
        <p:spPr>
          <a:xfrm>
            <a:off x="4790542" y="4754880"/>
            <a:ext cx="2103120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4790542" y="48326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이 위치로 지정</a:t>
            </a:r>
          </a:p>
        </p:txBody>
      </p:sp>
      <p:sp>
        <p:nvSpPr>
          <p:cNvPr id="49" name="t"/>
          <p:cNvSpPr txBox="1"/>
          <p:nvPr/>
        </p:nvSpPr>
        <p:spPr>
          <a:xfrm>
            <a:off x="132496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등록 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607662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지도 지정 상태 — 폼의 지도를 누르면 진입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4779874" y="13434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4779874" y="13891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6625743" y="3182112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6625743" y="3182112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5" name="지도 컨트롤"/>
          <p:cNvSpPr/>
          <p:nvPr/>
        </p:nvSpPr>
        <p:spPr>
          <a:xfrm>
            <a:off x="6625743" y="35295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지도 컨트롤 라벨"/>
          <p:cNvSpPr txBox="1"/>
          <p:nvPr/>
        </p:nvSpPr>
        <p:spPr>
          <a:xfrm>
            <a:off x="6625743" y="35295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259983" y="3877056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지도 컨트롤 라벨"/>
          <p:cNvSpPr txBox="1"/>
          <p:nvPr/>
        </p:nvSpPr>
        <p:spPr>
          <a:xfrm>
            <a:off x="6259983" y="3877056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59" name="숫자배지 1"/>
          <p:cNvSpPr/>
          <p:nvPr/>
        </p:nvSpPr>
        <p:spPr>
          <a:xfrm>
            <a:off x="1115568" y="17007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2377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4389120" y="27614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1115568" y="4041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111556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5" name="숫자배지 7"/>
          <p:cNvSpPr/>
          <p:nvPr/>
        </p:nvSpPr>
        <p:spPr>
          <a:xfrm>
            <a:off x="1115568" y="546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1-6-1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 등록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등록 폼 · 지도 지정 상태 (2/3)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1325313" y="119078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map"/>
          <p:cNvSpPr/>
          <p:nvPr/>
        </p:nvSpPr>
        <p:spPr>
          <a:xfrm>
            <a:off x="1526134" y="2103120"/>
            <a:ext cx="2073859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1526134" y="4370832"/>
            <a:ext cx="2073859" cy="420624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 주세요. (예시: 보도폭이 좁아 휠체어 이용이 어렵습니다.)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1559052" y="5468112"/>
            <a:ext cx="2073859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1386509" y="164798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1796084" y="130508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1529384" y="137214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1529384" y="141938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40269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신고 유형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라디오 단일 선택 · 필수 · 선택지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단차 — 보도 · 횡단보도 턱 등 높이 2cm 이상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경사 — 급경사 및 경사도 1/8 이상 지점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보도폭 — 도보 · 지장물 등으로 보도폭 1.2m 이하 (판정 기준을 라벨에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상세 내용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필수 · 라벨 「상세 내용 입력」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보조 설명문을 라벨 아래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키보드는 입력란 밖 어디를 선택하든 내려감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＋ 사진 첨부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항목 — 버튼 위 라벨 「사진 첨부 (선택)」 · 전 유형 공통 노출 · 상한 3장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시트 — 「사진 촬영」 / 「앨범에서 선택」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첨부 후 썸네일 목록 · 삭제는 확인 없이 즉시 ＋ 토스트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3장 도달 시 버튼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1526134" y="4992624"/>
            <a:ext cx="2073859" cy="292608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1526134" y="2395728"/>
            <a:ext cx="2073859" cy="164592"/>
          </a:xfrm>
          <a:prstGeom prst="roundRect">
            <a:avLst>
              <a:gd name="adj" fmla="val 20097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1526134" y="2889504"/>
            <a:ext cx="20738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(영등포구 당산로41길 12)</a:t>
            </a:r>
          </a:p>
        </p:txBody>
      </p: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안내 문구 배너 (등록)"/>
          <p:cNvSpPr/>
          <p:nvPr/>
        </p:nvSpPr>
        <p:spPr>
          <a:xfrm>
            <a:off x="1525866" y="172877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25" name="입력 라벨 상세 내용 입력"/>
          <p:cNvSpPr/>
          <p:nvPr/>
        </p:nvSpPr>
        <p:spPr>
          <a:xfrm>
            <a:off x="1526134" y="4059936"/>
            <a:ext cx="2073859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26" name="입력 라벨 신고 사항"/>
          <p:cNvSpPr/>
          <p:nvPr/>
        </p:nvSpPr>
        <p:spPr>
          <a:xfrm>
            <a:off x="1523996" y="32186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신고 유형</a:t>
            </a:r>
          </a:p>
        </p:txBody>
      </p:sp>
      <p:sp>
        <p:nvSpPr>
          <p:cNvPr id="27" name="입력 라벨 사진 첨부"/>
          <p:cNvSpPr/>
          <p:nvPr/>
        </p:nvSpPr>
        <p:spPr>
          <a:xfrm>
            <a:off x="1527048" y="48188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사진 첨부 (선택)</a:t>
            </a:r>
          </a:p>
        </p:txBody>
      </p:sp>
      <p:sp>
        <p:nvSpPr>
          <p:cNvPr id="28" name="라디오"/>
          <p:cNvSpPr/>
          <p:nvPr/>
        </p:nvSpPr>
        <p:spPr>
          <a:xfrm>
            <a:off x="1542284" y="3434738"/>
            <a:ext cx="128016" cy="128016"/>
          </a:xfrm>
          <a:prstGeom prst="roundRect">
            <a:avLst>
              <a:gd name="adj" fmla="val 692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 라벨"/>
          <p:cNvSpPr/>
          <p:nvPr/>
        </p:nvSpPr>
        <p:spPr>
          <a:xfrm>
            <a:off x="1725164" y="341645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단차 (높이 2cm 이상)</a:t>
            </a:r>
          </a:p>
        </p:txBody>
      </p:sp>
      <p:sp>
        <p:nvSpPr>
          <p:cNvPr id="30" name="라디오"/>
          <p:cNvSpPr/>
          <p:nvPr/>
        </p:nvSpPr>
        <p:spPr>
          <a:xfrm>
            <a:off x="1542284" y="3654193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라디오 라벨"/>
          <p:cNvSpPr/>
          <p:nvPr/>
        </p:nvSpPr>
        <p:spPr>
          <a:xfrm>
            <a:off x="1725164" y="363590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경사 (경사도 1/8 이상)</a:t>
            </a:r>
          </a:p>
        </p:txBody>
      </p:sp>
      <p:sp>
        <p:nvSpPr>
          <p:cNvPr id="32" name="라디오"/>
          <p:cNvSpPr/>
          <p:nvPr/>
        </p:nvSpPr>
        <p:spPr>
          <a:xfrm>
            <a:off x="1542284" y="3873649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라디오 라벨"/>
          <p:cNvSpPr/>
          <p:nvPr/>
        </p:nvSpPr>
        <p:spPr>
          <a:xfrm>
            <a:off x="1725164" y="385536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보도폭 (1.2m 이하)</a:t>
            </a:r>
          </a:p>
        </p:txBody>
      </p:sp>
      <p:sp>
        <p:nvSpPr>
          <p:cNvPr id="34" name="radio"/>
          <p:cNvSpPr/>
          <p:nvPr/>
        </p:nvSpPr>
        <p:spPr>
          <a:xfrm>
            <a:off x="1542593" y="3434486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dot"/>
          <p:cNvSpPr/>
          <p:nvPr/>
        </p:nvSpPr>
        <p:spPr>
          <a:xfrm>
            <a:off x="1570025" y="346191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adio"/>
          <p:cNvSpPr/>
          <p:nvPr/>
        </p:nvSpPr>
        <p:spPr>
          <a:xfrm>
            <a:off x="1542593" y="365394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7" name="radio"/>
          <p:cNvSpPr/>
          <p:nvPr/>
        </p:nvSpPr>
        <p:spPr>
          <a:xfrm>
            <a:off x="1542593" y="387339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8" name="t"/>
          <p:cNvSpPr txBox="1"/>
          <p:nvPr/>
        </p:nvSpPr>
        <p:spPr>
          <a:xfrm>
            <a:off x="1526134" y="4224528"/>
            <a:ext cx="207385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39" name="비활성 사유"/>
          <p:cNvSpPr txBox="1"/>
          <p:nvPr/>
        </p:nvSpPr>
        <p:spPr>
          <a:xfrm>
            <a:off x="1527048" y="5312664"/>
            <a:ext cx="2075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내용을 적어 주세요.</a:t>
            </a:r>
          </a:p>
        </p:txBody>
      </p:sp>
      <p:sp>
        <p:nvSpPr>
          <p:cNvPr id="40" name="목업 프레임 2"/>
          <p:cNvSpPr/>
          <p:nvPr/>
        </p:nvSpPr>
        <p:spPr>
          <a:xfrm>
            <a:off x="4607662" y="1190549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t"/>
          <p:cNvSpPr txBox="1"/>
          <p:nvPr/>
        </p:nvSpPr>
        <p:spPr>
          <a:xfrm>
            <a:off x="4607662" y="1298448"/>
            <a:ext cx="247528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위치 선택</a:t>
            </a:r>
          </a:p>
        </p:txBody>
      </p:sp>
      <p:cxnSp>
        <p:nvCxnSpPr>
          <p:cNvPr id="42" name="ln"/>
          <p:cNvCxnSpPr/>
          <p:nvPr/>
        </p:nvCxnSpPr>
        <p:spPr>
          <a:xfrm>
            <a:off x="4616806" y="1609344"/>
            <a:ext cx="2456993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3" name="map2"/>
          <p:cNvSpPr/>
          <p:nvPr/>
        </p:nvSpPr>
        <p:spPr>
          <a:xfrm>
            <a:off x="4616806" y="1609344"/>
            <a:ext cx="2456993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607662" y="2816352"/>
            <a:ext cx="247528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1" dirty="0">
                <a:solidFill>
                  <a:srgbClr val="E01B24"/>
                </a:solidFill>
                <a:latin typeface="Pretendard"/>
                <a:ea typeface="Pretendard"/>
              </a:rPr>
              <a:t>▼</a:t>
            </a:r>
          </a:p>
        </p:txBody>
      </p:sp>
      <p:sp>
        <p:nvSpPr>
          <p:cNvPr id="45" name="t"/>
          <p:cNvSpPr txBox="1"/>
          <p:nvPr/>
        </p:nvSpPr>
        <p:spPr>
          <a:xfrm>
            <a:off x="4607662" y="3017520"/>
            <a:ext cx="247528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중앙 고정 핀 — 지도가 움직이고 핀은 고정</a:t>
            </a:r>
          </a:p>
        </p:txBody>
      </p:sp>
      <p:sp>
        <p:nvSpPr>
          <p:cNvPr id="46" name="t"/>
          <p:cNvSpPr txBox="1"/>
          <p:nvPr/>
        </p:nvSpPr>
        <p:spPr>
          <a:xfrm>
            <a:off x="4790542" y="4334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sp>
        <p:nvSpPr>
          <p:cNvPr id="47" name="confirm"/>
          <p:cNvSpPr/>
          <p:nvPr/>
        </p:nvSpPr>
        <p:spPr>
          <a:xfrm>
            <a:off x="4790542" y="4754880"/>
            <a:ext cx="2103120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4790542" y="48326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이 위치로 지정</a:t>
            </a:r>
          </a:p>
        </p:txBody>
      </p:sp>
      <p:sp>
        <p:nvSpPr>
          <p:cNvPr id="49" name="t"/>
          <p:cNvSpPr txBox="1"/>
          <p:nvPr/>
        </p:nvSpPr>
        <p:spPr>
          <a:xfrm>
            <a:off x="132496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등록 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607662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지도 지정 상태 — 폼의 지도를 누르면 진입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4779874" y="13434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4779874" y="13891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6625743" y="3182112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6625743" y="3182112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5" name="지도 컨트롤"/>
          <p:cNvSpPr/>
          <p:nvPr/>
        </p:nvSpPr>
        <p:spPr>
          <a:xfrm>
            <a:off x="6625743" y="35295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지도 컨트롤 라벨"/>
          <p:cNvSpPr txBox="1"/>
          <p:nvPr/>
        </p:nvSpPr>
        <p:spPr>
          <a:xfrm>
            <a:off x="6625743" y="35295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259983" y="3877056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지도 컨트롤 라벨"/>
          <p:cNvSpPr txBox="1"/>
          <p:nvPr/>
        </p:nvSpPr>
        <p:spPr>
          <a:xfrm>
            <a:off x="6259983" y="3877056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59" name="숫자배지 1"/>
          <p:cNvSpPr/>
          <p:nvPr/>
        </p:nvSpPr>
        <p:spPr>
          <a:xfrm>
            <a:off x="1115568" y="17007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2377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4389120" y="27614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1115568" y="4041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111556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5" name="숫자배지 7"/>
          <p:cNvSpPr/>
          <p:nvPr/>
        </p:nvSpPr>
        <p:spPr>
          <a:xfrm>
            <a:off x="1115568" y="546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1-6-1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 등록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등록 폼 · 지도 지정 상태 (3/3)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1325313" y="119078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map"/>
          <p:cNvSpPr/>
          <p:nvPr/>
        </p:nvSpPr>
        <p:spPr>
          <a:xfrm>
            <a:off x="1526134" y="2103120"/>
            <a:ext cx="2073859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1526134" y="4370832"/>
            <a:ext cx="2073859" cy="420624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 주세요. (예시: 보도폭이 좁아 휠체어 이용이 어렵습니다.)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1559052" y="5468112"/>
            <a:ext cx="2073859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1386509" y="164798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1796084" y="130508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1529384" y="137214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1529384" y="141938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364815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63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[신고하기]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활성 조건 — 좌표 확보 ＋ 유형 1건 ＋ 설명 1자 이상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첨부는 활성 조건이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비활성 사유 4종 — 버튼 바로 위에 한 줄로 표시 · 낭독도 같은 문안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좌표 미확보 사유를 다른 사유보다 먼저 말함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누른 즉시 비활성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성공 시 1-6-2 신고 상세 내역으로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도착한 화면 위에 토스트 「신고가 접수되었습니다.」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 내역의 뒤로가기 → 나의 불편신고 내역 목록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작성 중 이탈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입력한 것이 있으면 뒤로가기 시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「작성 중인 내용이 있습니다. 나가시겠습니까?」 — [취소] / [나가기]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1526134" y="4992624"/>
            <a:ext cx="2073859" cy="292608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1526134" y="2395728"/>
            <a:ext cx="2073859" cy="164592"/>
          </a:xfrm>
          <a:prstGeom prst="roundRect">
            <a:avLst>
              <a:gd name="adj" fmla="val 20097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1526134" y="2889504"/>
            <a:ext cx="20738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(영등포구 당산로41길 12)</a:t>
            </a:r>
          </a:p>
        </p:txBody>
      </p: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안내 문구 배너 (등록)"/>
          <p:cNvSpPr/>
          <p:nvPr/>
        </p:nvSpPr>
        <p:spPr>
          <a:xfrm>
            <a:off x="1525866" y="172877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25" name="입력 라벨 상세 내용 입력"/>
          <p:cNvSpPr/>
          <p:nvPr/>
        </p:nvSpPr>
        <p:spPr>
          <a:xfrm>
            <a:off x="1526134" y="4059936"/>
            <a:ext cx="2073859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26" name="입력 라벨 신고 사항"/>
          <p:cNvSpPr/>
          <p:nvPr/>
        </p:nvSpPr>
        <p:spPr>
          <a:xfrm>
            <a:off x="1523996" y="32186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신고 유형</a:t>
            </a:r>
          </a:p>
        </p:txBody>
      </p:sp>
      <p:sp>
        <p:nvSpPr>
          <p:cNvPr id="27" name="입력 라벨 사진 첨부"/>
          <p:cNvSpPr/>
          <p:nvPr/>
        </p:nvSpPr>
        <p:spPr>
          <a:xfrm>
            <a:off x="1527048" y="48188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사진 첨부 (선택)</a:t>
            </a:r>
          </a:p>
        </p:txBody>
      </p:sp>
      <p:sp>
        <p:nvSpPr>
          <p:cNvPr id="28" name="라디오"/>
          <p:cNvSpPr/>
          <p:nvPr/>
        </p:nvSpPr>
        <p:spPr>
          <a:xfrm>
            <a:off x="1542284" y="3434738"/>
            <a:ext cx="128016" cy="128016"/>
          </a:xfrm>
          <a:prstGeom prst="roundRect">
            <a:avLst>
              <a:gd name="adj" fmla="val 692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 라벨"/>
          <p:cNvSpPr/>
          <p:nvPr/>
        </p:nvSpPr>
        <p:spPr>
          <a:xfrm>
            <a:off x="1725164" y="341645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단차 (높이 2cm 이상)</a:t>
            </a:r>
          </a:p>
        </p:txBody>
      </p:sp>
      <p:sp>
        <p:nvSpPr>
          <p:cNvPr id="30" name="라디오"/>
          <p:cNvSpPr/>
          <p:nvPr/>
        </p:nvSpPr>
        <p:spPr>
          <a:xfrm>
            <a:off x="1542284" y="3654193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라디오 라벨"/>
          <p:cNvSpPr/>
          <p:nvPr/>
        </p:nvSpPr>
        <p:spPr>
          <a:xfrm>
            <a:off x="1725164" y="363590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경사 (경사도 1/8 이상)</a:t>
            </a:r>
          </a:p>
        </p:txBody>
      </p:sp>
      <p:sp>
        <p:nvSpPr>
          <p:cNvPr id="32" name="라디오"/>
          <p:cNvSpPr/>
          <p:nvPr/>
        </p:nvSpPr>
        <p:spPr>
          <a:xfrm>
            <a:off x="1542284" y="3873649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라디오 라벨"/>
          <p:cNvSpPr/>
          <p:nvPr/>
        </p:nvSpPr>
        <p:spPr>
          <a:xfrm>
            <a:off x="1725164" y="385536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보도폭 (1.2m 이하)</a:t>
            </a:r>
          </a:p>
        </p:txBody>
      </p:sp>
      <p:sp>
        <p:nvSpPr>
          <p:cNvPr id="34" name="radio"/>
          <p:cNvSpPr/>
          <p:nvPr/>
        </p:nvSpPr>
        <p:spPr>
          <a:xfrm>
            <a:off x="1542593" y="3434486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dot"/>
          <p:cNvSpPr/>
          <p:nvPr/>
        </p:nvSpPr>
        <p:spPr>
          <a:xfrm>
            <a:off x="1570025" y="346191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adio"/>
          <p:cNvSpPr/>
          <p:nvPr/>
        </p:nvSpPr>
        <p:spPr>
          <a:xfrm>
            <a:off x="1542593" y="365394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7" name="radio"/>
          <p:cNvSpPr/>
          <p:nvPr/>
        </p:nvSpPr>
        <p:spPr>
          <a:xfrm>
            <a:off x="1542593" y="387339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8" name="t"/>
          <p:cNvSpPr txBox="1"/>
          <p:nvPr/>
        </p:nvSpPr>
        <p:spPr>
          <a:xfrm>
            <a:off x="1526134" y="4224528"/>
            <a:ext cx="207385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39" name="비활성 사유"/>
          <p:cNvSpPr txBox="1"/>
          <p:nvPr/>
        </p:nvSpPr>
        <p:spPr>
          <a:xfrm>
            <a:off x="1527048" y="5312664"/>
            <a:ext cx="2075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내용을 적어 주세요.</a:t>
            </a:r>
          </a:p>
        </p:txBody>
      </p:sp>
      <p:sp>
        <p:nvSpPr>
          <p:cNvPr id="40" name="목업 프레임 2"/>
          <p:cNvSpPr/>
          <p:nvPr/>
        </p:nvSpPr>
        <p:spPr>
          <a:xfrm>
            <a:off x="4607662" y="1190549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t"/>
          <p:cNvSpPr txBox="1"/>
          <p:nvPr/>
        </p:nvSpPr>
        <p:spPr>
          <a:xfrm>
            <a:off x="4607662" y="1298448"/>
            <a:ext cx="247528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위치 선택</a:t>
            </a:r>
          </a:p>
        </p:txBody>
      </p:sp>
      <p:cxnSp>
        <p:nvCxnSpPr>
          <p:cNvPr id="42" name="ln"/>
          <p:cNvCxnSpPr/>
          <p:nvPr/>
        </p:nvCxnSpPr>
        <p:spPr>
          <a:xfrm>
            <a:off x="4616806" y="1609344"/>
            <a:ext cx="2456993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3" name="map2"/>
          <p:cNvSpPr/>
          <p:nvPr/>
        </p:nvSpPr>
        <p:spPr>
          <a:xfrm>
            <a:off x="4616806" y="1609344"/>
            <a:ext cx="2456993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607662" y="2816352"/>
            <a:ext cx="247528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1" dirty="0">
                <a:solidFill>
                  <a:srgbClr val="E01B24"/>
                </a:solidFill>
                <a:latin typeface="Pretendard"/>
                <a:ea typeface="Pretendard"/>
              </a:rPr>
              <a:t>▼</a:t>
            </a:r>
          </a:p>
        </p:txBody>
      </p:sp>
      <p:sp>
        <p:nvSpPr>
          <p:cNvPr id="45" name="t"/>
          <p:cNvSpPr txBox="1"/>
          <p:nvPr/>
        </p:nvSpPr>
        <p:spPr>
          <a:xfrm>
            <a:off x="4607662" y="3017520"/>
            <a:ext cx="247528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중앙 고정 핀 — 지도가 움직이고 핀은 고정</a:t>
            </a:r>
          </a:p>
        </p:txBody>
      </p:sp>
      <p:sp>
        <p:nvSpPr>
          <p:cNvPr id="46" name="t"/>
          <p:cNvSpPr txBox="1"/>
          <p:nvPr/>
        </p:nvSpPr>
        <p:spPr>
          <a:xfrm>
            <a:off x="4790542" y="4334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sp>
        <p:nvSpPr>
          <p:cNvPr id="47" name="confirm"/>
          <p:cNvSpPr/>
          <p:nvPr/>
        </p:nvSpPr>
        <p:spPr>
          <a:xfrm>
            <a:off x="4790542" y="4754880"/>
            <a:ext cx="2103120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4790542" y="48326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이 위치로 지정</a:t>
            </a:r>
          </a:p>
        </p:txBody>
      </p:sp>
      <p:sp>
        <p:nvSpPr>
          <p:cNvPr id="49" name="t"/>
          <p:cNvSpPr txBox="1"/>
          <p:nvPr/>
        </p:nvSpPr>
        <p:spPr>
          <a:xfrm>
            <a:off x="132496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등록 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607662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지도 지정 상태 — 폼의 지도를 누르면 진입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4779874" y="13434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4779874" y="13891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6625743" y="3182112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6625743" y="3182112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5" name="지도 컨트롤"/>
          <p:cNvSpPr/>
          <p:nvPr/>
        </p:nvSpPr>
        <p:spPr>
          <a:xfrm>
            <a:off x="6625743" y="35295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지도 컨트롤 라벨"/>
          <p:cNvSpPr txBox="1"/>
          <p:nvPr/>
        </p:nvSpPr>
        <p:spPr>
          <a:xfrm>
            <a:off x="6625743" y="35295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259983" y="3877056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지도 컨트롤 라벨"/>
          <p:cNvSpPr txBox="1"/>
          <p:nvPr/>
        </p:nvSpPr>
        <p:spPr>
          <a:xfrm>
            <a:off x="6259983" y="3877056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59" name="숫자배지 1"/>
          <p:cNvSpPr/>
          <p:nvPr/>
        </p:nvSpPr>
        <p:spPr>
          <a:xfrm>
            <a:off x="1115568" y="17007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2377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4389120" y="27614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1115568" y="4041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111556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5" name="숫자배지 7"/>
          <p:cNvSpPr/>
          <p:nvPr/>
        </p:nvSpPr>
        <p:spPr>
          <a:xfrm>
            <a:off x="1115568" y="546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6916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9443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내역 · 상세 · 수정 (1/3)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29192" y="1447800"/>
          <a:ext cx="2972409" cy="34539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신고 항목 — 내역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내용 요약 · 등록 일자 · 접수 상태 3요소 (일자는 「YYYY년 M월 D일」)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상태는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→ 신고 상세 내역 (같은 화면의 상세 상태)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접수 상태 4종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접수됨 / 처리중 / 처리완료 / 정보부족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정보부족 = 내용이 부실해 처리로 넘기지 못한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주소 · 신고 사진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 최상단 · 라벨 「주소」 ＋ 값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표기 형식은 등록 폼과 같음 — 지번 풀주소 (도로명 하위주소)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조회 모드에는 지도를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사진은 첨부분이 있을 때만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"/>
          <p:cNvSpPr txBox="1"/>
          <p:nvPr/>
        </p:nvSpPr>
        <p:spPr>
          <a:xfrm>
            <a:off x="1260958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나의 불편신고 내역</a:t>
            </a:r>
          </a:p>
        </p:txBody>
      </p:sp>
      <p:cxnSp>
        <p:nvCxnSpPr>
          <p:cNvPr id="15" name="ln"/>
          <p:cNvCxnSpPr/>
          <p:nvPr/>
        </p:nvCxnSpPr>
        <p:spPr>
          <a:xfrm>
            <a:off x="1270102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6" name="t"/>
          <p:cNvSpPr txBox="1"/>
          <p:nvPr/>
        </p:nvSpPr>
        <p:spPr>
          <a:xfrm>
            <a:off x="1443838" y="177393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17" name="t"/>
          <p:cNvSpPr txBox="1"/>
          <p:nvPr/>
        </p:nvSpPr>
        <p:spPr>
          <a:xfrm>
            <a:off x="2632558" y="1773936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2026년 1월 3일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43838" y="1975104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19" name="t"/>
          <p:cNvSpPr txBox="1"/>
          <p:nvPr/>
        </p:nvSpPr>
        <p:spPr>
          <a:xfrm>
            <a:off x="2906878" y="1975104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접수됨</a:t>
            </a:r>
          </a:p>
        </p:txBody>
      </p:sp>
      <p:cxnSp>
        <p:nvCxnSpPr>
          <p:cNvPr id="20" name="ln"/>
          <p:cNvCxnSpPr/>
          <p:nvPr/>
        </p:nvCxnSpPr>
        <p:spPr>
          <a:xfrm>
            <a:off x="1270102" y="2249424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1" name="t"/>
          <p:cNvSpPr txBox="1"/>
          <p:nvPr/>
        </p:nvSpPr>
        <p:spPr>
          <a:xfrm>
            <a:off x="1443838" y="25603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22" name="t"/>
          <p:cNvSpPr txBox="1"/>
          <p:nvPr/>
        </p:nvSpPr>
        <p:spPr>
          <a:xfrm>
            <a:off x="2632558" y="2560320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2025년 12월 28일</a:t>
            </a:r>
          </a:p>
        </p:txBody>
      </p:sp>
      <p:sp>
        <p:nvSpPr>
          <p:cNvPr id="23" name="t"/>
          <p:cNvSpPr txBox="1"/>
          <p:nvPr/>
        </p:nvSpPr>
        <p:spPr>
          <a:xfrm>
            <a:off x="1443838" y="2761488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24" name="t"/>
          <p:cNvSpPr txBox="1"/>
          <p:nvPr/>
        </p:nvSpPr>
        <p:spPr>
          <a:xfrm>
            <a:off x="2906878" y="2761488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처리중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270102" y="303580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43838" y="3346704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27" name="t"/>
          <p:cNvSpPr txBox="1"/>
          <p:nvPr/>
        </p:nvSpPr>
        <p:spPr>
          <a:xfrm>
            <a:off x="2632558" y="3346704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2025년 12월 11일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43838" y="3547872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29" name="t"/>
          <p:cNvSpPr txBox="1"/>
          <p:nvPr/>
        </p:nvSpPr>
        <p:spPr>
          <a:xfrm>
            <a:off x="2906878" y="3547872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처리완료</a:t>
            </a:r>
          </a:p>
        </p:txBody>
      </p:sp>
      <p:cxnSp>
        <p:nvCxnSpPr>
          <p:cNvPr id="30" name="ln"/>
          <p:cNvCxnSpPr/>
          <p:nvPr/>
        </p:nvCxnSpPr>
        <p:spPr>
          <a:xfrm>
            <a:off x="1270102" y="382219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1" name="t"/>
          <p:cNvSpPr txBox="1"/>
          <p:nvPr/>
        </p:nvSpPr>
        <p:spPr>
          <a:xfrm>
            <a:off x="1443838" y="413308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32" name="t"/>
          <p:cNvSpPr txBox="1"/>
          <p:nvPr/>
        </p:nvSpPr>
        <p:spPr>
          <a:xfrm>
            <a:off x="2632558" y="4133088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2025년 12월 5일</a:t>
            </a:r>
          </a:p>
        </p:txBody>
      </p:sp>
      <p:sp>
        <p:nvSpPr>
          <p:cNvPr id="33" name="t"/>
          <p:cNvSpPr txBox="1"/>
          <p:nvPr/>
        </p:nvSpPr>
        <p:spPr>
          <a:xfrm>
            <a:off x="1443838" y="433425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34" name="t"/>
          <p:cNvSpPr txBox="1"/>
          <p:nvPr/>
        </p:nvSpPr>
        <p:spPr>
          <a:xfrm>
            <a:off x="2906878" y="4334256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정보부족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1270102" y="4608576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t"/>
          <p:cNvSpPr txBox="1"/>
          <p:nvPr/>
        </p:nvSpPr>
        <p:spPr>
          <a:xfrm>
            <a:off x="4753966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37" name="ln"/>
          <p:cNvCxnSpPr/>
          <p:nvPr/>
        </p:nvCxnSpPr>
        <p:spPr>
          <a:xfrm>
            <a:off x="4763110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8" name="t"/>
          <p:cNvSpPr txBox="1"/>
          <p:nvPr/>
        </p:nvSpPr>
        <p:spPr>
          <a:xfrm>
            <a:off x="4936846" y="175564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주소</a:t>
            </a:r>
          </a:p>
        </p:txBody>
      </p:sp>
      <p:sp>
        <p:nvSpPr>
          <p:cNvPr id="39" name="t"/>
          <p:cNvSpPr txBox="1"/>
          <p:nvPr/>
        </p:nvSpPr>
        <p:spPr>
          <a:xfrm>
            <a:off x="4936846" y="1920240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40" name="ln"/>
          <p:cNvCxnSpPr/>
          <p:nvPr/>
        </p:nvCxnSpPr>
        <p:spPr>
          <a:xfrm>
            <a:off x="4763110" y="2286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1" name="photo"/>
          <p:cNvSpPr/>
          <p:nvPr/>
        </p:nvSpPr>
        <p:spPr>
          <a:xfrm>
            <a:off x="4936846" y="2359152"/>
            <a:ext cx="2363724" cy="713232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4936846" y="2651760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신고 사진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4763110" y="3163824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4936846" y="323697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</a:t>
            </a:r>
          </a:p>
        </p:txBody>
      </p:sp>
      <p:sp>
        <p:nvSpPr>
          <p:cNvPr id="45" name="t"/>
          <p:cNvSpPr txBox="1"/>
          <p:nvPr/>
        </p:nvSpPr>
        <p:spPr>
          <a:xfrm>
            <a:off x="4936846" y="341985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불편 신고에 대한 상세 내용 표출</a:t>
            </a:r>
          </a:p>
        </p:txBody>
      </p:sp>
      <p:cxnSp>
        <p:nvCxnSpPr>
          <p:cNvPr id="46" name="ln"/>
          <p:cNvCxnSpPr/>
          <p:nvPr/>
        </p:nvCxnSpPr>
        <p:spPr>
          <a:xfrm>
            <a:off x="4763110" y="363931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4936846" y="3712464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접수 상태</a:t>
            </a:r>
          </a:p>
        </p:txBody>
      </p:sp>
      <p:sp>
        <p:nvSpPr>
          <p:cNvPr id="48" name="t"/>
          <p:cNvSpPr txBox="1"/>
          <p:nvPr/>
        </p:nvSpPr>
        <p:spPr>
          <a:xfrm>
            <a:off x="6217006" y="3712464"/>
            <a:ext cx="108356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접수됨</a:t>
            </a:r>
          </a:p>
        </p:txBody>
      </p:sp>
      <p:sp>
        <p:nvSpPr>
          <p:cNvPr id="49" name="t"/>
          <p:cNvSpPr txBox="1"/>
          <p:nvPr/>
        </p:nvSpPr>
        <p:spPr>
          <a:xfrm>
            <a:off x="4936846" y="3931920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처리 결과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936846" y="4114800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(관리자 코멘트)</a:t>
            </a:r>
          </a:p>
        </p:txBody>
      </p:sp>
      <p:sp>
        <p:nvSpPr>
          <p:cNvPr id="51" name="edit"/>
          <p:cNvSpPr/>
          <p:nvPr/>
        </p:nvSpPr>
        <p:spPr>
          <a:xfrm>
            <a:off x="4936846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4936846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신고 내역 수정</a:t>
            </a:r>
          </a:p>
        </p:txBody>
      </p:sp>
      <p:sp>
        <p:nvSpPr>
          <p:cNvPr id="53" name="t"/>
          <p:cNvSpPr txBox="1"/>
          <p:nvPr/>
        </p:nvSpPr>
        <p:spPr>
          <a:xfrm>
            <a:off x="1260958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나의 불편신고 내역 — 상태 4종</a:t>
            </a:r>
          </a:p>
        </p:txBody>
      </p:sp>
      <p:sp>
        <p:nvSpPr>
          <p:cNvPr id="54" name="t"/>
          <p:cNvSpPr txBox="1"/>
          <p:nvPr/>
        </p:nvSpPr>
        <p:spPr>
          <a:xfrm>
            <a:off x="4753966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신고 상세 내역 — 조회 모드 · 접수됨</a:t>
            </a:r>
          </a:p>
        </p:txBody>
      </p:sp>
      <p:sp>
        <p:nvSpPr>
          <p:cNvPr id="5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56" name="뒤로가기"/>
          <p:cNvCxnSpPr/>
          <p:nvPr/>
        </p:nvCxnSpPr>
        <p:spPr>
          <a:xfrm flipH="1">
            <a:off x="1433170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뒤로가기"/>
          <p:cNvCxnSpPr/>
          <p:nvPr/>
        </p:nvCxnSpPr>
        <p:spPr>
          <a:xfrm flipH="1" flipV="1">
            <a:off x="1433170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>
            <a:off x="4926178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26178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숫자배지 1"/>
          <p:cNvSpPr/>
          <p:nvPr/>
        </p:nvSpPr>
        <p:spPr>
          <a:xfrm>
            <a:off x="1115568" y="1755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1" name="숫자배지 2"/>
          <p:cNvSpPr/>
          <p:nvPr/>
        </p:nvSpPr>
        <p:spPr>
          <a:xfrm>
            <a:off x="1115568" y="41330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2" name="숫자배지 3"/>
          <p:cNvSpPr/>
          <p:nvPr/>
        </p:nvSpPr>
        <p:spPr>
          <a:xfrm>
            <a:off x="4608576" y="17373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3" name="숫자배지 4"/>
          <p:cNvSpPr/>
          <p:nvPr/>
        </p:nvSpPr>
        <p:spPr>
          <a:xfrm>
            <a:off x="4608576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6916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9443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내역 · 상세 · 수정 (2/3)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29192" y="1447800"/>
          <a:ext cx="2972409" cy="230789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접수 상태 · 처리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관리자 처리 결과 코멘트를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마일리지 미지급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정보부족일 때만 해당 내용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[신고 내역 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조회 모드 상세 하단 · 접수됨 · 정보부족일 때만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처리중 · 처리완료에서는 표출하지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수정 모드로 전환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"/>
          <p:cNvSpPr txBox="1"/>
          <p:nvPr/>
        </p:nvSpPr>
        <p:spPr>
          <a:xfrm>
            <a:off x="1260958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15" name="ln"/>
          <p:cNvCxnSpPr/>
          <p:nvPr/>
        </p:nvCxnSpPr>
        <p:spPr>
          <a:xfrm>
            <a:off x="1270102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6" name="t"/>
          <p:cNvSpPr txBox="1"/>
          <p:nvPr/>
        </p:nvSpPr>
        <p:spPr>
          <a:xfrm>
            <a:off x="1443838" y="175564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주소</a:t>
            </a:r>
          </a:p>
        </p:txBody>
      </p:sp>
      <p:sp>
        <p:nvSpPr>
          <p:cNvPr id="17" name="t"/>
          <p:cNvSpPr txBox="1"/>
          <p:nvPr/>
        </p:nvSpPr>
        <p:spPr>
          <a:xfrm>
            <a:off x="1443838" y="1920240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270102" y="2286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photo"/>
          <p:cNvSpPr/>
          <p:nvPr/>
        </p:nvSpPr>
        <p:spPr>
          <a:xfrm>
            <a:off x="1443838" y="2359152"/>
            <a:ext cx="2363724" cy="658368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43838" y="261518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신고 사진</a:t>
            </a:r>
          </a:p>
        </p:txBody>
      </p:sp>
      <p:cxnSp>
        <p:nvCxnSpPr>
          <p:cNvPr id="21" name="ln"/>
          <p:cNvCxnSpPr/>
          <p:nvPr/>
        </p:nvCxnSpPr>
        <p:spPr>
          <a:xfrm>
            <a:off x="1270102" y="310896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2" name="t"/>
          <p:cNvSpPr txBox="1"/>
          <p:nvPr/>
        </p:nvSpPr>
        <p:spPr>
          <a:xfrm>
            <a:off x="1443838" y="3182112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</a:t>
            </a:r>
          </a:p>
        </p:txBody>
      </p:sp>
      <p:sp>
        <p:nvSpPr>
          <p:cNvPr id="23" name="t"/>
          <p:cNvSpPr txBox="1"/>
          <p:nvPr/>
        </p:nvSpPr>
        <p:spPr>
          <a:xfrm>
            <a:off x="1443838" y="3364992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불편 신고에 대한 상세 내용 표출</a:t>
            </a:r>
          </a:p>
        </p:txBody>
      </p:sp>
      <p:cxnSp>
        <p:nvCxnSpPr>
          <p:cNvPr id="24" name="ln"/>
          <p:cNvCxnSpPr/>
          <p:nvPr/>
        </p:nvCxnSpPr>
        <p:spPr>
          <a:xfrm>
            <a:off x="1270102" y="358444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5" name="t"/>
          <p:cNvSpPr txBox="1"/>
          <p:nvPr/>
        </p:nvSpPr>
        <p:spPr>
          <a:xfrm>
            <a:off x="1443838" y="3657600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접수 상태</a:t>
            </a:r>
          </a:p>
        </p:txBody>
      </p:sp>
      <p:sp>
        <p:nvSpPr>
          <p:cNvPr id="26" name="t"/>
          <p:cNvSpPr txBox="1"/>
          <p:nvPr/>
        </p:nvSpPr>
        <p:spPr>
          <a:xfrm>
            <a:off x="2723998" y="3657600"/>
            <a:ext cx="108356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정보부족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43838" y="387705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처리 결과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43838" y="405993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(관리자 코멘트 — 부족한 내용)</a:t>
            </a:r>
          </a:p>
        </p:txBody>
      </p:sp>
      <p:cxnSp>
        <p:nvCxnSpPr>
          <p:cNvPr id="29" name="ln"/>
          <p:cNvCxnSpPr/>
          <p:nvPr/>
        </p:nvCxnSpPr>
        <p:spPr>
          <a:xfrm>
            <a:off x="1270102" y="427939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0" name="mileage"/>
          <p:cNvSpPr/>
          <p:nvPr/>
        </p:nvSpPr>
        <p:spPr>
          <a:xfrm>
            <a:off x="1443838" y="4352544"/>
            <a:ext cx="2363724" cy="475488"/>
          </a:xfrm>
          <a:prstGeom prst="roundRect">
            <a:avLst>
              <a:gd name="adj" fmla="val 6000"/>
            </a:avLst>
          </a:prstGeom>
          <a:solidFill>
            <a:srgbClr val="FFF6F6"/>
          </a:solidFill>
          <a:ln w="12700">
            <a:solidFill>
              <a:srgbClr val="F3C9CC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516990" y="4425696"/>
            <a:ext cx="22174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내용 부족으로 인해 아직 마일리지가 지급되지</a:t>
            </a:r>
          </a:p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않았습니다. 신고 내역을 보완해 주세요.</a:t>
            </a:r>
          </a:p>
        </p:txBody>
      </p:sp>
      <p:sp>
        <p:nvSpPr>
          <p:cNvPr id="32" name="edit"/>
          <p:cNvSpPr/>
          <p:nvPr/>
        </p:nvSpPr>
        <p:spPr>
          <a:xfrm>
            <a:off x="1443838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1443838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신고 내역 수정</a:t>
            </a:r>
          </a:p>
        </p:txBody>
      </p:sp>
      <p:sp>
        <p:nvSpPr>
          <p:cNvPr id="34" name="t"/>
          <p:cNvSpPr txBox="1"/>
          <p:nvPr/>
        </p:nvSpPr>
        <p:spPr>
          <a:xfrm>
            <a:off x="4753966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763110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map"/>
          <p:cNvSpPr/>
          <p:nvPr/>
        </p:nvSpPr>
        <p:spPr>
          <a:xfrm>
            <a:off x="4936846" y="1737360"/>
            <a:ext cx="2363724" cy="603504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4936846" y="1956816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지도 · 핀</a:t>
            </a:r>
          </a:p>
        </p:txBody>
      </p:sp>
      <p:sp>
        <p:nvSpPr>
          <p:cNvPr id="38" name="t"/>
          <p:cNvSpPr txBox="1"/>
          <p:nvPr/>
        </p:nvSpPr>
        <p:spPr>
          <a:xfrm>
            <a:off x="4936846" y="2395728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39" name="ln"/>
          <p:cNvCxnSpPr/>
          <p:nvPr/>
        </p:nvCxnSpPr>
        <p:spPr>
          <a:xfrm>
            <a:off x="4763110" y="27432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0" name="t"/>
          <p:cNvSpPr txBox="1"/>
          <p:nvPr/>
        </p:nvSpPr>
        <p:spPr>
          <a:xfrm>
            <a:off x="4936846" y="2798064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신고 유형</a:t>
            </a:r>
          </a:p>
        </p:txBody>
      </p:sp>
      <p:sp>
        <p:nvSpPr>
          <p:cNvPr id="41" name="radio"/>
          <p:cNvSpPr/>
          <p:nvPr/>
        </p:nvSpPr>
        <p:spPr>
          <a:xfrm>
            <a:off x="4936846" y="2999232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dot"/>
          <p:cNvSpPr/>
          <p:nvPr/>
        </p:nvSpPr>
        <p:spPr>
          <a:xfrm>
            <a:off x="4964278" y="302666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5119726" y="2990088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단차 (높이 2cm 이상)</a:t>
            </a:r>
          </a:p>
        </p:txBody>
      </p:sp>
      <p:sp>
        <p:nvSpPr>
          <p:cNvPr id="44" name="radio"/>
          <p:cNvSpPr/>
          <p:nvPr/>
        </p:nvSpPr>
        <p:spPr>
          <a:xfrm>
            <a:off x="4936846" y="3209544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5119726" y="3200400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경사 (경사도 1/8 이상)</a:t>
            </a:r>
          </a:p>
        </p:txBody>
      </p:sp>
      <p:sp>
        <p:nvSpPr>
          <p:cNvPr id="46" name="radio"/>
          <p:cNvSpPr/>
          <p:nvPr/>
        </p:nvSpPr>
        <p:spPr>
          <a:xfrm>
            <a:off x="4936846" y="341985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5119726" y="3410712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 (1.2m 이하)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4763110" y="367588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4936846" y="373075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 입력</a:t>
            </a:r>
          </a:p>
        </p:txBody>
      </p:sp>
      <p:sp>
        <p:nvSpPr>
          <p:cNvPr id="50" name="t 사진 라벨"/>
          <p:cNvSpPr txBox="1"/>
          <p:nvPr/>
        </p:nvSpPr>
        <p:spPr>
          <a:xfrm>
            <a:off x="4937760" y="4626864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사진 첨부 (선택)</a:t>
            </a:r>
          </a:p>
        </p:txBody>
      </p:sp>
      <p:sp>
        <p:nvSpPr>
          <p:cNvPr id="51" name="t"/>
          <p:cNvSpPr txBox="1"/>
          <p:nvPr/>
        </p:nvSpPr>
        <p:spPr>
          <a:xfrm>
            <a:off x="4936846" y="3895344"/>
            <a:ext cx="23637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52" name="ta"/>
          <p:cNvSpPr/>
          <p:nvPr/>
        </p:nvSpPr>
        <p:spPr>
          <a:xfrm>
            <a:off x="4936846" y="4059936"/>
            <a:ext cx="23637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5009998" y="4151376"/>
            <a:ext cx="22174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보도폭이 좁아 휠체어 이용이 어렵습니다.</a:t>
            </a:r>
          </a:p>
        </p:txBody>
      </p:sp>
      <p:cxnSp>
        <p:nvCxnSpPr>
          <p:cNvPr id="54" name="ln"/>
          <p:cNvCxnSpPr/>
          <p:nvPr/>
        </p:nvCxnSpPr>
        <p:spPr>
          <a:xfrm>
            <a:off x="4763110" y="4572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5" name="thumb"/>
          <p:cNvSpPr/>
          <p:nvPr/>
        </p:nvSpPr>
        <p:spPr>
          <a:xfrm>
            <a:off x="4936846" y="4791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4936846" y="4919472"/>
            <a:ext cx="384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사진1</a:t>
            </a:r>
          </a:p>
        </p:txBody>
      </p:sp>
      <p:sp>
        <p:nvSpPr>
          <p:cNvPr id="57" name="thumb"/>
          <p:cNvSpPr/>
          <p:nvPr/>
        </p:nvSpPr>
        <p:spPr>
          <a:xfrm>
            <a:off x="5448910" y="4791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5448910" y="4919472"/>
            <a:ext cx="384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사진2</a:t>
            </a:r>
          </a:p>
        </p:txBody>
      </p:sp>
      <p:sp>
        <p:nvSpPr>
          <p:cNvPr id="59" name="addphoto"/>
          <p:cNvSpPr/>
          <p:nvPr/>
        </p:nvSpPr>
        <p:spPr>
          <a:xfrm>
            <a:off x="4936846" y="5230368"/>
            <a:ext cx="2363724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4936846" y="529437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＋ 사진 첨부</a:t>
            </a:r>
          </a:p>
        </p:txBody>
      </p:sp>
      <p:sp>
        <p:nvSpPr>
          <p:cNvPr id="61" name="save"/>
          <p:cNvSpPr/>
          <p:nvPr/>
        </p:nvSpPr>
        <p:spPr>
          <a:xfrm>
            <a:off x="4936846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4936846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저장하기</a:t>
            </a:r>
          </a:p>
        </p:txBody>
      </p:sp>
      <p:sp>
        <p:nvSpPr>
          <p:cNvPr id="63" name="t"/>
          <p:cNvSpPr txBox="1"/>
          <p:nvPr/>
        </p:nvSpPr>
        <p:spPr>
          <a:xfrm>
            <a:off x="1260958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조회 모드 — 정보부족</a:t>
            </a:r>
          </a:p>
        </p:txBody>
      </p:sp>
      <p:sp>
        <p:nvSpPr>
          <p:cNvPr id="64" name="t"/>
          <p:cNvSpPr txBox="1"/>
          <p:nvPr/>
        </p:nvSpPr>
        <p:spPr>
          <a:xfrm>
            <a:off x="4753966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수정 모드 — 값이 채워진 등록 폼</a:t>
            </a:r>
          </a:p>
        </p:txBody>
      </p:sp>
      <p:sp>
        <p:nvSpPr>
          <p:cNvPr id="6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66" name="뒤로가기"/>
          <p:cNvCxnSpPr/>
          <p:nvPr/>
        </p:nvCxnSpPr>
        <p:spPr>
          <a:xfrm flipH="1">
            <a:off x="1433170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 flipV="1">
            <a:off x="1433170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>
            <a:off x="4926178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 flipV="1">
            <a:off x="4926178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숫자배지 4"/>
          <p:cNvSpPr/>
          <p:nvPr/>
        </p:nvSpPr>
        <p:spPr>
          <a:xfrm>
            <a:off x="1115568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1" name="숫자배지 5"/>
          <p:cNvSpPr/>
          <p:nvPr/>
        </p:nvSpPr>
        <p:spPr>
          <a:xfrm>
            <a:off x="1115568" y="4352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2" name="숫자배지 6"/>
          <p:cNvSpPr/>
          <p:nvPr/>
        </p:nvSpPr>
        <p:spPr>
          <a:xfrm>
            <a:off x="1115568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3" name="숫자배지 7"/>
          <p:cNvSpPr/>
          <p:nvPr/>
        </p:nvSpPr>
        <p:spPr>
          <a:xfrm>
            <a:off x="4608576" y="17190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74" name="숫자배지 8"/>
          <p:cNvSpPr/>
          <p:nvPr/>
        </p:nvSpPr>
        <p:spPr>
          <a:xfrm>
            <a:off x="4608576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6916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9443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내역 · 상세 · 수정 (3/3)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29192" y="1447800"/>
          <a:ext cx="2972409" cy="38613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수정 모드 — 값이 채워진 등록 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1-6-1의 레이아웃 · 요소 · 동작을 상속 · 하단만 [저장하기]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고칠 수 있는 것 4가지 — 위치 · 신고 유형 · 상세 내용 · 사진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접수 상태 · 처리 결과 · 사용자 안내 문구를 가져오지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현위치를 자동 측정하지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[저장하기]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활성 조건 · 비활성 문안 4종을 등록 폼에서 그대로 상속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위치 · 사진 · 유형 · 내용이 이때 함께 올라감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정보부족에서 저장하면 상태가 접수됨으로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 · 사진 삭제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저장하지 않은 변경은 남지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삭제에 확인 팝업을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"/>
          <p:cNvSpPr txBox="1"/>
          <p:nvPr/>
        </p:nvSpPr>
        <p:spPr>
          <a:xfrm>
            <a:off x="1260958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15" name="ln"/>
          <p:cNvCxnSpPr/>
          <p:nvPr/>
        </p:nvCxnSpPr>
        <p:spPr>
          <a:xfrm>
            <a:off x="1270102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6" name="t"/>
          <p:cNvSpPr txBox="1"/>
          <p:nvPr/>
        </p:nvSpPr>
        <p:spPr>
          <a:xfrm>
            <a:off x="1443838" y="175564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주소</a:t>
            </a:r>
          </a:p>
        </p:txBody>
      </p:sp>
      <p:sp>
        <p:nvSpPr>
          <p:cNvPr id="17" name="t"/>
          <p:cNvSpPr txBox="1"/>
          <p:nvPr/>
        </p:nvSpPr>
        <p:spPr>
          <a:xfrm>
            <a:off x="1443838" y="1920240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270102" y="2286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photo"/>
          <p:cNvSpPr/>
          <p:nvPr/>
        </p:nvSpPr>
        <p:spPr>
          <a:xfrm>
            <a:off x="1443838" y="2359152"/>
            <a:ext cx="2363724" cy="658368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43838" y="261518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신고 사진</a:t>
            </a:r>
          </a:p>
        </p:txBody>
      </p:sp>
      <p:cxnSp>
        <p:nvCxnSpPr>
          <p:cNvPr id="21" name="ln"/>
          <p:cNvCxnSpPr/>
          <p:nvPr/>
        </p:nvCxnSpPr>
        <p:spPr>
          <a:xfrm>
            <a:off x="1270102" y="310896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2" name="t"/>
          <p:cNvSpPr txBox="1"/>
          <p:nvPr/>
        </p:nvSpPr>
        <p:spPr>
          <a:xfrm>
            <a:off x="1443838" y="3182112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</a:t>
            </a:r>
          </a:p>
        </p:txBody>
      </p:sp>
      <p:sp>
        <p:nvSpPr>
          <p:cNvPr id="23" name="t"/>
          <p:cNvSpPr txBox="1"/>
          <p:nvPr/>
        </p:nvSpPr>
        <p:spPr>
          <a:xfrm>
            <a:off x="1443838" y="3364992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불편 신고에 대한 상세 내용 표출</a:t>
            </a:r>
          </a:p>
        </p:txBody>
      </p:sp>
      <p:cxnSp>
        <p:nvCxnSpPr>
          <p:cNvPr id="24" name="ln"/>
          <p:cNvCxnSpPr/>
          <p:nvPr/>
        </p:nvCxnSpPr>
        <p:spPr>
          <a:xfrm>
            <a:off x="1270102" y="358444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5" name="t"/>
          <p:cNvSpPr txBox="1"/>
          <p:nvPr/>
        </p:nvSpPr>
        <p:spPr>
          <a:xfrm>
            <a:off x="1443838" y="3657600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접수 상태</a:t>
            </a:r>
          </a:p>
        </p:txBody>
      </p:sp>
      <p:sp>
        <p:nvSpPr>
          <p:cNvPr id="26" name="t"/>
          <p:cNvSpPr txBox="1"/>
          <p:nvPr/>
        </p:nvSpPr>
        <p:spPr>
          <a:xfrm>
            <a:off x="2723998" y="3657600"/>
            <a:ext cx="108356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정보부족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43838" y="387705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처리 결과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43838" y="405993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(관리자 코멘트 — 부족한 내용)</a:t>
            </a:r>
          </a:p>
        </p:txBody>
      </p:sp>
      <p:cxnSp>
        <p:nvCxnSpPr>
          <p:cNvPr id="29" name="ln"/>
          <p:cNvCxnSpPr/>
          <p:nvPr/>
        </p:nvCxnSpPr>
        <p:spPr>
          <a:xfrm>
            <a:off x="1270102" y="427939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0" name="mileage"/>
          <p:cNvSpPr/>
          <p:nvPr/>
        </p:nvSpPr>
        <p:spPr>
          <a:xfrm>
            <a:off x="1443838" y="4352544"/>
            <a:ext cx="2363724" cy="475488"/>
          </a:xfrm>
          <a:prstGeom prst="roundRect">
            <a:avLst>
              <a:gd name="adj" fmla="val 6000"/>
            </a:avLst>
          </a:prstGeom>
          <a:solidFill>
            <a:srgbClr val="FFF6F6"/>
          </a:solidFill>
          <a:ln w="12700">
            <a:solidFill>
              <a:srgbClr val="F3C9CC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516990" y="4425696"/>
            <a:ext cx="22174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내용 부족으로 인해 아직 마일리지가 지급되지</a:t>
            </a:r>
          </a:p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않았습니다. 신고 내역을 보완해 주세요.</a:t>
            </a:r>
          </a:p>
        </p:txBody>
      </p:sp>
      <p:sp>
        <p:nvSpPr>
          <p:cNvPr id="32" name="edit"/>
          <p:cNvSpPr/>
          <p:nvPr/>
        </p:nvSpPr>
        <p:spPr>
          <a:xfrm>
            <a:off x="1443838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1443838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신고 내역 수정</a:t>
            </a:r>
          </a:p>
        </p:txBody>
      </p:sp>
      <p:sp>
        <p:nvSpPr>
          <p:cNvPr id="34" name="t"/>
          <p:cNvSpPr txBox="1"/>
          <p:nvPr/>
        </p:nvSpPr>
        <p:spPr>
          <a:xfrm>
            <a:off x="4753966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763110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map"/>
          <p:cNvSpPr/>
          <p:nvPr/>
        </p:nvSpPr>
        <p:spPr>
          <a:xfrm>
            <a:off x="4936846" y="1737360"/>
            <a:ext cx="2363724" cy="603504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4936846" y="1956816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지도 · 핀</a:t>
            </a:r>
          </a:p>
        </p:txBody>
      </p:sp>
      <p:sp>
        <p:nvSpPr>
          <p:cNvPr id="38" name="t"/>
          <p:cNvSpPr txBox="1"/>
          <p:nvPr/>
        </p:nvSpPr>
        <p:spPr>
          <a:xfrm>
            <a:off x="4936846" y="2395728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39" name="ln"/>
          <p:cNvCxnSpPr/>
          <p:nvPr/>
        </p:nvCxnSpPr>
        <p:spPr>
          <a:xfrm>
            <a:off x="4763110" y="27432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0" name="t"/>
          <p:cNvSpPr txBox="1"/>
          <p:nvPr/>
        </p:nvSpPr>
        <p:spPr>
          <a:xfrm>
            <a:off x="4936846" y="2798064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신고 유형</a:t>
            </a:r>
          </a:p>
        </p:txBody>
      </p:sp>
      <p:sp>
        <p:nvSpPr>
          <p:cNvPr id="41" name="radio"/>
          <p:cNvSpPr/>
          <p:nvPr/>
        </p:nvSpPr>
        <p:spPr>
          <a:xfrm>
            <a:off x="4936846" y="2999232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dot"/>
          <p:cNvSpPr/>
          <p:nvPr/>
        </p:nvSpPr>
        <p:spPr>
          <a:xfrm>
            <a:off x="4964278" y="302666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5119726" y="2990088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단차 (높이 2cm 이상)</a:t>
            </a:r>
          </a:p>
        </p:txBody>
      </p:sp>
      <p:sp>
        <p:nvSpPr>
          <p:cNvPr id="44" name="radio"/>
          <p:cNvSpPr/>
          <p:nvPr/>
        </p:nvSpPr>
        <p:spPr>
          <a:xfrm>
            <a:off x="4936846" y="3209544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5119726" y="3200400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경사 (경사도 1/8 이상)</a:t>
            </a:r>
          </a:p>
        </p:txBody>
      </p:sp>
      <p:sp>
        <p:nvSpPr>
          <p:cNvPr id="46" name="radio"/>
          <p:cNvSpPr/>
          <p:nvPr/>
        </p:nvSpPr>
        <p:spPr>
          <a:xfrm>
            <a:off x="4936846" y="341985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5119726" y="3410712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 (1.2m 이하)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4763110" y="367588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4936846" y="373075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 입력</a:t>
            </a:r>
          </a:p>
        </p:txBody>
      </p:sp>
      <p:sp>
        <p:nvSpPr>
          <p:cNvPr id="50" name="t 사진 라벨"/>
          <p:cNvSpPr txBox="1"/>
          <p:nvPr/>
        </p:nvSpPr>
        <p:spPr>
          <a:xfrm>
            <a:off x="4937760" y="4626864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사진 첨부 (선택)</a:t>
            </a:r>
          </a:p>
        </p:txBody>
      </p:sp>
      <p:sp>
        <p:nvSpPr>
          <p:cNvPr id="51" name="t"/>
          <p:cNvSpPr txBox="1"/>
          <p:nvPr/>
        </p:nvSpPr>
        <p:spPr>
          <a:xfrm>
            <a:off x="4936846" y="3895344"/>
            <a:ext cx="23637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52" name="ta"/>
          <p:cNvSpPr/>
          <p:nvPr/>
        </p:nvSpPr>
        <p:spPr>
          <a:xfrm>
            <a:off x="4936846" y="4059936"/>
            <a:ext cx="23637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5009998" y="4151376"/>
            <a:ext cx="22174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보도폭이 좁아 휠체어 이용이 어렵습니다.</a:t>
            </a:r>
          </a:p>
        </p:txBody>
      </p:sp>
      <p:cxnSp>
        <p:nvCxnSpPr>
          <p:cNvPr id="54" name="ln"/>
          <p:cNvCxnSpPr/>
          <p:nvPr/>
        </p:nvCxnSpPr>
        <p:spPr>
          <a:xfrm>
            <a:off x="4763110" y="4572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5" name="thumb"/>
          <p:cNvSpPr/>
          <p:nvPr/>
        </p:nvSpPr>
        <p:spPr>
          <a:xfrm>
            <a:off x="4936846" y="4791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4936846" y="4919472"/>
            <a:ext cx="384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사진1</a:t>
            </a:r>
          </a:p>
        </p:txBody>
      </p:sp>
      <p:sp>
        <p:nvSpPr>
          <p:cNvPr id="57" name="thumb"/>
          <p:cNvSpPr/>
          <p:nvPr/>
        </p:nvSpPr>
        <p:spPr>
          <a:xfrm>
            <a:off x="5448910" y="4791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5448910" y="4919472"/>
            <a:ext cx="384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사진2</a:t>
            </a:r>
          </a:p>
        </p:txBody>
      </p:sp>
      <p:sp>
        <p:nvSpPr>
          <p:cNvPr id="59" name="addphoto"/>
          <p:cNvSpPr/>
          <p:nvPr/>
        </p:nvSpPr>
        <p:spPr>
          <a:xfrm>
            <a:off x="4936846" y="5230368"/>
            <a:ext cx="2363724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4936846" y="529437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＋ 사진 첨부</a:t>
            </a:r>
          </a:p>
        </p:txBody>
      </p:sp>
      <p:sp>
        <p:nvSpPr>
          <p:cNvPr id="61" name="save"/>
          <p:cNvSpPr/>
          <p:nvPr/>
        </p:nvSpPr>
        <p:spPr>
          <a:xfrm>
            <a:off x="4936846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4936846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저장하기</a:t>
            </a:r>
          </a:p>
        </p:txBody>
      </p:sp>
      <p:sp>
        <p:nvSpPr>
          <p:cNvPr id="63" name="t"/>
          <p:cNvSpPr txBox="1"/>
          <p:nvPr/>
        </p:nvSpPr>
        <p:spPr>
          <a:xfrm>
            <a:off x="1260958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조회 모드 — 정보부족</a:t>
            </a:r>
          </a:p>
        </p:txBody>
      </p:sp>
      <p:sp>
        <p:nvSpPr>
          <p:cNvPr id="64" name="t"/>
          <p:cNvSpPr txBox="1"/>
          <p:nvPr/>
        </p:nvSpPr>
        <p:spPr>
          <a:xfrm>
            <a:off x="4753966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수정 모드 — 값이 채워진 등록 폼</a:t>
            </a:r>
          </a:p>
        </p:txBody>
      </p:sp>
      <p:sp>
        <p:nvSpPr>
          <p:cNvPr id="65" name="숫자배지 4"/>
          <p:cNvSpPr/>
          <p:nvPr/>
        </p:nvSpPr>
        <p:spPr>
          <a:xfrm>
            <a:off x="1115568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6" name="숫자배지 5"/>
          <p:cNvSpPr/>
          <p:nvPr/>
        </p:nvSpPr>
        <p:spPr>
          <a:xfrm>
            <a:off x="1115568" y="4352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7" name="숫자배지 6"/>
          <p:cNvSpPr/>
          <p:nvPr/>
        </p:nvSpPr>
        <p:spPr>
          <a:xfrm>
            <a:off x="1115568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8" name="숫자배지 7"/>
          <p:cNvSpPr/>
          <p:nvPr/>
        </p:nvSpPr>
        <p:spPr>
          <a:xfrm>
            <a:off x="4608576" y="17190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69" name="숫자배지 8"/>
          <p:cNvSpPr/>
          <p:nvPr/>
        </p:nvSpPr>
        <p:spPr>
          <a:xfrm>
            <a:off x="4608576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71" name="뒤로가기"/>
          <p:cNvCxnSpPr/>
          <p:nvPr/>
        </p:nvCxnSpPr>
        <p:spPr>
          <a:xfrm flipH="1">
            <a:off x="1433170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 flipV="1">
            <a:off x="1433170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>
            <a:off x="4926178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/>
          <p:cNvCxnSpPr/>
          <p:nvPr/>
        </p:nvCxnSpPr>
        <p:spPr>
          <a:xfrm flipH="1" flipV="1">
            <a:off x="4926178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4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6" name="흐름 3-1 교통약자 유형 변경"/>
          <p:cNvSpPr/>
          <p:nvPr/>
        </p:nvSpPr>
        <p:spPr>
          <a:xfrm>
            <a:off x="5801868" y="1078992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5906110" y="1078992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8" name="흐름 3-2 내 마일리지"/>
          <p:cNvSpPr/>
          <p:nvPr/>
        </p:nvSpPr>
        <p:spPr>
          <a:xfrm>
            <a:off x="5801868" y="1527048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5906110" y="1527048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20" name="흐름 3-3 즐겨찾기 관리"/>
          <p:cNvSpPr/>
          <p:nvPr/>
        </p:nvSpPr>
        <p:spPr>
          <a:xfrm>
            <a:off x="5801868" y="1975104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5906110" y="1975104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2" name="흐름 3-5 공지사항"/>
          <p:cNvSpPr/>
          <p:nvPr/>
        </p:nvSpPr>
        <p:spPr>
          <a:xfrm>
            <a:off x="5801868" y="2871216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06110" y="2871216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3-5 공지사항</a:t>
            </a:r>
          </a:p>
        </p:txBody>
      </p:sp>
      <p:sp>
        <p:nvSpPr>
          <p:cNvPr id="24" name="흐름 3-6-2 문의 상세"/>
          <p:cNvSpPr/>
          <p:nvPr/>
        </p:nvSpPr>
        <p:spPr>
          <a:xfrm>
            <a:off x="10259568" y="3319272"/>
            <a:ext cx="1371600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10369296" y="331927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3-6-2 문의 상세</a:t>
            </a:r>
          </a:p>
        </p:txBody>
      </p:sp>
      <p:sp>
        <p:nvSpPr>
          <p:cNvPr id="26" name="흐름 3-6-1 문의하기"/>
          <p:cNvSpPr/>
          <p:nvPr/>
        </p:nvSpPr>
        <p:spPr>
          <a:xfrm>
            <a:off x="8522208" y="3319272"/>
            <a:ext cx="1371600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8631936" y="331927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3-6-1 문의하기</a:t>
            </a:r>
          </a:p>
        </p:txBody>
      </p:sp>
      <p:sp>
        <p:nvSpPr>
          <p:cNvPr id="28" name="흐름 3-6 1:1 문의"/>
          <p:cNvSpPr/>
          <p:nvPr/>
        </p:nvSpPr>
        <p:spPr>
          <a:xfrm>
            <a:off x="5801868" y="3319272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5906110" y="3319272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3-6 1:1 문의</a:t>
            </a:r>
          </a:p>
        </p:txBody>
      </p:sp>
      <p:sp>
        <p:nvSpPr>
          <p:cNvPr id="30" name="흐름 3-9 로그아웃"/>
          <p:cNvSpPr/>
          <p:nvPr/>
        </p:nvSpPr>
        <p:spPr>
          <a:xfrm>
            <a:off x="5801868" y="4663440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5906110" y="4663440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3-9 로그아웃</a:t>
            </a:r>
          </a:p>
        </p:txBody>
      </p:sp>
      <p:sp>
        <p:nvSpPr>
          <p:cNvPr id="32" name="흐름 3-10 회원 탈퇴"/>
          <p:cNvSpPr/>
          <p:nvPr/>
        </p:nvSpPr>
        <p:spPr>
          <a:xfrm>
            <a:off x="5801868" y="5111496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흐름 제목"/>
          <p:cNvSpPr txBox="1"/>
          <p:nvPr/>
        </p:nvSpPr>
        <p:spPr>
          <a:xfrm>
            <a:off x="5906110" y="5111496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3-10 회원 탈퇴</a:t>
            </a:r>
          </a:p>
        </p:txBody>
      </p:sp>
      <p:sp>
        <p:nvSpPr>
          <p:cNvPr id="34" name="흐름 선택 유형 → 경로 탐색 최적"/>
          <p:cNvSpPr/>
          <p:nvPr/>
        </p:nvSpPr>
        <p:spPr>
          <a:xfrm>
            <a:off x="8518944" y="1044572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흐름 제목"/>
          <p:cNvSpPr txBox="1"/>
          <p:nvPr/>
        </p:nvSpPr>
        <p:spPr>
          <a:xfrm>
            <a:off x="8623719" y="1044572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36" name="흐름 0-1 로그인 복귀"/>
          <p:cNvSpPr/>
          <p:nvPr/>
        </p:nvSpPr>
        <p:spPr>
          <a:xfrm>
            <a:off x="8518944" y="4629020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8623719" y="4629020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8" name="연결선"/>
          <p:cNvCxnSpPr>
            <a:stCxn id="12" idx="0"/>
            <a:endCxn id="14" idx="2"/>
          </p:cNvCxnSpPr>
          <p:nvPr/>
        </p:nvCxnSpPr>
        <p:spPr>
          <a:xfrm flipH="1" flipV="1">
            <a:off x="3987865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30" idx="3"/>
            <a:endCxn id="36" idx="1"/>
          </p:cNvCxnSpPr>
          <p:nvPr/>
        </p:nvCxnSpPr>
        <p:spPr>
          <a:xfrm flipV="1">
            <a:off x="7885147" y="4855464"/>
            <a:ext cx="63379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16" idx="3"/>
            <a:endCxn id="34" idx="1"/>
          </p:cNvCxnSpPr>
          <p:nvPr/>
        </p:nvCxnSpPr>
        <p:spPr>
          <a:xfrm flipV="1">
            <a:off x="7885147" y="1271016"/>
            <a:ext cx="63379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676704" y="3253453"/>
            <a:ext cx="40759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흐름 3-7 이용약관 및 정책"/>
          <p:cNvSpPr/>
          <p:nvPr/>
        </p:nvSpPr>
        <p:spPr>
          <a:xfrm>
            <a:off x="5801868" y="3767328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/>
          <p:cNvSpPr txBox="1"/>
          <p:nvPr/>
        </p:nvSpPr>
        <p:spPr>
          <a:xfrm>
            <a:off x="5906110" y="3767328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3-7 이용약관 및 정책</a:t>
            </a:r>
          </a:p>
        </p:txBody>
      </p:sp>
      <p:sp>
        <p:nvSpPr>
          <p:cNvPr id="44" name="흐름 3-4 저상버스 예약 내역"/>
          <p:cNvSpPr/>
          <p:nvPr/>
        </p:nvSpPr>
        <p:spPr>
          <a:xfrm>
            <a:off x="5801868" y="2423160"/>
            <a:ext cx="2084831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흐름 제목"/>
          <p:cNvSpPr txBox="1"/>
          <p:nvPr/>
        </p:nvSpPr>
        <p:spPr>
          <a:xfrm>
            <a:off x="5906110" y="2423160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3-4 저상버스 예약 내역</a:t>
            </a:r>
          </a:p>
        </p:txBody>
      </p:sp>
      <p:sp>
        <p:nvSpPr>
          <p:cNvPr id="46" name="흐름 3-8 오픈소스 라이선스"/>
          <p:cNvSpPr/>
          <p:nvPr/>
        </p:nvSpPr>
        <p:spPr>
          <a:xfrm>
            <a:off x="5801868" y="4215384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흐름 제목"/>
          <p:cNvSpPr txBox="1"/>
          <p:nvPr/>
        </p:nvSpPr>
        <p:spPr>
          <a:xfrm>
            <a:off x="5906110" y="4215384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3-8 오픈소스 라이선스</a:t>
            </a:r>
          </a:p>
        </p:txBody>
      </p:sp>
      <p:cxnSp>
        <p:nvCxnSpPr>
          <p:cNvPr id="48" name="연결선"/>
          <p:cNvCxnSpPr>
            <a:stCxn id="12" idx="3"/>
            <a:endCxn id="16" idx="1"/>
          </p:cNvCxnSpPr>
          <p:nvPr/>
        </p:nvCxnSpPr>
        <p:spPr>
          <a:xfrm flipV="1">
            <a:off x="4895850" y="1271016"/>
            <a:ext cx="906018" cy="19824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"/>
          <p:cNvCxnSpPr>
            <a:stCxn id="12" idx="3"/>
            <a:endCxn id="18" idx="1"/>
          </p:cNvCxnSpPr>
          <p:nvPr/>
        </p:nvCxnSpPr>
        <p:spPr>
          <a:xfrm flipV="1">
            <a:off x="4895850" y="1719072"/>
            <a:ext cx="906018" cy="1534381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"/>
          <p:cNvCxnSpPr>
            <a:stCxn id="12" idx="3"/>
            <a:endCxn id="20" idx="1"/>
          </p:cNvCxnSpPr>
          <p:nvPr/>
        </p:nvCxnSpPr>
        <p:spPr>
          <a:xfrm flipV="1">
            <a:off x="4895850" y="2167128"/>
            <a:ext cx="906018" cy="10863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"/>
          <p:cNvCxnSpPr>
            <a:stCxn id="12" idx="3"/>
            <a:endCxn id="44" idx="1"/>
          </p:cNvCxnSpPr>
          <p:nvPr/>
        </p:nvCxnSpPr>
        <p:spPr>
          <a:xfrm flipV="1">
            <a:off x="4895850" y="2615184"/>
            <a:ext cx="906018" cy="63826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연결선"/>
          <p:cNvCxnSpPr>
            <a:stCxn id="12" idx="3"/>
            <a:endCxn id="22" idx="1"/>
          </p:cNvCxnSpPr>
          <p:nvPr/>
        </p:nvCxnSpPr>
        <p:spPr>
          <a:xfrm flipV="1">
            <a:off x="4895850" y="3063240"/>
            <a:ext cx="906018" cy="19021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"/>
          <p:cNvCxnSpPr>
            <a:stCxn id="12" idx="3"/>
            <a:endCxn id="42" idx="1"/>
          </p:cNvCxnSpPr>
          <p:nvPr/>
        </p:nvCxnSpPr>
        <p:spPr>
          <a:xfrm>
            <a:off x="4895850" y="3253453"/>
            <a:ext cx="906018" cy="70589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"/>
          <p:cNvCxnSpPr>
            <a:stCxn id="12" idx="3"/>
            <a:endCxn id="46" idx="1"/>
          </p:cNvCxnSpPr>
          <p:nvPr/>
        </p:nvCxnSpPr>
        <p:spPr>
          <a:xfrm>
            <a:off x="4895850" y="3253453"/>
            <a:ext cx="906018" cy="115395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"/>
          <p:cNvCxnSpPr>
            <a:stCxn id="12" idx="3"/>
            <a:endCxn id="30" idx="1"/>
          </p:cNvCxnSpPr>
          <p:nvPr/>
        </p:nvCxnSpPr>
        <p:spPr>
          <a:xfrm>
            <a:off x="4895850" y="3253453"/>
            <a:ext cx="906018" cy="1602011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"/>
          <p:cNvCxnSpPr>
            <a:stCxn id="12" idx="3"/>
            <a:endCxn id="32" idx="1"/>
          </p:cNvCxnSpPr>
          <p:nvPr/>
        </p:nvCxnSpPr>
        <p:spPr>
          <a:xfrm>
            <a:off x="4895850" y="3253453"/>
            <a:ext cx="906018" cy="205006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"/>
          <p:cNvCxnSpPr>
            <a:stCxn id="12" idx="3"/>
            <a:endCxn id="58" idx="1"/>
          </p:cNvCxnSpPr>
          <p:nvPr/>
        </p:nvCxnSpPr>
        <p:spPr>
          <a:xfrm>
            <a:off x="4895850" y="3253453"/>
            <a:ext cx="906018" cy="249812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흐름 3-11 언어 변경"/>
          <p:cNvSpPr/>
          <p:nvPr/>
        </p:nvSpPr>
        <p:spPr>
          <a:xfrm>
            <a:off x="5801868" y="5559552"/>
            <a:ext cx="2083279" cy="384048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흐름 제목"/>
          <p:cNvSpPr txBox="1"/>
          <p:nvPr/>
        </p:nvSpPr>
        <p:spPr>
          <a:xfrm>
            <a:off x="5906110" y="5559552"/>
            <a:ext cx="187372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3-11 언어 변경</a:t>
            </a:r>
          </a:p>
        </p:txBody>
      </p:sp>
      <p:cxnSp>
        <p:nvCxnSpPr>
          <p:cNvPr id="60" name="연결선"/>
          <p:cNvCxnSpPr>
            <a:stCxn id="12" idx="3"/>
            <a:endCxn id="28" idx="1"/>
          </p:cNvCxnSpPr>
          <p:nvPr/>
        </p:nvCxnSpPr>
        <p:spPr>
          <a:xfrm>
            <a:off x="4895850" y="3253453"/>
            <a:ext cx="906018" cy="25784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"/>
          <p:cNvCxnSpPr>
            <a:stCxn id="28" idx="3"/>
            <a:endCxn id="26" idx="1"/>
          </p:cNvCxnSpPr>
          <p:nvPr/>
        </p:nvCxnSpPr>
        <p:spPr>
          <a:xfrm>
            <a:off x="7885147" y="3511296"/>
            <a:ext cx="63706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"/>
          <p:cNvCxnSpPr>
            <a:stCxn id="26" idx="3"/>
            <a:endCxn id="24" idx="1"/>
          </p:cNvCxnSpPr>
          <p:nvPr/>
        </p:nvCxnSpPr>
        <p:spPr>
          <a:xfrm>
            <a:off x="9893808" y="3511296"/>
            <a:ext cx="36576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(1/4)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801807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49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보조 문구"/>
          <p:cNvSpPr txBox="1"/>
          <p:nvPr/>
        </p:nvSpPr>
        <p:spPr>
          <a:xfrm>
            <a:off x="3877056" y="3749039"/>
            <a:ext cx="2057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20" dirty="0" err="1">
                <a:solidFill>
                  <a:srgbClr val="5B6573"/>
                </a:solidFill>
                <a:latin typeface="Pretendard"/>
              </a:rPr>
              <a:t>한글, 영문 최대 8글자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4095613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4095610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4119652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1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2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4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2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3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4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467298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레이아웃 — 섹션 3개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개인 설정 → 카드 2개 → 저상버스 예약 내역 → 서비스 정보 → 계정 → 앱 버전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제목은 눌리지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[&gt;]는 하위 화면 진입 행에만 표출 — 계정 · 앱 버전에는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닉네임 인사 줄 ＋ 수정 아이콘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「0000 님 반갑습니다.」 ＋ 우측 연필 아이콘 · 한글 · 영문 8자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닉네임 수정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「닉네임을 입력해 주세요.」 ＋ ✕ · 입력란 1개 · [취소] / 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닉네임이 들어 있는 것이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체크는 [저장]을 누르는 시점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입력란 아래 보조 문구 「한글, 영문 최대 8글자」 상시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유형 ＋ [유형 변경]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캡션 1행 ＋ 값 1행 = 2행 · 버튼 1개는 두 행 높이에 맞춤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[유형 변경]을 누르면 3-1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1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2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4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5" name="card"/>
          <p:cNvSpPr/>
          <p:nvPr/>
        </p:nvSpPr>
        <p:spPr>
          <a:xfrm>
            <a:off x="771754" y="204825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881482" y="211226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7" name="t"/>
          <p:cNvSpPr txBox="1"/>
          <p:nvPr/>
        </p:nvSpPr>
        <p:spPr>
          <a:xfrm>
            <a:off x="881482" y="225856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8" name="btn"/>
          <p:cNvSpPr/>
          <p:nvPr/>
        </p:nvSpPr>
        <p:spPr>
          <a:xfrm>
            <a:off x="2487168" y="214884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2487168" y="219913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60" name="card"/>
          <p:cNvSpPr/>
          <p:nvPr/>
        </p:nvSpPr>
        <p:spPr>
          <a:xfrm>
            <a:off x="771754" y="2468880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881482" y="251460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2" name="seg"/>
          <p:cNvSpPr/>
          <p:nvPr/>
        </p:nvSpPr>
        <p:spPr>
          <a:xfrm>
            <a:off x="881482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881482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4" name="seg"/>
          <p:cNvSpPr/>
          <p:nvPr/>
        </p:nvSpPr>
        <p:spPr>
          <a:xfrm>
            <a:off x="1539850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1539850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6" name="card2"/>
          <p:cNvSpPr/>
          <p:nvPr/>
        </p:nvSpPr>
        <p:spPr>
          <a:xfrm>
            <a:off x="771754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7" name="t"/>
          <p:cNvSpPr txBox="1"/>
          <p:nvPr/>
        </p:nvSpPr>
        <p:spPr>
          <a:xfrm>
            <a:off x="771754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8" name="t"/>
          <p:cNvSpPr txBox="1"/>
          <p:nvPr/>
        </p:nvSpPr>
        <p:spPr>
          <a:xfrm>
            <a:off x="771754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9" name="card2"/>
          <p:cNvSpPr/>
          <p:nvPr/>
        </p:nvSpPr>
        <p:spPr>
          <a:xfrm>
            <a:off x="2022653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022653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1" name="t"/>
          <p:cNvSpPr txBox="1"/>
          <p:nvPr/>
        </p:nvSpPr>
        <p:spPr>
          <a:xfrm>
            <a:off x="2022653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2" name="card"/>
          <p:cNvSpPr/>
          <p:nvPr/>
        </p:nvSpPr>
        <p:spPr>
          <a:xfrm>
            <a:off x="771754" y="3721608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881482" y="379018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4" name="badge"/>
          <p:cNvSpPr/>
          <p:nvPr/>
        </p:nvSpPr>
        <p:spPr>
          <a:xfrm>
            <a:off x="2161642" y="3790188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"/>
          <p:cNvSpPr txBox="1"/>
          <p:nvPr/>
        </p:nvSpPr>
        <p:spPr>
          <a:xfrm>
            <a:off x="2161642" y="3817620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76" name="t"/>
          <p:cNvSpPr txBox="1"/>
          <p:nvPr/>
        </p:nvSpPr>
        <p:spPr>
          <a:xfrm>
            <a:off x="2962656" y="378104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7" name="t"/>
          <p:cNvSpPr txBox="1"/>
          <p:nvPr/>
        </p:nvSpPr>
        <p:spPr>
          <a:xfrm>
            <a:off x="771754" y="402336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8" name="card"/>
          <p:cNvSpPr/>
          <p:nvPr/>
        </p:nvSpPr>
        <p:spPr>
          <a:xfrm>
            <a:off x="771754" y="4187952"/>
            <a:ext cx="2428646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9" name="t"/>
          <p:cNvSpPr txBox="1"/>
          <p:nvPr/>
        </p:nvSpPr>
        <p:spPr>
          <a:xfrm>
            <a:off x="881482" y="426110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80" name="t"/>
          <p:cNvSpPr txBox="1"/>
          <p:nvPr/>
        </p:nvSpPr>
        <p:spPr>
          <a:xfrm>
            <a:off x="2962656" y="42519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1" name="ln"/>
          <p:cNvCxnSpPr/>
          <p:nvPr/>
        </p:nvCxnSpPr>
        <p:spPr>
          <a:xfrm>
            <a:off x="863194" y="440740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2" name="t"/>
          <p:cNvSpPr txBox="1"/>
          <p:nvPr/>
        </p:nvSpPr>
        <p:spPr>
          <a:xfrm>
            <a:off x="881482" y="462686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3" name="t"/>
          <p:cNvSpPr txBox="1"/>
          <p:nvPr/>
        </p:nvSpPr>
        <p:spPr>
          <a:xfrm>
            <a:off x="2962656" y="461772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863194" y="477316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881482" y="48097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6" name="t"/>
          <p:cNvSpPr txBox="1"/>
          <p:nvPr/>
        </p:nvSpPr>
        <p:spPr>
          <a:xfrm>
            <a:off x="2962656" y="480060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7" name="t"/>
          <p:cNvSpPr txBox="1"/>
          <p:nvPr/>
        </p:nvSpPr>
        <p:spPr>
          <a:xfrm>
            <a:off x="771754" y="5056632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8" name="card"/>
          <p:cNvSpPr/>
          <p:nvPr/>
        </p:nvSpPr>
        <p:spPr>
          <a:xfrm>
            <a:off x="771754" y="5221224"/>
            <a:ext cx="2428646" cy="466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881482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90" name="ln"/>
          <p:cNvCxnSpPr/>
          <p:nvPr/>
        </p:nvCxnSpPr>
        <p:spPr>
          <a:xfrm>
            <a:off x="863194" y="54406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91" name="t"/>
          <p:cNvSpPr txBox="1"/>
          <p:nvPr/>
        </p:nvSpPr>
        <p:spPr>
          <a:xfrm>
            <a:off x="881482" y="54772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2" name="t"/>
          <p:cNvSpPr txBox="1"/>
          <p:nvPr/>
        </p:nvSpPr>
        <p:spPr>
          <a:xfrm>
            <a:off x="771754" y="5705856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3" name="card"/>
          <p:cNvSpPr/>
          <p:nvPr/>
        </p:nvSpPr>
        <p:spPr>
          <a:xfrm>
            <a:off x="771754" y="287121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4" name="t"/>
          <p:cNvSpPr txBox="1"/>
          <p:nvPr/>
        </p:nvSpPr>
        <p:spPr>
          <a:xfrm>
            <a:off x="881482" y="293522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5" name="t"/>
          <p:cNvSpPr txBox="1"/>
          <p:nvPr/>
        </p:nvSpPr>
        <p:spPr>
          <a:xfrm>
            <a:off x="881482" y="308152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6" name="btn"/>
          <p:cNvSpPr/>
          <p:nvPr/>
        </p:nvSpPr>
        <p:spPr>
          <a:xfrm>
            <a:off x="2487168" y="297180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7" name="t"/>
          <p:cNvSpPr txBox="1"/>
          <p:nvPr/>
        </p:nvSpPr>
        <p:spPr>
          <a:xfrm>
            <a:off x="2487168" y="302209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 변경</a:t>
            </a:r>
          </a:p>
        </p:txBody>
      </p:sp>
      <p:sp>
        <p:nvSpPr>
          <p:cNvPr id="98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9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100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1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2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5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7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8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9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0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2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3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4" name="숫자배지 3"/>
          <p:cNvSpPr/>
          <p:nvPr/>
        </p:nvSpPr>
        <p:spPr>
          <a:xfrm>
            <a:off x="3611880" y="2697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5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6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7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8" name="숫자배지 4"/>
          <p:cNvSpPr/>
          <p:nvPr/>
        </p:nvSpPr>
        <p:spPr>
          <a:xfrm>
            <a:off x="384048" y="20482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384048" y="2468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20" name="숫자배지 9"/>
          <p:cNvSpPr/>
          <p:nvPr/>
        </p:nvSpPr>
        <p:spPr>
          <a:xfrm>
            <a:off x="384048" y="32735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1" name="숫자배지 10"/>
          <p:cNvSpPr/>
          <p:nvPr/>
        </p:nvSpPr>
        <p:spPr>
          <a:xfrm>
            <a:off x="384048" y="3703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2" name="숫자배지 11"/>
          <p:cNvSpPr/>
          <p:nvPr/>
        </p:nvSpPr>
        <p:spPr>
          <a:xfrm>
            <a:off x="384048" y="402336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3" name="숫자배지 12"/>
          <p:cNvSpPr/>
          <p:nvPr/>
        </p:nvSpPr>
        <p:spPr>
          <a:xfrm>
            <a:off x="384048" y="5038344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4" name="숫자배지 7"/>
          <p:cNvSpPr/>
          <p:nvPr/>
        </p:nvSpPr>
        <p:spPr>
          <a:xfrm>
            <a:off x="384048" y="2871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5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126" name="t"/>
          <p:cNvSpPr txBox="1"/>
          <p:nvPr/>
        </p:nvSpPr>
        <p:spPr>
          <a:xfrm>
            <a:off x="881482" y="444398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1:1 문의</a:t>
            </a:r>
          </a:p>
        </p:txBody>
      </p:sp>
      <p:sp>
        <p:nvSpPr>
          <p:cNvPr id="127" name="t"/>
          <p:cNvSpPr txBox="1"/>
          <p:nvPr/>
        </p:nvSpPr>
        <p:spPr>
          <a:xfrm>
            <a:off x="2962656" y="443484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128" name="ln"/>
          <p:cNvCxnSpPr/>
          <p:nvPr/>
        </p:nvCxnSpPr>
        <p:spPr>
          <a:xfrm>
            <a:off x="863194" y="459028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(2/4)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801807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49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보조 문구"/>
          <p:cNvSpPr txBox="1"/>
          <p:nvPr/>
        </p:nvSpPr>
        <p:spPr>
          <a:xfrm>
            <a:off x="3877056" y="3749039"/>
            <a:ext cx="2057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20" dirty="0" err="1">
                <a:solidFill>
                  <a:srgbClr val="5B6573"/>
                </a:solidFill>
                <a:latin typeface="Pretendard"/>
              </a:rPr>
              <a:t>한글, 영문 최대 8글자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4095613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4095610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4119652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1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2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4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2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3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4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3606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유형 변경 팝업 (3-1)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「교통약자 유형 선택」 · 선택지 4종 · 라디오 · [취소] / [선택]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전맹을 고르거나 해제하면 유형 팝업을 닫고 확인 팝업을 띄움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글자 크기 2분할 세그먼트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「기본」 / 「크게」 두 단이 한자리에 보임 · 그 자리에서 값이 바뀜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51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언어 · Language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캡션 「언어 · Language」 1행 ＋ 현재 언어 1행 · 우측 [언어 변경] 1개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값은 그 언어의 이름 — 「한국어」 · 「English」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영어 화면에서는 캡션이 「Language」 하나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[언어 변경]을 누르면 3-11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1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2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4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5" name="card"/>
          <p:cNvSpPr/>
          <p:nvPr/>
        </p:nvSpPr>
        <p:spPr>
          <a:xfrm>
            <a:off x="771754" y="204825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881482" y="211226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7" name="t"/>
          <p:cNvSpPr txBox="1"/>
          <p:nvPr/>
        </p:nvSpPr>
        <p:spPr>
          <a:xfrm>
            <a:off x="881482" y="225856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8" name="btn"/>
          <p:cNvSpPr/>
          <p:nvPr/>
        </p:nvSpPr>
        <p:spPr>
          <a:xfrm>
            <a:off x="2487168" y="214884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2487168" y="219913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60" name="card"/>
          <p:cNvSpPr/>
          <p:nvPr/>
        </p:nvSpPr>
        <p:spPr>
          <a:xfrm>
            <a:off x="771754" y="2468880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881482" y="251460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2" name="seg"/>
          <p:cNvSpPr/>
          <p:nvPr/>
        </p:nvSpPr>
        <p:spPr>
          <a:xfrm>
            <a:off x="881482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881482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4" name="seg"/>
          <p:cNvSpPr/>
          <p:nvPr/>
        </p:nvSpPr>
        <p:spPr>
          <a:xfrm>
            <a:off x="1539850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1539850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6" name="card2"/>
          <p:cNvSpPr/>
          <p:nvPr/>
        </p:nvSpPr>
        <p:spPr>
          <a:xfrm>
            <a:off x="771754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7" name="t"/>
          <p:cNvSpPr txBox="1"/>
          <p:nvPr/>
        </p:nvSpPr>
        <p:spPr>
          <a:xfrm>
            <a:off x="771754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8" name="t"/>
          <p:cNvSpPr txBox="1"/>
          <p:nvPr/>
        </p:nvSpPr>
        <p:spPr>
          <a:xfrm>
            <a:off x="771754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9" name="card2"/>
          <p:cNvSpPr/>
          <p:nvPr/>
        </p:nvSpPr>
        <p:spPr>
          <a:xfrm>
            <a:off x="2022653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022653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1" name="t"/>
          <p:cNvSpPr txBox="1"/>
          <p:nvPr/>
        </p:nvSpPr>
        <p:spPr>
          <a:xfrm>
            <a:off x="2022653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2" name="card"/>
          <p:cNvSpPr/>
          <p:nvPr/>
        </p:nvSpPr>
        <p:spPr>
          <a:xfrm>
            <a:off x="771754" y="3721608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881482" y="379018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4" name="badge"/>
          <p:cNvSpPr/>
          <p:nvPr/>
        </p:nvSpPr>
        <p:spPr>
          <a:xfrm>
            <a:off x="2161642" y="3790188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"/>
          <p:cNvSpPr txBox="1"/>
          <p:nvPr/>
        </p:nvSpPr>
        <p:spPr>
          <a:xfrm>
            <a:off x="2161642" y="3817620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76" name="t"/>
          <p:cNvSpPr txBox="1"/>
          <p:nvPr/>
        </p:nvSpPr>
        <p:spPr>
          <a:xfrm>
            <a:off x="2962656" y="378104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7" name="t"/>
          <p:cNvSpPr txBox="1"/>
          <p:nvPr/>
        </p:nvSpPr>
        <p:spPr>
          <a:xfrm>
            <a:off x="771754" y="402336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8" name="card"/>
          <p:cNvSpPr/>
          <p:nvPr/>
        </p:nvSpPr>
        <p:spPr>
          <a:xfrm>
            <a:off x="771754" y="4187952"/>
            <a:ext cx="2428646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9" name="t"/>
          <p:cNvSpPr txBox="1"/>
          <p:nvPr/>
        </p:nvSpPr>
        <p:spPr>
          <a:xfrm>
            <a:off x="881482" y="426110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80" name="t"/>
          <p:cNvSpPr txBox="1"/>
          <p:nvPr/>
        </p:nvSpPr>
        <p:spPr>
          <a:xfrm>
            <a:off x="2962656" y="42519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1" name="ln"/>
          <p:cNvCxnSpPr/>
          <p:nvPr/>
        </p:nvCxnSpPr>
        <p:spPr>
          <a:xfrm>
            <a:off x="863194" y="440740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2" name="t"/>
          <p:cNvSpPr txBox="1"/>
          <p:nvPr/>
        </p:nvSpPr>
        <p:spPr>
          <a:xfrm>
            <a:off x="881482" y="462686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3" name="t"/>
          <p:cNvSpPr txBox="1"/>
          <p:nvPr/>
        </p:nvSpPr>
        <p:spPr>
          <a:xfrm>
            <a:off x="2962656" y="461772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863194" y="477316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881482" y="48097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6" name="t"/>
          <p:cNvSpPr txBox="1"/>
          <p:nvPr/>
        </p:nvSpPr>
        <p:spPr>
          <a:xfrm>
            <a:off x="2962656" y="480060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7" name="t"/>
          <p:cNvSpPr txBox="1"/>
          <p:nvPr/>
        </p:nvSpPr>
        <p:spPr>
          <a:xfrm>
            <a:off x="771754" y="5056632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8" name="card"/>
          <p:cNvSpPr/>
          <p:nvPr/>
        </p:nvSpPr>
        <p:spPr>
          <a:xfrm>
            <a:off x="771754" y="5221224"/>
            <a:ext cx="2428646" cy="466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881482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90" name="ln"/>
          <p:cNvCxnSpPr/>
          <p:nvPr/>
        </p:nvCxnSpPr>
        <p:spPr>
          <a:xfrm>
            <a:off x="863194" y="54406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91" name="t"/>
          <p:cNvSpPr txBox="1"/>
          <p:nvPr/>
        </p:nvSpPr>
        <p:spPr>
          <a:xfrm>
            <a:off x="881482" y="54772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2" name="t"/>
          <p:cNvSpPr txBox="1"/>
          <p:nvPr/>
        </p:nvSpPr>
        <p:spPr>
          <a:xfrm>
            <a:off x="771754" y="5705856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3" name="card"/>
          <p:cNvSpPr/>
          <p:nvPr/>
        </p:nvSpPr>
        <p:spPr>
          <a:xfrm>
            <a:off x="771754" y="287121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4" name="t"/>
          <p:cNvSpPr txBox="1"/>
          <p:nvPr/>
        </p:nvSpPr>
        <p:spPr>
          <a:xfrm>
            <a:off x="881482" y="293522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5" name="t"/>
          <p:cNvSpPr txBox="1"/>
          <p:nvPr/>
        </p:nvSpPr>
        <p:spPr>
          <a:xfrm>
            <a:off x="881482" y="308152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6" name="btn"/>
          <p:cNvSpPr/>
          <p:nvPr/>
        </p:nvSpPr>
        <p:spPr>
          <a:xfrm>
            <a:off x="2487168" y="297180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7" name="t"/>
          <p:cNvSpPr txBox="1"/>
          <p:nvPr/>
        </p:nvSpPr>
        <p:spPr>
          <a:xfrm>
            <a:off x="2487168" y="302209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 변경</a:t>
            </a:r>
          </a:p>
        </p:txBody>
      </p:sp>
      <p:sp>
        <p:nvSpPr>
          <p:cNvPr id="98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9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100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1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2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5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7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8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9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0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2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3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4" name="숫자배지 3"/>
          <p:cNvSpPr/>
          <p:nvPr/>
        </p:nvSpPr>
        <p:spPr>
          <a:xfrm>
            <a:off x="3611880" y="2697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5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6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7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8" name="숫자배지 4"/>
          <p:cNvSpPr/>
          <p:nvPr/>
        </p:nvSpPr>
        <p:spPr>
          <a:xfrm>
            <a:off x="384048" y="20482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384048" y="2468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20" name="숫자배지 9"/>
          <p:cNvSpPr/>
          <p:nvPr/>
        </p:nvSpPr>
        <p:spPr>
          <a:xfrm>
            <a:off x="384048" y="32735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1" name="숫자배지 10"/>
          <p:cNvSpPr/>
          <p:nvPr/>
        </p:nvSpPr>
        <p:spPr>
          <a:xfrm>
            <a:off x="384048" y="3703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2" name="숫자배지 11"/>
          <p:cNvSpPr/>
          <p:nvPr/>
        </p:nvSpPr>
        <p:spPr>
          <a:xfrm>
            <a:off x="384048" y="402336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3" name="숫자배지 12"/>
          <p:cNvSpPr/>
          <p:nvPr/>
        </p:nvSpPr>
        <p:spPr>
          <a:xfrm>
            <a:off x="384048" y="5038344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4" name="숫자배지 7"/>
          <p:cNvSpPr/>
          <p:nvPr/>
        </p:nvSpPr>
        <p:spPr>
          <a:xfrm>
            <a:off x="384048" y="2871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5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126" name="t"/>
          <p:cNvSpPr txBox="1"/>
          <p:nvPr/>
        </p:nvSpPr>
        <p:spPr>
          <a:xfrm>
            <a:off x="881482" y="444398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1:1 문의</a:t>
            </a:r>
          </a:p>
        </p:txBody>
      </p:sp>
      <p:sp>
        <p:nvSpPr>
          <p:cNvPr id="127" name="t"/>
          <p:cNvSpPr txBox="1"/>
          <p:nvPr/>
        </p:nvSpPr>
        <p:spPr>
          <a:xfrm>
            <a:off x="2962656" y="443484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128" name="ln"/>
          <p:cNvCxnSpPr/>
          <p:nvPr/>
        </p:nvCxnSpPr>
        <p:spPr>
          <a:xfrm>
            <a:off x="863194" y="459028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(3/4)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801807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49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보조 문구"/>
          <p:cNvSpPr txBox="1"/>
          <p:nvPr/>
        </p:nvSpPr>
        <p:spPr>
          <a:xfrm>
            <a:off x="3877056" y="3749039"/>
            <a:ext cx="2057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20" dirty="0" err="1">
                <a:solidFill>
                  <a:srgbClr val="5B6573"/>
                </a:solidFill>
                <a:latin typeface="Pretendard"/>
              </a:rPr>
              <a:t>한글, 영문 최대 8글자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4095613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4095610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4119652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1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2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4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2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3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4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499419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10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언어 변경 팝업 (3-11)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5개 언어 라디오 — 한국어 / English / 日本語 / 简体中文 / 繁體中文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언어가 선택된 상태로 열림 · [취소] / [선택]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[선택] 시 화면과 음성 안내 언어가 바로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이후 선택값이 OS 언어보다 우선 · OS 언어가 5개 밖이면 English로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회원은 계정, 비회원은 기기에 저장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언어 이름은 그 언어 발음으로 읽음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카드 2개 — 내 마일리지 · 즐겨찾기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 1행 ＋ 값 1행 =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마일리지 단위는 숫자와 붙여 씀 (254M)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티머니GO 연계 미성립이면 마일리지 카드 미노출 · 즐겨찾기가 전체 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값을 못 받으면 마지막 값을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저상버스 예약 내역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카드 아래 · 서비스 정보 위 · 라벨 ＋ 건수 배지 ＋ [&gt;]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배지는 「진행 중」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0건이면 배지를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3-4 저상버스 예약 내역으로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1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2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4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5" name="card"/>
          <p:cNvSpPr/>
          <p:nvPr/>
        </p:nvSpPr>
        <p:spPr>
          <a:xfrm>
            <a:off x="771754" y="204825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881482" y="211226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7" name="t"/>
          <p:cNvSpPr txBox="1"/>
          <p:nvPr/>
        </p:nvSpPr>
        <p:spPr>
          <a:xfrm>
            <a:off x="881482" y="225856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8" name="btn"/>
          <p:cNvSpPr/>
          <p:nvPr/>
        </p:nvSpPr>
        <p:spPr>
          <a:xfrm>
            <a:off x="2487168" y="214884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2487168" y="219913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60" name="card"/>
          <p:cNvSpPr/>
          <p:nvPr/>
        </p:nvSpPr>
        <p:spPr>
          <a:xfrm>
            <a:off x="771754" y="2468880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881482" y="251460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2" name="seg"/>
          <p:cNvSpPr/>
          <p:nvPr/>
        </p:nvSpPr>
        <p:spPr>
          <a:xfrm>
            <a:off x="881482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881482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4" name="seg"/>
          <p:cNvSpPr/>
          <p:nvPr/>
        </p:nvSpPr>
        <p:spPr>
          <a:xfrm>
            <a:off x="1539850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1539850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6" name="card2"/>
          <p:cNvSpPr/>
          <p:nvPr/>
        </p:nvSpPr>
        <p:spPr>
          <a:xfrm>
            <a:off x="771754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7" name="t"/>
          <p:cNvSpPr txBox="1"/>
          <p:nvPr/>
        </p:nvSpPr>
        <p:spPr>
          <a:xfrm>
            <a:off x="771754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8" name="t"/>
          <p:cNvSpPr txBox="1"/>
          <p:nvPr/>
        </p:nvSpPr>
        <p:spPr>
          <a:xfrm>
            <a:off x="771754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9" name="card2"/>
          <p:cNvSpPr/>
          <p:nvPr/>
        </p:nvSpPr>
        <p:spPr>
          <a:xfrm>
            <a:off x="2022653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022653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1" name="t"/>
          <p:cNvSpPr txBox="1"/>
          <p:nvPr/>
        </p:nvSpPr>
        <p:spPr>
          <a:xfrm>
            <a:off x="2022653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2" name="card"/>
          <p:cNvSpPr/>
          <p:nvPr/>
        </p:nvSpPr>
        <p:spPr>
          <a:xfrm>
            <a:off x="771754" y="3721608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881482" y="379018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4" name="badge"/>
          <p:cNvSpPr/>
          <p:nvPr/>
        </p:nvSpPr>
        <p:spPr>
          <a:xfrm>
            <a:off x="2161642" y="3790188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"/>
          <p:cNvSpPr txBox="1"/>
          <p:nvPr/>
        </p:nvSpPr>
        <p:spPr>
          <a:xfrm>
            <a:off x="2962656" y="378104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6" name="t"/>
          <p:cNvSpPr txBox="1"/>
          <p:nvPr/>
        </p:nvSpPr>
        <p:spPr>
          <a:xfrm>
            <a:off x="771754" y="402336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7" name="card"/>
          <p:cNvSpPr/>
          <p:nvPr/>
        </p:nvSpPr>
        <p:spPr>
          <a:xfrm>
            <a:off x="771754" y="4187952"/>
            <a:ext cx="2428646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881482" y="426110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9" name="t"/>
          <p:cNvSpPr txBox="1"/>
          <p:nvPr/>
        </p:nvSpPr>
        <p:spPr>
          <a:xfrm>
            <a:off x="2962656" y="42519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0" name="ln"/>
          <p:cNvCxnSpPr/>
          <p:nvPr/>
        </p:nvCxnSpPr>
        <p:spPr>
          <a:xfrm>
            <a:off x="863194" y="440740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1" name="t"/>
          <p:cNvSpPr txBox="1"/>
          <p:nvPr/>
        </p:nvSpPr>
        <p:spPr>
          <a:xfrm>
            <a:off x="881482" y="462686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2" name="t"/>
          <p:cNvSpPr txBox="1"/>
          <p:nvPr/>
        </p:nvSpPr>
        <p:spPr>
          <a:xfrm>
            <a:off x="2962656" y="461772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863194" y="477316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4" name="t"/>
          <p:cNvSpPr txBox="1"/>
          <p:nvPr/>
        </p:nvSpPr>
        <p:spPr>
          <a:xfrm>
            <a:off x="881482" y="48097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5" name="t"/>
          <p:cNvSpPr txBox="1"/>
          <p:nvPr/>
        </p:nvSpPr>
        <p:spPr>
          <a:xfrm>
            <a:off x="2962656" y="480060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6" name="t"/>
          <p:cNvSpPr txBox="1"/>
          <p:nvPr/>
        </p:nvSpPr>
        <p:spPr>
          <a:xfrm>
            <a:off x="771754" y="5056632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7" name="card"/>
          <p:cNvSpPr/>
          <p:nvPr/>
        </p:nvSpPr>
        <p:spPr>
          <a:xfrm>
            <a:off x="771754" y="5221224"/>
            <a:ext cx="2428646" cy="466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8" name="t"/>
          <p:cNvSpPr txBox="1"/>
          <p:nvPr/>
        </p:nvSpPr>
        <p:spPr>
          <a:xfrm>
            <a:off x="881482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9" name="ln"/>
          <p:cNvCxnSpPr/>
          <p:nvPr/>
        </p:nvCxnSpPr>
        <p:spPr>
          <a:xfrm>
            <a:off x="863194" y="54406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90" name="t"/>
          <p:cNvSpPr txBox="1"/>
          <p:nvPr/>
        </p:nvSpPr>
        <p:spPr>
          <a:xfrm>
            <a:off x="881482" y="54772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1" name="t"/>
          <p:cNvSpPr txBox="1"/>
          <p:nvPr/>
        </p:nvSpPr>
        <p:spPr>
          <a:xfrm>
            <a:off x="771754" y="5705856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2" name="t"/>
          <p:cNvSpPr txBox="1"/>
          <p:nvPr/>
        </p:nvSpPr>
        <p:spPr>
          <a:xfrm>
            <a:off x="2161642" y="3817620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3" name="card"/>
          <p:cNvSpPr/>
          <p:nvPr/>
        </p:nvSpPr>
        <p:spPr>
          <a:xfrm>
            <a:off x="771754" y="287121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4" name="t"/>
          <p:cNvSpPr txBox="1"/>
          <p:nvPr/>
        </p:nvSpPr>
        <p:spPr>
          <a:xfrm>
            <a:off x="881482" y="293522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5" name="t"/>
          <p:cNvSpPr txBox="1"/>
          <p:nvPr/>
        </p:nvSpPr>
        <p:spPr>
          <a:xfrm>
            <a:off x="881482" y="308152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6" name="btn"/>
          <p:cNvSpPr/>
          <p:nvPr/>
        </p:nvSpPr>
        <p:spPr>
          <a:xfrm>
            <a:off x="2487168" y="297180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7" name="t"/>
          <p:cNvSpPr txBox="1"/>
          <p:nvPr/>
        </p:nvSpPr>
        <p:spPr>
          <a:xfrm>
            <a:off x="2487168" y="302209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 변경</a:t>
            </a:r>
          </a:p>
        </p:txBody>
      </p:sp>
      <p:sp>
        <p:nvSpPr>
          <p:cNvPr id="98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9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100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1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2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5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7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8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9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0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2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3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4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5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6" name="숫자배지 3"/>
          <p:cNvSpPr/>
          <p:nvPr/>
        </p:nvSpPr>
        <p:spPr>
          <a:xfrm>
            <a:off x="3611880" y="2697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7" name="숫자배지 4"/>
          <p:cNvSpPr/>
          <p:nvPr/>
        </p:nvSpPr>
        <p:spPr>
          <a:xfrm>
            <a:off x="384048" y="20482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8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384048" y="2468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20" name="숫자배지 9"/>
          <p:cNvSpPr/>
          <p:nvPr/>
        </p:nvSpPr>
        <p:spPr>
          <a:xfrm>
            <a:off x="384048" y="32735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1" name="숫자배지 10"/>
          <p:cNvSpPr/>
          <p:nvPr/>
        </p:nvSpPr>
        <p:spPr>
          <a:xfrm>
            <a:off x="384048" y="3703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2" name="숫자배지 11"/>
          <p:cNvSpPr/>
          <p:nvPr/>
        </p:nvSpPr>
        <p:spPr>
          <a:xfrm>
            <a:off x="384048" y="402336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3" name="숫자배지 12"/>
          <p:cNvSpPr/>
          <p:nvPr/>
        </p:nvSpPr>
        <p:spPr>
          <a:xfrm>
            <a:off x="384048" y="5038344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4" name="숫자배지 7"/>
          <p:cNvSpPr/>
          <p:nvPr/>
        </p:nvSpPr>
        <p:spPr>
          <a:xfrm>
            <a:off x="384048" y="2871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5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126" name="t"/>
          <p:cNvSpPr txBox="1"/>
          <p:nvPr/>
        </p:nvSpPr>
        <p:spPr>
          <a:xfrm>
            <a:off x="881482" y="444398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1:1 문의</a:t>
            </a:r>
          </a:p>
        </p:txBody>
      </p:sp>
      <p:sp>
        <p:nvSpPr>
          <p:cNvPr id="127" name="t"/>
          <p:cNvSpPr txBox="1"/>
          <p:nvPr/>
        </p:nvSpPr>
        <p:spPr>
          <a:xfrm>
            <a:off x="2962656" y="443484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128" name="ln"/>
          <p:cNvCxnSpPr/>
          <p:nvPr/>
        </p:nvCxnSpPr>
        <p:spPr>
          <a:xfrm>
            <a:off x="863194" y="459028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(4/4)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801807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49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 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보조 문구"/>
          <p:cNvSpPr txBox="1"/>
          <p:nvPr/>
        </p:nvSpPr>
        <p:spPr>
          <a:xfrm>
            <a:off x="3877056" y="3749039"/>
            <a:ext cx="2057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20" dirty="0" err="1">
                <a:solidFill>
                  <a:srgbClr val="5B6573"/>
                </a:solidFill>
                <a:latin typeface="Pretendard"/>
              </a:rPr>
              <a:t>한글, 영문 최대 8글자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4095613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4095610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4119652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1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2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4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36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휠체어·유모차</a:t>
            </a:r>
          </a:p>
        </p:txBody>
      </p:sp>
      <p:sp>
        <p:nvSpPr>
          <p:cNvPr id="37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노약자·임산부</a:t>
            </a:r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2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3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4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434192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서비스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＋ 행 4개 — 공지사항 → 1:1 문의 → 이용약관 및 정책 → 오픈소스 라이선스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서비스 정보 전체가 카드 1개이고 행 사이는 구분선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1:1 문의는 회원 전용 — 비회원이 누르면 로그인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계정 · 앱 버전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＋ 로그아웃 → 회원 탈퇴 ·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로그아웃은 확인 팝업 없이 즉시 · 회원 탈퇴는 확인 팝업 1단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 버전은 최하단 텍스트 1행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유형 변경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유형이 바뀌면 "교통약자 유형이 노약자·임산부로 변경되었습니다."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1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2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4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5" name="card"/>
          <p:cNvSpPr/>
          <p:nvPr/>
        </p:nvSpPr>
        <p:spPr>
          <a:xfrm>
            <a:off x="771754" y="204825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881482" y="211226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7" name="t"/>
          <p:cNvSpPr txBox="1"/>
          <p:nvPr/>
        </p:nvSpPr>
        <p:spPr>
          <a:xfrm>
            <a:off x="881482" y="225856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8" name="btn"/>
          <p:cNvSpPr/>
          <p:nvPr/>
        </p:nvSpPr>
        <p:spPr>
          <a:xfrm>
            <a:off x="2487168" y="214884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2487168" y="219913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60" name="card"/>
          <p:cNvSpPr/>
          <p:nvPr/>
        </p:nvSpPr>
        <p:spPr>
          <a:xfrm>
            <a:off x="771754" y="2468880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881482" y="251460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2" name="seg"/>
          <p:cNvSpPr/>
          <p:nvPr/>
        </p:nvSpPr>
        <p:spPr>
          <a:xfrm>
            <a:off x="881482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881482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4" name="seg"/>
          <p:cNvSpPr/>
          <p:nvPr/>
        </p:nvSpPr>
        <p:spPr>
          <a:xfrm>
            <a:off x="1539850" y="2647188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1539850" y="2670048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6" name="card2"/>
          <p:cNvSpPr/>
          <p:nvPr/>
        </p:nvSpPr>
        <p:spPr>
          <a:xfrm>
            <a:off x="771754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7" name="t"/>
          <p:cNvSpPr txBox="1"/>
          <p:nvPr/>
        </p:nvSpPr>
        <p:spPr>
          <a:xfrm>
            <a:off x="771754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8" name="t"/>
          <p:cNvSpPr txBox="1"/>
          <p:nvPr/>
        </p:nvSpPr>
        <p:spPr>
          <a:xfrm>
            <a:off x="771754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9" name="card2"/>
          <p:cNvSpPr/>
          <p:nvPr/>
        </p:nvSpPr>
        <p:spPr>
          <a:xfrm>
            <a:off x="2022653" y="3300984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022653" y="3364992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1" name="t"/>
          <p:cNvSpPr txBox="1"/>
          <p:nvPr/>
        </p:nvSpPr>
        <p:spPr>
          <a:xfrm>
            <a:off x="2022653" y="3511296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2" name="card"/>
          <p:cNvSpPr/>
          <p:nvPr/>
        </p:nvSpPr>
        <p:spPr>
          <a:xfrm>
            <a:off x="771754" y="3721608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881482" y="379018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4" name="badge"/>
          <p:cNvSpPr/>
          <p:nvPr/>
        </p:nvSpPr>
        <p:spPr>
          <a:xfrm>
            <a:off x="2161642" y="3790188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"/>
          <p:cNvSpPr txBox="1"/>
          <p:nvPr/>
        </p:nvSpPr>
        <p:spPr>
          <a:xfrm>
            <a:off x="2962656" y="378104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6" name="t"/>
          <p:cNvSpPr txBox="1"/>
          <p:nvPr/>
        </p:nvSpPr>
        <p:spPr>
          <a:xfrm>
            <a:off x="771754" y="402336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7" name="card"/>
          <p:cNvSpPr/>
          <p:nvPr/>
        </p:nvSpPr>
        <p:spPr>
          <a:xfrm>
            <a:off x="771754" y="4187952"/>
            <a:ext cx="2428646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881482" y="426110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9" name="t"/>
          <p:cNvSpPr txBox="1"/>
          <p:nvPr/>
        </p:nvSpPr>
        <p:spPr>
          <a:xfrm>
            <a:off x="2962656" y="42519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0" name="ln"/>
          <p:cNvCxnSpPr/>
          <p:nvPr/>
        </p:nvCxnSpPr>
        <p:spPr>
          <a:xfrm>
            <a:off x="863194" y="440740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1" name="t"/>
          <p:cNvSpPr txBox="1"/>
          <p:nvPr/>
        </p:nvSpPr>
        <p:spPr>
          <a:xfrm>
            <a:off x="881482" y="462686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2" name="t"/>
          <p:cNvSpPr txBox="1"/>
          <p:nvPr/>
        </p:nvSpPr>
        <p:spPr>
          <a:xfrm>
            <a:off x="2962656" y="461772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863194" y="477316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4" name="t"/>
          <p:cNvSpPr txBox="1"/>
          <p:nvPr/>
        </p:nvSpPr>
        <p:spPr>
          <a:xfrm>
            <a:off x="881482" y="48097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5" name="t"/>
          <p:cNvSpPr txBox="1"/>
          <p:nvPr/>
        </p:nvSpPr>
        <p:spPr>
          <a:xfrm>
            <a:off x="2962656" y="480060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6" name="t"/>
          <p:cNvSpPr txBox="1"/>
          <p:nvPr/>
        </p:nvSpPr>
        <p:spPr>
          <a:xfrm>
            <a:off x="771754" y="5056632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7" name="card"/>
          <p:cNvSpPr/>
          <p:nvPr/>
        </p:nvSpPr>
        <p:spPr>
          <a:xfrm>
            <a:off x="771754" y="5221224"/>
            <a:ext cx="2428646" cy="466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8" name="t"/>
          <p:cNvSpPr txBox="1"/>
          <p:nvPr/>
        </p:nvSpPr>
        <p:spPr>
          <a:xfrm>
            <a:off x="881482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9" name="ln"/>
          <p:cNvCxnSpPr/>
          <p:nvPr/>
        </p:nvCxnSpPr>
        <p:spPr>
          <a:xfrm>
            <a:off x="863194" y="54406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90" name="t"/>
          <p:cNvSpPr txBox="1"/>
          <p:nvPr/>
        </p:nvSpPr>
        <p:spPr>
          <a:xfrm>
            <a:off x="881482" y="54772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1" name="t"/>
          <p:cNvSpPr txBox="1"/>
          <p:nvPr/>
        </p:nvSpPr>
        <p:spPr>
          <a:xfrm>
            <a:off x="771754" y="5705856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2" name="t"/>
          <p:cNvSpPr txBox="1"/>
          <p:nvPr/>
        </p:nvSpPr>
        <p:spPr>
          <a:xfrm>
            <a:off x="2161642" y="3817620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3" name="card"/>
          <p:cNvSpPr/>
          <p:nvPr/>
        </p:nvSpPr>
        <p:spPr>
          <a:xfrm>
            <a:off x="771754" y="2871216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4" name="t"/>
          <p:cNvSpPr txBox="1"/>
          <p:nvPr/>
        </p:nvSpPr>
        <p:spPr>
          <a:xfrm>
            <a:off x="881482" y="2935224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5" name="t"/>
          <p:cNvSpPr txBox="1"/>
          <p:nvPr/>
        </p:nvSpPr>
        <p:spPr>
          <a:xfrm>
            <a:off x="881482" y="3081528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6" name="btn"/>
          <p:cNvSpPr/>
          <p:nvPr/>
        </p:nvSpPr>
        <p:spPr>
          <a:xfrm>
            <a:off x="2487168" y="2971800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7" name="t"/>
          <p:cNvSpPr txBox="1"/>
          <p:nvPr/>
        </p:nvSpPr>
        <p:spPr>
          <a:xfrm>
            <a:off x="2487168" y="3022092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 변경</a:t>
            </a:r>
          </a:p>
        </p:txBody>
      </p:sp>
      <p:sp>
        <p:nvSpPr>
          <p:cNvPr id="98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9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100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1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2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5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7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8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9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0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2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3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4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5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6" name="숫자배지 3"/>
          <p:cNvSpPr/>
          <p:nvPr/>
        </p:nvSpPr>
        <p:spPr>
          <a:xfrm>
            <a:off x="3611880" y="2697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7" name="숫자배지 4"/>
          <p:cNvSpPr/>
          <p:nvPr/>
        </p:nvSpPr>
        <p:spPr>
          <a:xfrm>
            <a:off x="384048" y="20482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8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384048" y="2468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20" name="숫자배지 9"/>
          <p:cNvSpPr/>
          <p:nvPr/>
        </p:nvSpPr>
        <p:spPr>
          <a:xfrm>
            <a:off x="384048" y="32735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1" name="숫자배지 10"/>
          <p:cNvSpPr/>
          <p:nvPr/>
        </p:nvSpPr>
        <p:spPr>
          <a:xfrm>
            <a:off x="384048" y="3703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2" name="숫자배지 11"/>
          <p:cNvSpPr/>
          <p:nvPr/>
        </p:nvSpPr>
        <p:spPr>
          <a:xfrm>
            <a:off x="384048" y="402336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3" name="숫자배지 12"/>
          <p:cNvSpPr/>
          <p:nvPr/>
        </p:nvSpPr>
        <p:spPr>
          <a:xfrm>
            <a:off x="384048" y="5038344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4" name="숫자배지 7"/>
          <p:cNvSpPr/>
          <p:nvPr/>
        </p:nvSpPr>
        <p:spPr>
          <a:xfrm>
            <a:off x="384048" y="2871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5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126" name="t"/>
          <p:cNvSpPr txBox="1"/>
          <p:nvPr/>
        </p:nvSpPr>
        <p:spPr>
          <a:xfrm>
            <a:off x="881482" y="444398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1:1 문의</a:t>
            </a:r>
          </a:p>
        </p:txBody>
      </p:sp>
      <p:sp>
        <p:nvSpPr>
          <p:cNvPr id="127" name="t"/>
          <p:cNvSpPr txBox="1"/>
          <p:nvPr/>
        </p:nvSpPr>
        <p:spPr>
          <a:xfrm>
            <a:off x="2962656" y="443484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128" name="ln"/>
          <p:cNvCxnSpPr/>
          <p:nvPr/>
        </p:nvCxnSpPr>
        <p:spPr>
          <a:xfrm>
            <a:off x="863194" y="459028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표출 규칙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5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26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28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3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55191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비회원도 마이페이지에 들어옴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151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항목별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닉네임 — 자동 부여값 「동행」 표출 · 수정 아이콘 · 메뉴 · 팝업 모두 미노출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「로그인 / 회원가입」 행 — 비회원 전용 · 닉네임 아래 · 글자 크기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 · 글자 크기 · 언어 — 회원과 같이 정상 동작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1:1 문의 — 행은 그대로 보이고 누르면 로그인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카드 2개 — 값 자리에 「로그인 필요」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로그인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13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「계정」 섹션 · 저상버스 예약 내역 미노출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로그아웃 · 회원 탈퇴는 컨트롤 자체가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저상버스 예약 내역 행도 미노출 (회원 전용)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바꾼 유형 · 글자 크기는 기기에 남음 · 가입 시 글자 크기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32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3 — 내 마일리지 · 즐겨찾기 선택 시</a:t>
            </a:r>
          </a:p>
        </p:txBody>
      </p:sp>
      <p:sp>
        <p:nvSpPr>
          <p:cNvPr id="33" name="t"/>
          <p:cNvSpPr txBox="1"/>
          <p:nvPr/>
        </p:nvSpPr>
        <p:spPr>
          <a:xfrm>
            <a:off x="771754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34" name="card"/>
          <p:cNvSpPr/>
          <p:nvPr/>
        </p:nvSpPr>
        <p:spPr>
          <a:xfrm>
            <a:off x="771754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35" name="t"/>
          <p:cNvSpPr txBox="1"/>
          <p:nvPr/>
        </p:nvSpPr>
        <p:spPr>
          <a:xfrm>
            <a:off x="881482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동행 님 반갑습니다.</a:t>
            </a:r>
          </a:p>
        </p:txBody>
      </p:sp>
      <p:sp>
        <p:nvSpPr>
          <p:cNvPr id="36" name="card"/>
          <p:cNvSpPr/>
          <p:nvPr/>
        </p:nvSpPr>
        <p:spPr>
          <a:xfrm>
            <a:off x="771754" y="215798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881482" y="22082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로그인 / 회원가입</a:t>
            </a:r>
          </a:p>
        </p:txBody>
      </p:sp>
      <p:sp>
        <p:nvSpPr>
          <p:cNvPr id="38" name="t"/>
          <p:cNvSpPr txBox="1"/>
          <p:nvPr/>
        </p:nvSpPr>
        <p:spPr>
          <a:xfrm>
            <a:off x="2962656" y="219913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39" name="card"/>
          <p:cNvSpPr/>
          <p:nvPr/>
        </p:nvSpPr>
        <p:spPr>
          <a:xfrm>
            <a:off x="771754" y="243230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0" name="t"/>
          <p:cNvSpPr txBox="1"/>
          <p:nvPr/>
        </p:nvSpPr>
        <p:spPr>
          <a:xfrm>
            <a:off x="881482" y="249631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41" name="t"/>
          <p:cNvSpPr txBox="1"/>
          <p:nvPr/>
        </p:nvSpPr>
        <p:spPr>
          <a:xfrm>
            <a:off x="881482" y="264261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42" name="btn"/>
          <p:cNvSpPr/>
          <p:nvPr/>
        </p:nvSpPr>
        <p:spPr>
          <a:xfrm>
            <a:off x="2487168" y="253288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2487168" y="258318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44" name="card"/>
          <p:cNvSpPr/>
          <p:nvPr/>
        </p:nvSpPr>
        <p:spPr>
          <a:xfrm>
            <a:off x="771754" y="287121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881482" y="291693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46" name="seg"/>
          <p:cNvSpPr/>
          <p:nvPr/>
        </p:nvSpPr>
        <p:spPr>
          <a:xfrm>
            <a:off x="881482" y="304952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881482" y="307238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48" name="seg"/>
          <p:cNvSpPr/>
          <p:nvPr/>
        </p:nvSpPr>
        <p:spPr>
          <a:xfrm>
            <a:off x="1539850" y="304952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1539850" y="307238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50" name="card2"/>
          <p:cNvSpPr/>
          <p:nvPr/>
        </p:nvSpPr>
        <p:spPr>
          <a:xfrm>
            <a:off x="771754" y="374904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771754" y="381304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52" name="t"/>
          <p:cNvSpPr txBox="1"/>
          <p:nvPr/>
        </p:nvSpPr>
        <p:spPr>
          <a:xfrm>
            <a:off x="771754" y="395935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9AA4B0"/>
                </a:solidFill>
                <a:latin typeface="Pretendard"/>
                <a:ea typeface="Pretendard"/>
              </a:rPr>
              <a:t>로그인 필요</a:t>
            </a:r>
          </a:p>
        </p:txBody>
      </p:sp>
      <p:sp>
        <p:nvSpPr>
          <p:cNvPr id="53" name="card2"/>
          <p:cNvSpPr/>
          <p:nvPr/>
        </p:nvSpPr>
        <p:spPr>
          <a:xfrm>
            <a:off x="2022653" y="374904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022653" y="381304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55" name="t"/>
          <p:cNvSpPr txBox="1"/>
          <p:nvPr/>
        </p:nvSpPr>
        <p:spPr>
          <a:xfrm>
            <a:off x="2022653" y="395935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9AA4B0"/>
                </a:solidFill>
                <a:latin typeface="Pretendard"/>
                <a:ea typeface="Pretendard"/>
              </a:rPr>
              <a:t>로그인 필요</a:t>
            </a:r>
          </a:p>
        </p:txBody>
      </p:sp>
      <p:sp>
        <p:nvSpPr>
          <p:cNvPr id="56" name="t"/>
          <p:cNvSpPr txBox="1"/>
          <p:nvPr/>
        </p:nvSpPr>
        <p:spPr>
          <a:xfrm>
            <a:off x="771754" y="4187951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57" name="card"/>
          <p:cNvSpPr/>
          <p:nvPr/>
        </p:nvSpPr>
        <p:spPr>
          <a:xfrm>
            <a:off x="771754" y="4352544"/>
            <a:ext cx="242864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881482" y="443484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59" name="t"/>
          <p:cNvSpPr txBox="1"/>
          <p:nvPr/>
        </p:nvSpPr>
        <p:spPr>
          <a:xfrm>
            <a:off x="2962656" y="442569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60" name="ln"/>
          <p:cNvCxnSpPr/>
          <p:nvPr/>
        </p:nvCxnSpPr>
        <p:spPr>
          <a:xfrm>
            <a:off x="863194" y="4608576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1" name="t"/>
          <p:cNvSpPr txBox="1"/>
          <p:nvPr/>
        </p:nvSpPr>
        <p:spPr>
          <a:xfrm>
            <a:off x="881482" y="494690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62" name="t"/>
          <p:cNvSpPr txBox="1"/>
          <p:nvPr/>
        </p:nvSpPr>
        <p:spPr>
          <a:xfrm>
            <a:off x="2962656" y="49377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63" name="ln"/>
          <p:cNvCxnSpPr/>
          <p:nvPr/>
        </p:nvCxnSpPr>
        <p:spPr>
          <a:xfrm>
            <a:off x="863194" y="512064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4" name="t"/>
          <p:cNvSpPr txBox="1"/>
          <p:nvPr/>
        </p:nvSpPr>
        <p:spPr>
          <a:xfrm>
            <a:off x="881482" y="520293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65" name="t"/>
          <p:cNvSpPr txBox="1"/>
          <p:nvPr/>
        </p:nvSpPr>
        <p:spPr>
          <a:xfrm>
            <a:off x="2962656" y="519379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66" name="t"/>
          <p:cNvSpPr txBox="1"/>
          <p:nvPr/>
        </p:nvSpPr>
        <p:spPr>
          <a:xfrm>
            <a:off x="771754" y="5449824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67" name="card"/>
          <p:cNvSpPr/>
          <p:nvPr/>
        </p:nvSpPr>
        <p:spPr>
          <a:xfrm>
            <a:off x="771754" y="3291840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881482" y="3355848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69" name="t"/>
          <p:cNvSpPr txBox="1"/>
          <p:nvPr/>
        </p:nvSpPr>
        <p:spPr>
          <a:xfrm>
            <a:off x="881482" y="3502152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70" name="btn"/>
          <p:cNvSpPr/>
          <p:nvPr/>
        </p:nvSpPr>
        <p:spPr>
          <a:xfrm>
            <a:off x="2487168" y="3392424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2487168" y="3442716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 변경</a:t>
            </a:r>
          </a:p>
        </p:txBody>
      </p:sp>
      <p:sp>
        <p:nvSpPr>
          <p:cNvPr id="72" name="숫자배지 1"/>
          <p:cNvSpPr/>
          <p:nvPr/>
        </p:nvSpPr>
        <p:spPr>
          <a:xfrm>
            <a:off x="2825496" y="10972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2"/>
          <p:cNvSpPr/>
          <p:nvPr/>
        </p:nvSpPr>
        <p:spPr>
          <a:xfrm>
            <a:off x="38404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4" name="숫자배지 3"/>
          <p:cNvSpPr/>
          <p:nvPr/>
        </p:nvSpPr>
        <p:spPr>
          <a:xfrm>
            <a:off x="384048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5" name="숫자배지 4"/>
          <p:cNvSpPr/>
          <p:nvPr/>
        </p:nvSpPr>
        <p:spPr>
          <a:xfrm>
            <a:off x="384048" y="52486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6" name="t"/>
          <p:cNvSpPr txBox="1"/>
          <p:nvPr/>
        </p:nvSpPr>
        <p:spPr>
          <a:xfrm>
            <a:off x="881482" y="4690872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1:1 문의</a:t>
            </a:r>
          </a:p>
        </p:txBody>
      </p:sp>
      <p:sp>
        <p:nvSpPr>
          <p:cNvPr id="77" name="t"/>
          <p:cNvSpPr txBox="1"/>
          <p:nvPr/>
        </p:nvSpPr>
        <p:spPr>
          <a:xfrm>
            <a:off x="2962656" y="46817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863194" y="486460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01443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5418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총액 · 마일리지 내역 (1/2)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9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4720209" y="3364992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리스트 행"/>
          <p:cNvSpPr/>
          <p:nvPr/>
        </p:nvSpPr>
        <p:spPr>
          <a:xfrm>
            <a:off x="4720209" y="4059936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리스트 행"/>
          <p:cNvSpPr/>
          <p:nvPr/>
        </p:nvSpPr>
        <p:spPr>
          <a:xfrm>
            <a:off x="4720209" y="4754880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479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보유 총액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 「나의 총 마일리지」 1행 ＋ 값 1행 (254M · 1,250M)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숫자와 단위를 붙여 쓰고 세 자리마다 쉼표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구분 머리 · 내역 구분 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「마일리지 내역」 1행 — 적립 · 사용을 함께 담음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3분할 탭 「전체」 / 「적립」 / 「사용」 · 기본 「전체」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탭을 바꾸면 목록을 처음부터 다시 받음 · 총액은 탭을 따르지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내역 행 —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1줄째 사유 「불편신고」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2줄째 「2026년 1월 3일 · +20M · 적립」 — 일자는 「YYYY년 M월 D일」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5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8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1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4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구분 머리"/>
          <p:cNvSpPr txBox="1"/>
          <p:nvPr/>
        </p:nvSpPr>
        <p:spPr>
          <a:xfrm>
            <a:off x="4855464" y="2889504"/>
            <a:ext cx="20482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마일리지 내역</a:t>
            </a:r>
          </a:p>
        </p:txBody>
      </p:sp>
      <p:sp>
        <p:nvSpPr>
          <p:cNvPr id="38" name="내역 사유"/>
          <p:cNvSpPr txBox="1"/>
          <p:nvPr/>
        </p:nvSpPr>
        <p:spPr>
          <a:xfrm>
            <a:off x="4855464" y="3419856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39" name="내역 값"/>
          <p:cNvSpPr txBox="1"/>
          <p:nvPr/>
        </p:nvSpPr>
        <p:spPr>
          <a:xfrm>
            <a:off x="4855464" y="363931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3일 · +20M · 적립</a:t>
            </a:r>
          </a:p>
        </p:txBody>
      </p:sp>
      <p:sp>
        <p:nvSpPr>
          <p:cNvPr id="40" name="내역 유효기간"/>
          <p:cNvSpPr txBox="1"/>
          <p:nvPr/>
        </p:nvSpPr>
        <p:spPr>
          <a:xfrm>
            <a:off x="4855464" y="3803904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3일</a:t>
            </a:r>
          </a:p>
        </p:txBody>
      </p:sp>
      <p:sp>
        <p:nvSpPr>
          <p:cNvPr id="41" name="내역 사유"/>
          <p:cNvSpPr txBox="1"/>
          <p:nvPr/>
        </p:nvSpPr>
        <p:spPr>
          <a:xfrm>
            <a:off x="4855464" y="4114800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내역 값"/>
          <p:cNvSpPr txBox="1"/>
          <p:nvPr/>
        </p:nvSpPr>
        <p:spPr>
          <a:xfrm>
            <a:off x="4855464" y="4334256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2일 · +10M · 적립</a:t>
            </a:r>
          </a:p>
        </p:txBody>
      </p:sp>
      <p:sp>
        <p:nvSpPr>
          <p:cNvPr id="43" name="내역 유효기간"/>
          <p:cNvSpPr txBox="1"/>
          <p:nvPr/>
        </p:nvSpPr>
        <p:spPr>
          <a:xfrm>
            <a:off x="4855464" y="4498848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2일</a:t>
            </a:r>
          </a:p>
        </p:txBody>
      </p:sp>
      <p:sp>
        <p:nvSpPr>
          <p:cNvPr id="44" name="내역 사유"/>
          <p:cNvSpPr txBox="1"/>
          <p:nvPr/>
        </p:nvSpPr>
        <p:spPr>
          <a:xfrm>
            <a:off x="4855464" y="4809744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5" name="내역 값"/>
          <p:cNvSpPr txBox="1"/>
          <p:nvPr/>
        </p:nvSpPr>
        <p:spPr>
          <a:xfrm>
            <a:off x="4855464" y="5029200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2025년 12월 28일 · +23M · 적립</a:t>
            </a:r>
          </a:p>
        </p:txBody>
      </p:sp>
      <p:sp>
        <p:nvSpPr>
          <p:cNvPr id="46" name="내역 유효기간"/>
          <p:cNvSpPr txBox="1"/>
          <p:nvPr/>
        </p:nvSpPr>
        <p:spPr>
          <a:xfrm>
            <a:off x="4855464" y="519379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2026년 12월 28일</a:t>
            </a:r>
          </a:p>
        </p:txBody>
      </p:sp>
      <p:sp>
        <p:nvSpPr>
          <p:cNvPr id="47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8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0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1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3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4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56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8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0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2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4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5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7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8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0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2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3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5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6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8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9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0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1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2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3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4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5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6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7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8" name="tab"/>
          <p:cNvSpPr/>
          <p:nvPr/>
        </p:nvSpPr>
        <p:spPr>
          <a:xfrm>
            <a:off x="48554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48554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전체</a:t>
            </a:r>
          </a:p>
        </p:txBody>
      </p:sp>
      <p:sp>
        <p:nvSpPr>
          <p:cNvPr id="90" name="tab"/>
          <p:cNvSpPr/>
          <p:nvPr/>
        </p:nvSpPr>
        <p:spPr>
          <a:xfrm>
            <a:off x="55412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55412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적립</a:t>
            </a:r>
          </a:p>
        </p:txBody>
      </p:sp>
      <p:sp>
        <p:nvSpPr>
          <p:cNvPr id="92" name="tab"/>
          <p:cNvSpPr/>
          <p:nvPr/>
        </p:nvSpPr>
        <p:spPr>
          <a:xfrm>
            <a:off x="62270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62270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사용</a:t>
            </a:r>
          </a:p>
        </p:txBody>
      </p:sp>
      <p:sp>
        <p:nvSpPr>
          <p:cNvPr id="94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5" name="숫자배지 1"/>
          <p:cNvSpPr/>
          <p:nvPr/>
        </p:nvSpPr>
        <p:spPr>
          <a:xfrm>
            <a:off x="4389120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6" name="숫자배지 2"/>
          <p:cNvSpPr/>
          <p:nvPr/>
        </p:nvSpPr>
        <p:spPr>
          <a:xfrm>
            <a:off x="4389120" y="2889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7" name="숫자배지 3"/>
          <p:cNvSpPr/>
          <p:nvPr/>
        </p:nvSpPr>
        <p:spPr>
          <a:xfrm>
            <a:off x="4389120" y="33832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8" name="숫자배지 4"/>
          <p:cNvSpPr/>
          <p:nvPr/>
        </p:nvSpPr>
        <p:spPr>
          <a:xfrm>
            <a:off x="4389120" y="37673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01443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5418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총액 · 마일리지 내역 (2/2)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9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4720209" y="3364992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리스트 행"/>
          <p:cNvSpPr/>
          <p:nvPr/>
        </p:nvSpPr>
        <p:spPr>
          <a:xfrm>
            <a:off x="4720209" y="4059936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리스트 행"/>
          <p:cNvSpPr/>
          <p:nvPr/>
        </p:nvSpPr>
        <p:spPr>
          <a:xfrm>
            <a:off x="4720209" y="4754880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5021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유효기간 — 3줄째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「유효기간 2027년 1월 3일」 · 항목별 필수 요건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임박 · 만료는 말로 병기 — 「만료 임박」 / 「만료됨」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만료된 항목도 내역에 남김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유효기간이 없으면 3줄째를 두지 않음 · 사용 행에는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진입할 때마다 다시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스크롤로 이어 받음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5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8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1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4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구분 머리"/>
          <p:cNvSpPr txBox="1"/>
          <p:nvPr/>
        </p:nvSpPr>
        <p:spPr>
          <a:xfrm>
            <a:off x="4855464" y="2889504"/>
            <a:ext cx="20482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마일리지 내역</a:t>
            </a:r>
          </a:p>
        </p:txBody>
      </p:sp>
      <p:sp>
        <p:nvSpPr>
          <p:cNvPr id="38" name="내역 사유"/>
          <p:cNvSpPr txBox="1"/>
          <p:nvPr/>
        </p:nvSpPr>
        <p:spPr>
          <a:xfrm>
            <a:off x="4855464" y="3419856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39" name="내역 값"/>
          <p:cNvSpPr txBox="1"/>
          <p:nvPr/>
        </p:nvSpPr>
        <p:spPr>
          <a:xfrm>
            <a:off x="4855464" y="363931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3일 · +20M · 적립</a:t>
            </a:r>
          </a:p>
        </p:txBody>
      </p:sp>
      <p:sp>
        <p:nvSpPr>
          <p:cNvPr id="40" name="내역 유효기간"/>
          <p:cNvSpPr txBox="1"/>
          <p:nvPr/>
        </p:nvSpPr>
        <p:spPr>
          <a:xfrm>
            <a:off x="4855464" y="3803904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3일</a:t>
            </a:r>
          </a:p>
        </p:txBody>
      </p:sp>
      <p:sp>
        <p:nvSpPr>
          <p:cNvPr id="41" name="내역 사유"/>
          <p:cNvSpPr txBox="1"/>
          <p:nvPr/>
        </p:nvSpPr>
        <p:spPr>
          <a:xfrm>
            <a:off x="4855464" y="4114800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내역 값"/>
          <p:cNvSpPr txBox="1"/>
          <p:nvPr/>
        </p:nvSpPr>
        <p:spPr>
          <a:xfrm>
            <a:off x="4855464" y="4334256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2일 · +10M · 적립</a:t>
            </a:r>
          </a:p>
        </p:txBody>
      </p:sp>
      <p:sp>
        <p:nvSpPr>
          <p:cNvPr id="43" name="내역 유효기간"/>
          <p:cNvSpPr txBox="1"/>
          <p:nvPr/>
        </p:nvSpPr>
        <p:spPr>
          <a:xfrm>
            <a:off x="4855464" y="4498848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2일</a:t>
            </a:r>
          </a:p>
        </p:txBody>
      </p:sp>
      <p:sp>
        <p:nvSpPr>
          <p:cNvPr id="44" name="내역 사유"/>
          <p:cNvSpPr txBox="1"/>
          <p:nvPr/>
        </p:nvSpPr>
        <p:spPr>
          <a:xfrm>
            <a:off x="4855464" y="4809744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5" name="내역 값"/>
          <p:cNvSpPr txBox="1"/>
          <p:nvPr/>
        </p:nvSpPr>
        <p:spPr>
          <a:xfrm>
            <a:off x="4855464" y="5029200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2025년 12월 28일 · +23M · 적립</a:t>
            </a:r>
          </a:p>
        </p:txBody>
      </p:sp>
      <p:sp>
        <p:nvSpPr>
          <p:cNvPr id="46" name="내역 유효기간"/>
          <p:cNvSpPr txBox="1"/>
          <p:nvPr/>
        </p:nvSpPr>
        <p:spPr>
          <a:xfrm>
            <a:off x="4855464" y="519379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2026년 12월 28일</a:t>
            </a:r>
          </a:p>
        </p:txBody>
      </p:sp>
      <p:sp>
        <p:nvSpPr>
          <p:cNvPr id="47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8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0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1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3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4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56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8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0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2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4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5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7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8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0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2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3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5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6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8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9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0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1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2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3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4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5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6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7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8" name="tab"/>
          <p:cNvSpPr/>
          <p:nvPr/>
        </p:nvSpPr>
        <p:spPr>
          <a:xfrm>
            <a:off x="48554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48554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전체</a:t>
            </a:r>
          </a:p>
        </p:txBody>
      </p:sp>
      <p:sp>
        <p:nvSpPr>
          <p:cNvPr id="90" name="tab"/>
          <p:cNvSpPr/>
          <p:nvPr/>
        </p:nvSpPr>
        <p:spPr>
          <a:xfrm>
            <a:off x="55412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55412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적립</a:t>
            </a:r>
          </a:p>
        </p:txBody>
      </p:sp>
      <p:sp>
        <p:nvSpPr>
          <p:cNvPr id="92" name="tab"/>
          <p:cNvSpPr/>
          <p:nvPr/>
        </p:nvSpPr>
        <p:spPr>
          <a:xfrm>
            <a:off x="62270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62270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사용</a:t>
            </a:r>
          </a:p>
        </p:txBody>
      </p:sp>
      <p:sp>
        <p:nvSpPr>
          <p:cNvPr id="94" name="숫자배지 1"/>
          <p:cNvSpPr/>
          <p:nvPr/>
        </p:nvSpPr>
        <p:spPr>
          <a:xfrm>
            <a:off x="4389120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5" name="숫자배지 2"/>
          <p:cNvSpPr/>
          <p:nvPr/>
        </p:nvSpPr>
        <p:spPr>
          <a:xfrm>
            <a:off x="4389120" y="2889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6" name="숫자배지 3"/>
          <p:cNvSpPr/>
          <p:nvPr/>
        </p:nvSpPr>
        <p:spPr>
          <a:xfrm>
            <a:off x="4389120" y="33832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4"/>
          <p:cNvSpPr/>
          <p:nvPr/>
        </p:nvSpPr>
        <p:spPr>
          <a:xfrm>
            <a:off x="4389120" y="37673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8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3-0 마이페이지"/>
          <p:cNvSpPr/>
          <p:nvPr/>
        </p:nvSpPr>
        <p:spPr>
          <a:xfrm>
            <a:off x="1046312" y="2650000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60612" y="2650000"/>
            <a:ext cx="140179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2" name="흐름 3-3 즐겨찾기"/>
          <p:cNvSpPr/>
          <p:nvPr/>
        </p:nvSpPr>
        <p:spPr>
          <a:xfrm>
            <a:off x="3084303" y="2650000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98603" y="2650000"/>
            <a:ext cx="158294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</a:t>
            </a:r>
          </a:p>
        </p:txBody>
      </p:sp>
      <p:cxnSp>
        <p:nvCxnSpPr>
          <p:cNvPr id="14" name="연결선"/>
          <p:cNvCxnSpPr>
            <a:stCxn id="10" idx="3"/>
            <a:endCxn id="12" idx="1"/>
          </p:cNvCxnSpPr>
          <p:nvPr/>
        </p:nvCxnSpPr>
        <p:spPr>
          <a:xfrm>
            <a:off x="2676704" y="2930790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5" name="흐름 2-1 장소 검색"/>
          <p:cNvSpPr/>
          <p:nvPr/>
        </p:nvSpPr>
        <p:spPr>
          <a:xfrm>
            <a:off x="5801624" y="11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15924" y="11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 (추가 모드)</a:t>
            </a:r>
          </a:p>
        </p:txBody>
      </p:sp>
      <p:cxnSp>
        <p:nvCxnSpPr>
          <p:cNvPr id="17" name="연결선"/>
          <p:cNvCxnSpPr>
            <a:stCxn id="12" idx="3"/>
            <a:endCxn id="15" idx="1"/>
          </p:cNvCxnSpPr>
          <p:nvPr/>
        </p:nvCxnSpPr>
        <p:spPr>
          <a:xfrm flipV="1">
            <a:off x="4895850" y="1399087"/>
            <a:ext cx="905774" cy="153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8" name="연결선 라벨 [＋ 즐겨찾기 추가]"/>
          <p:cNvSpPr txBox="1"/>
          <p:nvPr/>
        </p:nvSpPr>
        <p:spPr>
          <a:xfrm>
            <a:off x="5034542" y="12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[＋ 즐겨찾기 추가]</a:t>
            </a:r>
          </a:p>
        </p:txBody>
      </p:sp>
      <p:sp>
        <p:nvSpPr>
          <p:cNvPr id="19" name="흐름 2-2 장소 상세"/>
          <p:cNvSpPr/>
          <p:nvPr/>
        </p:nvSpPr>
        <p:spPr>
          <a:xfrm>
            <a:off x="8518944" y="11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8633244" y="11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(추가 모드)</a:t>
            </a:r>
          </a:p>
        </p:txBody>
      </p:sp>
      <p:cxnSp>
        <p:nvCxnSpPr>
          <p:cNvPr id="21" name="연결선"/>
          <p:cNvCxnSpPr>
            <a:stCxn id="15" idx="3"/>
            <a:endCxn id="19" idx="1"/>
          </p:cNvCxnSpPr>
          <p:nvPr/>
        </p:nvCxnSpPr>
        <p:spPr>
          <a:xfrm>
            <a:off x="7884903" y="13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2" name="흐름 자주 가는 곳 유형 선택"/>
          <p:cNvSpPr/>
          <p:nvPr/>
        </p:nvSpPr>
        <p:spPr>
          <a:xfrm>
            <a:off x="5801624" y="20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15924" y="20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자주 가는 곳 유형 선택</a:t>
            </a:r>
          </a:p>
        </p:txBody>
      </p:sp>
      <p:cxnSp>
        <p:nvCxnSpPr>
          <p:cNvPr id="24" name="연결선"/>
          <p:cNvCxnSpPr>
            <a:stCxn id="12" idx="3"/>
            <a:endCxn id="22" idx="1"/>
          </p:cNvCxnSpPr>
          <p:nvPr/>
        </p:nvCxnSpPr>
        <p:spPr>
          <a:xfrm flipV="1">
            <a:off x="4895850" y="2249087"/>
            <a:ext cx="905774" cy="68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5" name="연결선 라벨 빈 슬롯 선택"/>
          <p:cNvSpPr txBox="1"/>
          <p:nvPr/>
        </p:nvSpPr>
        <p:spPr>
          <a:xfrm>
            <a:off x="5034542" y="20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빈 슬롯 선택</a:t>
            </a:r>
          </a:p>
        </p:txBody>
      </p:sp>
      <p:sp>
        <p:nvSpPr>
          <p:cNvPr id="26" name="흐름 이름 변경 바텀시트"/>
          <p:cNvSpPr/>
          <p:nvPr/>
        </p:nvSpPr>
        <p:spPr>
          <a:xfrm>
            <a:off x="8518944" y="202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8633244" y="202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(추가)</a:t>
            </a:r>
          </a:p>
        </p:txBody>
      </p:sp>
      <p:cxnSp>
        <p:nvCxnSpPr>
          <p:cNvPr id="28" name="연결선"/>
          <p:cNvCxnSpPr>
            <a:stCxn id="22" idx="3"/>
            <a:endCxn id="26" idx="1"/>
          </p:cNvCxnSpPr>
          <p:nvPr/>
        </p:nvCxnSpPr>
        <p:spPr>
          <a:xfrm>
            <a:off x="7884903" y="224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9" name="흐름 편집 모드 — 행 선택"/>
          <p:cNvSpPr/>
          <p:nvPr/>
        </p:nvSpPr>
        <p:spPr>
          <a:xfrm>
            <a:off x="5801624" y="27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5915924" y="27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[이름수정]</a:t>
            </a:r>
          </a:p>
        </p:txBody>
      </p:sp>
      <p:cxnSp>
        <p:nvCxnSpPr>
          <p:cNvPr id="31" name="연결선"/>
          <p:cNvCxnSpPr>
            <a:stCxn id="12" idx="3"/>
            <a:endCxn id="29" idx="1"/>
          </p:cNvCxnSpPr>
          <p:nvPr/>
        </p:nvCxnSpPr>
        <p:spPr>
          <a:xfrm>
            <a:off x="4895850" y="2930790"/>
            <a:ext cx="905774" cy="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2" name="연결선 라벨 [편집] → [이름수정]"/>
          <p:cNvSpPr txBox="1"/>
          <p:nvPr/>
        </p:nvSpPr>
        <p:spPr>
          <a:xfrm>
            <a:off x="5034542" y="28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[이름수정]</a:t>
            </a:r>
          </a:p>
        </p:txBody>
      </p:sp>
      <p:sp>
        <p:nvSpPr>
          <p:cNvPr id="33" name="흐름 이름 변경 바텀시트"/>
          <p:cNvSpPr/>
          <p:nvPr/>
        </p:nvSpPr>
        <p:spPr>
          <a:xfrm>
            <a:off x="8518944" y="27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흐름 제목"/>
          <p:cNvSpPr txBox="1"/>
          <p:nvPr/>
        </p:nvSpPr>
        <p:spPr>
          <a:xfrm>
            <a:off x="8633244" y="27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(이름 수정)</a:t>
            </a:r>
          </a:p>
        </p:txBody>
      </p:sp>
      <p:cxnSp>
        <p:nvCxnSpPr>
          <p:cNvPr id="35" name="연결선"/>
          <p:cNvCxnSpPr>
            <a:stCxn id="29" idx="3"/>
            <a:endCxn id="33" idx="1"/>
          </p:cNvCxnSpPr>
          <p:nvPr/>
        </p:nvCxnSpPr>
        <p:spPr>
          <a:xfrm>
            <a:off x="7884903" y="29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6" name="흐름 편집 모드 — [삭제]"/>
          <p:cNvSpPr/>
          <p:nvPr/>
        </p:nvSpPr>
        <p:spPr>
          <a:xfrm>
            <a:off x="5801624" y="34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5915924" y="34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[삭제]</a:t>
            </a:r>
          </a:p>
        </p:txBody>
      </p:sp>
      <p:cxnSp>
        <p:nvCxnSpPr>
          <p:cNvPr id="38" name="연결선"/>
          <p:cNvCxnSpPr>
            <a:stCxn id="12" idx="3"/>
            <a:endCxn id="36" idx="1"/>
          </p:cNvCxnSpPr>
          <p:nvPr/>
        </p:nvCxnSpPr>
        <p:spPr>
          <a:xfrm>
            <a:off x="4895850" y="2930790"/>
            <a:ext cx="905774" cy="7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9" name="연결선 라벨 [편집] → [삭제]"/>
          <p:cNvSpPr txBox="1"/>
          <p:nvPr/>
        </p:nvSpPr>
        <p:spPr>
          <a:xfrm>
            <a:off x="5034542" y="35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[삭제]</a:t>
            </a:r>
          </a:p>
        </p:txBody>
      </p:sp>
      <p:sp>
        <p:nvSpPr>
          <p:cNvPr id="40" name="흐름 삭제 확인 팝업"/>
          <p:cNvSpPr/>
          <p:nvPr/>
        </p:nvSpPr>
        <p:spPr>
          <a:xfrm>
            <a:off x="8518944" y="34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흐름 제목"/>
          <p:cNvSpPr txBox="1"/>
          <p:nvPr/>
        </p:nvSpPr>
        <p:spPr>
          <a:xfrm>
            <a:off x="8633244" y="34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삭제 확인 팝업</a:t>
            </a:r>
          </a:p>
        </p:txBody>
      </p:sp>
      <p:cxnSp>
        <p:nvCxnSpPr>
          <p:cNvPr id="42" name="연결선"/>
          <p:cNvCxnSpPr>
            <a:stCxn id="36" idx="3"/>
            <a:endCxn id="40" idx="1"/>
          </p:cNvCxnSpPr>
          <p:nvPr/>
        </p:nvCxnSpPr>
        <p:spPr>
          <a:xfrm>
            <a:off x="7884903" y="36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3" name="흐름 2-0 길안내"/>
          <p:cNvSpPr/>
          <p:nvPr/>
        </p:nvSpPr>
        <p:spPr>
          <a:xfrm>
            <a:off x="5801624" y="43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흐름 제목"/>
          <p:cNvSpPr txBox="1"/>
          <p:nvPr/>
        </p:nvSpPr>
        <p:spPr>
          <a:xfrm>
            <a:off x="5915924" y="43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 (도착지 설정)</a:t>
            </a:r>
          </a:p>
        </p:txBody>
      </p:sp>
      <p:cxnSp>
        <p:nvCxnSpPr>
          <p:cNvPr id="45" name="연결선"/>
          <p:cNvCxnSpPr>
            <a:stCxn id="12" idx="3"/>
            <a:endCxn id="43" idx="1"/>
          </p:cNvCxnSpPr>
          <p:nvPr/>
        </p:nvCxnSpPr>
        <p:spPr>
          <a:xfrm>
            <a:off x="4895850" y="2930790"/>
            <a:ext cx="905774" cy="161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6" name="연결선 라벨 일반 항목 선택"/>
          <p:cNvSpPr txBox="1"/>
          <p:nvPr/>
        </p:nvSpPr>
        <p:spPr>
          <a:xfrm>
            <a:off x="5034542" y="43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일반 항목 선택</a:t>
            </a:r>
          </a:p>
        </p:txBody>
      </p:sp>
      <p:sp>
        <p:nvSpPr>
          <p:cNvPr id="47" name="흐름 2-2 장소 상세"/>
          <p:cNvSpPr/>
          <p:nvPr/>
        </p:nvSpPr>
        <p:spPr>
          <a:xfrm>
            <a:off x="3084303" y="5150000"/>
            <a:ext cx="1811547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흐름 제목"/>
          <p:cNvSpPr txBox="1"/>
          <p:nvPr/>
        </p:nvSpPr>
        <p:spPr>
          <a:xfrm>
            <a:off x="3198603" y="5150000"/>
            <a:ext cx="158294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(★ 상태)</a:t>
            </a:r>
          </a:p>
        </p:txBody>
      </p:sp>
      <p:sp>
        <p:nvSpPr>
          <p:cNvPr id="49" name="흐름 ★ 탭"/>
          <p:cNvSpPr/>
          <p:nvPr/>
        </p:nvSpPr>
        <p:spPr>
          <a:xfrm>
            <a:off x="5801624" y="5150000"/>
            <a:ext cx="2083279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흐름 제목"/>
          <p:cNvSpPr txBox="1"/>
          <p:nvPr/>
        </p:nvSpPr>
        <p:spPr>
          <a:xfrm>
            <a:off x="5915924" y="5150000"/>
            <a:ext cx="1854679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★ 탭 (확인 없음)</a:t>
            </a:r>
          </a:p>
        </p:txBody>
      </p:sp>
      <p:sp>
        <p:nvSpPr>
          <p:cNvPr id="51" name="흐름 즉시 해제 · 토스트"/>
          <p:cNvSpPr/>
          <p:nvPr/>
        </p:nvSpPr>
        <p:spPr>
          <a:xfrm>
            <a:off x="8518944" y="5150000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흐름 제목"/>
          <p:cNvSpPr txBox="1"/>
          <p:nvPr/>
        </p:nvSpPr>
        <p:spPr>
          <a:xfrm>
            <a:off x="8633244" y="5150000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즉시 해제 · 토스트</a:t>
            </a:r>
          </a:p>
        </p:txBody>
      </p:sp>
      <p:cxnSp>
        <p:nvCxnSpPr>
          <p:cNvPr id="53" name="연결선"/>
          <p:cNvCxnSpPr>
            <a:stCxn id="47" idx="3"/>
            <a:endCxn id="50" idx="1"/>
          </p:cNvCxnSpPr>
          <p:nvPr/>
        </p:nvCxnSpPr>
        <p:spPr>
          <a:xfrm>
            <a:off x="4895850" y="5376443"/>
            <a:ext cx="905774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cxnSp>
        <p:nvCxnSpPr>
          <p:cNvPr id="54" name="연결선"/>
          <p:cNvCxnSpPr>
            <a:stCxn id="50" idx="3"/>
            <a:endCxn id="53" idx="1"/>
          </p:cNvCxnSpPr>
          <p:nvPr/>
        </p:nvCxnSpPr>
        <p:spPr>
          <a:xfrm>
            <a:off x="7884903" y="5376443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251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 (1/3)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0523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이용 조건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 전용 — 비회원은 마이페이지 경로에서 로그인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들어온 화면으로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시트 경로의 비회원은 섹션을 통째로 미노출 — 팝업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목록 2영역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고정 슬롯 영역(3행 고정) ＋ 일반 목록 영역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대상은 도착지(POI) 1건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항목 선택 → 2-0 길안내 도착지로 설정 (출발지는 현재 위치)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고정 슬롯 — 집 1 ＋ 사용자 지정 2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「집」은 라벨 영구 고정 · 추가 · 삭제 불가 (총 3행)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미등록 슬롯도 행을 유지 — 「주소를 등록해 주세요.」 (회색)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미등록 사용자 지정 슬롯의 라벨은 「추가」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 이름은 프리셋 선택 시점에 정해짐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8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4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7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8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1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6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7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49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0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2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3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55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7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59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1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3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4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6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7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69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1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2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4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5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6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7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9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0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1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2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6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7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115568" y="29809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4389120" y="16824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4389120" y="19751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4389120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4389120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7205472" y="12801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251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 (2/3)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26613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일반 목록 · 카운터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카운터 n / 10 상시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카운터는 일반 목록만 집계 — 고정 슬롯 3행 제외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슬롯으로 지정해도 일반 목록에서 빼지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같은 장소가 두 자리에 있어도 카운터에는 1건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행 2번째 줄 — 자동 파생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결과에서 파생되는 값 · 라벨과 별개 · 사용자가 입력하지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고정 슬롯 — POI명 검색이면 도로명 풀주소 · 주소 검색이면 그 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일반 목록 — 1줄 POI명 / 2줄 도로명 풀주소 (주소 검색이면 하위주소)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 · 지번이 둘 다 없는 POI는 동 단위 대표 주소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8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4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7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8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1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6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7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49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0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2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3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55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7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59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1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3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4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6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7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69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1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2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4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5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6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7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9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0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1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2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6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7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115568" y="29809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4389120" y="16824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4389120" y="19751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4389120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4389120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7205472" y="12801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251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 (3/3)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5021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 · [＋ 즐겨찾기 추가]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[편집] → 편집 모드 · 라벨 [완료]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모드에서는 행 우측 버튼으로만 조작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[＋ 즐겨찾기 추가]는 최하단 고정 행 → 2-1 장소 검색 (추가 모드)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10개 도달 시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토스트 3종 · 저장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「즐겨찾기에 추가되었습니다.」 / 「〈슬롯명〉으로 설정되었습니다.」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「즐겨찾기에서 해제되었습니다.」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재설치 · 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8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4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7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8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1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6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7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49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0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2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3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 변경</a:t>
            </a:r>
          </a:p>
        </p:txBody>
      </p:sp>
      <p:sp>
        <p:nvSpPr>
          <p:cNvPr id="55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7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59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1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3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4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6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7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69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1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2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4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5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6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7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9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0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1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2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6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7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115568" y="29809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4389120" y="16824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4389120" y="19751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4389120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4389120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7205472" y="12801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277502" y="1447800"/>
          <a:ext cx="2553309" cy="430946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4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지도 ＋ 바텀시트 — 2-1 ③ 검색 결과와 같음 · 정렬 드롭다운 「정확도순」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11651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6028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94952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0" name="행 설명"/>
          <p:cNvSpPr txBox="1"/>
          <p:nvPr/>
        </p:nvSpPr>
        <p:spPr>
          <a:xfrm>
            <a:off x="641029" y="497595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31882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3" name="행 설명"/>
          <p:cNvSpPr txBox="1"/>
          <p:nvPr/>
        </p:nvSpPr>
        <p:spPr>
          <a:xfrm>
            <a:off x="641029" y="5499827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grpSp>
        <p:nvGrpSpPr>
          <p:cNvPr id="37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81928" y="5760720"/>
            <a:ext cx="2381250" cy="419100"/>
            <a:chOff x="6296475" y="5527501"/>
            <a:chExt cx="2381250" cy="419100"/>
          </a:xfrm>
        </p:grpSpPr>
        <p:sp>
          <p:nvSpPr>
            <p:cNvPr id="38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9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0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3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4" name="목업 프레임"/>
          <p:cNvSpPr/>
          <p:nvPr/>
        </p:nvSpPr>
        <p:spPr>
          <a:xfrm>
            <a:off x="324886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지도"/>
          <p:cNvSpPr/>
          <p:nvPr/>
        </p:nvSpPr>
        <p:spPr>
          <a:xfrm>
            <a:off x="3258007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안내"/>
          <p:cNvSpPr txBox="1"/>
          <p:nvPr/>
        </p:nvSpPr>
        <p:spPr>
          <a:xfrm>
            <a:off x="3815791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47" name="검색창"/>
          <p:cNvSpPr/>
          <p:nvPr/>
        </p:nvSpPr>
        <p:spPr>
          <a:xfrm>
            <a:off x="3596335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검색창 문구"/>
          <p:cNvSpPr txBox="1"/>
          <p:nvPr/>
        </p:nvSpPr>
        <p:spPr>
          <a:xfrm>
            <a:off x="3742639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49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534863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534863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1" name="지도 컨트롤"/>
          <p:cNvSpPr/>
          <p:nvPr/>
        </p:nvSpPr>
        <p:spPr>
          <a:xfrm>
            <a:off x="5534863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 라벨"/>
          <p:cNvSpPr txBox="1"/>
          <p:nvPr/>
        </p:nvSpPr>
        <p:spPr>
          <a:xfrm>
            <a:off x="5534863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3" name="바텀시트"/>
          <p:cNvSpPr/>
          <p:nvPr/>
        </p:nvSpPr>
        <p:spPr>
          <a:xfrm>
            <a:off x="3258007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시트 손잡이"/>
          <p:cNvSpPr/>
          <p:nvPr/>
        </p:nvSpPr>
        <p:spPr>
          <a:xfrm>
            <a:off x="4437583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정렬 드롭다운"/>
          <p:cNvSpPr/>
          <p:nvPr/>
        </p:nvSpPr>
        <p:spPr>
          <a:xfrm>
            <a:off x="4967935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정렬 드롭다운 라벨"/>
          <p:cNvSpPr txBox="1"/>
          <p:nvPr/>
        </p:nvSpPr>
        <p:spPr>
          <a:xfrm>
            <a:off x="4967935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57" name="행 제목"/>
          <p:cNvSpPr txBox="1"/>
          <p:nvPr/>
        </p:nvSpPr>
        <p:spPr>
          <a:xfrm>
            <a:off x="3431743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58" name="행 메타"/>
          <p:cNvSpPr txBox="1"/>
          <p:nvPr/>
        </p:nvSpPr>
        <p:spPr>
          <a:xfrm>
            <a:off x="3431743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59" name="행 주소"/>
          <p:cNvSpPr txBox="1"/>
          <p:nvPr/>
        </p:nvSpPr>
        <p:spPr>
          <a:xfrm>
            <a:off x="3431743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60" name="주소 펼침"/>
          <p:cNvSpPr txBox="1"/>
          <p:nvPr/>
        </p:nvSpPr>
        <p:spPr>
          <a:xfrm>
            <a:off x="4446727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61" name="즐겨찾기 토글"/>
          <p:cNvSpPr txBox="1"/>
          <p:nvPr/>
        </p:nvSpPr>
        <p:spPr>
          <a:xfrm>
            <a:off x="3431743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62" name="모드 1버튼"/>
          <p:cNvSpPr/>
          <p:nvPr/>
        </p:nvSpPr>
        <p:spPr>
          <a:xfrm>
            <a:off x="3724351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모드 1버튼 라벨"/>
          <p:cNvSpPr txBox="1"/>
          <p:nvPr/>
        </p:nvSpPr>
        <p:spPr>
          <a:xfrm>
            <a:off x="3724351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 추가</a:t>
            </a:r>
          </a:p>
        </p:txBody>
      </p:sp>
      <p:sp>
        <p:nvSpPr>
          <p:cNvPr id="64" name="행 구분선"/>
          <p:cNvSpPr/>
          <p:nvPr/>
        </p:nvSpPr>
        <p:spPr>
          <a:xfrm>
            <a:off x="3258007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행 제목"/>
          <p:cNvSpPr txBox="1"/>
          <p:nvPr/>
        </p:nvSpPr>
        <p:spPr>
          <a:xfrm>
            <a:off x="3431743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66" name="행 메타"/>
          <p:cNvSpPr txBox="1"/>
          <p:nvPr/>
        </p:nvSpPr>
        <p:spPr>
          <a:xfrm>
            <a:off x="3431743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67" name="행 주소"/>
          <p:cNvSpPr txBox="1"/>
          <p:nvPr/>
        </p:nvSpPr>
        <p:spPr>
          <a:xfrm>
            <a:off x="3431743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68" name="주소 펼침"/>
          <p:cNvSpPr txBox="1"/>
          <p:nvPr/>
        </p:nvSpPr>
        <p:spPr>
          <a:xfrm>
            <a:off x="4305909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69" name="즐겨찾기 토글"/>
          <p:cNvSpPr txBox="1"/>
          <p:nvPr/>
        </p:nvSpPr>
        <p:spPr>
          <a:xfrm>
            <a:off x="3431743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70" name="모드 1버튼"/>
          <p:cNvSpPr/>
          <p:nvPr/>
        </p:nvSpPr>
        <p:spPr>
          <a:xfrm>
            <a:off x="3724351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모드 1버튼 라벨"/>
          <p:cNvSpPr txBox="1"/>
          <p:nvPr/>
        </p:nvSpPr>
        <p:spPr>
          <a:xfrm>
            <a:off x="3724351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 추가</a:t>
            </a:r>
          </a:p>
        </p:txBody>
      </p:sp>
      <p:sp>
        <p:nvSpPr>
          <p:cNvPr id="72" name="행 구분선"/>
          <p:cNvSpPr/>
          <p:nvPr/>
        </p:nvSpPr>
        <p:spPr>
          <a:xfrm>
            <a:off x="3258007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뒤로가기 플로팅"/>
          <p:cNvSpPr/>
          <p:nvPr/>
        </p:nvSpPr>
        <p:spPr>
          <a:xfrm>
            <a:off x="329641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목업 프레임"/>
          <p:cNvSpPr/>
          <p:nvPr/>
        </p:nvSpPr>
        <p:spPr>
          <a:xfrm>
            <a:off x="610819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"/>
          <p:cNvSpPr/>
          <p:nvPr/>
        </p:nvSpPr>
        <p:spPr>
          <a:xfrm>
            <a:off x="6117336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지도 안내"/>
          <p:cNvSpPr txBox="1"/>
          <p:nvPr/>
        </p:nvSpPr>
        <p:spPr>
          <a:xfrm>
            <a:off x="6675120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77" name="검색창"/>
          <p:cNvSpPr/>
          <p:nvPr/>
        </p:nvSpPr>
        <p:spPr>
          <a:xfrm>
            <a:off x="6455664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검색창 문구"/>
          <p:cNvSpPr txBox="1"/>
          <p:nvPr/>
        </p:nvSpPr>
        <p:spPr>
          <a:xfrm>
            <a:off x="6601968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79" name="지도 컨트롤"/>
          <p:cNvSpPr/>
          <p:nvPr/>
        </p:nvSpPr>
        <p:spPr>
          <a:xfrm>
            <a:off x="8394192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지도 컨트롤 라벨"/>
          <p:cNvSpPr txBox="1"/>
          <p:nvPr/>
        </p:nvSpPr>
        <p:spPr>
          <a:xfrm>
            <a:off x="8394192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1" name="지도 컨트롤"/>
          <p:cNvSpPr/>
          <p:nvPr/>
        </p:nvSpPr>
        <p:spPr>
          <a:xfrm>
            <a:off x="8394192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지도 컨트롤 라벨"/>
          <p:cNvSpPr txBox="1"/>
          <p:nvPr/>
        </p:nvSpPr>
        <p:spPr>
          <a:xfrm>
            <a:off x="8394192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3" name="바텀시트"/>
          <p:cNvSpPr/>
          <p:nvPr/>
        </p:nvSpPr>
        <p:spPr>
          <a:xfrm>
            <a:off x="6117336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시트 손잡이"/>
          <p:cNvSpPr/>
          <p:nvPr/>
        </p:nvSpPr>
        <p:spPr>
          <a:xfrm>
            <a:off x="7296912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정렬 드롭다운"/>
          <p:cNvSpPr/>
          <p:nvPr/>
        </p:nvSpPr>
        <p:spPr>
          <a:xfrm>
            <a:off x="7827264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정렬 드롭다운 라벨"/>
          <p:cNvSpPr txBox="1"/>
          <p:nvPr/>
        </p:nvSpPr>
        <p:spPr>
          <a:xfrm>
            <a:off x="7827264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87" name="행 제목"/>
          <p:cNvSpPr txBox="1"/>
          <p:nvPr/>
        </p:nvSpPr>
        <p:spPr>
          <a:xfrm>
            <a:off x="6291072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88" name="행 메타"/>
          <p:cNvSpPr txBox="1"/>
          <p:nvPr/>
        </p:nvSpPr>
        <p:spPr>
          <a:xfrm>
            <a:off x="6291072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89" name="행 주소"/>
          <p:cNvSpPr txBox="1"/>
          <p:nvPr/>
        </p:nvSpPr>
        <p:spPr>
          <a:xfrm>
            <a:off x="6291072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90" name="주소 펼침"/>
          <p:cNvSpPr txBox="1"/>
          <p:nvPr/>
        </p:nvSpPr>
        <p:spPr>
          <a:xfrm>
            <a:off x="7306056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91" name="즐겨찾기 토글"/>
          <p:cNvSpPr txBox="1"/>
          <p:nvPr/>
        </p:nvSpPr>
        <p:spPr>
          <a:xfrm>
            <a:off x="6291072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F5A524"/>
                </a:solidFill>
                <a:latin typeface="Pretendard"/>
              </a:rPr>
              <a:t>★</a:t>
            </a:r>
          </a:p>
        </p:txBody>
      </p:sp>
      <p:sp>
        <p:nvSpPr>
          <p:cNvPr id="92" name="모드 1버튼"/>
          <p:cNvSpPr/>
          <p:nvPr/>
        </p:nvSpPr>
        <p:spPr>
          <a:xfrm>
            <a:off x="6583680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모드 1버튼 라벨"/>
          <p:cNvSpPr txBox="1"/>
          <p:nvPr/>
        </p:nvSpPr>
        <p:spPr>
          <a:xfrm>
            <a:off x="6583680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즐겨찾기에서 삭제</a:t>
            </a:r>
          </a:p>
        </p:txBody>
      </p:sp>
      <p:sp>
        <p:nvSpPr>
          <p:cNvPr id="94" name="행 구분선"/>
          <p:cNvSpPr/>
          <p:nvPr/>
        </p:nvSpPr>
        <p:spPr>
          <a:xfrm>
            <a:off x="6117336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행 제목"/>
          <p:cNvSpPr txBox="1"/>
          <p:nvPr/>
        </p:nvSpPr>
        <p:spPr>
          <a:xfrm>
            <a:off x="6291072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6" name="행 메타"/>
          <p:cNvSpPr txBox="1"/>
          <p:nvPr/>
        </p:nvSpPr>
        <p:spPr>
          <a:xfrm>
            <a:off x="6291072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97" name="행 주소"/>
          <p:cNvSpPr txBox="1"/>
          <p:nvPr/>
        </p:nvSpPr>
        <p:spPr>
          <a:xfrm>
            <a:off x="6291072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98" name="주소 펼침"/>
          <p:cNvSpPr txBox="1"/>
          <p:nvPr/>
        </p:nvSpPr>
        <p:spPr>
          <a:xfrm>
            <a:off x="7165238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99" name="즐겨찾기 토글"/>
          <p:cNvSpPr txBox="1"/>
          <p:nvPr/>
        </p:nvSpPr>
        <p:spPr>
          <a:xfrm>
            <a:off x="6291072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100" name="모드 1버튼"/>
          <p:cNvSpPr/>
          <p:nvPr/>
        </p:nvSpPr>
        <p:spPr>
          <a:xfrm>
            <a:off x="6583680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모드 1버튼 라벨"/>
          <p:cNvSpPr txBox="1"/>
          <p:nvPr/>
        </p:nvSpPr>
        <p:spPr>
          <a:xfrm>
            <a:off x="6583680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 추가</a:t>
            </a:r>
          </a:p>
        </p:txBody>
      </p:sp>
      <p:sp>
        <p:nvSpPr>
          <p:cNvPr id="102" name="행 구분선"/>
          <p:cNvSpPr/>
          <p:nvPr/>
        </p:nvSpPr>
        <p:spPr>
          <a:xfrm>
            <a:off x="6117336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뒤로가기 플로팅"/>
          <p:cNvSpPr/>
          <p:nvPr/>
        </p:nvSpPr>
        <p:spPr>
          <a:xfrm>
            <a:off x="615574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4" name="뒤로가기"/>
          <p:cNvCxnSpPr/>
          <p:nvPr/>
        </p:nvCxnSpPr>
        <p:spPr>
          <a:xfrm flipH="1">
            <a:off x="3404082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뒤로가기"/>
          <p:cNvCxnSpPr/>
          <p:nvPr/>
        </p:nvCxnSpPr>
        <p:spPr>
          <a:xfrm flipH="1" flipV="1">
            <a:off x="3404082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뒤로가기"/>
          <p:cNvCxnSpPr/>
          <p:nvPr/>
        </p:nvCxnSpPr>
        <p:spPr>
          <a:xfrm flipH="1">
            <a:off x="6263411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뒤로가기"/>
          <p:cNvCxnSpPr/>
          <p:nvPr/>
        </p:nvCxnSpPr>
        <p:spPr>
          <a:xfrm flipH="1" flipV="1">
            <a:off x="6263411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결과 건수"/>
          <p:cNvSpPr txBox="1"/>
          <p:nvPr/>
        </p:nvSpPr>
        <p:spPr>
          <a:xfrm>
            <a:off x="3431743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09" name="결과 건수"/>
          <p:cNvSpPr txBox="1"/>
          <p:nvPr/>
        </p:nvSpPr>
        <p:spPr>
          <a:xfrm>
            <a:off x="6291072" y="2980944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10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80867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1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3280867" y="3364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2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6140196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13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140196" y="3364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14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3280867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5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140196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16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6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29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1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33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36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277502" y="1447800"/>
          <a:ext cx="2553309" cy="417108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화면을 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 결과 행의 ☆와 같은 동작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 모드로 진입했을 때만 역할 2버튼 대신 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3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 저장된 장소는 ★ 상태로 진입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&gt; 목록 반영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즐겨찾기는 재설치·기기 변경에도 유지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1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3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4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자주 가는 곳 유형 선택 — 프리셋 시트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0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2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9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5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7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1" name="프리셋 시트 패널"/>
          <p:cNvSpPr/>
          <p:nvPr/>
        </p:nvSpPr>
        <p:spPr>
          <a:xfrm>
            <a:off x="4582440" y="3090672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72" name="시트 제목"/>
          <p:cNvSpPr txBox="1"/>
          <p:nvPr/>
        </p:nvSpPr>
        <p:spPr>
          <a:xfrm>
            <a:off x="4728744" y="3218688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프리셋 행 병원"/>
          <p:cNvSpPr/>
          <p:nvPr/>
        </p:nvSpPr>
        <p:spPr>
          <a:xfrm>
            <a:off x="4728744" y="352958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362102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75" name="프리셋 행 복지관"/>
          <p:cNvSpPr/>
          <p:nvPr/>
        </p:nvSpPr>
        <p:spPr>
          <a:xfrm>
            <a:off x="4728744" y="389534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/>
          <p:cNvSpPr txBox="1"/>
          <p:nvPr/>
        </p:nvSpPr>
        <p:spPr>
          <a:xfrm>
            <a:off x="4856760" y="398678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7" name="프리셋 행 주민센터"/>
          <p:cNvSpPr/>
          <p:nvPr/>
        </p:nvSpPr>
        <p:spPr>
          <a:xfrm>
            <a:off x="4728744" y="426110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/>
          <p:cNvSpPr txBox="1"/>
          <p:nvPr/>
        </p:nvSpPr>
        <p:spPr>
          <a:xfrm>
            <a:off x="4856760" y="435254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79" name="프리셋 행 회사"/>
          <p:cNvSpPr/>
          <p:nvPr/>
        </p:nvSpPr>
        <p:spPr>
          <a:xfrm>
            <a:off x="4728744" y="462686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제목"/>
          <p:cNvSpPr txBox="1"/>
          <p:nvPr/>
        </p:nvSpPr>
        <p:spPr>
          <a:xfrm>
            <a:off x="4856760" y="471830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1" name="프리셋 행 학교"/>
          <p:cNvSpPr/>
          <p:nvPr/>
        </p:nvSpPr>
        <p:spPr>
          <a:xfrm>
            <a:off x="4728744" y="499262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행 제목"/>
          <p:cNvSpPr txBox="1"/>
          <p:nvPr/>
        </p:nvSpPr>
        <p:spPr>
          <a:xfrm>
            <a:off x="4856760" y="508406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83" name="프리셋 행 직접 입력"/>
          <p:cNvSpPr/>
          <p:nvPr/>
        </p:nvSpPr>
        <p:spPr>
          <a:xfrm>
            <a:off x="4728744" y="5358383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행 제목"/>
          <p:cNvSpPr txBox="1"/>
          <p:nvPr/>
        </p:nvSpPr>
        <p:spPr>
          <a:xfrm>
            <a:off x="4856760" y="544982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85" name="시트 닫기 버튼"/>
          <p:cNvSpPr/>
          <p:nvPr/>
        </p:nvSpPr>
        <p:spPr>
          <a:xfrm>
            <a:off x="4728744" y="585216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버튼 라벨"/>
          <p:cNvSpPr txBox="1"/>
          <p:nvPr/>
        </p:nvSpPr>
        <p:spPr>
          <a:xfrm>
            <a:off x="4856760" y="5943600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87" name="시트 버튼 구분선"/>
          <p:cNvSpPr/>
          <p:nvPr/>
        </p:nvSpPr>
        <p:spPr>
          <a:xfrm>
            <a:off x="4728744" y="5779008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8" name="Description 표"/>
          <p:cNvGraphicFramePr>
            <a:graphicFrameLocks noGrp="1"/>
          </p:cNvGraphicFramePr>
          <p:nvPr/>
        </p:nvGraphicFramePr>
        <p:xfrm>
          <a:off x="9277502" y="1447800"/>
          <a:ext cx="2553309" cy="451637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빈 슬롯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 슬롯 선택 시 시트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‘집’은 유형을 고르지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자주 가는 곳 유형 선택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아래에서 올라오는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손잡이 없음 · 바깥 눌러도 안 닫힘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배경 목록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6종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병원 〉 복지관 〉 주민센터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회사 〉 학교 〉 직접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라벨은 이름 변경 시트에서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[닫기]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닫는 유일한 버튼 · 맨 아래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닫으면 빈 슬롯 자리로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선택 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고른 유형이 슬롯 라벨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이어서 장소 검색으로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0" name="숫자배지 1"/>
          <p:cNvSpPr/>
          <p:nvPr/>
        </p:nvSpPr>
        <p:spPr>
          <a:xfrm>
            <a:off x="3439166" y="3246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2"/>
          <p:cNvSpPr/>
          <p:nvPr/>
        </p:nvSpPr>
        <p:spPr>
          <a:xfrm>
            <a:off x="6804432" y="3200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2" name="숫자배지 2-1"/>
          <p:cNvSpPr/>
          <p:nvPr/>
        </p:nvSpPr>
        <p:spPr>
          <a:xfrm>
            <a:off x="6804432" y="358444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3" name="숫자배지 2-2"/>
          <p:cNvSpPr/>
          <p:nvPr/>
        </p:nvSpPr>
        <p:spPr>
          <a:xfrm>
            <a:off x="6804432" y="590702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고정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슬롯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지정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—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결과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이름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변경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시트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저장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9277502" y="1447800"/>
          <a:ext cx="2553309" cy="490026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— 2-1 ③ 검색 결과와 같음 · 정렬 드롭다운 「정확도순」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(슬롯 지정 모드)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유형을 고른 뒤 이 화면으로 이동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버튼은 고른 유형으로 표시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[〈유형〉으로 설정]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이름 변경 시트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추가’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고른 유형명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숫자 · 기호 입력 가능 · 수정은 선택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80517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시 슬롯에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 완료 토스트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197606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 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슬롯에 선택한 장소의 주소가 채워짐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15251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8018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행 설명"/>
          <p:cNvSpPr txBox="1"/>
          <p:nvPr/>
        </p:nvSpPr>
        <p:spPr>
          <a:xfrm>
            <a:off x="6439801" y="498281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선유로 343</a:t>
            </a: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3256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33" name="행 설명"/>
          <p:cNvSpPr txBox="1"/>
          <p:nvPr/>
        </p:nvSpPr>
        <p:spPr>
          <a:xfrm>
            <a:off x="6439801" y="55066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83281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3" name="행 설명"/>
          <p:cNvSpPr txBox="1"/>
          <p:nvPr/>
        </p:nvSpPr>
        <p:spPr>
          <a:xfrm>
            <a:off x="6443084" y="601381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grpSp>
        <p:nvGrpSpPr>
          <p:cNvPr id="44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45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6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9" name="목업 프레임"/>
          <p:cNvSpPr/>
          <p:nvPr/>
        </p:nvSpPr>
        <p:spPr>
          <a:xfrm>
            <a:off x="343814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지도"/>
          <p:cNvSpPr/>
          <p:nvPr/>
        </p:nvSpPr>
        <p:spPr>
          <a:xfrm>
            <a:off x="352958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지도 안내"/>
          <p:cNvSpPr txBox="1"/>
          <p:nvPr/>
        </p:nvSpPr>
        <p:spPr>
          <a:xfrm>
            <a:off x="910742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52" name="검색창"/>
          <p:cNvSpPr/>
          <p:nvPr/>
        </p:nvSpPr>
        <p:spPr>
          <a:xfrm>
            <a:off x="691286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/>
          <p:cNvSpPr txBox="1"/>
          <p:nvPr/>
        </p:nvSpPr>
        <p:spPr>
          <a:xfrm>
            <a:off x="837590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54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2629814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2629814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2629814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컨트롤 라벨"/>
          <p:cNvSpPr txBox="1"/>
          <p:nvPr/>
        </p:nvSpPr>
        <p:spPr>
          <a:xfrm>
            <a:off x="2629814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8" name="바텀시트"/>
          <p:cNvSpPr/>
          <p:nvPr/>
        </p:nvSpPr>
        <p:spPr>
          <a:xfrm>
            <a:off x="352958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시트 손잡이"/>
          <p:cNvSpPr/>
          <p:nvPr/>
        </p:nvSpPr>
        <p:spPr>
          <a:xfrm>
            <a:off x="1532534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정렬 드롭다운"/>
          <p:cNvSpPr/>
          <p:nvPr/>
        </p:nvSpPr>
        <p:spPr>
          <a:xfrm>
            <a:off x="2062886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정렬 드롭다운 라벨"/>
          <p:cNvSpPr txBox="1"/>
          <p:nvPr/>
        </p:nvSpPr>
        <p:spPr>
          <a:xfrm>
            <a:off x="2062886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62" name="행 제목"/>
          <p:cNvSpPr txBox="1"/>
          <p:nvPr/>
        </p:nvSpPr>
        <p:spPr>
          <a:xfrm>
            <a:off x="526694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63" name="행 메타"/>
          <p:cNvSpPr txBox="1"/>
          <p:nvPr/>
        </p:nvSpPr>
        <p:spPr>
          <a:xfrm>
            <a:off x="526694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64" name="행 주소"/>
          <p:cNvSpPr txBox="1"/>
          <p:nvPr/>
        </p:nvSpPr>
        <p:spPr>
          <a:xfrm>
            <a:off x="526694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65" name="주소 펼침"/>
          <p:cNvSpPr txBox="1"/>
          <p:nvPr/>
        </p:nvSpPr>
        <p:spPr>
          <a:xfrm>
            <a:off x="1541678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66" name="모드 1버튼"/>
          <p:cNvSpPr/>
          <p:nvPr/>
        </p:nvSpPr>
        <p:spPr>
          <a:xfrm>
            <a:off x="819302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모드 1버튼 라벨"/>
          <p:cNvSpPr txBox="1"/>
          <p:nvPr/>
        </p:nvSpPr>
        <p:spPr>
          <a:xfrm>
            <a:off x="819302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68" name="행 구분선"/>
          <p:cNvSpPr/>
          <p:nvPr/>
        </p:nvSpPr>
        <p:spPr>
          <a:xfrm>
            <a:off x="352958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/>
          <p:cNvSpPr txBox="1"/>
          <p:nvPr/>
        </p:nvSpPr>
        <p:spPr>
          <a:xfrm>
            <a:off x="526694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70" name="행 메타"/>
          <p:cNvSpPr txBox="1"/>
          <p:nvPr/>
        </p:nvSpPr>
        <p:spPr>
          <a:xfrm>
            <a:off x="526694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71" name="행 주소"/>
          <p:cNvSpPr txBox="1"/>
          <p:nvPr/>
        </p:nvSpPr>
        <p:spPr>
          <a:xfrm>
            <a:off x="526694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72" name="주소 펼침"/>
          <p:cNvSpPr txBox="1"/>
          <p:nvPr/>
        </p:nvSpPr>
        <p:spPr>
          <a:xfrm>
            <a:off x="1400860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73" name="모드 1버튼"/>
          <p:cNvSpPr/>
          <p:nvPr/>
        </p:nvSpPr>
        <p:spPr>
          <a:xfrm>
            <a:off x="819302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모드 1버튼 라벨"/>
          <p:cNvSpPr txBox="1"/>
          <p:nvPr/>
        </p:nvSpPr>
        <p:spPr>
          <a:xfrm>
            <a:off x="819302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75" name="행 구분선"/>
          <p:cNvSpPr/>
          <p:nvPr/>
        </p:nvSpPr>
        <p:spPr>
          <a:xfrm>
            <a:off x="352958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뒤로가기 플로팅"/>
          <p:cNvSpPr/>
          <p:nvPr/>
        </p:nvSpPr>
        <p:spPr>
          <a:xfrm>
            <a:off x="391363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목업 프레임"/>
          <p:cNvSpPr/>
          <p:nvPr/>
        </p:nvSpPr>
        <p:spPr>
          <a:xfrm>
            <a:off x="324886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지도"/>
          <p:cNvSpPr/>
          <p:nvPr/>
        </p:nvSpPr>
        <p:spPr>
          <a:xfrm>
            <a:off x="3258007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지도 안내"/>
          <p:cNvSpPr txBox="1"/>
          <p:nvPr/>
        </p:nvSpPr>
        <p:spPr>
          <a:xfrm>
            <a:off x="3815791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80" name="검색창"/>
          <p:cNvSpPr/>
          <p:nvPr/>
        </p:nvSpPr>
        <p:spPr>
          <a:xfrm>
            <a:off x="3596335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검색창 문구"/>
          <p:cNvSpPr txBox="1"/>
          <p:nvPr/>
        </p:nvSpPr>
        <p:spPr>
          <a:xfrm>
            <a:off x="3742639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5534863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5534863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5534863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5534863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6" name="바텀시트"/>
          <p:cNvSpPr/>
          <p:nvPr/>
        </p:nvSpPr>
        <p:spPr>
          <a:xfrm>
            <a:off x="3258007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시트 손잡이"/>
          <p:cNvSpPr/>
          <p:nvPr/>
        </p:nvSpPr>
        <p:spPr>
          <a:xfrm>
            <a:off x="4437583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정렬 드롭다운"/>
          <p:cNvSpPr/>
          <p:nvPr/>
        </p:nvSpPr>
        <p:spPr>
          <a:xfrm>
            <a:off x="4967935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정렬 드롭다운 라벨"/>
          <p:cNvSpPr txBox="1"/>
          <p:nvPr/>
        </p:nvSpPr>
        <p:spPr>
          <a:xfrm>
            <a:off x="4967935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90" name="행 제목"/>
          <p:cNvSpPr txBox="1"/>
          <p:nvPr/>
        </p:nvSpPr>
        <p:spPr>
          <a:xfrm>
            <a:off x="3431743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91" name="행 메타"/>
          <p:cNvSpPr txBox="1"/>
          <p:nvPr/>
        </p:nvSpPr>
        <p:spPr>
          <a:xfrm>
            <a:off x="3431743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92" name="행 주소"/>
          <p:cNvSpPr txBox="1"/>
          <p:nvPr/>
        </p:nvSpPr>
        <p:spPr>
          <a:xfrm>
            <a:off x="3431743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93" name="주소 펼침"/>
          <p:cNvSpPr txBox="1"/>
          <p:nvPr/>
        </p:nvSpPr>
        <p:spPr>
          <a:xfrm>
            <a:off x="4446727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94" name="모드 1버튼"/>
          <p:cNvSpPr/>
          <p:nvPr/>
        </p:nvSpPr>
        <p:spPr>
          <a:xfrm>
            <a:off x="3724351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모드 1버튼 라벨"/>
          <p:cNvSpPr txBox="1"/>
          <p:nvPr/>
        </p:nvSpPr>
        <p:spPr>
          <a:xfrm>
            <a:off x="3724351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96" name="행 구분선"/>
          <p:cNvSpPr/>
          <p:nvPr/>
        </p:nvSpPr>
        <p:spPr>
          <a:xfrm>
            <a:off x="3258007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제목"/>
          <p:cNvSpPr txBox="1"/>
          <p:nvPr/>
        </p:nvSpPr>
        <p:spPr>
          <a:xfrm>
            <a:off x="3431743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8" name="행 메타"/>
          <p:cNvSpPr txBox="1"/>
          <p:nvPr/>
        </p:nvSpPr>
        <p:spPr>
          <a:xfrm>
            <a:off x="3431743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99" name="행 주소"/>
          <p:cNvSpPr txBox="1"/>
          <p:nvPr/>
        </p:nvSpPr>
        <p:spPr>
          <a:xfrm>
            <a:off x="3431743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100" name="주소 펼침"/>
          <p:cNvSpPr txBox="1"/>
          <p:nvPr/>
        </p:nvSpPr>
        <p:spPr>
          <a:xfrm>
            <a:off x="4305909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101" name="모드 1버튼"/>
          <p:cNvSpPr/>
          <p:nvPr/>
        </p:nvSpPr>
        <p:spPr>
          <a:xfrm>
            <a:off x="3724351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모드 1버튼 라벨"/>
          <p:cNvSpPr txBox="1"/>
          <p:nvPr/>
        </p:nvSpPr>
        <p:spPr>
          <a:xfrm>
            <a:off x="3724351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03" name="행 구분선"/>
          <p:cNvSpPr/>
          <p:nvPr/>
        </p:nvSpPr>
        <p:spPr>
          <a:xfrm>
            <a:off x="3258007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뒤로가기 플로팅"/>
          <p:cNvSpPr/>
          <p:nvPr/>
        </p:nvSpPr>
        <p:spPr>
          <a:xfrm>
            <a:off x="329641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시트 패널"/>
          <p:cNvSpPr/>
          <p:nvPr/>
        </p:nvSpPr>
        <p:spPr>
          <a:xfrm>
            <a:off x="3257308" y="4450384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6" name="시트 제목"/>
          <p:cNvSpPr txBox="1"/>
          <p:nvPr/>
        </p:nvSpPr>
        <p:spPr>
          <a:xfrm>
            <a:off x="3403612" y="4570171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입력란"/>
          <p:cNvSpPr/>
          <p:nvPr/>
        </p:nvSpPr>
        <p:spPr>
          <a:xfrm>
            <a:off x="3403612" y="482986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8" name="입력값"/>
          <p:cNvSpPr txBox="1"/>
          <p:nvPr/>
        </p:nvSpPr>
        <p:spPr>
          <a:xfrm>
            <a:off x="3531628" y="482986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109" name="글자수"/>
          <p:cNvSpPr txBox="1"/>
          <p:nvPr/>
        </p:nvSpPr>
        <p:spPr>
          <a:xfrm>
            <a:off x="3403612" y="5289804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sp>
        <p:nvSpPr>
          <p:cNvPr id="110" name="저장 버튼"/>
          <p:cNvSpPr/>
          <p:nvPr/>
        </p:nvSpPr>
        <p:spPr>
          <a:xfrm>
            <a:off x="3403612" y="554034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1" name="저장 라벨"/>
          <p:cNvSpPr txBox="1"/>
          <p:nvPr/>
        </p:nvSpPr>
        <p:spPr>
          <a:xfrm>
            <a:off x="3403612" y="5540349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cxnSp>
        <p:nvCxnSpPr>
          <p:cNvPr id="112" name="뒤로가기"/>
          <p:cNvCxnSpPr/>
          <p:nvPr/>
        </p:nvCxnSpPr>
        <p:spPr>
          <a:xfrm flipH="1">
            <a:off x="499033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뒤로가기"/>
          <p:cNvCxnSpPr/>
          <p:nvPr/>
        </p:nvCxnSpPr>
        <p:spPr>
          <a:xfrm flipH="1" flipV="1">
            <a:off x="499033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뒤로가기"/>
          <p:cNvCxnSpPr/>
          <p:nvPr/>
        </p:nvCxnSpPr>
        <p:spPr>
          <a:xfrm flipH="1">
            <a:off x="3404082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뒤로가기"/>
          <p:cNvCxnSpPr/>
          <p:nvPr/>
        </p:nvCxnSpPr>
        <p:spPr>
          <a:xfrm flipH="1" flipV="1">
            <a:off x="3404082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결과 건수"/>
          <p:cNvSpPr txBox="1"/>
          <p:nvPr/>
        </p:nvSpPr>
        <p:spPr>
          <a:xfrm>
            <a:off x="526694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17" name="결과 건수"/>
          <p:cNvSpPr txBox="1"/>
          <p:nvPr/>
        </p:nvSpPr>
        <p:spPr>
          <a:xfrm>
            <a:off x="3431743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18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375818" y="3364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9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0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560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1" name="숫자배지 1">
            <a:extLst>
              <a:ext uri="{FF2B5EF4-FFF2-40B4-BE49-F238E27FC236}">
                <a16:creationId xmlns:a16="http://schemas.microsoft.com/office/drawing/2014/main" id="{C11CCFDB-0814-5BFB-7E06-5E83616C4697}"/>
              </a:ext>
            </a:extLst>
          </p:cNvPr>
          <p:cNvSpPr/>
          <p:nvPr/>
        </p:nvSpPr>
        <p:spPr>
          <a:xfrm>
            <a:off x="375818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22" name="숫자배지 2-1"/>
          <p:cNvSpPr/>
          <p:nvPr/>
        </p:nvSpPr>
        <p:spPr>
          <a:xfrm>
            <a:off x="5620000" y="48700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3" name="숫자배지 2-2"/>
          <p:cNvSpPr/>
          <p:nvPr/>
        </p:nvSpPr>
        <p:spPr>
          <a:xfrm>
            <a:off x="5620000" y="55796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목업 프레임"/>
          <p:cNvSpPr/>
          <p:nvPr/>
        </p:nvSpPr>
        <p:spPr>
          <a:xfrm>
            <a:off x="2966314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7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8" name="부제"/>
          <p:cNvSpPr txBox="1"/>
          <p:nvPr/>
        </p:nvSpPr>
        <p:spPr>
          <a:xfrm>
            <a:off x="1781251" y="228600"/>
            <a:ext cx="590702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즐겨찾기에서 선택 — 슬롯 지정 모드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8629192" y="1447800"/>
          <a:ext cx="2972713" cy="304652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즐겨찾기 선택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「즐겨찾기」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2-1 장소 검색 ① 빈 상태(슬롯 지정)로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담는 것 — 일반 목록만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0건이면 「저장한 즐겨찾기가 없습니다.」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행 구성 — 2줄 ＋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표시 규칙은 목록과 같음 (POI명 / 주소)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[〈슬롯명〉으로 설정]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→ 이름 변경 시트 → [저장]으로 슬롯 지정 확정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이미 다른 슬롯인 행은 [〈그 슬롯명〉으로 설정됨] 비활성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15" name="t"/>
          <p:cNvSpPr txBox="1"/>
          <p:nvPr/>
        </p:nvSpPr>
        <p:spPr>
          <a:xfrm>
            <a:off x="2966314" y="1316736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즐겨찾기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2975458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favrow"/>
          <p:cNvSpPr/>
          <p:nvPr/>
        </p:nvSpPr>
        <p:spPr>
          <a:xfrm>
            <a:off x="3121762" y="1755648"/>
            <a:ext cx="2423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8" name="t"/>
          <p:cNvSpPr txBox="1"/>
          <p:nvPr/>
        </p:nvSpPr>
        <p:spPr>
          <a:xfrm>
            <a:off x="3231490" y="1828800"/>
            <a:ext cx="22037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서울특별시청</a:t>
            </a:r>
          </a:p>
        </p:txBody>
      </p:sp>
      <p:sp>
        <p:nvSpPr>
          <p:cNvPr id="19" name="t"/>
          <p:cNvSpPr txBox="1"/>
          <p:nvPr/>
        </p:nvSpPr>
        <p:spPr>
          <a:xfrm>
            <a:off x="3231490" y="2002536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 중구 세종대로 110</a:t>
            </a:r>
          </a:p>
        </p:txBody>
      </p:sp>
      <p:sp>
        <p:nvSpPr>
          <p:cNvPr id="20" name="setbtn"/>
          <p:cNvSpPr/>
          <p:nvPr/>
        </p:nvSpPr>
        <p:spPr>
          <a:xfrm>
            <a:off x="3231490" y="2185416"/>
            <a:ext cx="220370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21" name="t"/>
          <p:cNvSpPr txBox="1"/>
          <p:nvPr/>
        </p:nvSpPr>
        <p:spPr>
          <a:xfrm>
            <a:off x="3231490" y="2244852"/>
            <a:ext cx="22037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병원으로 설정</a:t>
            </a:r>
          </a:p>
        </p:txBody>
      </p:sp>
      <p:sp>
        <p:nvSpPr>
          <p:cNvPr id="22" name="favrow"/>
          <p:cNvSpPr/>
          <p:nvPr/>
        </p:nvSpPr>
        <p:spPr>
          <a:xfrm>
            <a:off x="3121762" y="2578608"/>
            <a:ext cx="2423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23" name="t"/>
          <p:cNvSpPr txBox="1"/>
          <p:nvPr/>
        </p:nvSpPr>
        <p:spPr>
          <a:xfrm>
            <a:off x="3231490" y="2651760"/>
            <a:ext cx="22037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당산역</a:t>
            </a:r>
          </a:p>
        </p:txBody>
      </p:sp>
      <p:sp>
        <p:nvSpPr>
          <p:cNvPr id="24" name="t"/>
          <p:cNvSpPr txBox="1"/>
          <p:nvPr/>
        </p:nvSpPr>
        <p:spPr>
          <a:xfrm>
            <a:off x="3231490" y="2825496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 영등포구 양평로 지하 21</a:t>
            </a:r>
          </a:p>
        </p:txBody>
      </p:sp>
      <p:sp>
        <p:nvSpPr>
          <p:cNvPr id="25" name="setbtn"/>
          <p:cNvSpPr/>
          <p:nvPr/>
        </p:nvSpPr>
        <p:spPr>
          <a:xfrm>
            <a:off x="3231490" y="3008376"/>
            <a:ext cx="220370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26" name="t"/>
          <p:cNvSpPr txBox="1"/>
          <p:nvPr/>
        </p:nvSpPr>
        <p:spPr>
          <a:xfrm>
            <a:off x="3231490" y="3067812"/>
            <a:ext cx="22037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병원으로 설정</a:t>
            </a:r>
          </a:p>
        </p:txBody>
      </p:sp>
      <p:sp>
        <p:nvSpPr>
          <p:cNvPr id="27" name="favrow"/>
          <p:cNvSpPr/>
          <p:nvPr/>
        </p:nvSpPr>
        <p:spPr>
          <a:xfrm>
            <a:off x="3121762" y="3401568"/>
            <a:ext cx="2423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28" name="t"/>
          <p:cNvSpPr txBox="1"/>
          <p:nvPr/>
        </p:nvSpPr>
        <p:spPr>
          <a:xfrm>
            <a:off x="3231490" y="3474720"/>
            <a:ext cx="22037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선유도공원</a:t>
            </a:r>
          </a:p>
        </p:txBody>
      </p:sp>
      <p:sp>
        <p:nvSpPr>
          <p:cNvPr id="29" name="t"/>
          <p:cNvSpPr txBox="1"/>
          <p:nvPr/>
        </p:nvSpPr>
        <p:spPr>
          <a:xfrm>
            <a:off x="3231490" y="3648456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 영등포구 선유로 343</a:t>
            </a:r>
          </a:p>
        </p:txBody>
      </p:sp>
      <p:sp>
        <p:nvSpPr>
          <p:cNvPr id="30" name="setbtn"/>
          <p:cNvSpPr/>
          <p:nvPr/>
        </p:nvSpPr>
        <p:spPr>
          <a:xfrm>
            <a:off x="3231490" y="3831336"/>
            <a:ext cx="220370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3231490" y="3890772"/>
            <a:ext cx="22037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9AA4B0"/>
                </a:solidFill>
                <a:latin typeface="Pretendard"/>
                <a:ea typeface="Pretendard"/>
              </a:rPr>
              <a:t>회사로 설정됨</a:t>
            </a:r>
          </a:p>
        </p:txBody>
      </p:sp>
      <p:sp>
        <p:nvSpPr>
          <p:cNvPr id="32" name="t"/>
          <p:cNvSpPr txBox="1"/>
          <p:nvPr/>
        </p:nvSpPr>
        <p:spPr>
          <a:xfrm>
            <a:off x="2966314" y="1024128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즐겨찾기 선택 목록 — 슬롯 지정 모드</a:t>
            </a:r>
          </a:p>
        </p:txBody>
      </p:sp>
      <p:cxnSp>
        <p:nvCxnSpPr>
          <p:cNvPr id="33" name="뒤로가기"/>
          <p:cNvCxnSpPr/>
          <p:nvPr/>
        </p:nvCxnSpPr>
        <p:spPr>
          <a:xfrm flipH="1">
            <a:off x="3138526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/>
          <p:cNvCxnSpPr/>
          <p:nvPr/>
        </p:nvCxnSpPr>
        <p:spPr>
          <a:xfrm flipH="1" flipV="1">
            <a:off x="3138526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숫자배지 1"/>
          <p:cNvSpPr/>
          <p:nvPr/>
        </p:nvSpPr>
        <p:spPr>
          <a:xfrm>
            <a:off x="2719426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2719426" y="17373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2719426" y="21945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사후 편집 — 자주 가는 곳 이름 수정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0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2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9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5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700000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70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양평동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서울 영등포구 양평동 5가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7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1" name="프리셋 시트 패널"/>
          <p:cNvSpPr/>
          <p:nvPr/>
        </p:nvSpPr>
        <p:spPr>
          <a:xfrm>
            <a:off x="4582440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72" name="시트 제목"/>
          <p:cNvSpPr txBox="1"/>
          <p:nvPr/>
        </p:nvSpPr>
        <p:spPr>
          <a:xfrm>
            <a:off x="4728744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이름 수정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프리셋 행 병원"/>
          <p:cNvSpPr/>
          <p:nvPr/>
        </p:nvSpPr>
        <p:spPr>
          <a:xfrm>
            <a:off x="4728744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5" name="저장 버튼"/>
          <p:cNvSpPr/>
          <p:nvPr/>
        </p:nvSpPr>
        <p:spPr>
          <a:xfrm>
            <a:off x="4728744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저장 라벨"/>
          <p:cNvSpPr txBox="1"/>
          <p:nvPr/>
        </p:nvSpPr>
        <p:spPr>
          <a:xfrm>
            <a:off x="4728744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77" name="행 제목"/>
          <p:cNvSpPr txBox="1"/>
          <p:nvPr/>
        </p:nvSpPr>
        <p:spPr>
          <a:xfrm>
            <a:off x="4728744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/>
        </p:nvGraphicFramePr>
        <p:xfrm>
          <a:off x="9277502" y="1447800"/>
          <a:ext cx="2553309" cy="305043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[이름수정]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 행 우측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「집」·미등록 슬롯에는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 (수정)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이름 수정’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현재 라벨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숫자 · 기호 입력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라벨만 갱신 (주소 불변)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배치는 [이름수정] → [삭제] 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0" name="행 버튼 삭제"/>
          <p:cNvSpPr/>
          <p:nvPr/>
        </p:nvSpPr>
        <p:spPr>
          <a:xfrm>
            <a:off x="3253686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1" name="행 버튼 삭제"/>
          <p:cNvSpPr/>
          <p:nvPr/>
        </p:nvSpPr>
        <p:spPr>
          <a:xfrm>
            <a:off x="3253686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2" name="행 버튼 이름수정"/>
          <p:cNvSpPr/>
          <p:nvPr/>
        </p:nvSpPr>
        <p:spPr>
          <a:xfrm>
            <a:off x="2533686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3" name="행 버튼 삭제"/>
          <p:cNvSpPr/>
          <p:nvPr/>
        </p:nvSpPr>
        <p:spPr>
          <a:xfrm>
            <a:off x="3253686" y="329565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4" name="행 버튼 이름수정"/>
          <p:cNvSpPr/>
          <p:nvPr/>
        </p:nvSpPr>
        <p:spPr>
          <a:xfrm>
            <a:off x="2533686" y="3295650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5" name="숫자배지 2"/>
          <p:cNvSpPr/>
          <p:nvPr/>
        </p:nvSpPr>
        <p:spPr>
          <a:xfrm>
            <a:off x="6804432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6" name="숫자배지 2-1"/>
          <p:cNvSpPr/>
          <p:nvPr/>
        </p:nvSpPr>
        <p:spPr>
          <a:xfrm>
            <a:off x="6804432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7" name="숫자배지 1"/>
          <p:cNvSpPr/>
          <p:nvPr/>
        </p:nvSpPr>
        <p:spPr>
          <a:xfrm>
            <a:off x="2300000" y="331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8" name="숫자배지 2-2"/>
          <p:cNvSpPr/>
          <p:nvPr/>
        </p:nvSpPr>
        <p:spPr>
          <a:xfrm>
            <a:off x="6804432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3505200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5" name="행 설명"/>
          <p:cNvSpPr txBox="1"/>
          <p:nvPr/>
        </p:nvSpPr>
        <p:spPr>
          <a:xfrm>
            <a:off x="3505200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36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7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8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505200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행 설명"/>
          <p:cNvSpPr txBox="1"/>
          <p:nvPr/>
        </p:nvSpPr>
        <p:spPr>
          <a:xfrm>
            <a:off x="3505200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2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3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/>
          <p:cNvSpPr txBox="1"/>
          <p:nvPr/>
        </p:nvSpPr>
        <p:spPr>
          <a:xfrm>
            <a:off x="3505200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5" name="행 설명"/>
          <p:cNvSpPr txBox="1"/>
          <p:nvPr/>
        </p:nvSpPr>
        <p:spPr>
          <a:xfrm>
            <a:off x="3505200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6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7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/>
        </p:nvGraphicFramePr>
        <p:xfrm>
          <a:off x="9277502" y="1447800"/>
          <a:ext cx="2553309" cy="473277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상단 우측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편집 모드 · 라벨 [완료]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 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우측 [이름수정] · [삭제]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[이름수정]은 등록된 자주 가는 곳에만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삭제해도 행 자체는 남음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‘주소를 등록해 주세요’ 로 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미설정 슬롯은 [삭제] 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항목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단건 삭제 · 행이 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삭제 시 추가 버튼만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 확인 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장소명을 넣어 대상 특정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[삭제]는 경고색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확정 시 즉시 제거 · 서버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1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52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53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4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55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6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57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58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59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60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1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62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3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6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6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0" name="행 설명"/>
          <p:cNvSpPr txBox="1"/>
          <p:nvPr/>
        </p:nvSpPr>
        <p:spPr>
          <a:xfrm>
            <a:off x="590550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1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73" name="행 설명"/>
          <p:cNvSpPr txBox="1"/>
          <p:nvPr/>
        </p:nvSpPr>
        <p:spPr>
          <a:xfrm>
            <a:off x="590550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74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76" name="행 설명"/>
          <p:cNvSpPr txBox="1"/>
          <p:nvPr/>
        </p:nvSpPr>
        <p:spPr>
          <a:xfrm>
            <a:off x="590550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7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2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3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5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87" name="행 설명"/>
          <p:cNvSpPr txBox="1"/>
          <p:nvPr/>
        </p:nvSpPr>
        <p:spPr>
          <a:xfrm>
            <a:off x="3505200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88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1" name="행 버튼 이름수정"/>
          <p:cNvSpPr/>
          <p:nvPr/>
        </p:nvSpPr>
        <p:spPr>
          <a:xfrm>
            <a:off x="4452075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4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5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96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5087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저상버스 예약 내역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9689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진행 중 · 지난 내역 (1/3)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192024" y="952500"/>
            <a:ext cx="8796528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300683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31020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45308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45308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9105595" y="952500"/>
            <a:ext cx="2891332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9317736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9317736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9279331" y="1447800"/>
          <a:ext cx="2553004" cy="4268773"/>
        </p:xfrm>
        <a:graphic>
          <a:graphicData uri="http://schemas.openxmlformats.org/drawingml/2006/table">
            <a:tbl>
              <a:tblPr/>
              <a:tblGrid>
                <a:gridCol w="42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타이틀 「저상버스 예약 내역」 · 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들어온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필터 칩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[진행 중] / [지난 내역] · 리스트 최상단 1행 · 열면 「진행 중」이 선택된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단일 선택 — 항상 하나가 선택되어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목록이 바뀌고 스크롤은 맨 위로 올라감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진행 중 예약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 배지 + 노선번호 + 승차 정류장 + 상태 + 일시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2단 — 예약 신청 완료 / 예약 확정됨 (텍스트 병기)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지정했을 때만 「하차: 〈정류장명〉」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아래 안내 1줄 · 행 탭 이동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75760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9" name="예약 노선·정류장"/>
          <p:cNvSpPr/>
          <p:nvPr/>
        </p:nvSpPr>
        <p:spPr>
          <a:xfrm>
            <a:off x="868680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20" name="예약 일시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1856232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14:48</a:t>
            </a:r>
          </a:p>
        </p:txBody>
      </p:sp>
      <p:sp>
        <p:nvSpPr>
          <p:cNvPr id="21" name="예약 상태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512064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 신청 완료</a:t>
            </a:r>
          </a:p>
        </p:txBody>
      </p:sp>
      <p:sp>
        <p:nvSpPr>
          <p:cNvPr id="22" name="상태 안내"/>
          <p:cNvSpPr/>
          <p:nvPr/>
        </p:nvSpPr>
        <p:spPr>
          <a:xfrm>
            <a:off x="512064" y="263347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</p:txBody>
      </p:sp>
      <p:sp>
        <p:nvSpPr>
          <p:cNvPr id="23" name="행 버튼"/>
          <p:cNvSpPr/>
          <p:nvPr/>
        </p:nvSpPr>
        <p:spPr>
          <a:xfrm>
            <a:off x="1920240" y="2834640"/>
            <a:ext cx="86868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버튼 라벨"/>
          <p:cNvSpPr txBox="1"/>
          <p:nvPr/>
        </p:nvSpPr>
        <p:spPr>
          <a:xfrm>
            <a:off x="1920240" y="2834640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예약 취소</a:t>
            </a:r>
          </a:p>
        </p:txBody>
      </p:sp>
      <p:cxnSp>
        <p:nvCxnSpPr>
          <p:cNvPr id="25" name="리스트 구분선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301752" y="318211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노선 유형배지"/>
          <p:cNvSpPr/>
          <p:nvPr/>
        </p:nvSpPr>
        <p:spPr>
          <a:xfrm>
            <a:off x="512064" y="334670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7" name="예약 노선·정류장"/>
          <p:cNvSpPr/>
          <p:nvPr/>
        </p:nvSpPr>
        <p:spPr>
          <a:xfrm>
            <a:off x="868680" y="3291840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28" name="예약 일시"/>
          <p:cNvSpPr/>
          <p:nvPr/>
        </p:nvSpPr>
        <p:spPr>
          <a:xfrm>
            <a:off x="1856232" y="3310128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13:02</a:t>
            </a:r>
          </a:p>
        </p:txBody>
      </p:sp>
      <p:sp>
        <p:nvSpPr>
          <p:cNvPr id="29" name="예약 상태"/>
          <p:cNvSpPr/>
          <p:nvPr/>
        </p:nvSpPr>
        <p:spPr>
          <a:xfrm>
            <a:off x="512064" y="3529584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예약되지 않음</a:t>
            </a:r>
          </a:p>
        </p:txBody>
      </p:sp>
      <p:sp>
        <p:nvSpPr>
          <p:cNvPr id="30" name="상태 안내"/>
          <p:cNvSpPr/>
          <p:nvPr/>
        </p:nvSpPr>
        <p:spPr>
          <a:xfrm>
            <a:off x="512064" y="3712464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예약이 되지 않았습니다. 다시 시도해 주세요.</a:t>
            </a:r>
          </a:p>
        </p:txBody>
      </p:sp>
      <p:sp>
        <p:nvSpPr>
          <p:cNvPr id="31" name="행 버튼"/>
          <p:cNvSpPr/>
          <p:nvPr/>
        </p:nvSpPr>
        <p:spPr>
          <a:xfrm>
            <a:off x="1810512" y="3950208"/>
            <a:ext cx="100584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버튼 라벨"/>
          <p:cNvSpPr txBox="1"/>
          <p:nvPr/>
        </p:nvSpPr>
        <p:spPr>
          <a:xfrm>
            <a:off x="1810512" y="395020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다시 예약하기</a:t>
            </a:r>
          </a:p>
        </p:txBody>
      </p:sp>
      <p:cxnSp>
        <p:nvCxnSpPr>
          <p:cNvPr id="33" name="리스트 구분선"/>
          <p:cNvCxnSpPr/>
          <p:nvPr/>
        </p:nvCxnSpPr>
        <p:spPr>
          <a:xfrm>
            <a:off x="301752" y="4297680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팝업 캡션"/>
          <p:cNvSpPr/>
          <p:nvPr/>
        </p:nvSpPr>
        <p:spPr>
          <a:xfrm>
            <a:off x="6135624" y="1883664"/>
            <a:ext cx="226771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5 — [예약 취소] 선택 시</a:t>
            </a:r>
          </a:p>
        </p:txBody>
      </p:sp>
      <p:sp>
        <p:nvSpPr>
          <p:cNvPr id="35" name="팝업 (예약 취소)"/>
          <p:cNvSpPr/>
          <p:nvPr/>
        </p:nvSpPr>
        <p:spPr>
          <a:xfrm>
            <a:off x="6135624" y="2103120"/>
            <a:ext cx="2322576" cy="14447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팝업 문구"/>
          <p:cNvSpPr txBox="1"/>
          <p:nvPr/>
        </p:nvSpPr>
        <p:spPr>
          <a:xfrm>
            <a:off x="6327648" y="2258568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 취소</a:t>
            </a:r>
          </a:p>
        </p:txBody>
      </p:sp>
      <p:sp>
        <p:nvSpPr>
          <p:cNvPr id="37" name="팝업 문구"/>
          <p:cNvSpPr txBox="1"/>
          <p:nvPr/>
        </p:nvSpPr>
        <p:spPr>
          <a:xfrm>
            <a:off x="6327648" y="256032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예약을 취소하시겠습니까?</a:t>
            </a:r>
          </a:p>
        </p:txBody>
      </p:sp>
      <p:sp>
        <p:nvSpPr>
          <p:cNvPr id="38" name="팝업 문구"/>
          <p:cNvSpPr txBox="1"/>
          <p:nvPr/>
        </p:nvSpPr>
        <p:spPr>
          <a:xfrm>
            <a:off x="6327648" y="274320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취소하면 다시 신청해야 합니다.</a:t>
            </a:r>
          </a:p>
        </p:txBody>
      </p:sp>
      <p:sp>
        <p:nvSpPr>
          <p:cNvPr id="39" name="팝업 버튼 닫기"/>
          <p:cNvSpPr/>
          <p:nvPr/>
        </p:nvSpPr>
        <p:spPr>
          <a:xfrm>
            <a:off x="634593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버튼 라벨"/>
          <p:cNvSpPr txBox="1"/>
          <p:nvPr/>
        </p:nvSpPr>
        <p:spPr>
          <a:xfrm>
            <a:off x="634593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닫기</a:t>
            </a:r>
          </a:p>
        </p:txBody>
      </p:sp>
      <p:sp>
        <p:nvSpPr>
          <p:cNvPr id="41" name="팝업 버튼 취소하기"/>
          <p:cNvSpPr/>
          <p:nvPr/>
        </p:nvSpPr>
        <p:spPr>
          <a:xfrm>
            <a:off x="730605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팝업 버튼 라벨"/>
          <p:cNvSpPr txBox="1"/>
          <p:nvPr/>
        </p:nvSpPr>
        <p:spPr>
          <a:xfrm>
            <a:off x="730605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취소하기</a:t>
            </a:r>
          </a:p>
        </p:txBody>
      </p:sp>
      <p:sp>
        <p:nvSpPr>
          <p:cNvPr id="43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4" name="필터 칩"/>
          <p:cNvSpPr/>
          <p:nvPr/>
        </p:nvSpPr>
        <p:spPr>
          <a:xfrm>
            <a:off x="512064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필터 칩 라벨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603504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진행 중</a:t>
            </a:r>
          </a:p>
        </p:txBody>
      </p:sp>
      <p:sp>
        <p:nvSpPr>
          <p:cNvPr id="46" name="필터 칩"/>
          <p:cNvSpPr/>
          <p:nvPr/>
        </p:nvSpPr>
        <p:spPr>
          <a:xfrm>
            <a:off x="1316736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필터 칩 라벨"/>
          <p:cNvSpPr/>
          <p:nvPr/>
        </p:nvSpPr>
        <p:spPr>
          <a:xfrm>
            <a:off x="1408176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지난 내역</a:t>
            </a:r>
          </a:p>
        </p:txBody>
      </p:sp>
      <p:sp>
        <p:nvSpPr>
          <p:cNvPr id="48" name="목업 프레임 2"/>
          <p:cNvSpPr/>
          <p:nvPr/>
        </p:nvSpPr>
        <p:spPr>
          <a:xfrm>
            <a:off x="3218688" y="118872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탑바 구분선"/>
          <p:cNvSpPr/>
          <p:nvPr/>
        </p:nvSpPr>
        <p:spPr>
          <a:xfrm>
            <a:off x="3227144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타이틀"/>
          <p:cNvSpPr txBox="1"/>
          <p:nvPr/>
        </p:nvSpPr>
        <p:spPr>
          <a:xfrm>
            <a:off x="3674540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1" name="뒤로가기"/>
          <p:cNvCxnSpPr/>
          <p:nvPr/>
        </p:nvCxnSpPr>
        <p:spPr>
          <a:xfrm flipH="1">
            <a:off x="3370019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370019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노선 유형배지"/>
          <p:cNvSpPr/>
          <p:nvPr/>
        </p:nvSpPr>
        <p:spPr>
          <a:xfrm>
            <a:off x="3428999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54" name="예약 노선·정류장"/>
          <p:cNvSpPr/>
          <p:nvPr/>
        </p:nvSpPr>
        <p:spPr>
          <a:xfrm>
            <a:off x="3785616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55" name="예약 일시"/>
          <p:cNvSpPr/>
          <p:nvPr/>
        </p:nvSpPr>
        <p:spPr>
          <a:xfrm>
            <a:off x="4773168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09/12 08:20</a:t>
            </a:r>
          </a:p>
        </p:txBody>
      </p:sp>
      <p:sp>
        <p:nvSpPr>
          <p:cNvPr id="56" name="예약 상태"/>
          <p:cNvSpPr/>
          <p:nvPr/>
        </p:nvSpPr>
        <p:spPr>
          <a:xfrm>
            <a:off x="3428999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탑승 완료</a:t>
            </a:r>
          </a:p>
        </p:txBody>
      </p:sp>
      <p:cxnSp>
        <p:nvCxnSpPr>
          <p:cNvPr id="57" name="리스트 구분선"/>
          <p:cNvCxnSpPr/>
          <p:nvPr/>
        </p:nvCxnSpPr>
        <p:spPr>
          <a:xfrm>
            <a:off x="3218688" y="2505456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노선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3428999" y="26700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59" name="예약 노선·정류장"/>
          <p:cNvSpPr/>
          <p:nvPr/>
        </p:nvSpPr>
        <p:spPr>
          <a:xfrm>
            <a:off x="3785616" y="2615184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2012  세종초교앞</a:t>
            </a:r>
          </a:p>
        </p:txBody>
      </p:sp>
      <p:sp>
        <p:nvSpPr>
          <p:cNvPr id="60" name="예약 일시"/>
          <p:cNvSpPr/>
          <p:nvPr/>
        </p:nvSpPr>
        <p:spPr>
          <a:xfrm>
            <a:off x="4773168" y="2633472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09/11 19:05</a:t>
            </a:r>
          </a:p>
        </p:txBody>
      </p:sp>
      <p:sp>
        <p:nvSpPr>
          <p:cNvPr id="61" name="예약 상태"/>
          <p:cNvSpPr/>
          <p:nvPr/>
        </p:nvSpPr>
        <p:spPr>
          <a:xfrm>
            <a:off x="3428999" y="28529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미탑승</a:t>
            </a:r>
          </a:p>
        </p:txBody>
      </p:sp>
      <p:cxnSp>
        <p:nvCxnSpPr>
          <p:cNvPr id="62" name="리스트 구분선"/>
          <p:cNvCxnSpPr/>
          <p:nvPr/>
        </p:nvCxnSpPr>
        <p:spPr>
          <a:xfrm>
            <a:off x="3218688" y="3072384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필터 칩"/>
          <p:cNvSpPr/>
          <p:nvPr/>
        </p:nvSpPr>
        <p:spPr>
          <a:xfrm>
            <a:off x="3428999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필터 칩 라벨"/>
          <p:cNvSpPr/>
          <p:nvPr/>
        </p:nvSpPr>
        <p:spPr>
          <a:xfrm>
            <a:off x="3520440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진행 중</a:t>
            </a:r>
          </a:p>
        </p:txBody>
      </p:sp>
      <p:sp>
        <p:nvSpPr>
          <p:cNvPr id="65" name="필터 칩"/>
          <p:cNvSpPr/>
          <p:nvPr/>
        </p:nvSpPr>
        <p:spPr>
          <a:xfrm>
            <a:off x="4233672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필터 칩 라벨"/>
          <p:cNvSpPr/>
          <p:nvPr/>
        </p:nvSpPr>
        <p:spPr>
          <a:xfrm>
            <a:off x="4325112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지난 내역</a:t>
            </a:r>
          </a:p>
        </p:txBody>
      </p:sp>
      <p:sp>
        <p:nvSpPr>
          <p:cNvPr id="67" name="alight"/>
          <p:cNvSpPr txBox="1"/>
          <p:nvPr/>
        </p:nvSpPr>
        <p:spPr>
          <a:xfrm>
            <a:off x="512064" y="245059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하차: 어린이대공원후문</a:t>
            </a:r>
          </a:p>
        </p:txBody>
      </p:sp>
      <p:sp>
        <p:nvSpPr>
          <p:cNvPr id="68" name="alight-btn"/>
          <p:cNvSpPr/>
          <p:nvPr/>
        </p:nvSpPr>
        <p:spPr>
          <a:xfrm>
            <a:off x="868680" y="2834640"/>
            <a:ext cx="86868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868680" y="28940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 정류장</a:t>
            </a:r>
          </a:p>
        </p:txBody>
      </p:sp>
      <p:sp>
        <p:nvSpPr>
          <p:cNvPr id="70" name="노선 유형배지"/>
          <p:cNvSpPr/>
          <p:nvPr/>
        </p:nvSpPr>
        <p:spPr>
          <a:xfrm>
            <a:off x="512064" y="448056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71" name="t"/>
          <p:cNvSpPr txBox="1"/>
          <p:nvPr/>
        </p:nvSpPr>
        <p:spPr>
          <a:xfrm>
            <a:off x="868680" y="44256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2413  청담역7번출구</a:t>
            </a:r>
          </a:p>
        </p:txBody>
      </p:sp>
      <p:sp>
        <p:nvSpPr>
          <p:cNvPr id="72" name="t"/>
          <p:cNvSpPr txBox="1"/>
          <p:nvPr/>
        </p:nvSpPr>
        <p:spPr>
          <a:xfrm>
            <a:off x="1856232" y="444398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09/14 14:48</a:t>
            </a:r>
          </a:p>
        </p:txBody>
      </p:sp>
      <p:sp>
        <p:nvSpPr>
          <p:cNvPr id="73" name="t"/>
          <p:cNvSpPr txBox="1"/>
          <p:nvPr/>
        </p:nvSpPr>
        <p:spPr>
          <a:xfrm>
            <a:off x="512064" y="46634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탑승 확인 필요</a:t>
            </a:r>
          </a:p>
        </p:txBody>
      </p:sp>
      <p:sp>
        <p:nvSpPr>
          <p:cNvPr id="74" name="board-btn"/>
          <p:cNvSpPr/>
          <p:nvPr/>
        </p:nvSpPr>
        <p:spPr>
          <a:xfrm>
            <a:off x="1883664" y="4882896"/>
            <a:ext cx="93268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5" name="t"/>
          <p:cNvSpPr txBox="1"/>
          <p:nvPr/>
        </p:nvSpPr>
        <p:spPr>
          <a:xfrm>
            <a:off x="1883664" y="4942332"/>
            <a:ext cx="9326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2D4CC8"/>
                </a:solidFill>
                <a:latin typeface="Pretendard"/>
                <a:ea typeface="Pretendard"/>
              </a:rPr>
              <a:t>탑승 확인</a:t>
            </a:r>
          </a:p>
        </p:txBody>
      </p:sp>
      <p:cxnSp>
        <p:nvCxnSpPr>
          <p:cNvPr id="76" name="ln"/>
          <p:cNvCxnSpPr/>
          <p:nvPr/>
        </p:nvCxnSpPr>
        <p:spPr>
          <a:xfrm>
            <a:off x="301752" y="5266944"/>
            <a:ext cx="2724912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7" name="숫자배지 3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18871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3-3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8871" y="331012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79" name="숫자배지 1"/>
          <p:cNvSpPr/>
          <p:nvPr/>
        </p:nvSpPr>
        <p:spPr>
          <a:xfrm>
            <a:off x="256032" y="15819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2"/>
          <p:cNvSpPr/>
          <p:nvPr/>
        </p:nvSpPr>
        <p:spPr>
          <a:xfrm>
            <a:off x="118871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1" name="숫자배지 5"/>
          <p:cNvSpPr/>
          <p:nvPr/>
        </p:nvSpPr>
        <p:spPr>
          <a:xfrm>
            <a:off x="6345936" y="19933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2" name="숫자배지 3-2"/>
          <p:cNvSpPr/>
          <p:nvPr/>
        </p:nvSpPr>
        <p:spPr>
          <a:xfrm>
            <a:off x="1792224" y="2843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3" name="숫자배지 4"/>
          <p:cNvSpPr/>
          <p:nvPr/>
        </p:nvSpPr>
        <p:spPr>
          <a:xfrm>
            <a:off x="3035807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4" name="숫자배지 3-1"/>
          <p:cNvSpPr/>
          <p:nvPr/>
        </p:nvSpPr>
        <p:spPr>
          <a:xfrm>
            <a:off x="530352" y="2843784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85" name="숫자배지 3-4"/>
          <p:cNvSpPr/>
          <p:nvPr/>
        </p:nvSpPr>
        <p:spPr>
          <a:xfrm>
            <a:off x="1481328" y="4882896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5087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저상버스 예약 내역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9689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진행 중 · 지난 내역 (2/3)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192024" y="952500"/>
            <a:ext cx="8796528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300683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31020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45308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45308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9105595" y="952500"/>
            <a:ext cx="2891332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9317736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9317736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9279331" y="1447800"/>
          <a:ext cx="2553004" cy="4456580"/>
        </p:xfrm>
        <a:graphic>
          <a:graphicData uri="http://schemas.openxmlformats.org/drawingml/2006/table">
            <a:tbl>
              <a:tblPr/>
              <a:tblGrid>
                <a:gridCol w="42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[하차 정류장]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행에만 노출 · 문구 「하차 정류장」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「예약 신청 완료」 활성 / 「예약 확정됨」 비활성 · 누르면 지정 시트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[예약 취소]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행에만 노출 · 문구 「예약 취소」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「예약 신청 완료」 활성 / 「예약 확정됨」 비활성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거절된 예약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「진행 중」 안에 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「예약되지 않음」 + 사유 1줄 + [다시 예약하기] → 2-5-1 노선 상세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[탑승 확인]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「탑승 확인 필요」 상태의 진행 중 행에만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탑승 확인 팝업 · 답하면 지난 내역으로 옮겨감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75760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9" name="예약 노선·정류장"/>
          <p:cNvSpPr/>
          <p:nvPr/>
        </p:nvSpPr>
        <p:spPr>
          <a:xfrm>
            <a:off x="868680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20" name="예약 일시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1856232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14:48</a:t>
            </a:r>
          </a:p>
        </p:txBody>
      </p:sp>
      <p:sp>
        <p:nvSpPr>
          <p:cNvPr id="21" name="예약 상태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512064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 신청 완료</a:t>
            </a:r>
          </a:p>
        </p:txBody>
      </p:sp>
      <p:sp>
        <p:nvSpPr>
          <p:cNvPr id="22" name="상태 안내"/>
          <p:cNvSpPr/>
          <p:nvPr/>
        </p:nvSpPr>
        <p:spPr>
          <a:xfrm>
            <a:off x="512064" y="263347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</p:txBody>
      </p:sp>
      <p:sp>
        <p:nvSpPr>
          <p:cNvPr id="23" name="행 버튼"/>
          <p:cNvSpPr/>
          <p:nvPr/>
        </p:nvSpPr>
        <p:spPr>
          <a:xfrm>
            <a:off x="1920240" y="2834640"/>
            <a:ext cx="86868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버튼 라벨"/>
          <p:cNvSpPr txBox="1"/>
          <p:nvPr/>
        </p:nvSpPr>
        <p:spPr>
          <a:xfrm>
            <a:off x="1920240" y="2834640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예약 취소</a:t>
            </a:r>
          </a:p>
        </p:txBody>
      </p:sp>
      <p:cxnSp>
        <p:nvCxnSpPr>
          <p:cNvPr id="25" name="리스트 구분선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301752" y="318211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노선 유형배지"/>
          <p:cNvSpPr/>
          <p:nvPr/>
        </p:nvSpPr>
        <p:spPr>
          <a:xfrm>
            <a:off x="512064" y="334670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7" name="예약 노선·정류장"/>
          <p:cNvSpPr/>
          <p:nvPr/>
        </p:nvSpPr>
        <p:spPr>
          <a:xfrm>
            <a:off x="868680" y="3291840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28" name="예약 일시"/>
          <p:cNvSpPr/>
          <p:nvPr/>
        </p:nvSpPr>
        <p:spPr>
          <a:xfrm>
            <a:off x="1856232" y="3310128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13:02</a:t>
            </a:r>
          </a:p>
        </p:txBody>
      </p:sp>
      <p:sp>
        <p:nvSpPr>
          <p:cNvPr id="29" name="예약 상태"/>
          <p:cNvSpPr/>
          <p:nvPr/>
        </p:nvSpPr>
        <p:spPr>
          <a:xfrm>
            <a:off x="512064" y="3529584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예약되지 않음</a:t>
            </a:r>
          </a:p>
        </p:txBody>
      </p:sp>
      <p:sp>
        <p:nvSpPr>
          <p:cNvPr id="30" name="상태 안내"/>
          <p:cNvSpPr/>
          <p:nvPr/>
        </p:nvSpPr>
        <p:spPr>
          <a:xfrm>
            <a:off x="512064" y="3712464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예약이 되지 않았습니다. 다시 시도해 주세요.</a:t>
            </a:r>
          </a:p>
        </p:txBody>
      </p:sp>
      <p:sp>
        <p:nvSpPr>
          <p:cNvPr id="31" name="행 버튼"/>
          <p:cNvSpPr/>
          <p:nvPr/>
        </p:nvSpPr>
        <p:spPr>
          <a:xfrm>
            <a:off x="1810512" y="3950208"/>
            <a:ext cx="100584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버튼 라벨"/>
          <p:cNvSpPr txBox="1"/>
          <p:nvPr/>
        </p:nvSpPr>
        <p:spPr>
          <a:xfrm>
            <a:off x="1810512" y="395020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다시 예약하기</a:t>
            </a:r>
          </a:p>
        </p:txBody>
      </p:sp>
      <p:cxnSp>
        <p:nvCxnSpPr>
          <p:cNvPr id="33" name="리스트 구분선"/>
          <p:cNvCxnSpPr/>
          <p:nvPr/>
        </p:nvCxnSpPr>
        <p:spPr>
          <a:xfrm>
            <a:off x="301752" y="4297680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팝업 캡션"/>
          <p:cNvSpPr/>
          <p:nvPr/>
        </p:nvSpPr>
        <p:spPr>
          <a:xfrm>
            <a:off x="6135624" y="1883664"/>
            <a:ext cx="226771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5 — [예약 취소] 선택 시</a:t>
            </a:r>
          </a:p>
        </p:txBody>
      </p:sp>
      <p:sp>
        <p:nvSpPr>
          <p:cNvPr id="35" name="팝업 (예약 취소)"/>
          <p:cNvSpPr/>
          <p:nvPr/>
        </p:nvSpPr>
        <p:spPr>
          <a:xfrm>
            <a:off x="6135624" y="2103120"/>
            <a:ext cx="2322576" cy="14447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팝업 문구"/>
          <p:cNvSpPr txBox="1"/>
          <p:nvPr/>
        </p:nvSpPr>
        <p:spPr>
          <a:xfrm>
            <a:off x="6327648" y="2258568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 취소</a:t>
            </a:r>
          </a:p>
        </p:txBody>
      </p:sp>
      <p:sp>
        <p:nvSpPr>
          <p:cNvPr id="37" name="팝업 문구"/>
          <p:cNvSpPr txBox="1"/>
          <p:nvPr/>
        </p:nvSpPr>
        <p:spPr>
          <a:xfrm>
            <a:off x="6327648" y="256032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예약을 취소하시겠습니까?</a:t>
            </a:r>
          </a:p>
        </p:txBody>
      </p:sp>
      <p:sp>
        <p:nvSpPr>
          <p:cNvPr id="38" name="팝업 문구"/>
          <p:cNvSpPr txBox="1"/>
          <p:nvPr/>
        </p:nvSpPr>
        <p:spPr>
          <a:xfrm>
            <a:off x="6327648" y="274320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취소하면 다시 신청해야 합니다.</a:t>
            </a:r>
          </a:p>
        </p:txBody>
      </p:sp>
      <p:sp>
        <p:nvSpPr>
          <p:cNvPr id="39" name="팝업 버튼 닫기"/>
          <p:cNvSpPr/>
          <p:nvPr/>
        </p:nvSpPr>
        <p:spPr>
          <a:xfrm>
            <a:off x="634593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버튼 라벨"/>
          <p:cNvSpPr txBox="1"/>
          <p:nvPr/>
        </p:nvSpPr>
        <p:spPr>
          <a:xfrm>
            <a:off x="634593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닫기</a:t>
            </a:r>
          </a:p>
        </p:txBody>
      </p:sp>
      <p:sp>
        <p:nvSpPr>
          <p:cNvPr id="41" name="팝업 버튼 취소하기"/>
          <p:cNvSpPr/>
          <p:nvPr/>
        </p:nvSpPr>
        <p:spPr>
          <a:xfrm>
            <a:off x="730605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팝업 버튼 라벨"/>
          <p:cNvSpPr txBox="1"/>
          <p:nvPr/>
        </p:nvSpPr>
        <p:spPr>
          <a:xfrm>
            <a:off x="730605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취소하기</a:t>
            </a:r>
          </a:p>
        </p:txBody>
      </p:sp>
      <p:sp>
        <p:nvSpPr>
          <p:cNvPr id="43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4" name="필터 칩"/>
          <p:cNvSpPr/>
          <p:nvPr/>
        </p:nvSpPr>
        <p:spPr>
          <a:xfrm>
            <a:off x="512064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필터 칩 라벨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603504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진행 중</a:t>
            </a:r>
          </a:p>
        </p:txBody>
      </p:sp>
      <p:sp>
        <p:nvSpPr>
          <p:cNvPr id="46" name="필터 칩"/>
          <p:cNvSpPr/>
          <p:nvPr/>
        </p:nvSpPr>
        <p:spPr>
          <a:xfrm>
            <a:off x="1316736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필터 칩 라벨"/>
          <p:cNvSpPr/>
          <p:nvPr/>
        </p:nvSpPr>
        <p:spPr>
          <a:xfrm>
            <a:off x="1408176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지난 내역</a:t>
            </a:r>
          </a:p>
        </p:txBody>
      </p:sp>
      <p:sp>
        <p:nvSpPr>
          <p:cNvPr id="48" name="목업 프레임 2"/>
          <p:cNvSpPr/>
          <p:nvPr/>
        </p:nvSpPr>
        <p:spPr>
          <a:xfrm>
            <a:off x="3218688" y="118872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탑바 구분선"/>
          <p:cNvSpPr/>
          <p:nvPr/>
        </p:nvSpPr>
        <p:spPr>
          <a:xfrm>
            <a:off x="3227144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타이틀"/>
          <p:cNvSpPr txBox="1"/>
          <p:nvPr/>
        </p:nvSpPr>
        <p:spPr>
          <a:xfrm>
            <a:off x="3674540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1" name="뒤로가기"/>
          <p:cNvCxnSpPr/>
          <p:nvPr/>
        </p:nvCxnSpPr>
        <p:spPr>
          <a:xfrm flipH="1">
            <a:off x="3370019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370019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노선 유형배지"/>
          <p:cNvSpPr/>
          <p:nvPr/>
        </p:nvSpPr>
        <p:spPr>
          <a:xfrm>
            <a:off x="3428999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54" name="예약 노선·정류장"/>
          <p:cNvSpPr/>
          <p:nvPr/>
        </p:nvSpPr>
        <p:spPr>
          <a:xfrm>
            <a:off x="3785616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55" name="예약 일시"/>
          <p:cNvSpPr/>
          <p:nvPr/>
        </p:nvSpPr>
        <p:spPr>
          <a:xfrm>
            <a:off x="4773168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09/12 08:20</a:t>
            </a:r>
          </a:p>
        </p:txBody>
      </p:sp>
      <p:sp>
        <p:nvSpPr>
          <p:cNvPr id="56" name="예약 상태"/>
          <p:cNvSpPr/>
          <p:nvPr/>
        </p:nvSpPr>
        <p:spPr>
          <a:xfrm>
            <a:off x="3428999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탑승 완료</a:t>
            </a:r>
          </a:p>
        </p:txBody>
      </p:sp>
      <p:cxnSp>
        <p:nvCxnSpPr>
          <p:cNvPr id="57" name="리스트 구분선"/>
          <p:cNvCxnSpPr/>
          <p:nvPr/>
        </p:nvCxnSpPr>
        <p:spPr>
          <a:xfrm>
            <a:off x="3218688" y="2505456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노선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3428999" y="26700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59" name="예약 노선·정류장"/>
          <p:cNvSpPr/>
          <p:nvPr/>
        </p:nvSpPr>
        <p:spPr>
          <a:xfrm>
            <a:off x="3785616" y="2615184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2012  세종초교앞</a:t>
            </a:r>
          </a:p>
        </p:txBody>
      </p:sp>
      <p:sp>
        <p:nvSpPr>
          <p:cNvPr id="60" name="예약 일시"/>
          <p:cNvSpPr/>
          <p:nvPr/>
        </p:nvSpPr>
        <p:spPr>
          <a:xfrm>
            <a:off x="4773168" y="2633472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09/11 19:05</a:t>
            </a:r>
          </a:p>
        </p:txBody>
      </p:sp>
      <p:sp>
        <p:nvSpPr>
          <p:cNvPr id="61" name="예약 상태"/>
          <p:cNvSpPr/>
          <p:nvPr/>
        </p:nvSpPr>
        <p:spPr>
          <a:xfrm>
            <a:off x="3428999" y="28529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미탑승</a:t>
            </a:r>
          </a:p>
        </p:txBody>
      </p:sp>
      <p:cxnSp>
        <p:nvCxnSpPr>
          <p:cNvPr id="62" name="리스트 구분선"/>
          <p:cNvCxnSpPr/>
          <p:nvPr/>
        </p:nvCxnSpPr>
        <p:spPr>
          <a:xfrm>
            <a:off x="3218688" y="3072384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필터 칩"/>
          <p:cNvSpPr/>
          <p:nvPr/>
        </p:nvSpPr>
        <p:spPr>
          <a:xfrm>
            <a:off x="3428999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필터 칩 라벨"/>
          <p:cNvSpPr/>
          <p:nvPr/>
        </p:nvSpPr>
        <p:spPr>
          <a:xfrm>
            <a:off x="3520440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진행 중</a:t>
            </a:r>
          </a:p>
        </p:txBody>
      </p:sp>
      <p:sp>
        <p:nvSpPr>
          <p:cNvPr id="65" name="필터 칩"/>
          <p:cNvSpPr/>
          <p:nvPr/>
        </p:nvSpPr>
        <p:spPr>
          <a:xfrm>
            <a:off x="4233672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필터 칩 라벨"/>
          <p:cNvSpPr/>
          <p:nvPr/>
        </p:nvSpPr>
        <p:spPr>
          <a:xfrm>
            <a:off x="4325112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지난 내역</a:t>
            </a:r>
          </a:p>
        </p:txBody>
      </p:sp>
      <p:sp>
        <p:nvSpPr>
          <p:cNvPr id="67" name="숫자배지 3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18871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8" name="숫자배지 3-3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8871" y="331012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9" name="숫자배지 1"/>
          <p:cNvSpPr/>
          <p:nvPr/>
        </p:nvSpPr>
        <p:spPr>
          <a:xfrm>
            <a:off x="256032" y="15819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0" name="숫자배지 2"/>
          <p:cNvSpPr/>
          <p:nvPr/>
        </p:nvSpPr>
        <p:spPr>
          <a:xfrm>
            <a:off x="118871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1" name="숫자배지 5"/>
          <p:cNvSpPr/>
          <p:nvPr/>
        </p:nvSpPr>
        <p:spPr>
          <a:xfrm>
            <a:off x="6345936" y="19933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2" name="숫자배지 3-2"/>
          <p:cNvSpPr/>
          <p:nvPr/>
        </p:nvSpPr>
        <p:spPr>
          <a:xfrm>
            <a:off x="1792224" y="2843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73" name="숫자배지 4"/>
          <p:cNvSpPr/>
          <p:nvPr/>
        </p:nvSpPr>
        <p:spPr>
          <a:xfrm>
            <a:off x="3035807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4" name="alight"/>
          <p:cNvSpPr txBox="1"/>
          <p:nvPr/>
        </p:nvSpPr>
        <p:spPr>
          <a:xfrm>
            <a:off x="512064" y="245059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하차: 어린이대공원후문</a:t>
            </a:r>
          </a:p>
        </p:txBody>
      </p:sp>
      <p:sp>
        <p:nvSpPr>
          <p:cNvPr id="75" name="alight-btn"/>
          <p:cNvSpPr/>
          <p:nvPr/>
        </p:nvSpPr>
        <p:spPr>
          <a:xfrm>
            <a:off x="868680" y="2834640"/>
            <a:ext cx="86868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868680" y="28940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 정류장</a:t>
            </a:r>
          </a:p>
        </p:txBody>
      </p:sp>
      <p:sp>
        <p:nvSpPr>
          <p:cNvPr id="77" name="노선 유형배지"/>
          <p:cNvSpPr/>
          <p:nvPr/>
        </p:nvSpPr>
        <p:spPr>
          <a:xfrm>
            <a:off x="512064" y="448056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78" name="t"/>
          <p:cNvSpPr txBox="1"/>
          <p:nvPr/>
        </p:nvSpPr>
        <p:spPr>
          <a:xfrm>
            <a:off x="868680" y="44256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2413  청담역7번출구</a:t>
            </a:r>
          </a:p>
        </p:txBody>
      </p:sp>
      <p:sp>
        <p:nvSpPr>
          <p:cNvPr id="79" name="t"/>
          <p:cNvSpPr txBox="1"/>
          <p:nvPr/>
        </p:nvSpPr>
        <p:spPr>
          <a:xfrm>
            <a:off x="1856232" y="444398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09/14 14:48</a:t>
            </a:r>
          </a:p>
        </p:txBody>
      </p:sp>
      <p:sp>
        <p:nvSpPr>
          <p:cNvPr id="80" name="t"/>
          <p:cNvSpPr txBox="1"/>
          <p:nvPr/>
        </p:nvSpPr>
        <p:spPr>
          <a:xfrm>
            <a:off x="512064" y="46634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탑승 확인 필요</a:t>
            </a:r>
          </a:p>
        </p:txBody>
      </p:sp>
      <p:sp>
        <p:nvSpPr>
          <p:cNvPr id="81" name="board-btn"/>
          <p:cNvSpPr/>
          <p:nvPr/>
        </p:nvSpPr>
        <p:spPr>
          <a:xfrm>
            <a:off x="1883664" y="4882896"/>
            <a:ext cx="93268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82" name="t"/>
          <p:cNvSpPr txBox="1"/>
          <p:nvPr/>
        </p:nvSpPr>
        <p:spPr>
          <a:xfrm>
            <a:off x="1883664" y="4942332"/>
            <a:ext cx="9326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2D4CC8"/>
                </a:solidFill>
                <a:latin typeface="Pretendard"/>
                <a:ea typeface="Pretendard"/>
              </a:rPr>
              <a:t>탑승 확인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301752" y="5266944"/>
            <a:ext cx="2724912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84" name="숫자배지 3-1"/>
          <p:cNvSpPr/>
          <p:nvPr/>
        </p:nvSpPr>
        <p:spPr>
          <a:xfrm>
            <a:off x="530352" y="2843784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85" name="숫자배지 3-4"/>
          <p:cNvSpPr/>
          <p:nvPr/>
        </p:nvSpPr>
        <p:spPr>
          <a:xfrm>
            <a:off x="1481328" y="4882896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5087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저상버스 예약 내역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9689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진행 중 · 지난 내역 (3/3)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192024" y="952500"/>
            <a:ext cx="8796528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300683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31020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45308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45308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9105595" y="952500"/>
            <a:ext cx="2891332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9317736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9317736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9279331" y="1447800"/>
          <a:ext cx="2553004" cy="2498901"/>
        </p:xfrm>
        <a:graphic>
          <a:graphicData uri="http://schemas.openxmlformats.org/drawingml/2006/table">
            <a:tbl>
              <a:tblPr/>
              <a:tblGrid>
                <a:gridCol w="42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지난 예약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종결 상태 · 누를 수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20건씩 스크롤로 이어 받음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취소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[예약 취소]를 누르면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[닫기] / [취소하기] — 긍정 버튼을 오른쪽에 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자동 만료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예약한 버스가 2정거장 전에 왔을 때 정류장에 없으면 자동 만료되고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75760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9" name="예약 노선·정류장"/>
          <p:cNvSpPr/>
          <p:nvPr/>
        </p:nvSpPr>
        <p:spPr>
          <a:xfrm>
            <a:off x="868680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20" name="예약 일시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1856232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14:48</a:t>
            </a:r>
          </a:p>
        </p:txBody>
      </p:sp>
      <p:sp>
        <p:nvSpPr>
          <p:cNvPr id="21" name="예약 상태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512064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 신청 완료</a:t>
            </a:r>
          </a:p>
        </p:txBody>
      </p:sp>
      <p:sp>
        <p:nvSpPr>
          <p:cNvPr id="22" name="상태 안내"/>
          <p:cNvSpPr/>
          <p:nvPr/>
        </p:nvSpPr>
        <p:spPr>
          <a:xfrm>
            <a:off x="512064" y="263347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</p:txBody>
      </p:sp>
      <p:sp>
        <p:nvSpPr>
          <p:cNvPr id="23" name="행 버튼"/>
          <p:cNvSpPr/>
          <p:nvPr/>
        </p:nvSpPr>
        <p:spPr>
          <a:xfrm>
            <a:off x="1920240" y="2834640"/>
            <a:ext cx="86868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버튼 라벨"/>
          <p:cNvSpPr txBox="1"/>
          <p:nvPr/>
        </p:nvSpPr>
        <p:spPr>
          <a:xfrm>
            <a:off x="1920240" y="2834640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예약 취소</a:t>
            </a:r>
          </a:p>
        </p:txBody>
      </p:sp>
      <p:cxnSp>
        <p:nvCxnSpPr>
          <p:cNvPr id="25" name="리스트 구분선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301752" y="318211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노선 유형배지"/>
          <p:cNvSpPr/>
          <p:nvPr/>
        </p:nvSpPr>
        <p:spPr>
          <a:xfrm>
            <a:off x="512064" y="334670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7" name="예약 노선·정류장"/>
          <p:cNvSpPr/>
          <p:nvPr/>
        </p:nvSpPr>
        <p:spPr>
          <a:xfrm>
            <a:off x="868680" y="3291840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28" name="예약 일시"/>
          <p:cNvSpPr/>
          <p:nvPr/>
        </p:nvSpPr>
        <p:spPr>
          <a:xfrm>
            <a:off x="1856232" y="3310128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13:02</a:t>
            </a:r>
          </a:p>
        </p:txBody>
      </p:sp>
      <p:sp>
        <p:nvSpPr>
          <p:cNvPr id="29" name="예약 상태"/>
          <p:cNvSpPr/>
          <p:nvPr/>
        </p:nvSpPr>
        <p:spPr>
          <a:xfrm>
            <a:off x="512064" y="3529584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예약되지 않음</a:t>
            </a:r>
          </a:p>
        </p:txBody>
      </p:sp>
      <p:sp>
        <p:nvSpPr>
          <p:cNvPr id="30" name="상태 안내"/>
          <p:cNvSpPr/>
          <p:nvPr/>
        </p:nvSpPr>
        <p:spPr>
          <a:xfrm>
            <a:off x="512064" y="3712464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예약이 되지 않았습니다. 다시 시도해 주세요.</a:t>
            </a:r>
          </a:p>
        </p:txBody>
      </p:sp>
      <p:sp>
        <p:nvSpPr>
          <p:cNvPr id="31" name="행 버튼"/>
          <p:cNvSpPr/>
          <p:nvPr/>
        </p:nvSpPr>
        <p:spPr>
          <a:xfrm>
            <a:off x="1810512" y="3950208"/>
            <a:ext cx="100584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버튼 라벨"/>
          <p:cNvSpPr txBox="1"/>
          <p:nvPr/>
        </p:nvSpPr>
        <p:spPr>
          <a:xfrm>
            <a:off x="1810512" y="395020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다시 예약하기</a:t>
            </a:r>
          </a:p>
        </p:txBody>
      </p:sp>
      <p:cxnSp>
        <p:nvCxnSpPr>
          <p:cNvPr id="33" name="리스트 구분선"/>
          <p:cNvCxnSpPr/>
          <p:nvPr/>
        </p:nvCxnSpPr>
        <p:spPr>
          <a:xfrm>
            <a:off x="301752" y="4297680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팝업 캡션"/>
          <p:cNvSpPr/>
          <p:nvPr/>
        </p:nvSpPr>
        <p:spPr>
          <a:xfrm>
            <a:off x="6135624" y="1883664"/>
            <a:ext cx="226771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5 — [예약 취소] 선택 시</a:t>
            </a:r>
          </a:p>
        </p:txBody>
      </p:sp>
      <p:sp>
        <p:nvSpPr>
          <p:cNvPr id="35" name="팝업 (예약 취소)"/>
          <p:cNvSpPr/>
          <p:nvPr/>
        </p:nvSpPr>
        <p:spPr>
          <a:xfrm>
            <a:off x="6135624" y="2103120"/>
            <a:ext cx="2322576" cy="14447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팝업 문구"/>
          <p:cNvSpPr txBox="1"/>
          <p:nvPr/>
        </p:nvSpPr>
        <p:spPr>
          <a:xfrm>
            <a:off x="6327648" y="2258568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 취소</a:t>
            </a:r>
          </a:p>
        </p:txBody>
      </p:sp>
      <p:sp>
        <p:nvSpPr>
          <p:cNvPr id="37" name="팝업 문구"/>
          <p:cNvSpPr txBox="1"/>
          <p:nvPr/>
        </p:nvSpPr>
        <p:spPr>
          <a:xfrm>
            <a:off x="6327648" y="256032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예약을 취소하시겠습니까?</a:t>
            </a:r>
          </a:p>
        </p:txBody>
      </p:sp>
      <p:sp>
        <p:nvSpPr>
          <p:cNvPr id="38" name="팝업 문구"/>
          <p:cNvSpPr txBox="1"/>
          <p:nvPr/>
        </p:nvSpPr>
        <p:spPr>
          <a:xfrm>
            <a:off x="6327648" y="274320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취소하면 다시 신청해야 합니다.</a:t>
            </a:r>
          </a:p>
        </p:txBody>
      </p:sp>
      <p:sp>
        <p:nvSpPr>
          <p:cNvPr id="39" name="팝업 버튼 닫기"/>
          <p:cNvSpPr/>
          <p:nvPr/>
        </p:nvSpPr>
        <p:spPr>
          <a:xfrm>
            <a:off x="634593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버튼 라벨"/>
          <p:cNvSpPr txBox="1"/>
          <p:nvPr/>
        </p:nvSpPr>
        <p:spPr>
          <a:xfrm>
            <a:off x="634593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닫기</a:t>
            </a:r>
          </a:p>
        </p:txBody>
      </p:sp>
      <p:sp>
        <p:nvSpPr>
          <p:cNvPr id="41" name="팝업 버튼 취소하기"/>
          <p:cNvSpPr/>
          <p:nvPr/>
        </p:nvSpPr>
        <p:spPr>
          <a:xfrm>
            <a:off x="730605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팝업 버튼 라벨"/>
          <p:cNvSpPr txBox="1"/>
          <p:nvPr/>
        </p:nvSpPr>
        <p:spPr>
          <a:xfrm>
            <a:off x="730605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취소하기</a:t>
            </a:r>
          </a:p>
        </p:txBody>
      </p:sp>
      <p:sp>
        <p:nvSpPr>
          <p:cNvPr id="43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4" name="필터 칩"/>
          <p:cNvSpPr/>
          <p:nvPr/>
        </p:nvSpPr>
        <p:spPr>
          <a:xfrm>
            <a:off x="512064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필터 칩 라벨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603504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진행 중</a:t>
            </a:r>
          </a:p>
        </p:txBody>
      </p:sp>
      <p:sp>
        <p:nvSpPr>
          <p:cNvPr id="46" name="필터 칩"/>
          <p:cNvSpPr/>
          <p:nvPr/>
        </p:nvSpPr>
        <p:spPr>
          <a:xfrm>
            <a:off x="1316736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필터 칩 라벨"/>
          <p:cNvSpPr/>
          <p:nvPr/>
        </p:nvSpPr>
        <p:spPr>
          <a:xfrm>
            <a:off x="1408176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지난 내역</a:t>
            </a:r>
          </a:p>
        </p:txBody>
      </p:sp>
      <p:sp>
        <p:nvSpPr>
          <p:cNvPr id="48" name="목업 프레임 2"/>
          <p:cNvSpPr/>
          <p:nvPr/>
        </p:nvSpPr>
        <p:spPr>
          <a:xfrm>
            <a:off x="3218688" y="118872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탑바 구분선"/>
          <p:cNvSpPr/>
          <p:nvPr/>
        </p:nvSpPr>
        <p:spPr>
          <a:xfrm>
            <a:off x="3227144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타이틀"/>
          <p:cNvSpPr txBox="1"/>
          <p:nvPr/>
        </p:nvSpPr>
        <p:spPr>
          <a:xfrm>
            <a:off x="3674540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1" name="뒤로가기"/>
          <p:cNvCxnSpPr/>
          <p:nvPr/>
        </p:nvCxnSpPr>
        <p:spPr>
          <a:xfrm flipH="1">
            <a:off x="3370019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370019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노선 유형배지"/>
          <p:cNvSpPr/>
          <p:nvPr/>
        </p:nvSpPr>
        <p:spPr>
          <a:xfrm>
            <a:off x="3428999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54" name="예약 노선·정류장"/>
          <p:cNvSpPr/>
          <p:nvPr/>
        </p:nvSpPr>
        <p:spPr>
          <a:xfrm>
            <a:off x="3785616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55" name="예약 일시"/>
          <p:cNvSpPr/>
          <p:nvPr/>
        </p:nvSpPr>
        <p:spPr>
          <a:xfrm>
            <a:off x="4773168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09/12 08:20</a:t>
            </a:r>
          </a:p>
        </p:txBody>
      </p:sp>
      <p:sp>
        <p:nvSpPr>
          <p:cNvPr id="56" name="예약 상태"/>
          <p:cNvSpPr/>
          <p:nvPr/>
        </p:nvSpPr>
        <p:spPr>
          <a:xfrm>
            <a:off x="3428999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탑승 완료</a:t>
            </a:r>
          </a:p>
        </p:txBody>
      </p:sp>
      <p:cxnSp>
        <p:nvCxnSpPr>
          <p:cNvPr id="57" name="리스트 구분선"/>
          <p:cNvCxnSpPr/>
          <p:nvPr/>
        </p:nvCxnSpPr>
        <p:spPr>
          <a:xfrm>
            <a:off x="3218688" y="2505456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노선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3428999" y="26700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59" name="예약 노선·정류장"/>
          <p:cNvSpPr/>
          <p:nvPr/>
        </p:nvSpPr>
        <p:spPr>
          <a:xfrm>
            <a:off x="3785616" y="2615184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2012  세종초교앞</a:t>
            </a:r>
          </a:p>
        </p:txBody>
      </p:sp>
      <p:sp>
        <p:nvSpPr>
          <p:cNvPr id="60" name="예약 일시"/>
          <p:cNvSpPr/>
          <p:nvPr/>
        </p:nvSpPr>
        <p:spPr>
          <a:xfrm>
            <a:off x="4773168" y="2633472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09/11 19:05</a:t>
            </a:r>
          </a:p>
        </p:txBody>
      </p:sp>
      <p:sp>
        <p:nvSpPr>
          <p:cNvPr id="61" name="예약 상태"/>
          <p:cNvSpPr/>
          <p:nvPr/>
        </p:nvSpPr>
        <p:spPr>
          <a:xfrm>
            <a:off x="3428999" y="28529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미탑승</a:t>
            </a:r>
          </a:p>
        </p:txBody>
      </p:sp>
      <p:cxnSp>
        <p:nvCxnSpPr>
          <p:cNvPr id="62" name="리스트 구분선"/>
          <p:cNvCxnSpPr/>
          <p:nvPr/>
        </p:nvCxnSpPr>
        <p:spPr>
          <a:xfrm>
            <a:off x="3218688" y="3072384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필터 칩"/>
          <p:cNvSpPr/>
          <p:nvPr/>
        </p:nvSpPr>
        <p:spPr>
          <a:xfrm>
            <a:off x="3428999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필터 칩 라벨"/>
          <p:cNvSpPr/>
          <p:nvPr/>
        </p:nvSpPr>
        <p:spPr>
          <a:xfrm>
            <a:off x="3520440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진행 중</a:t>
            </a:r>
          </a:p>
        </p:txBody>
      </p:sp>
      <p:sp>
        <p:nvSpPr>
          <p:cNvPr id="65" name="필터 칩"/>
          <p:cNvSpPr/>
          <p:nvPr/>
        </p:nvSpPr>
        <p:spPr>
          <a:xfrm>
            <a:off x="4233672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필터 칩 라벨"/>
          <p:cNvSpPr/>
          <p:nvPr/>
        </p:nvSpPr>
        <p:spPr>
          <a:xfrm>
            <a:off x="4325112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지난 내역</a:t>
            </a:r>
          </a:p>
        </p:txBody>
      </p:sp>
      <p:sp>
        <p:nvSpPr>
          <p:cNvPr id="67" name="숫자배지 3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18871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8" name="숫자배지 3-3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8871" y="331012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9" name="숫자배지 1"/>
          <p:cNvSpPr/>
          <p:nvPr/>
        </p:nvSpPr>
        <p:spPr>
          <a:xfrm>
            <a:off x="256032" y="15819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0" name="숫자배지 2"/>
          <p:cNvSpPr/>
          <p:nvPr/>
        </p:nvSpPr>
        <p:spPr>
          <a:xfrm>
            <a:off x="118871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1" name="숫자배지 5"/>
          <p:cNvSpPr/>
          <p:nvPr/>
        </p:nvSpPr>
        <p:spPr>
          <a:xfrm>
            <a:off x="6345936" y="19933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2" name="숫자배지 3-2"/>
          <p:cNvSpPr/>
          <p:nvPr/>
        </p:nvSpPr>
        <p:spPr>
          <a:xfrm>
            <a:off x="1792224" y="2843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73" name="숫자배지 4"/>
          <p:cNvSpPr/>
          <p:nvPr/>
        </p:nvSpPr>
        <p:spPr>
          <a:xfrm>
            <a:off x="3035807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4" name="alight"/>
          <p:cNvSpPr txBox="1"/>
          <p:nvPr/>
        </p:nvSpPr>
        <p:spPr>
          <a:xfrm>
            <a:off x="512064" y="245059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하차: 어린이대공원후문</a:t>
            </a:r>
          </a:p>
        </p:txBody>
      </p:sp>
      <p:sp>
        <p:nvSpPr>
          <p:cNvPr id="75" name="alight-btn"/>
          <p:cNvSpPr/>
          <p:nvPr/>
        </p:nvSpPr>
        <p:spPr>
          <a:xfrm>
            <a:off x="868680" y="2834640"/>
            <a:ext cx="86868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868680" y="28940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 정류장</a:t>
            </a:r>
          </a:p>
        </p:txBody>
      </p:sp>
      <p:sp>
        <p:nvSpPr>
          <p:cNvPr id="77" name="노선 유형배지"/>
          <p:cNvSpPr/>
          <p:nvPr/>
        </p:nvSpPr>
        <p:spPr>
          <a:xfrm>
            <a:off x="512064" y="448056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78" name="t"/>
          <p:cNvSpPr txBox="1"/>
          <p:nvPr/>
        </p:nvSpPr>
        <p:spPr>
          <a:xfrm>
            <a:off x="868680" y="44256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2413  청담역7번출구</a:t>
            </a:r>
          </a:p>
        </p:txBody>
      </p:sp>
      <p:sp>
        <p:nvSpPr>
          <p:cNvPr id="79" name="t"/>
          <p:cNvSpPr txBox="1"/>
          <p:nvPr/>
        </p:nvSpPr>
        <p:spPr>
          <a:xfrm>
            <a:off x="1856232" y="444398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09/14 14:48</a:t>
            </a:r>
          </a:p>
        </p:txBody>
      </p:sp>
      <p:sp>
        <p:nvSpPr>
          <p:cNvPr id="80" name="t"/>
          <p:cNvSpPr txBox="1"/>
          <p:nvPr/>
        </p:nvSpPr>
        <p:spPr>
          <a:xfrm>
            <a:off x="512064" y="46634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탑승 확인 필요</a:t>
            </a:r>
          </a:p>
        </p:txBody>
      </p:sp>
      <p:sp>
        <p:nvSpPr>
          <p:cNvPr id="81" name="board-btn"/>
          <p:cNvSpPr/>
          <p:nvPr/>
        </p:nvSpPr>
        <p:spPr>
          <a:xfrm>
            <a:off x="1883664" y="4882896"/>
            <a:ext cx="93268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82" name="t"/>
          <p:cNvSpPr txBox="1"/>
          <p:nvPr/>
        </p:nvSpPr>
        <p:spPr>
          <a:xfrm>
            <a:off x="1883664" y="4942332"/>
            <a:ext cx="9326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2D4CC8"/>
                </a:solidFill>
                <a:latin typeface="Pretendard"/>
                <a:ea typeface="Pretendard"/>
              </a:rPr>
              <a:t>탑승 확인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301752" y="5266944"/>
            <a:ext cx="2724912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84" name="숫자배지 3-1"/>
          <p:cNvSpPr/>
          <p:nvPr/>
        </p:nvSpPr>
        <p:spPr>
          <a:xfrm>
            <a:off x="530352" y="2843784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85" name="숫자배지 3-4"/>
          <p:cNvSpPr/>
          <p:nvPr/>
        </p:nvSpPr>
        <p:spPr>
          <a:xfrm>
            <a:off x="1481328" y="4882896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공지사항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noticecard"/>
          <p:cNvSpPr/>
          <p:nvPr/>
        </p:nvSpPr>
        <p:spPr>
          <a:xfrm>
            <a:off x="3119018" y="1737360"/>
            <a:ext cx="242864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2" name="항목"/>
          <p:cNvSpPr txBox="1"/>
          <p:nvPr/>
        </p:nvSpPr>
        <p:spPr>
          <a:xfrm>
            <a:off x="3228746" y="180136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3" name="값"/>
          <p:cNvSpPr txBox="1"/>
          <p:nvPr/>
        </p:nvSpPr>
        <p:spPr>
          <a:xfrm>
            <a:off x="3228746" y="1975104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spc="-16">
                <a:solidFill>
                  <a:srgbClr val="5B6573"/>
                </a:solidFill>
                <a:latin typeface="Pretendard"/>
              </a:rPr>
              <a:t>2026년 1월 3일</a:t>
            </a:r>
          </a:p>
        </p:txBody>
      </p:sp>
      <p:sp>
        <p:nvSpPr>
          <p:cNvPr id="14" name="항목"/>
          <p:cNvSpPr txBox="1"/>
          <p:nvPr/>
        </p:nvSpPr>
        <p:spPr>
          <a:xfrm>
            <a:off x="3228746" y="221284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5" name="값"/>
          <p:cNvSpPr txBox="1"/>
          <p:nvPr/>
        </p:nvSpPr>
        <p:spPr>
          <a:xfrm>
            <a:off x="3228746" y="2386584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spc="-16">
                <a:solidFill>
                  <a:srgbClr val="5B6573"/>
                </a:solidFill>
                <a:latin typeface="Pretendard"/>
              </a:rPr>
              <a:t>2025년 12월 28일</a:t>
            </a:r>
          </a:p>
        </p:txBody>
      </p:sp>
      <p:sp>
        <p:nvSpPr>
          <p:cNvPr id="16" name="항목"/>
          <p:cNvSpPr txBox="1"/>
          <p:nvPr/>
        </p:nvSpPr>
        <p:spPr>
          <a:xfrm>
            <a:off x="3228746" y="262432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7" name="값"/>
          <p:cNvSpPr txBox="1"/>
          <p:nvPr/>
        </p:nvSpPr>
        <p:spPr>
          <a:xfrm>
            <a:off x="3228746" y="2798064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spc="-16">
                <a:solidFill>
                  <a:srgbClr val="5B6573"/>
                </a:solidFill>
                <a:latin typeface="Pretendard"/>
              </a:rPr>
              <a:t>2025년 12월 11일</a:t>
            </a:r>
          </a:p>
        </p:txBody>
      </p:sp>
      <p:sp>
        <p:nvSpPr>
          <p:cNvPr id="18" name="탑바 구분선"/>
          <p:cNvSpPr/>
          <p:nvPr/>
        </p:nvSpPr>
        <p:spPr>
          <a:xfrm>
            <a:off x="297656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타이틀"/>
          <p:cNvSpPr txBox="1"/>
          <p:nvPr/>
        </p:nvSpPr>
        <p:spPr>
          <a:xfrm>
            <a:off x="338613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20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52779"/>
              </p:ext>
            </p:extLst>
          </p:nvPr>
        </p:nvGraphicFramePr>
        <p:xfrm>
          <a:off x="8629192" y="1447800"/>
          <a:ext cx="2972409" cy="152486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공지 항목 —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 전체가 카드 1개 · 행 사이는 구분선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 「공지 제목」 ＋ 우측 [&gt;] · 아래 「게시 일자」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일자는 「YYYY년 M월 D일」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최신순 정렬 — 게시 일자 내림차순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항목 선택 → 3-5-1 공지 상세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27" name="t"/>
          <p:cNvSpPr txBox="1"/>
          <p:nvPr/>
        </p:nvSpPr>
        <p:spPr>
          <a:xfrm>
            <a:off x="5291633" y="179222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28" name="t"/>
          <p:cNvSpPr txBox="1"/>
          <p:nvPr/>
        </p:nvSpPr>
        <p:spPr>
          <a:xfrm>
            <a:off x="5291633" y="220370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29" name="ln"/>
          <p:cNvCxnSpPr/>
          <p:nvPr/>
        </p:nvCxnSpPr>
        <p:spPr>
          <a:xfrm>
            <a:off x="3210458" y="214884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0" name="t"/>
          <p:cNvSpPr txBox="1"/>
          <p:nvPr/>
        </p:nvSpPr>
        <p:spPr>
          <a:xfrm>
            <a:off x="5291633" y="261518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31" name="ln"/>
          <p:cNvCxnSpPr/>
          <p:nvPr/>
        </p:nvCxnSpPr>
        <p:spPr>
          <a:xfrm>
            <a:off x="3210458" y="256032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2" name="숫자배지 2"/>
          <p:cNvSpPr/>
          <p:nvPr/>
        </p:nvSpPr>
        <p:spPr>
          <a:xfrm>
            <a:off x="4948847" y="13211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-1"/>
          <p:cNvSpPr/>
          <p:nvPr/>
        </p:nvSpPr>
        <p:spPr>
          <a:xfrm>
            <a:off x="2752726" y="175526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5493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64132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1697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 본문 · 삭제된 공지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073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제목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문자열은 「공지사항」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[&lt;] → 3-5 공지사항 목록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3574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본문 영역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  공지 제목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전문 표출 · 말줄임 없음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 게시 일자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「2026년 1월 3일」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  본문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본문 내용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본문 링크는 ↗ 표기 · 누르면 외부 브라우저로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삭제된 공지에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본문을 비우고 팝업으로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[확인] → 목록 복귀 ＋ 재조회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스크롤 유지 · 팝업 밖 닫힘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탑바 구분선"/>
          <p:cNvSpPr/>
          <p:nvPr/>
        </p:nvSpPr>
        <p:spPr>
          <a:xfrm>
            <a:off x="1399032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탑바 타이틀"/>
          <p:cNvSpPr txBox="1"/>
          <p:nvPr/>
        </p:nvSpPr>
        <p:spPr>
          <a:xfrm>
            <a:off x="1810512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19" name="뒤로가기"/>
          <p:cNvCxnSpPr/>
          <p:nvPr/>
        </p:nvCxnSpPr>
        <p:spPr>
          <a:xfrm flipH="1">
            <a:off x="1545336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뒤로가기"/>
          <p:cNvCxnSpPr/>
          <p:nvPr/>
        </p:nvCxnSpPr>
        <p:spPr>
          <a:xfrm flipH="1" flipV="1">
            <a:off x="1545336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탑바 구분선"/>
          <p:cNvSpPr/>
          <p:nvPr/>
        </p:nvSpPr>
        <p:spPr>
          <a:xfrm>
            <a:off x="4553712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탑바 타이틀"/>
          <p:cNvSpPr txBox="1"/>
          <p:nvPr/>
        </p:nvSpPr>
        <p:spPr>
          <a:xfrm>
            <a:off x="4965192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23" name="뒤로가기"/>
          <p:cNvCxnSpPr/>
          <p:nvPr/>
        </p:nvCxnSpPr>
        <p:spPr>
          <a:xfrm flipH="1">
            <a:off x="4700016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4700016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공지 제목"/>
          <p:cNvSpPr txBox="1"/>
          <p:nvPr/>
        </p:nvSpPr>
        <p:spPr>
          <a:xfrm>
            <a:off x="1545336" y="1783080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서비스 점검 안내</a:t>
            </a:r>
          </a:p>
        </p:txBody>
      </p:sp>
      <p:sp>
        <p:nvSpPr>
          <p:cNvPr id="26" name="게시 일자"/>
          <p:cNvSpPr txBox="1"/>
          <p:nvPr/>
        </p:nvSpPr>
        <p:spPr>
          <a:xfrm>
            <a:off x="1545336" y="2103120"/>
            <a:ext cx="19933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2026년 1월 3일</a:t>
            </a:r>
          </a:p>
        </p:txBody>
      </p:sp>
      <p:sp>
        <p:nvSpPr>
          <p:cNvPr id="27" name="본문 줄"/>
          <p:cNvSpPr txBox="1"/>
          <p:nvPr/>
        </p:nvSpPr>
        <p:spPr>
          <a:xfrm>
            <a:off x="1545336" y="246888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아래 일정으로 서버 점검을 진행합니다.</a:t>
            </a:r>
          </a:p>
        </p:txBody>
      </p:sp>
      <p:sp>
        <p:nvSpPr>
          <p:cNvPr id="28" name="본문 줄"/>
          <p:cNvSpPr txBox="1"/>
          <p:nvPr/>
        </p:nvSpPr>
        <p:spPr>
          <a:xfrm>
            <a:off x="1545336" y="26700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· 일시  2026년 1월 10일 02:00 ~ 05:00</a:t>
            </a:r>
          </a:p>
        </p:txBody>
      </p:sp>
      <p:sp>
        <p:nvSpPr>
          <p:cNvPr id="29" name="본문 줄"/>
          <p:cNvSpPr txBox="1"/>
          <p:nvPr/>
        </p:nvSpPr>
        <p:spPr>
          <a:xfrm>
            <a:off x="1545336" y="28712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· 대상  길안내 · 저상버스 예약</a:t>
            </a:r>
          </a:p>
        </p:txBody>
      </p:sp>
      <p:sp>
        <p:nvSpPr>
          <p:cNvPr id="30" name="본문 줄"/>
          <p:cNvSpPr txBox="1"/>
          <p:nvPr/>
        </p:nvSpPr>
        <p:spPr>
          <a:xfrm>
            <a:off x="1545336" y="327355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점검 중 이용 제한</a:t>
            </a:r>
          </a:p>
        </p:txBody>
      </p:sp>
      <p:sp>
        <p:nvSpPr>
          <p:cNvPr id="31" name="본문 줄"/>
          <p:cNvSpPr txBox="1"/>
          <p:nvPr/>
        </p:nvSpPr>
        <p:spPr>
          <a:xfrm>
            <a:off x="1545336" y="34747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점검 시간에는 경로 탐색과 예약 신청이</a:t>
            </a:r>
          </a:p>
        </p:txBody>
      </p:sp>
      <p:sp>
        <p:nvSpPr>
          <p:cNvPr id="32" name="본문 줄"/>
          <p:cNvSpPr txBox="1"/>
          <p:nvPr/>
        </p:nvSpPr>
        <p:spPr>
          <a:xfrm>
            <a:off x="1545336" y="367588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일시적으로 중단됩니다.</a:t>
            </a:r>
          </a:p>
        </p:txBody>
      </p:sp>
      <p:sp>
        <p:nvSpPr>
          <p:cNvPr id="33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4745736" y="2834640"/>
            <a:ext cx="2322576" cy="11887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4937759" y="3072384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spc="-16" err="1">
                <a:solidFill>
                  <a:srgbClr val="3E4652"/>
                </a:solidFill>
                <a:latin typeface="Pretendard"/>
              </a:rPr>
              <a:t>삭제된 공지입니다.</a:t>
            </a:r>
          </a:p>
        </p:txBody>
      </p:sp>
      <p:sp>
        <p:nvSpPr>
          <p:cNvPr id="35" name="팝업 문구"/>
          <p:cNvSpPr txBox="1"/>
          <p:nvPr/>
        </p:nvSpPr>
        <p:spPr>
          <a:xfrm>
            <a:off x="4937759" y="3273552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spc="-16" err="1">
                <a:solidFill>
                  <a:srgbClr val="3E4652"/>
                </a:solidFill>
                <a:latin typeface="Pretendard"/>
              </a:rPr>
              <a:t>목록으로 돌아갑니다.</a:t>
            </a:r>
          </a:p>
        </p:txBody>
      </p:sp>
      <p:sp>
        <p:nvSpPr>
          <p:cNvPr id="36" name="팝업 버튼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937759" y="3547872"/>
            <a:ext cx="19385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937759" y="3547872"/>
            <a:ext cx="19385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8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2-1"/>
          <p:cNvSpPr/>
          <p:nvPr/>
        </p:nvSpPr>
        <p:spPr>
          <a:xfrm>
            <a:off x="3602736" y="18196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/>
          <p:cNvSpPr/>
          <p:nvPr/>
        </p:nvSpPr>
        <p:spPr>
          <a:xfrm>
            <a:off x="3602736" y="2084831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/>
          <p:cNvSpPr/>
          <p:nvPr/>
        </p:nvSpPr>
        <p:spPr>
          <a:xfrm>
            <a:off x="3602736" y="248716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3"/>
          <p:cNvSpPr/>
          <p:nvPr/>
        </p:nvSpPr>
        <p:spPr>
          <a:xfrm>
            <a:off x="7104888" y="30540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7706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6346" y="228600"/>
            <a:ext cx="164592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1:1 문의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1749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문의 목록 · 상태 표기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5" name="탑바 구분선"/>
          <p:cNvSpPr/>
          <p:nvPr/>
        </p:nvSpPr>
        <p:spPr>
          <a:xfrm>
            <a:off x="2971800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탑바 타이틀"/>
          <p:cNvSpPr txBox="1"/>
          <p:nvPr/>
        </p:nvSpPr>
        <p:spPr>
          <a:xfrm>
            <a:off x="3383280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1:1 문의</a:t>
            </a:r>
          </a:p>
        </p:txBody>
      </p:sp>
      <p:cxnSp>
        <p:nvCxnSpPr>
          <p:cNvPr id="17" name="뒤로가기"/>
          <p:cNvCxnSpPr/>
          <p:nvPr/>
        </p:nvCxnSpPr>
        <p:spPr>
          <a:xfrm flipH="1">
            <a:off x="3118104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/>
          <p:cNvCxnSpPr/>
          <p:nvPr/>
        </p:nvCxnSpPr>
        <p:spPr>
          <a:xfrm flipH="1" flipV="1">
            <a:off x="3118104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rd"/>
          <p:cNvSpPr/>
          <p:nvPr/>
        </p:nvSpPr>
        <p:spPr>
          <a:xfrm>
            <a:off x="3118104" y="1783080"/>
            <a:ext cx="243230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20" name="항목"/>
          <p:cNvSpPr txBox="1"/>
          <p:nvPr/>
        </p:nvSpPr>
        <p:spPr>
          <a:xfrm>
            <a:off x="3227832" y="1856232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5B6573"/>
                </a:solidFill>
                <a:latin typeface="Pretendard"/>
              </a:rPr>
              <a:t>저상버스 예약 내역이 보이지 않…</a:t>
            </a:r>
          </a:p>
        </p:txBody>
      </p:sp>
      <p:sp>
        <p:nvSpPr>
          <p:cNvPr id="21" name="값"/>
          <p:cNvSpPr txBox="1"/>
          <p:nvPr/>
        </p:nvSpPr>
        <p:spPr>
          <a:xfrm>
            <a:off x="3227832" y="2029968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2026년 1월 3일</a:t>
            </a:r>
          </a:p>
        </p:txBody>
      </p:sp>
      <p:sp>
        <p:nvSpPr>
          <p:cNvPr id="22" name="상태"/>
          <p:cNvSpPr txBox="1"/>
          <p:nvPr/>
        </p:nvSpPr>
        <p:spPr>
          <a:xfrm>
            <a:off x="4709160" y="2029968"/>
            <a:ext cx="731520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spc="-15">
                <a:solidFill>
                  <a:srgbClr val="5B6573"/>
                </a:solidFill>
                <a:latin typeface="Pretendard"/>
              </a:rPr>
              <a:t>답변 완료</a:t>
            </a:r>
          </a:p>
        </p:txBody>
      </p:sp>
      <p:sp>
        <p:nvSpPr>
          <p:cNvPr id="23" name="t"/>
          <p:cNvSpPr txBox="1"/>
          <p:nvPr/>
        </p:nvSpPr>
        <p:spPr>
          <a:xfrm>
            <a:off x="5294376" y="1847088"/>
            <a:ext cx="146304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spc="-15">
                <a:solidFill>
                  <a:srgbClr val="9AA4B0"/>
                </a:solidFill>
                <a:latin typeface="Pretendard"/>
              </a:rPr>
              <a:t>›</a:t>
            </a:r>
          </a:p>
        </p:txBody>
      </p:sp>
      <p:cxnSp>
        <p:nvCxnSpPr>
          <p:cNvPr id="24" name="ln"/>
          <p:cNvCxnSpPr/>
          <p:nvPr/>
        </p:nvCxnSpPr>
        <p:spPr>
          <a:xfrm>
            <a:off x="3209544" y="2249424"/>
            <a:ext cx="2249424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25" name="항목"/>
          <p:cNvSpPr txBox="1"/>
          <p:nvPr/>
        </p:nvSpPr>
        <p:spPr>
          <a:xfrm>
            <a:off x="3227832" y="2322576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5B6573"/>
                </a:solidFill>
                <a:latin typeface="Pretendard"/>
              </a:rPr>
              <a:t>길안내 음성이 끊겨요</a:t>
            </a:r>
          </a:p>
        </p:txBody>
      </p:sp>
      <p:sp>
        <p:nvSpPr>
          <p:cNvPr id="26" name="값"/>
          <p:cNvSpPr txBox="1"/>
          <p:nvPr/>
        </p:nvSpPr>
        <p:spPr>
          <a:xfrm>
            <a:off x="3227832" y="2496312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2025년 12월 28일</a:t>
            </a:r>
          </a:p>
        </p:txBody>
      </p:sp>
      <p:sp>
        <p:nvSpPr>
          <p:cNvPr id="27" name="상태"/>
          <p:cNvSpPr txBox="1"/>
          <p:nvPr/>
        </p:nvSpPr>
        <p:spPr>
          <a:xfrm>
            <a:off x="4709160" y="2496312"/>
            <a:ext cx="731520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spc="-15">
                <a:solidFill>
                  <a:srgbClr val="5B6573"/>
                </a:solidFill>
                <a:latin typeface="Pretendard"/>
              </a:rPr>
              <a:t>답변 대기</a:t>
            </a:r>
          </a:p>
        </p:txBody>
      </p:sp>
      <p:sp>
        <p:nvSpPr>
          <p:cNvPr id="28" name="t"/>
          <p:cNvSpPr txBox="1"/>
          <p:nvPr/>
        </p:nvSpPr>
        <p:spPr>
          <a:xfrm>
            <a:off x="5294376" y="2313432"/>
            <a:ext cx="146304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spc="-15">
                <a:solidFill>
                  <a:srgbClr val="9AA4B0"/>
                </a:solidFill>
                <a:latin typeface="Pretendard"/>
              </a:rPr>
              <a:t>›</a:t>
            </a:r>
          </a:p>
        </p:txBody>
      </p:sp>
      <p:sp>
        <p:nvSpPr>
          <p:cNvPr id="29" name="버튼"/>
          <p:cNvSpPr/>
          <p:nvPr/>
        </p:nvSpPr>
        <p:spPr>
          <a:xfrm>
            <a:off x="3118104" y="5897880"/>
            <a:ext cx="2432304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30" name="버튼 라벨"/>
          <p:cNvSpPr txBox="1"/>
          <p:nvPr/>
        </p:nvSpPr>
        <p:spPr>
          <a:xfrm>
            <a:off x="3118104" y="5897880"/>
            <a:ext cx="2432304" cy="2926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85" b="1" spc="-17">
                <a:solidFill>
                  <a:srgbClr val="14181F"/>
                </a:solidFill>
                <a:latin typeface="Pretendard"/>
              </a:rPr>
              <a:t>문의하기</a:t>
            </a:r>
          </a:p>
        </p:txBody>
      </p:sp>
      <p:graphicFrame>
        <p:nvGraphicFramePr>
          <p:cNvPr id="31" name="Description 표"/>
          <p:cNvGraphicFramePr>
            <a:graphicFrameLocks noGrp="1"/>
          </p:cNvGraphicFramePr>
          <p:nvPr/>
        </p:nvGraphicFramePr>
        <p:xfrm>
          <a:off x="8631936" y="1444752"/>
          <a:ext cx="2971800" cy="2882951"/>
        </p:xfrm>
        <a:graphic>
          <a:graphicData uri="http://schemas.openxmlformats.org/drawingml/2006/table">
            <a:tbl>
              <a:tblPr/>
              <a:tblGrid>
                <a:gridCol w="419709"/>
                <a:gridCol w="2552700"/>
              </a:tblGrid>
              <a:tr h="146593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문의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최신순 ·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위 「내용 요약」 1줄 · 넘치면 말줄임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아래 「YYYY년 M월 D일」 ＋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상태는 「답변 대기」 · 「답변 완료」 텍스트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→ 3-6-2 문의 상세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8167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[문의하기]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하단 고정 · 항상 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3-6-1 문의하기로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60030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비회원에게도 행은 보이고 누르면 로그인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숫자배지 1"/>
          <p:cNvSpPr/>
          <p:nvPr/>
        </p:nvSpPr>
        <p:spPr>
          <a:xfrm>
            <a:off x="2734056" y="18288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"/>
          <p:cNvSpPr/>
          <p:nvPr/>
        </p:nvSpPr>
        <p:spPr>
          <a:xfrm>
            <a:off x="2734056" y="5943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2064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3-6-1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60704" y="228600"/>
            <a:ext cx="164592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문의하기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7203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문의 작성 · 보내기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5" name="탑바 구분선"/>
          <p:cNvSpPr/>
          <p:nvPr/>
        </p:nvSpPr>
        <p:spPr>
          <a:xfrm>
            <a:off x="2971800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탑바 타이틀"/>
          <p:cNvSpPr txBox="1"/>
          <p:nvPr/>
        </p:nvSpPr>
        <p:spPr>
          <a:xfrm>
            <a:off x="3383280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문의하기</a:t>
            </a:r>
          </a:p>
        </p:txBody>
      </p:sp>
      <p:cxnSp>
        <p:nvCxnSpPr>
          <p:cNvPr id="17" name="뒤로가기"/>
          <p:cNvCxnSpPr/>
          <p:nvPr/>
        </p:nvCxnSpPr>
        <p:spPr>
          <a:xfrm flipH="1">
            <a:off x="3118104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/>
          <p:cNvCxnSpPr/>
          <p:nvPr/>
        </p:nvCxnSpPr>
        <p:spPr>
          <a:xfrm flipH="1" flipV="1">
            <a:off x="3118104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입력 라벨"/>
          <p:cNvSpPr txBox="1"/>
          <p:nvPr/>
        </p:nvSpPr>
        <p:spPr>
          <a:xfrm>
            <a:off x="3118104" y="1783080"/>
            <a:ext cx="2432304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문의 내용</a:t>
            </a:r>
          </a:p>
        </p:txBody>
      </p:sp>
      <p:sp>
        <p:nvSpPr>
          <p:cNvPr id="20" name="입력란"/>
          <p:cNvSpPr/>
          <p:nvPr/>
        </p:nvSpPr>
        <p:spPr>
          <a:xfrm>
            <a:off x="3118104" y="1965960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21" name="자리 안내 문구"/>
          <p:cNvSpPr txBox="1"/>
          <p:nvPr/>
        </p:nvSpPr>
        <p:spPr>
          <a:xfrm>
            <a:off x="3227832" y="2048256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spc="-15">
                <a:solidFill>
                  <a:srgbClr val="5B6573"/>
                </a:solidFill>
                <a:latin typeface="Pretendard"/>
              </a:rPr>
              <a:t>예) 저상버스 예약 내역이 보이지 않습니다.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3118104" y="2898648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675" b="0" spc="-15">
                <a:solidFill>
                  <a:srgbClr val="5B6573"/>
                </a:solidFill>
                <a:latin typeface="Pretendard"/>
              </a:rPr>
              <a:t>답변이 등록되면 1:1 문의에서 확인할 수 있습니다.</a:t>
            </a:r>
          </a:p>
        </p:txBody>
      </p:sp>
      <p:sp>
        <p:nvSpPr>
          <p:cNvPr id="23" name="비활성 사유"/>
          <p:cNvSpPr txBox="1"/>
          <p:nvPr/>
        </p:nvSpPr>
        <p:spPr>
          <a:xfrm>
            <a:off x="3118104" y="5724144"/>
            <a:ext cx="2432304" cy="1280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75" b="0" spc="-15">
                <a:solidFill>
                  <a:srgbClr val="5B6573"/>
                </a:solidFill>
                <a:latin typeface="Pretendard"/>
              </a:rPr>
              <a:t>문의 내용을 적어 주세요.</a:t>
            </a:r>
          </a:p>
        </p:txBody>
      </p:sp>
      <p:sp>
        <p:nvSpPr>
          <p:cNvPr id="24" name="버튼"/>
          <p:cNvSpPr/>
          <p:nvPr/>
        </p:nvSpPr>
        <p:spPr>
          <a:xfrm>
            <a:off x="3118104" y="5897880"/>
            <a:ext cx="2432304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25" name="버튼 라벨"/>
          <p:cNvSpPr txBox="1"/>
          <p:nvPr/>
        </p:nvSpPr>
        <p:spPr>
          <a:xfrm>
            <a:off x="3118104" y="5897880"/>
            <a:ext cx="2432304" cy="2926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85" b="1" spc="-17">
                <a:solidFill>
                  <a:srgbClr val="14181F"/>
                </a:solidFill>
                <a:latin typeface="Pretendard"/>
              </a:rPr>
              <a:t>보내기</a:t>
            </a:r>
          </a:p>
        </p:txBody>
      </p:sp>
      <p:graphicFrame>
        <p:nvGraphicFramePr>
          <p:cNvPr id="26" name="Description 표"/>
          <p:cNvGraphicFramePr>
            <a:graphicFrameLocks noGrp="1"/>
          </p:cNvGraphicFramePr>
          <p:nvPr/>
        </p:nvGraphicFramePr>
        <p:xfrm>
          <a:off x="8631936" y="1444752"/>
          <a:ext cx="2971800" cy="4998110"/>
        </p:xfrm>
        <a:graphic>
          <a:graphicData uri="http://schemas.openxmlformats.org/drawingml/2006/table">
            <a:tbl>
              <a:tblPr/>
              <a:tblGrid>
                <a:gridCol w="419709"/>
                <a:gridCol w="2552700"/>
              </a:tblGrid>
              <a:tr h="1033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제목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문자열은 「문의하기」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[&lt;] → 3-6 1:1 문의 · 입력한 것이 있으면 확인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문의 내용 입력란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 「문의 내용」 상시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여러 줄 입력란 1개 · 필수 · 1자 이상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예시 문구 「예) 저상버스 예약 내역이 보이지 않습니다.」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문의 유형 · 제목 · 사진 첨부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33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아래 1행 상시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「답변이 등록되면 1:1 문의에서 확인할 수 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[보내기]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하단 고정 · 내용 1자 이상이면 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비활성인 동안 버튼 위 「문의 내용을 적어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보내면 3-6-2 문의 상세로 이동 ＋ 토스트 「문의가 접수되었습니다.」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숫자배지 1"/>
          <p:cNvSpPr/>
          <p:nvPr/>
        </p:nvSpPr>
        <p:spPr>
          <a:xfrm>
            <a:off x="2734056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8" name="숫자배지 2"/>
          <p:cNvSpPr/>
          <p:nvPr/>
        </p:nvSpPr>
        <p:spPr>
          <a:xfrm>
            <a:off x="2734056" y="17647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9" name="숫자배지 3"/>
          <p:cNvSpPr/>
          <p:nvPr/>
        </p:nvSpPr>
        <p:spPr>
          <a:xfrm>
            <a:off x="2734056" y="2898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0" name="숫자배지 4"/>
          <p:cNvSpPr/>
          <p:nvPr/>
        </p:nvSpPr>
        <p:spPr>
          <a:xfrm>
            <a:off x="2734056" y="5943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2064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3-6-2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60704" y="228600"/>
            <a:ext cx="164592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문의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232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문의 · 답변 · 삭제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탑바 구분선"/>
          <p:cNvSpPr/>
          <p:nvPr/>
        </p:nvSpPr>
        <p:spPr>
          <a:xfrm>
            <a:off x="1399032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탑바 타이틀"/>
          <p:cNvSpPr txBox="1"/>
          <p:nvPr/>
        </p:nvSpPr>
        <p:spPr>
          <a:xfrm>
            <a:off x="1810512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1:1 문의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1545336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뒤로가기"/>
          <p:cNvCxnSpPr/>
          <p:nvPr/>
        </p:nvCxnSpPr>
        <p:spPr>
          <a:xfrm flipH="1" flipV="1">
            <a:off x="1545336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탑바 구분선"/>
          <p:cNvSpPr/>
          <p:nvPr/>
        </p:nvSpPr>
        <p:spPr>
          <a:xfrm>
            <a:off x="4553712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탑바 타이틀"/>
          <p:cNvSpPr txBox="1"/>
          <p:nvPr/>
        </p:nvSpPr>
        <p:spPr>
          <a:xfrm>
            <a:off x="4965192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1:1 문의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4700016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4700016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값"/>
          <p:cNvSpPr txBox="1"/>
          <p:nvPr/>
        </p:nvSpPr>
        <p:spPr>
          <a:xfrm>
            <a:off x="1545336" y="1783080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2026년 1월 3일</a:t>
            </a:r>
          </a:p>
        </p:txBody>
      </p:sp>
      <p:sp>
        <p:nvSpPr>
          <p:cNvPr id="25" name="상태"/>
          <p:cNvSpPr txBox="1"/>
          <p:nvPr/>
        </p:nvSpPr>
        <p:spPr>
          <a:xfrm>
            <a:off x="3246120" y="178308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25" b="0" spc="-15">
                <a:solidFill>
                  <a:srgbClr val="3E4652"/>
                </a:solidFill>
                <a:latin typeface="Pretendard"/>
              </a:rPr>
              <a:t>답변 완료</a:t>
            </a:r>
          </a:p>
        </p:txBody>
      </p:sp>
      <p:sp>
        <p:nvSpPr>
          <p:cNvPr id="26" name="본문 줄"/>
          <p:cNvSpPr txBox="1"/>
          <p:nvPr/>
        </p:nvSpPr>
        <p:spPr>
          <a:xfrm>
            <a:off x="1545336" y="202996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저상버스 예약 내역이 보이지</a:t>
            </a:r>
          </a:p>
        </p:txBody>
      </p:sp>
      <p:sp>
        <p:nvSpPr>
          <p:cNvPr id="27" name="본문 줄"/>
          <p:cNvSpPr txBox="1"/>
          <p:nvPr/>
        </p:nvSpPr>
        <p:spPr>
          <a:xfrm>
            <a:off x="1545336" y="22128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않습니다. 예약은 했는데</a:t>
            </a:r>
          </a:p>
        </p:txBody>
      </p:sp>
      <p:sp>
        <p:nvSpPr>
          <p:cNvPr id="28" name="본문 줄"/>
          <p:cNvSpPr txBox="1"/>
          <p:nvPr/>
        </p:nvSpPr>
        <p:spPr>
          <a:xfrm>
            <a:off x="1545336" y="23957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목록에 나오지 않습니다.</a:t>
            </a:r>
          </a:p>
        </p:txBody>
      </p:sp>
      <p:cxnSp>
        <p:nvCxnSpPr>
          <p:cNvPr id="29" name="ln"/>
          <p:cNvCxnSpPr/>
          <p:nvPr/>
        </p:nvCxnSpPr>
        <p:spPr>
          <a:xfrm>
            <a:off x="1545336" y="2670048"/>
            <a:ext cx="2432304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0" name="답변 라벨"/>
          <p:cNvSpPr txBox="1"/>
          <p:nvPr/>
        </p:nvSpPr>
        <p:spPr>
          <a:xfrm>
            <a:off x="1545336" y="281635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답변 · 2026년 1월 5일</a:t>
            </a:r>
          </a:p>
        </p:txBody>
      </p:sp>
      <p:sp>
        <p:nvSpPr>
          <p:cNvPr id="31" name="본문 줄"/>
          <p:cNvSpPr txBox="1"/>
          <p:nvPr/>
        </p:nvSpPr>
        <p:spPr>
          <a:xfrm>
            <a:off x="1545336" y="30175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예약 내역은 로그인한 계정에서</a:t>
            </a:r>
          </a:p>
        </p:txBody>
      </p:sp>
      <p:sp>
        <p:nvSpPr>
          <p:cNvPr id="32" name="본문 줄"/>
          <p:cNvSpPr txBox="1"/>
          <p:nvPr/>
        </p:nvSpPr>
        <p:spPr>
          <a:xfrm>
            <a:off x="1545336" y="320040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확인할 수 있습니다. 다른 계정으로</a:t>
            </a:r>
          </a:p>
        </p:txBody>
      </p:sp>
      <p:sp>
        <p:nvSpPr>
          <p:cNvPr id="33" name="본문 줄"/>
          <p:cNvSpPr txBox="1"/>
          <p:nvPr/>
        </p:nvSpPr>
        <p:spPr>
          <a:xfrm>
            <a:off x="1545336" y="338328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가입된 경우 내역이 보이지 않습니다.</a:t>
            </a:r>
          </a:p>
        </p:txBody>
      </p:sp>
      <p:sp>
        <p:nvSpPr>
          <p:cNvPr id="34" name="값"/>
          <p:cNvSpPr txBox="1"/>
          <p:nvPr/>
        </p:nvSpPr>
        <p:spPr>
          <a:xfrm>
            <a:off x="4700016" y="1783080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2026년 1월 6일</a:t>
            </a:r>
          </a:p>
        </p:txBody>
      </p:sp>
      <p:sp>
        <p:nvSpPr>
          <p:cNvPr id="35" name="상태"/>
          <p:cNvSpPr txBox="1"/>
          <p:nvPr/>
        </p:nvSpPr>
        <p:spPr>
          <a:xfrm>
            <a:off x="6400800" y="178308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25" b="0" spc="-15">
                <a:solidFill>
                  <a:srgbClr val="3E4652"/>
                </a:solidFill>
                <a:latin typeface="Pretendard"/>
              </a:rPr>
              <a:t>답변 대기</a:t>
            </a:r>
          </a:p>
        </p:txBody>
      </p:sp>
      <p:sp>
        <p:nvSpPr>
          <p:cNvPr id="36" name="본문 줄"/>
          <p:cNvSpPr txBox="1"/>
          <p:nvPr/>
        </p:nvSpPr>
        <p:spPr>
          <a:xfrm>
            <a:off x="4700016" y="202996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길안내 음성이 끊겨요.</a:t>
            </a:r>
          </a:p>
        </p:txBody>
      </p:sp>
      <p:sp>
        <p:nvSpPr>
          <p:cNvPr id="37" name="본문 줄"/>
          <p:cNvSpPr txBox="1"/>
          <p:nvPr/>
        </p:nvSpPr>
        <p:spPr>
          <a:xfrm>
            <a:off x="4700016" y="22128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이어폰을 쓰면 더 자주 끊깁니다.</a:t>
            </a:r>
          </a:p>
        </p:txBody>
      </p:sp>
      <p:cxnSp>
        <p:nvCxnSpPr>
          <p:cNvPr id="38" name="ln"/>
          <p:cNvCxnSpPr/>
          <p:nvPr/>
        </p:nvCxnSpPr>
        <p:spPr>
          <a:xfrm>
            <a:off x="4700016" y="2487168"/>
            <a:ext cx="2432304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9" name="본문 줄"/>
          <p:cNvSpPr txBox="1"/>
          <p:nvPr/>
        </p:nvSpPr>
        <p:spPr>
          <a:xfrm>
            <a:off x="4700016" y="263347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답변을 준비하고 있습니다.</a:t>
            </a:r>
          </a:p>
        </p:txBody>
      </p:sp>
      <p:sp>
        <p:nvSpPr>
          <p:cNvPr id="40" name="버튼"/>
          <p:cNvSpPr/>
          <p:nvPr/>
        </p:nvSpPr>
        <p:spPr>
          <a:xfrm>
            <a:off x="4700016" y="5897880"/>
            <a:ext cx="2432304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41" name="버튼 라벨"/>
          <p:cNvSpPr txBox="1"/>
          <p:nvPr/>
        </p:nvSpPr>
        <p:spPr>
          <a:xfrm>
            <a:off x="4700016" y="5897880"/>
            <a:ext cx="2432304" cy="2926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85" b="1" spc="-17">
                <a:solidFill>
                  <a:srgbClr val="14181F"/>
                </a:solidFill>
                <a:latin typeface="Pretendard"/>
              </a:rPr>
              <a:t>문의 삭제</a:t>
            </a:r>
          </a:p>
        </p:txBody>
      </p:sp>
      <p:graphicFrame>
        <p:nvGraphicFramePr>
          <p:cNvPr id="42" name="Description 표"/>
          <p:cNvGraphicFramePr>
            <a:graphicFrameLocks noGrp="1"/>
          </p:cNvGraphicFramePr>
          <p:nvPr/>
        </p:nvGraphicFramePr>
        <p:xfrm>
          <a:off x="8631936" y="1444752"/>
          <a:ext cx="2971800" cy="4943246"/>
        </p:xfrm>
        <a:graphic>
          <a:graphicData uri="http://schemas.openxmlformats.org/drawingml/2006/table">
            <a:tbl>
              <a:tblPr/>
              <a:tblGrid>
                <a:gridCol w="419709"/>
                <a:gridCol w="2552700"/>
              </a:tblGrid>
              <a:tr h="8167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제목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문자열은 「1:1 문의」 — 목록과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[&lt;] → 3-6 1:1 문의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8438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문의 영역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  등록 일자 ·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「YYYY년 M월 D일」 ＋ 「답변 대기」 · 「답변 완료」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 문의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전문 표출 · 말줄임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보낸 문의는 고치지 못함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8167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답변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답변 완료 — 「답변」 ＋ 답변 일자 ＋ 전문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답변 대기 — 「답변을 준비하고 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[문의 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답변 대기일 때만 표출 · 답변 완료면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누르면 확인 팝업 — 「삭제한 문의는 되돌릴 수 없습니다. 삭제하시겠습니까?」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[취소] / [삭제] · 삭제하면 3-6 목록 ＋ 토스트 「문의가 삭제되었습니다.」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" name="t"/>
          <p:cNvSpPr txBox="1"/>
          <p:nvPr/>
        </p:nvSpPr>
        <p:spPr>
          <a:xfrm>
            <a:off x="1389888" y="1024128"/>
            <a:ext cx="2734056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 spc="0">
                <a:solidFill>
                  <a:srgbClr val="5B6573"/>
                </a:solidFill>
                <a:latin typeface="Pretendard"/>
              </a:rPr>
              <a:t>답변 완료</a:t>
            </a:r>
          </a:p>
        </p:txBody>
      </p:sp>
      <p:sp>
        <p:nvSpPr>
          <p:cNvPr id="44" name="t"/>
          <p:cNvSpPr txBox="1"/>
          <p:nvPr/>
        </p:nvSpPr>
        <p:spPr>
          <a:xfrm>
            <a:off x="4544568" y="1024128"/>
            <a:ext cx="2734056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 spc="0">
                <a:solidFill>
                  <a:srgbClr val="5B6573"/>
                </a:solidFill>
                <a:latin typeface="Pretendard"/>
              </a:rPr>
              <a:t>답변 대기</a:t>
            </a:r>
          </a:p>
        </p:txBody>
      </p:sp>
      <p:sp>
        <p:nvSpPr>
          <p:cNvPr id="45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숫자배지 2-1"/>
          <p:cNvSpPr/>
          <p:nvPr/>
        </p:nvSpPr>
        <p:spPr>
          <a:xfrm>
            <a:off x="1024128" y="178308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7" name="숫자배지 2-2"/>
          <p:cNvSpPr/>
          <p:nvPr/>
        </p:nvSpPr>
        <p:spPr>
          <a:xfrm>
            <a:off x="1024128" y="202996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8" name="숫자배지 3"/>
          <p:cNvSpPr/>
          <p:nvPr/>
        </p:nvSpPr>
        <p:spPr>
          <a:xfrm>
            <a:off x="1161288" y="28163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9" name="숫자배지 4"/>
          <p:cNvSpPr/>
          <p:nvPr/>
        </p:nvSpPr>
        <p:spPr>
          <a:xfrm>
            <a:off x="4297680" y="5943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7706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0631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438898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약관 리스트 · 약관 전문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676095" y="1807769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676095" y="2331720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676095" y="2855671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1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0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3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6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3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238729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약관 3종 리스트 —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회원가입 약관 3종과 같은 문서 · 회원 · 비회원 동일 · 열람 전용(동의 · 철회 없음)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 「약관명 ＋ [&gt;]」 · 아래 「시행 YYYY년 M월 D일」 보조줄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1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약관 전문 — 3화면 공통 레이아웃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아래 「시행일 …」 1행 — 목록과 같은 날짜 · 형식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링크는 ↗ 표기 · 누르면 외부 브라우저로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7" name="t"/>
          <p:cNvSpPr txBox="1"/>
          <p:nvPr/>
        </p:nvSpPr>
        <p:spPr>
          <a:xfrm>
            <a:off x="1676095" y="1990649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시행 2026년 8월 1일</a:t>
            </a:r>
          </a:p>
        </p:txBody>
      </p:sp>
      <p:sp>
        <p:nvSpPr>
          <p:cNvPr id="48" name="t"/>
          <p:cNvSpPr txBox="1"/>
          <p:nvPr/>
        </p:nvSpPr>
        <p:spPr>
          <a:xfrm>
            <a:off x="1676095" y="2514600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시행 2026년 8월 1일</a:t>
            </a:r>
          </a:p>
        </p:txBody>
      </p:sp>
      <p:sp>
        <p:nvSpPr>
          <p:cNvPr id="49" name="t"/>
          <p:cNvSpPr txBox="1"/>
          <p:nvPr/>
        </p:nvSpPr>
        <p:spPr>
          <a:xfrm>
            <a:off x="1676095" y="3038551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시행 2026년 8월 1일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914900" y="1783080"/>
            <a:ext cx="19933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시행일 2026년 8월 1일</a:t>
            </a:r>
          </a:p>
        </p:txBody>
      </p:sp>
      <p:sp>
        <p:nvSpPr>
          <p:cNvPr id="51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2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3-8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612452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오픈소스 라이선스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71544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목록 · 전문 일괄 표기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141701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오픈소스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1열 리스트 ·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라이브러리명(원문 표기) · 라이선스 종류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라이선스 전문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라이선스 종류 바로 아래에 이어서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탑바 구분선"/>
          <p:cNvSpPr/>
          <p:nvPr/>
        </p:nvSpPr>
        <p:spPr>
          <a:xfrm>
            <a:off x="2971800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탑바 타이틀"/>
          <p:cNvSpPr txBox="1"/>
          <p:nvPr/>
        </p:nvSpPr>
        <p:spPr>
          <a:xfrm>
            <a:off x="3383280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오픈소스 라이선스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3118104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뒤로가기"/>
          <p:cNvCxnSpPr/>
          <p:nvPr/>
        </p:nvCxnSpPr>
        <p:spPr>
          <a:xfrm flipH="1" flipV="1">
            <a:off x="3118104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라이브러리명"/>
          <p:cNvSpPr txBox="1"/>
          <p:nvPr/>
        </p:nvSpPr>
        <p:spPr>
          <a:xfrm>
            <a:off x="3118104" y="1783080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OkHttp</a:t>
            </a:r>
          </a:p>
        </p:txBody>
      </p:sp>
      <p:sp>
        <p:nvSpPr>
          <p:cNvPr id="21" name="라이선스 종류"/>
          <p:cNvSpPr txBox="1"/>
          <p:nvPr/>
        </p:nvSpPr>
        <p:spPr>
          <a:xfrm>
            <a:off x="3118104" y="20391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Apache License 2.0</a:t>
            </a:r>
          </a:p>
        </p:txBody>
      </p:sp>
      <p:sp>
        <p:nvSpPr>
          <p:cNvPr id="22" name="전문"/>
          <p:cNvSpPr txBox="1"/>
          <p:nvPr/>
        </p:nvSpPr>
        <p:spPr>
          <a:xfrm>
            <a:off x="3118104" y="227685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Licensed under the Apache License,</a:t>
            </a:r>
          </a:p>
        </p:txBody>
      </p:sp>
      <p:sp>
        <p:nvSpPr>
          <p:cNvPr id="23" name="전문"/>
          <p:cNvSpPr txBox="1"/>
          <p:nvPr/>
        </p:nvSpPr>
        <p:spPr>
          <a:xfrm>
            <a:off x="3118104" y="245973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Version 2.0 (the "License"); you may</a:t>
            </a:r>
          </a:p>
        </p:txBody>
      </p:sp>
      <p:sp>
        <p:nvSpPr>
          <p:cNvPr id="24" name="전문"/>
          <p:cNvSpPr txBox="1"/>
          <p:nvPr/>
        </p:nvSpPr>
        <p:spPr>
          <a:xfrm>
            <a:off x="3118104" y="26426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not use this file except in compliance</a:t>
            </a:r>
          </a:p>
        </p:txBody>
      </p:sp>
      <p:sp>
        <p:nvSpPr>
          <p:cNvPr id="25" name="전문"/>
          <p:cNvSpPr txBox="1"/>
          <p:nvPr/>
        </p:nvSpPr>
        <p:spPr>
          <a:xfrm>
            <a:off x="3118104" y="28254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with the License. …</a:t>
            </a:r>
          </a:p>
        </p:txBody>
      </p:sp>
      <p:sp>
        <p:nvSpPr>
          <p:cNvPr id="26" name="항목 구분선"/>
          <p:cNvSpPr/>
          <p:nvPr/>
        </p:nvSpPr>
        <p:spPr>
          <a:xfrm>
            <a:off x="3118104" y="3099816"/>
            <a:ext cx="2432304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라이브러리명"/>
          <p:cNvSpPr txBox="1"/>
          <p:nvPr/>
        </p:nvSpPr>
        <p:spPr>
          <a:xfrm>
            <a:off x="3118104" y="3282696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Glide</a:t>
            </a:r>
          </a:p>
        </p:txBody>
      </p:sp>
      <p:sp>
        <p:nvSpPr>
          <p:cNvPr id="28" name="라이선스 종류"/>
          <p:cNvSpPr txBox="1"/>
          <p:nvPr/>
        </p:nvSpPr>
        <p:spPr>
          <a:xfrm>
            <a:off x="3118104" y="35387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BSD · MIT · Apache 2.0</a:t>
            </a:r>
          </a:p>
        </p:txBody>
      </p:sp>
      <p:sp>
        <p:nvSpPr>
          <p:cNvPr id="29" name="전문"/>
          <p:cNvSpPr txBox="1"/>
          <p:nvPr/>
        </p:nvSpPr>
        <p:spPr>
          <a:xfrm>
            <a:off x="3118104" y="377647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Permission is hereby granted, free of</a:t>
            </a:r>
          </a:p>
        </p:txBody>
      </p:sp>
      <p:sp>
        <p:nvSpPr>
          <p:cNvPr id="30" name="전문"/>
          <p:cNvSpPr txBox="1"/>
          <p:nvPr/>
        </p:nvSpPr>
        <p:spPr>
          <a:xfrm>
            <a:off x="3118104" y="395935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charge, to any person obtaining a copy</a:t>
            </a:r>
          </a:p>
        </p:txBody>
      </p:sp>
      <p:sp>
        <p:nvSpPr>
          <p:cNvPr id="31" name="전문"/>
          <p:cNvSpPr txBox="1"/>
          <p:nvPr/>
        </p:nvSpPr>
        <p:spPr>
          <a:xfrm>
            <a:off x="3118104" y="41422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of this software …</a:t>
            </a:r>
          </a:p>
        </p:txBody>
      </p:sp>
      <p:sp>
        <p:nvSpPr>
          <p:cNvPr id="32" name="항목 구분선"/>
          <p:cNvSpPr/>
          <p:nvPr/>
        </p:nvSpPr>
        <p:spPr>
          <a:xfrm>
            <a:off x="3118104" y="4416552"/>
            <a:ext cx="2432304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크롤 표시"/>
          <p:cNvSpPr txBox="1"/>
          <p:nvPr/>
        </p:nvSpPr>
        <p:spPr>
          <a:xfrm>
            <a:off x="3118104" y="45994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(… 스크롤)</a:t>
            </a:r>
          </a:p>
        </p:txBody>
      </p:sp>
      <p:sp>
        <p:nvSpPr>
          <p:cNvPr id="34" name="숫자배지 1"/>
          <p:cNvSpPr/>
          <p:nvPr/>
        </p:nvSpPr>
        <p:spPr>
          <a:xfrm>
            <a:off x="2734056" y="181965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2"/>
          <p:cNvSpPr/>
          <p:nvPr/>
        </p:nvSpPr>
        <p:spPr>
          <a:xfrm>
            <a:off x="2734056" y="2286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87706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3-9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30631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29192" y="1447800"/>
          <a:ext cx="2972409" cy="114284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누르는 즉시 처리 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토스트 「로그아웃되었습니다.」는 0-1 로그인 화면 위에서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행 자체를 숨김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4" name="SNS 버튼 카카오로 로그인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로그인</a:t>
            </a:r>
          </a:p>
        </p:txBody>
      </p:sp>
      <p:sp>
        <p:nvSpPr>
          <p:cNvPr id="16" name="SNS 버튼 네이버로 로그인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로그인</a:t>
            </a:r>
          </a:p>
        </p:txBody>
      </p:sp>
      <p:sp>
        <p:nvSpPr>
          <p:cNvPr id="18" name="SNS 버튼 구글로 로그인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로그인</a:t>
            </a:r>
          </a:p>
        </p:txBody>
      </p:sp>
      <p:sp>
        <p:nvSpPr>
          <p:cNvPr id="20" name="SNS 버튼 애플로 로그인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로그인</a:t>
            </a:r>
          </a:p>
        </p:txBody>
      </p:sp>
      <p:sp>
        <p:nvSpPr>
          <p:cNvPr id="22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시작하기</a:t>
            </a:r>
          </a:p>
        </p:txBody>
      </p:sp>
      <p:grpSp>
        <p:nvGrpSpPr>
          <p:cNvPr id="25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26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27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로그아웃되었습니다.</a:t>
              </a:r>
            </a:p>
          </p:txBody>
        </p:sp>
      </p:grpSp>
      <p:sp>
        <p:nvSpPr>
          <p:cNvPr id="2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0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449885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3-10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92810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 탈퇴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29192" y="1447800"/>
          <a:ext cx="2972409" cy="214548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 탈퇴 확인 팝업 — 1단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[취소] 좌 · [회원 탈퇴] 우 — 경고색 ＋ 텍스트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[취소] · 팝업 바깥 탭 · 시스템 뒤로가기 셋 다 팝업만 닫히고 3-0에 남음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즉시 진행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 탈퇴 완료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0-1 로그인 화면으로 돌아오고 그 화면 위에 토스트 「회원 탈퇴되었습니다.」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삭제되며,</a:t>
              </a:r>
            </a:p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마일리지와 계정 정보는 복구할 수 없습니다.</a:t>
              </a:r>
            </a:p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탈퇴하시겠습니까?</a:t>
              </a:r>
            </a:p>
          </p:txBody>
        </p:sp>
        <p:sp>
          <p:nvSpPr>
            <p:cNvPr id="16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7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8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 탈퇴</a:t>
              </a:r>
            </a:p>
          </p:txBody>
        </p:sp>
      </p:grpSp>
      <p:sp>
        <p:nvSpPr>
          <p:cNvPr id="20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2" name="SNS 버튼 카카오로 로그인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로그인</a:t>
            </a:r>
          </a:p>
        </p:txBody>
      </p:sp>
      <p:sp>
        <p:nvSpPr>
          <p:cNvPr id="24" name="SNS 버튼 네이버로 로그인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로그인</a:t>
            </a:r>
          </a:p>
        </p:txBody>
      </p:sp>
      <p:sp>
        <p:nvSpPr>
          <p:cNvPr id="26" name="SNS 버튼 구글로 로그인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로그인</a:t>
            </a:r>
          </a:p>
        </p:txBody>
      </p:sp>
      <p:sp>
        <p:nvSpPr>
          <p:cNvPr id="28" name="SNS 버튼 애플로 로그인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로그인</a:t>
            </a:r>
          </a:p>
        </p:txBody>
      </p:sp>
      <p:sp>
        <p:nvSpPr>
          <p:cNvPr id="30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시작하기</a:t>
            </a:r>
          </a:p>
        </p:txBody>
      </p:sp>
      <p:grpSp>
        <p:nvGrpSpPr>
          <p:cNvPr id="33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4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탈퇴되었습니다.</a:t>
              </a:r>
            </a:p>
          </p:txBody>
        </p:sp>
      </p:grp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8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11895</Words>
  <Application>Microsoft Macintosh PowerPoint</Application>
  <PresentationFormat>와이드스크린</PresentationFormat>
  <Paragraphs>3442</Paragraphs>
  <Slides>74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7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260</cp:revision>
  <dcterms:created xsi:type="dcterms:W3CDTF">2013-01-27T09:14:16Z</dcterms:created>
  <dcterms:modified xsi:type="dcterms:W3CDTF">2026-09-11T00:30:13Z</dcterms:modified>
  <cp:category/>
</cp:coreProperties>
</file>