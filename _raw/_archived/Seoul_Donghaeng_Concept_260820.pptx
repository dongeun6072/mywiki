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67" r:id="rId2"/>
    <p:sldId id="263" r:id="rId3"/>
    <p:sldId id="260" r:id="rId4"/>
    <p:sldId id="268" r:id="rId5"/>
    <p:sldId id="264" r:id="rId6"/>
    <p:sldId id="266" r:id="rId7"/>
    <p:sldId id="265" r:id="rId8"/>
    <p:sldId id="269" r:id="rId9"/>
    <p:sldId id="262" r:id="rId10"/>
    <p:sldId id="261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7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364D2"/>
    <a:srgbClr val="20253D"/>
    <a:srgbClr val="00892E"/>
    <a:srgbClr val="266EE7"/>
    <a:srgbClr val="6B7280"/>
    <a:srgbClr val="006421"/>
    <a:srgbClr val="007627"/>
    <a:srgbClr val="0066CC"/>
    <a:srgbClr val="374151"/>
    <a:srgbClr val="161C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329" autoAdjust="0"/>
    <p:restoredTop sz="94660"/>
  </p:normalViewPr>
  <p:slideViewPr>
    <p:cSldViewPr snapToGrid="0" showGuides="1">
      <p:cViewPr>
        <p:scale>
          <a:sx n="100" d="100"/>
          <a:sy n="100" d="100"/>
        </p:scale>
        <p:origin x="252" y="132"/>
      </p:cViewPr>
      <p:guideLst>
        <p:guide orient="horz" pos="227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02AECB-75DD-4E47-880A-18EAC72238CA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59C5D0-360C-46A3-9369-99EDCE394E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5416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9304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FC759-F746-4E0F-9184-9A4CD1B5F987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657B8-5A91-48D5-8A30-4ED1B6D015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4608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FC759-F746-4E0F-9184-9A4CD1B5F987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657B8-5A91-48D5-8A30-4ED1B6D015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7040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FC759-F746-4E0F-9184-9A4CD1B5F987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657B8-5A91-48D5-8A30-4ED1B6D015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6842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FC759-F746-4E0F-9184-9A4CD1B5F987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657B8-5A91-48D5-8A30-4ED1B6D015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55223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FC759-F746-4E0F-9184-9A4CD1B5F987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657B8-5A91-48D5-8A30-4ED1B6D015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2466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FC759-F746-4E0F-9184-9A4CD1B5F987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657B8-5A91-48D5-8A30-4ED1B6D015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64831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FC759-F746-4E0F-9184-9A4CD1B5F987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657B8-5A91-48D5-8A30-4ED1B6D015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26571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FC759-F746-4E0F-9184-9A4CD1B5F987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657B8-5A91-48D5-8A30-4ED1B6D015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91713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FC759-F746-4E0F-9184-9A4CD1B5F987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657B8-5A91-48D5-8A30-4ED1B6D015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97195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FC759-F746-4E0F-9184-9A4CD1B5F987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657B8-5A91-48D5-8A30-4ED1B6D015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38393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FC759-F746-4E0F-9184-9A4CD1B5F987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657B8-5A91-48D5-8A30-4ED1B6D015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37783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37806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9FC759-F746-4E0F-9184-9A4CD1B5F987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7657B8-5A91-48D5-8A30-4ED1B6D015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71628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kern="0" spc="300" dirty="0">
                <a:solidFill>
                  <a:schemeClr val="accent1">
                    <a:lumMod val="75000"/>
                  </a:schemeClr>
                </a:solidFill>
                <a:latin typeface="Noto Sans Mono CJK KR Regular" panose="020B0500000000000000" pitchFamily="34" charset="-127"/>
                <a:ea typeface="Noto Sans Mono CJK KR Regular" panose="020B0500000000000000" pitchFamily="34" charset="-127"/>
                <a:cs typeface="Pretendard" pitchFamily="34" charset="-120"/>
              </a:rPr>
              <a:t>SEOUL ACCESSIBLE NAVIGATION</a:t>
            </a:r>
            <a:endParaRPr lang="en-US" sz="1500" dirty="0">
              <a:solidFill>
                <a:schemeClr val="accent1">
                  <a:lumMod val="75000"/>
                </a:schemeClr>
              </a:solidFill>
              <a:latin typeface="Noto Sans Mono CJK KR Regular" panose="020B0500000000000000" pitchFamily="34" charset="-127"/>
              <a:ea typeface="Noto Sans Mono CJK KR Regular" panose="020B0500000000000000" pitchFamily="34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777240" y="182880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0" b="1" dirty="0">
                <a:solidFill>
                  <a:schemeClr val="bg1"/>
                </a:solidFill>
                <a:latin typeface="Noto Sans Mono CJK KR Bold" panose="020B0800000000000000" pitchFamily="34" charset="-127"/>
                <a:ea typeface="Noto Sans Mono CJK KR Bold" panose="020B0800000000000000" pitchFamily="34" charset="-127"/>
                <a:cs typeface="Pretendard" pitchFamily="34" charset="-120"/>
              </a:rPr>
              <a:t>서울동행맵</a:t>
            </a:r>
            <a:endParaRPr lang="en-US" sz="6200" dirty="0">
              <a:solidFill>
                <a:schemeClr val="bg1"/>
              </a:solidFill>
              <a:latin typeface="Noto Sans Mono CJK KR Bold" panose="020B0800000000000000" pitchFamily="34" charset="-127"/>
              <a:ea typeface="Noto Sans Mono CJK KR Bold" panose="020B0800000000000000" pitchFamily="34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822960" y="29718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dirty="0">
                <a:solidFill>
                  <a:schemeClr val="tx2">
                    <a:lumMod val="60000"/>
                    <a:lumOff val="40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접근성 우선 디자인 </a:t>
            </a:r>
            <a:r>
              <a:rPr lang="en-US" sz="2200">
                <a:solidFill>
                  <a:schemeClr val="tx2">
                    <a:lumMod val="60000"/>
                    <a:lumOff val="40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컨셉 </a:t>
            </a:r>
            <a:r>
              <a:rPr lang="en-US" sz="2200" smtClean="0">
                <a:solidFill>
                  <a:schemeClr val="tx2">
                    <a:lumMod val="60000"/>
                    <a:lumOff val="40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</a:t>
            </a:r>
            <a:r>
              <a:rPr lang="en-US" altLang="ko-KR" sz="2400" smtClean="0">
                <a:solidFill>
                  <a:schemeClr val="tx2">
                    <a:lumMod val="60000"/>
                    <a:lumOff val="40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</a:t>
            </a:r>
            <a:r>
              <a:rPr lang="en-US" sz="2200" smtClean="0">
                <a:solidFill>
                  <a:schemeClr val="tx2">
                    <a:lumMod val="60000"/>
                    <a:lumOff val="40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</a:t>
            </a:r>
            <a:endParaRPr lang="en-US" sz="2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Text 5"/>
          <p:cNvSpPr/>
          <p:nvPr/>
        </p:nvSpPr>
        <p:spPr>
          <a:xfrm>
            <a:off x="822960" y="6172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2">
                    <a:lumMod val="40000"/>
                    <a:lumOff val="60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iNavi 프로덕트전략셀</a:t>
            </a:r>
            <a:endParaRPr lang="en-US" sz="1300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34031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64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40">
            <a:extLst>
              <a:ext uri="{FF2B5EF4-FFF2-40B4-BE49-F238E27FC236}">
                <a16:creationId xmlns:a16="http://schemas.microsoft.com/office/drawing/2014/main" id="{13A8C0B2-0807-4B4A-A11F-BA365A18DE97}"/>
              </a:ext>
            </a:extLst>
          </p:cNvPr>
          <p:cNvSpPr txBox="1"/>
          <p:nvPr/>
        </p:nvSpPr>
        <p:spPr>
          <a:xfrm>
            <a:off x="5197830" y="3125441"/>
            <a:ext cx="1846916" cy="92333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6000" b="1" smtClean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Pretendard Black" panose="02000A03000000020004" pitchFamily="50" charset="-127"/>
              </a:rPr>
              <a:t>BLUE</a:t>
            </a:r>
            <a:endParaRPr lang="en-US" altLang="ko-KR" sz="6000" b="1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bg1"/>
              </a:solidFill>
              <a:latin typeface="+mj-ea"/>
              <a:ea typeface="+mj-ea"/>
              <a:cs typeface="Pretendard Black" panose="02000A03000000020004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3A8C0B2-0807-4B4A-A11F-BA365A18DE97}"/>
              </a:ext>
            </a:extLst>
          </p:cNvPr>
          <p:cNvSpPr txBox="1"/>
          <p:nvPr/>
        </p:nvSpPr>
        <p:spPr>
          <a:xfrm>
            <a:off x="687547" y="766416"/>
            <a:ext cx="1530868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2400" spc="-150" smtClean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Pretendard Black" panose="02000A03000000020004" pitchFamily="50" charset="-127"/>
              </a:rPr>
              <a:t>화면 시안 </a:t>
            </a:r>
            <a:r>
              <a:rPr lang="en-US" altLang="ko-KR" sz="2400" spc="-150" smtClean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Pretendard Black" panose="02000A03000000020004" pitchFamily="50" charset="-127"/>
              </a:rPr>
              <a:t>A</a:t>
            </a:r>
            <a:endParaRPr lang="en-US" altLang="ko-KR" sz="2400" spc="-15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bg1"/>
              </a:solidFill>
              <a:latin typeface="+mj-ea"/>
              <a:ea typeface="+mj-ea"/>
              <a:cs typeface="Pretendard Black" panose="02000A03000000020004" pitchFamily="50" charset="-127"/>
            </a:endParaRPr>
          </a:p>
        </p:txBody>
      </p:sp>
      <p:sp>
        <p:nvSpPr>
          <p:cNvPr id="8" name="모서리가 둥근 직사각형 7"/>
          <p:cNvSpPr/>
          <p:nvPr/>
        </p:nvSpPr>
        <p:spPr>
          <a:xfrm>
            <a:off x="3653589" y="2946651"/>
            <a:ext cx="4884821" cy="1323474"/>
          </a:xfrm>
          <a:prstGeom prst="roundRect">
            <a:avLst>
              <a:gd name="adj" fmla="val 50000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44540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40" y="-1"/>
            <a:ext cx="12192339" cy="103719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3A8C0B2-0807-4B4A-A11F-BA365A18DE97}"/>
              </a:ext>
            </a:extLst>
          </p:cNvPr>
          <p:cNvSpPr txBox="1"/>
          <p:nvPr/>
        </p:nvSpPr>
        <p:spPr>
          <a:xfrm>
            <a:off x="535147" y="407084"/>
            <a:ext cx="783869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2000" b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cs typeface="Pretendard Black" panose="02000A03000000020004" pitchFamily="50" charset="-127"/>
              </a:rPr>
              <a:t>시안 </a:t>
            </a:r>
            <a:r>
              <a:rPr lang="en-US" altLang="ko-KR" sz="2000" b="1" smtClean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cs typeface="Pretendard Black" panose="02000A03000000020004" pitchFamily="50" charset="-127"/>
              </a:rPr>
              <a:t>A</a:t>
            </a:r>
            <a:endParaRPr lang="en-US" altLang="ko-KR" sz="2000" b="1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bg1"/>
              </a:solidFill>
              <a:latin typeface="+mj-ea"/>
              <a:cs typeface="Pretendard Black" panose="02000A03000000020004" pitchFamily="50" charset="-127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624040" y="1348966"/>
            <a:ext cx="344681" cy="4571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8084" y="2239504"/>
            <a:ext cx="1781192" cy="385925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3800" y="2239504"/>
            <a:ext cx="1781192" cy="385925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2373" y="2239504"/>
            <a:ext cx="1781192" cy="385925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040" y="2239504"/>
            <a:ext cx="1781192" cy="385925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13A8C0B2-0807-4B4A-A11F-BA365A18DE97}"/>
              </a:ext>
            </a:extLst>
          </p:cNvPr>
          <p:cNvSpPr txBox="1"/>
          <p:nvPr/>
        </p:nvSpPr>
        <p:spPr>
          <a:xfrm>
            <a:off x="624040" y="1552710"/>
            <a:ext cx="772587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160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적</a:t>
            </a:r>
            <a:r>
              <a:rPr lang="en-US" altLang="ko-KR" sz="160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</a:t>
            </a:r>
            <a:r>
              <a:rPr lang="ko-KR" altLang="en-US" sz="160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록 색맹 커버</a:t>
            </a:r>
            <a:r>
              <a:rPr lang="en-US" altLang="ko-KR" sz="160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/ </a:t>
            </a:r>
            <a:r>
              <a:rPr lang="ko-KR" altLang="en-US" sz="160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심플</a:t>
            </a:r>
            <a:r>
              <a:rPr lang="en-US" altLang="ko-KR" sz="160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/ </a:t>
            </a:r>
            <a:r>
              <a:rPr lang="ko-KR" altLang="en-US" sz="160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라운드 버튼</a:t>
            </a:r>
            <a:r>
              <a:rPr lang="en-US" altLang="ko-KR" sz="160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/ </a:t>
            </a:r>
            <a:r>
              <a:rPr lang="en-US" altLang="ko-KR" sz="160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Line </a:t>
            </a:r>
            <a:r>
              <a:rPr lang="en-US" altLang="ko-KR" sz="1600" smtClean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style</a:t>
            </a:r>
            <a:r>
              <a:rPr lang="ko-KR" altLang="en-US" sz="1600" smtClean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반영</a:t>
            </a:r>
            <a:endParaRPr lang="en-US" altLang="ko-KR" sz="160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3487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40" y="-1"/>
            <a:ext cx="12192339" cy="103719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3A8C0B2-0807-4B4A-A11F-BA365A18DE97}"/>
              </a:ext>
            </a:extLst>
          </p:cNvPr>
          <p:cNvSpPr txBox="1"/>
          <p:nvPr/>
        </p:nvSpPr>
        <p:spPr>
          <a:xfrm>
            <a:off x="535147" y="407084"/>
            <a:ext cx="1526059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2000" b="1" smtClean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cs typeface="Pretendard Black" panose="02000A03000000020004" pitchFamily="50" charset="-127"/>
              </a:rPr>
              <a:t>시안 </a:t>
            </a:r>
            <a:r>
              <a:rPr lang="en-US" altLang="ko-KR" sz="2000" b="1" smtClean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cs typeface="Pretendard Black" panose="02000A03000000020004" pitchFamily="50" charset="-127"/>
              </a:rPr>
              <a:t>A Color</a:t>
            </a:r>
            <a:endParaRPr lang="en-US" altLang="ko-KR" sz="2000" b="1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bg1"/>
              </a:solidFill>
              <a:latin typeface="+mj-ea"/>
              <a:cs typeface="Pretendard Black" panose="02000A03000000020004" pitchFamily="50" charset="-127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624040" y="1348966"/>
            <a:ext cx="344681" cy="4571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Text 4"/>
          <p:cNvSpPr/>
          <p:nvPr/>
        </p:nvSpPr>
        <p:spPr>
          <a:xfrm>
            <a:off x="8246839" y="2192849"/>
            <a:ext cx="23900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b="1" smtClean="0">
                <a:solidFill>
                  <a:srgbClr val="0C2415"/>
                </a:solidFill>
                <a:latin typeface="+mn-ea"/>
                <a:cs typeface="Pretendard" pitchFamily="34" charset="-120"/>
              </a:rPr>
              <a:t>컬러 대비</a:t>
            </a:r>
            <a:endParaRPr lang="en-US" sz="1400" dirty="0">
              <a:latin typeface="+mn-ea"/>
            </a:endParaRPr>
          </a:p>
        </p:txBody>
      </p:sp>
      <p:sp>
        <p:nvSpPr>
          <p:cNvPr id="61" name="Text 5"/>
          <p:cNvSpPr/>
          <p:nvPr/>
        </p:nvSpPr>
        <p:spPr>
          <a:xfrm>
            <a:off x="8246839" y="2503745"/>
            <a:ext cx="3528390" cy="892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ko-KR" altLang="en-US" sz="1200">
                <a:solidFill>
                  <a:srgbClr val="474747"/>
                </a:solidFill>
                <a:latin typeface="+mn-ea"/>
                <a:cs typeface="Pretendard" pitchFamily="34" charset="-120"/>
              </a:rPr>
              <a:t>본문</a:t>
            </a:r>
            <a:r>
              <a:rPr lang="en-US" altLang="ko-KR" sz="1200" smtClean="0">
                <a:solidFill>
                  <a:srgbClr val="474747"/>
                </a:solidFill>
                <a:latin typeface="+mn-ea"/>
                <a:cs typeface="Pretendard" pitchFamily="34" charset="-120"/>
              </a:rPr>
              <a:t>·</a:t>
            </a:r>
            <a:r>
              <a:rPr lang="ko-KR" altLang="en-US" sz="1200" smtClean="0">
                <a:solidFill>
                  <a:srgbClr val="474747"/>
                </a:solidFill>
                <a:latin typeface="+mn-ea"/>
                <a:cs typeface="Pretendard" pitchFamily="34" charset="-120"/>
              </a:rPr>
              <a:t>보조 설명 텍스트는 </a:t>
            </a:r>
            <a:r>
              <a:rPr lang="en-US" altLang="ko-KR" sz="1200" smtClean="0">
                <a:solidFill>
                  <a:srgbClr val="474747"/>
                </a:solidFill>
                <a:latin typeface="+mn-ea"/>
                <a:cs typeface="Pretendard" pitchFamily="34" charset="-120"/>
              </a:rPr>
              <a:t>10.3:1 </a:t>
            </a:r>
            <a:r>
              <a:rPr lang="ko-KR" altLang="en-US" sz="1200" smtClean="0">
                <a:solidFill>
                  <a:srgbClr val="474747"/>
                </a:solidFill>
                <a:latin typeface="+mn-ea"/>
                <a:cs typeface="Pretendard" pitchFamily="34" charset="-120"/>
              </a:rPr>
              <a:t>이상</a:t>
            </a:r>
            <a:r>
              <a:rPr lang="en-US" altLang="ko-KR" sz="1200">
                <a:solidFill>
                  <a:srgbClr val="474747"/>
                </a:solidFill>
                <a:latin typeface="+mn-ea"/>
                <a:cs typeface="Pretendard" pitchFamily="34" charset="-120"/>
              </a:rPr>
              <a:t>(</a:t>
            </a:r>
            <a:r>
              <a:rPr lang="en-US" altLang="ko-KR" sz="1200" smtClean="0">
                <a:solidFill>
                  <a:srgbClr val="474747"/>
                </a:solidFill>
                <a:latin typeface="+mn-ea"/>
                <a:cs typeface="Pretendard" pitchFamily="34" charset="-120"/>
              </a:rPr>
              <a:t>AAA)</a:t>
            </a:r>
          </a:p>
          <a:p>
            <a:pPr>
              <a:lnSpc>
                <a:spcPct val="115000"/>
              </a:lnSpc>
            </a:pPr>
            <a:r>
              <a:rPr lang="ko-KR" altLang="en-US" sz="1200" smtClean="0">
                <a:solidFill>
                  <a:srgbClr val="474747"/>
                </a:solidFill>
                <a:latin typeface="+mn-ea"/>
                <a:cs typeface="Pretendard" pitchFamily="34" charset="-120"/>
              </a:rPr>
              <a:t>버튼</a:t>
            </a:r>
            <a:r>
              <a:rPr lang="en-US" altLang="ko-KR" sz="1200" smtClean="0">
                <a:solidFill>
                  <a:srgbClr val="474747"/>
                </a:solidFill>
                <a:latin typeface="+mn-ea"/>
                <a:cs typeface="Pretendard" pitchFamily="34" charset="-120"/>
              </a:rPr>
              <a:t>·</a:t>
            </a:r>
            <a:r>
              <a:rPr lang="ko-KR" altLang="en-US" sz="1200" smtClean="0">
                <a:solidFill>
                  <a:srgbClr val="474747"/>
                </a:solidFill>
                <a:latin typeface="+mn-ea"/>
                <a:cs typeface="Pretendard" pitchFamily="34" charset="-120"/>
              </a:rPr>
              <a:t>배경은 </a:t>
            </a:r>
            <a:r>
              <a:rPr lang="en-US" altLang="ko-KR" sz="1200" smtClean="0">
                <a:solidFill>
                  <a:srgbClr val="474747"/>
                </a:solidFill>
                <a:latin typeface="+mn-ea"/>
                <a:cs typeface="Pretendard" pitchFamily="34" charset="-120"/>
              </a:rPr>
              <a:t>5.49:1</a:t>
            </a:r>
            <a:r>
              <a:rPr lang="en-US" altLang="ko-KR" sz="1200">
                <a:solidFill>
                  <a:srgbClr val="474747"/>
                </a:solidFill>
                <a:latin typeface="+mn-ea"/>
                <a:cs typeface="Pretendard" pitchFamily="34" charset="-120"/>
              </a:rPr>
              <a:t>, </a:t>
            </a:r>
            <a:r>
              <a:rPr lang="ko-KR" altLang="en-US" sz="1200" smtClean="0">
                <a:solidFill>
                  <a:srgbClr val="474747"/>
                </a:solidFill>
                <a:latin typeface="+mn-ea"/>
                <a:cs typeface="Pretendard" pitchFamily="34" charset="-120"/>
              </a:rPr>
              <a:t>아이콘</a:t>
            </a:r>
            <a:r>
              <a:rPr lang="en-US" altLang="ko-KR" sz="1200">
                <a:solidFill>
                  <a:srgbClr val="474747"/>
                </a:solidFill>
                <a:latin typeface="+mn-ea"/>
                <a:cs typeface="Pretendard" pitchFamily="34" charset="-120"/>
              </a:rPr>
              <a:t>·</a:t>
            </a:r>
            <a:r>
              <a:rPr lang="ko-KR" altLang="en-US" sz="1200">
                <a:solidFill>
                  <a:srgbClr val="474747"/>
                </a:solidFill>
                <a:latin typeface="+mn-ea"/>
                <a:cs typeface="Pretendard" pitchFamily="34" charset="-120"/>
              </a:rPr>
              <a:t>큰 텍스트는 </a:t>
            </a:r>
            <a:r>
              <a:rPr lang="en-US" altLang="ko-KR" sz="1200">
                <a:solidFill>
                  <a:srgbClr val="474747"/>
                </a:solidFill>
                <a:latin typeface="+mn-ea"/>
                <a:cs typeface="Pretendard" pitchFamily="34" charset="-120"/>
              </a:rPr>
              <a:t>3:1 </a:t>
            </a:r>
            <a:r>
              <a:rPr lang="ko-KR" altLang="en-US" sz="1200" smtClean="0">
                <a:solidFill>
                  <a:srgbClr val="474747"/>
                </a:solidFill>
                <a:latin typeface="+mn-ea"/>
                <a:cs typeface="Pretendard" pitchFamily="34" charset="-120"/>
              </a:rPr>
              <a:t>이상</a:t>
            </a:r>
            <a:endParaRPr lang="en-US" altLang="ko-KR" sz="1200" smtClean="0">
              <a:solidFill>
                <a:srgbClr val="474747"/>
              </a:solidFill>
              <a:latin typeface="+mn-ea"/>
              <a:cs typeface="Pretendard" pitchFamily="34" charset="-120"/>
            </a:endParaRPr>
          </a:p>
          <a:p>
            <a:pPr>
              <a:lnSpc>
                <a:spcPct val="115000"/>
              </a:lnSpc>
            </a:pPr>
            <a:r>
              <a:rPr lang="ko-KR" altLang="en-US" sz="1200" smtClean="0">
                <a:solidFill>
                  <a:srgbClr val="474747"/>
                </a:solidFill>
                <a:latin typeface="+mn-ea"/>
                <a:cs typeface="Pretendard" pitchFamily="34" charset="-120"/>
              </a:rPr>
              <a:t>컬러로 </a:t>
            </a:r>
            <a:r>
              <a:rPr lang="ko-KR" altLang="en-US" sz="1200">
                <a:solidFill>
                  <a:srgbClr val="474747"/>
                </a:solidFill>
                <a:latin typeface="+mn-ea"/>
                <a:cs typeface="Pretendard" pitchFamily="34" charset="-120"/>
              </a:rPr>
              <a:t>구분 적용해 두 접근성 기준을 함께 충족</a:t>
            </a:r>
            <a:endParaRPr lang="en-US" sz="1200" dirty="0">
              <a:latin typeface="+mn-ea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3A8C0B2-0807-4B4A-A11F-BA365A18DE97}"/>
              </a:ext>
            </a:extLst>
          </p:cNvPr>
          <p:cNvSpPr txBox="1"/>
          <p:nvPr/>
        </p:nvSpPr>
        <p:spPr>
          <a:xfrm>
            <a:off x="624040" y="1552710"/>
            <a:ext cx="772587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1600" smtClean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기본 </a:t>
            </a:r>
            <a:r>
              <a:rPr lang="ko-KR" altLang="en-US" sz="160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정보 및 중요 대상 컬러 </a:t>
            </a:r>
            <a:r>
              <a:rPr lang="en-US" altLang="ko-KR" sz="160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WCAG 2.1 / KWCAG 2.1 AA 기준 </a:t>
            </a:r>
            <a:r>
              <a:rPr lang="ko-KR" altLang="en-US" sz="160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비율 </a:t>
            </a:r>
            <a:r>
              <a:rPr lang="en-US" altLang="ko-KR" sz="160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4.5 : 1 </a:t>
            </a:r>
            <a:r>
              <a:rPr lang="ko-KR" altLang="en-US" sz="160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이상 </a:t>
            </a:r>
            <a:r>
              <a:rPr lang="ko-KR" altLang="en-US" sz="1600" smtClean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반영</a:t>
            </a:r>
            <a:endParaRPr lang="en-US" altLang="ko-KR" sz="1600">
              <a:latin typeface="+mn-ea"/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624040" y="2274798"/>
            <a:ext cx="1804659" cy="2802528"/>
          </a:xfrm>
          <a:prstGeom prst="rect">
            <a:avLst/>
          </a:prstGeom>
          <a:solidFill>
            <a:srgbClr val="266E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/>
          <p:cNvSpPr/>
          <p:nvPr/>
        </p:nvSpPr>
        <p:spPr>
          <a:xfrm>
            <a:off x="2428699" y="2274798"/>
            <a:ext cx="1804659" cy="2802528"/>
          </a:xfrm>
          <a:prstGeom prst="rect">
            <a:avLst/>
          </a:prstGeom>
          <a:solidFill>
            <a:srgbClr val="0089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/>
          <p:cNvSpPr/>
          <p:nvPr/>
        </p:nvSpPr>
        <p:spPr>
          <a:xfrm>
            <a:off x="4233358" y="2274798"/>
            <a:ext cx="1804659" cy="2802528"/>
          </a:xfrm>
          <a:prstGeom prst="rect">
            <a:avLst/>
          </a:prstGeom>
          <a:solidFill>
            <a:srgbClr val="171C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/>
          <p:cNvSpPr/>
          <p:nvPr/>
        </p:nvSpPr>
        <p:spPr>
          <a:xfrm>
            <a:off x="6038017" y="2274798"/>
            <a:ext cx="1804659" cy="2802528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3A8C0B2-0807-4B4A-A11F-BA365A18DE97}"/>
              </a:ext>
            </a:extLst>
          </p:cNvPr>
          <p:cNvSpPr txBox="1"/>
          <p:nvPr/>
        </p:nvSpPr>
        <p:spPr>
          <a:xfrm>
            <a:off x="782738" y="2783005"/>
            <a:ext cx="628377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120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cs typeface="Pretendard Black" panose="02000A03000000020004" pitchFamily="50" charset="-127"/>
              </a:rPr>
              <a:t>#2364D2</a:t>
            </a:r>
            <a:endParaRPr lang="en-US" altLang="ko-KR" sz="120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bg1"/>
              </a:solidFill>
              <a:latin typeface="+mj-ea"/>
              <a:cs typeface="Pretendard Black" panose="02000A03000000020004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3A8C0B2-0807-4B4A-A11F-BA365A18DE97}"/>
              </a:ext>
            </a:extLst>
          </p:cNvPr>
          <p:cNvSpPr txBox="1"/>
          <p:nvPr/>
        </p:nvSpPr>
        <p:spPr>
          <a:xfrm>
            <a:off x="782738" y="2499094"/>
            <a:ext cx="668773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1400" b="1" smtClean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cs typeface="Pretendard Black" panose="02000A03000000020004" pitchFamily="50" charset="-127"/>
              </a:rPr>
              <a:t>Primary</a:t>
            </a:r>
            <a:endParaRPr lang="en-US" altLang="ko-KR" sz="1400" b="1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bg1"/>
              </a:solidFill>
              <a:latin typeface="+mj-ea"/>
              <a:cs typeface="Pretendard Black" panose="02000A03000000020004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3A8C0B2-0807-4B4A-A11F-BA365A18DE97}"/>
              </a:ext>
            </a:extLst>
          </p:cNvPr>
          <p:cNvSpPr txBox="1"/>
          <p:nvPr/>
        </p:nvSpPr>
        <p:spPr>
          <a:xfrm>
            <a:off x="2587397" y="2783005"/>
            <a:ext cx="597921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1200" smtClean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cs typeface="Pretendard Black" panose="02000A03000000020004" pitchFamily="50" charset="-127"/>
              </a:rPr>
              <a:t>#00892E</a:t>
            </a:r>
            <a:endParaRPr lang="en-US" altLang="ko-KR" sz="120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bg1"/>
              </a:solidFill>
              <a:latin typeface="+mj-ea"/>
              <a:cs typeface="Pretendard Black" panose="02000A03000000020004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3A8C0B2-0807-4B4A-A11F-BA365A18DE97}"/>
              </a:ext>
            </a:extLst>
          </p:cNvPr>
          <p:cNvSpPr txBox="1"/>
          <p:nvPr/>
        </p:nvSpPr>
        <p:spPr>
          <a:xfrm>
            <a:off x="2587397" y="2499094"/>
            <a:ext cx="917239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1400" b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cs typeface="Pretendard Black" panose="02000A03000000020004" pitchFamily="50" charset="-127"/>
              </a:rPr>
              <a:t>Secondary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3A8C0B2-0807-4B4A-A11F-BA365A18DE97}"/>
              </a:ext>
            </a:extLst>
          </p:cNvPr>
          <p:cNvSpPr txBox="1"/>
          <p:nvPr/>
        </p:nvSpPr>
        <p:spPr>
          <a:xfrm>
            <a:off x="4392056" y="2786145"/>
            <a:ext cx="628377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1200" smtClean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cs typeface="Pretendard Black" panose="02000A03000000020004" pitchFamily="50" charset="-127"/>
              </a:rPr>
              <a:t>#171C1C</a:t>
            </a:r>
            <a:endParaRPr lang="en-US" altLang="ko-KR" sz="120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bg1"/>
              </a:solidFill>
              <a:latin typeface="+mj-ea"/>
              <a:cs typeface="Pretendard Black" panose="02000A03000000020004" pitchFamily="50" charset="-127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3A8C0B2-0807-4B4A-A11F-BA365A18DE97}"/>
              </a:ext>
            </a:extLst>
          </p:cNvPr>
          <p:cNvSpPr txBox="1"/>
          <p:nvPr/>
        </p:nvSpPr>
        <p:spPr>
          <a:xfrm>
            <a:off x="4392056" y="2502234"/>
            <a:ext cx="1084656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1400" b="1" smtClean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cs typeface="Pretendard Black" panose="02000A03000000020004" pitchFamily="50" charset="-127"/>
              </a:rPr>
              <a:t>Text-Primary</a:t>
            </a:r>
            <a:endParaRPr lang="en-US" altLang="ko-KR" sz="1400" b="1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bg1"/>
              </a:solidFill>
              <a:latin typeface="+mj-ea"/>
              <a:cs typeface="Pretendard Black" panose="02000A03000000020004" pitchFamily="50" charset="-127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3A8C0B2-0807-4B4A-A11F-BA365A18DE97}"/>
              </a:ext>
            </a:extLst>
          </p:cNvPr>
          <p:cNvSpPr txBox="1"/>
          <p:nvPr/>
        </p:nvSpPr>
        <p:spPr>
          <a:xfrm>
            <a:off x="6196715" y="2786145"/>
            <a:ext cx="602729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1200" smtClean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cs typeface="Pretendard Black" panose="02000A03000000020004" pitchFamily="50" charset="-127"/>
              </a:rPr>
              <a:t>#374151</a:t>
            </a:r>
            <a:endParaRPr lang="en-US" altLang="ko-KR" sz="120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bg1"/>
              </a:solidFill>
              <a:latin typeface="+mj-ea"/>
              <a:cs typeface="Pretendard Black" panose="02000A03000000020004" pitchFamily="50" charset="-127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3A8C0B2-0807-4B4A-A11F-BA365A18DE97}"/>
              </a:ext>
            </a:extLst>
          </p:cNvPr>
          <p:cNvSpPr txBox="1"/>
          <p:nvPr/>
        </p:nvSpPr>
        <p:spPr>
          <a:xfrm>
            <a:off x="6196715" y="2502234"/>
            <a:ext cx="1308435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1400" b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cs typeface="Pretendard Black" panose="02000A03000000020004" pitchFamily="50" charset="-127"/>
              </a:rPr>
              <a:t>Text-Secondary</a:t>
            </a:r>
            <a:endParaRPr lang="en-US" altLang="ko-KR" sz="1400" b="1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bg1"/>
              </a:solidFill>
              <a:latin typeface="+mj-ea"/>
              <a:cs typeface="Pretendard Black" panose="02000A03000000020004" pitchFamily="50" charset="-127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3A8C0B2-0807-4B4A-A11F-BA365A18DE97}"/>
              </a:ext>
            </a:extLst>
          </p:cNvPr>
          <p:cNvSpPr txBox="1"/>
          <p:nvPr/>
        </p:nvSpPr>
        <p:spPr>
          <a:xfrm>
            <a:off x="1556828" y="4382115"/>
            <a:ext cx="730969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2000" b="1" smtClean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cs typeface="Pretendard Black" panose="02000A03000000020004" pitchFamily="50" charset="-127"/>
              </a:rPr>
              <a:t>5.49:1</a:t>
            </a:r>
            <a:endParaRPr lang="en-US" altLang="ko-KR" sz="2000" b="1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bg1"/>
              </a:solidFill>
              <a:latin typeface="+mj-ea"/>
              <a:cs typeface="Pretendard Black" panose="02000A03000000020004" pitchFamily="50" charset="-127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3A8C0B2-0807-4B4A-A11F-BA365A18DE97}"/>
              </a:ext>
            </a:extLst>
          </p:cNvPr>
          <p:cNvSpPr txBox="1"/>
          <p:nvPr/>
        </p:nvSpPr>
        <p:spPr>
          <a:xfrm>
            <a:off x="3361487" y="4382114"/>
            <a:ext cx="730969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2000" b="1" smtClean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cs typeface="Pretendard Black" panose="02000A03000000020004" pitchFamily="50" charset="-127"/>
              </a:rPr>
              <a:t>4.55:1</a:t>
            </a:r>
            <a:endParaRPr lang="en-US" altLang="ko-KR" sz="2000" b="1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bg1"/>
              </a:solidFill>
              <a:latin typeface="+mj-ea"/>
              <a:cs typeface="Pretendard Black" panose="02000A03000000020004" pitchFamily="50" charset="-127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3A8C0B2-0807-4B4A-A11F-BA365A18DE97}"/>
              </a:ext>
            </a:extLst>
          </p:cNvPr>
          <p:cNvSpPr txBox="1"/>
          <p:nvPr/>
        </p:nvSpPr>
        <p:spPr>
          <a:xfrm>
            <a:off x="5017066" y="4382113"/>
            <a:ext cx="880049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2000" b="1" smtClean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cs typeface="Pretendard Black" panose="02000A03000000020004" pitchFamily="50" charset="-127"/>
              </a:rPr>
              <a:t>16.77:1</a:t>
            </a:r>
            <a:endParaRPr lang="en-US" altLang="ko-KR" sz="2000" b="1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bg1"/>
              </a:solidFill>
              <a:latin typeface="+mj-ea"/>
              <a:cs typeface="Pretendard Black" panose="02000A03000000020004" pitchFamily="50" charset="-127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3A8C0B2-0807-4B4A-A11F-BA365A18DE97}"/>
              </a:ext>
            </a:extLst>
          </p:cNvPr>
          <p:cNvSpPr txBox="1"/>
          <p:nvPr/>
        </p:nvSpPr>
        <p:spPr>
          <a:xfrm>
            <a:off x="6823168" y="4382112"/>
            <a:ext cx="880049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2000" b="1" smtClean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cs typeface="Pretendard Black" panose="02000A03000000020004" pitchFamily="50" charset="-127"/>
              </a:rPr>
              <a:t>10.32:1</a:t>
            </a:r>
            <a:endParaRPr lang="en-US" altLang="ko-KR" sz="2000" b="1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bg1"/>
              </a:solidFill>
              <a:latin typeface="+mj-ea"/>
              <a:cs typeface="Pretendard Black" panose="02000A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767282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4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Box 39">
            <a:extLst>
              <a:ext uri="{FF2B5EF4-FFF2-40B4-BE49-F238E27FC236}">
                <a16:creationId xmlns:a16="http://schemas.microsoft.com/office/drawing/2014/main" id="{13A8C0B2-0807-4B4A-A11F-BA365A18DE97}"/>
              </a:ext>
            </a:extLst>
          </p:cNvPr>
          <p:cNvSpPr txBox="1"/>
          <p:nvPr/>
        </p:nvSpPr>
        <p:spPr>
          <a:xfrm>
            <a:off x="687547" y="766416"/>
            <a:ext cx="1510029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2400" spc="-150" smtClean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Pretendard Black" panose="02000A03000000020004" pitchFamily="50" charset="-127"/>
              </a:rPr>
              <a:t>화면 시안 </a:t>
            </a:r>
            <a:r>
              <a:rPr lang="en-US" altLang="ko-KR" sz="2400" spc="-150" smtClean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Pretendard Black" panose="02000A03000000020004" pitchFamily="50" charset="-127"/>
              </a:rPr>
              <a:t>B</a:t>
            </a:r>
            <a:endParaRPr lang="en-US" altLang="ko-KR" sz="2400" spc="-15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bg1"/>
              </a:solidFill>
              <a:latin typeface="+mj-ea"/>
              <a:ea typeface="+mj-ea"/>
              <a:cs typeface="Pretendard Black" panose="02000A03000000020004" pitchFamily="50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3A8C0B2-0807-4B4A-A11F-BA365A18DE97}"/>
              </a:ext>
            </a:extLst>
          </p:cNvPr>
          <p:cNvSpPr txBox="1"/>
          <p:nvPr/>
        </p:nvSpPr>
        <p:spPr>
          <a:xfrm>
            <a:off x="4844745" y="3161537"/>
            <a:ext cx="2503891" cy="92333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6000" b="1" smtClean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Pretendard Black" panose="02000A03000000020004" pitchFamily="50" charset="-127"/>
              </a:rPr>
              <a:t>GREEN</a:t>
            </a:r>
            <a:endParaRPr lang="en-US" altLang="ko-KR" sz="6000" b="1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bg1"/>
              </a:solidFill>
              <a:latin typeface="+mj-ea"/>
              <a:ea typeface="+mj-ea"/>
              <a:cs typeface="Pretendard Black" panose="02000A03000000020004" pitchFamily="50" charset="-127"/>
            </a:endParaRPr>
          </a:p>
        </p:txBody>
      </p:sp>
      <p:sp>
        <p:nvSpPr>
          <p:cNvPr id="7" name="모서리가 둥근 직사각형 6"/>
          <p:cNvSpPr/>
          <p:nvPr/>
        </p:nvSpPr>
        <p:spPr>
          <a:xfrm>
            <a:off x="3653589" y="2946651"/>
            <a:ext cx="4884821" cy="1323474"/>
          </a:xfrm>
          <a:prstGeom prst="roundRect">
            <a:avLst>
              <a:gd name="adj" fmla="val 5455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3845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40" y="-1"/>
            <a:ext cx="12192339" cy="103719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3A8C0B2-0807-4B4A-A11F-BA365A18DE97}"/>
              </a:ext>
            </a:extLst>
          </p:cNvPr>
          <p:cNvSpPr txBox="1"/>
          <p:nvPr/>
        </p:nvSpPr>
        <p:spPr>
          <a:xfrm>
            <a:off x="535147" y="407084"/>
            <a:ext cx="766235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2000" b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cs typeface="Pretendard Black" panose="02000A03000000020004" pitchFamily="50" charset="-127"/>
              </a:rPr>
              <a:t>시안 </a:t>
            </a:r>
            <a:r>
              <a:rPr lang="en-US" altLang="ko-KR" sz="2000" b="1" smtClean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cs typeface="Pretendard Black" panose="02000A03000000020004" pitchFamily="50" charset="-127"/>
              </a:rPr>
              <a:t>B</a:t>
            </a:r>
            <a:endParaRPr lang="en-US" altLang="ko-KR" sz="2000" b="1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bg1"/>
              </a:solidFill>
              <a:latin typeface="+mj-ea"/>
              <a:cs typeface="Pretendard Black" panose="02000A03000000020004" pitchFamily="50" charset="-127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624040" y="1348966"/>
            <a:ext cx="344681" cy="4571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5471" y="2239504"/>
            <a:ext cx="1781193" cy="385925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8575" y="2239504"/>
            <a:ext cx="1781193" cy="385925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2367" y="2239504"/>
            <a:ext cx="1781193" cy="385925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040" y="2239504"/>
            <a:ext cx="1781193" cy="385925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13A8C0B2-0807-4B4A-A11F-BA365A18DE97}"/>
              </a:ext>
            </a:extLst>
          </p:cNvPr>
          <p:cNvSpPr txBox="1"/>
          <p:nvPr/>
        </p:nvSpPr>
        <p:spPr>
          <a:xfrm>
            <a:off x="624040" y="1552710"/>
            <a:ext cx="772587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160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표준 컬러</a:t>
            </a:r>
            <a:r>
              <a:rPr lang="en-US" altLang="ko-KR" sz="160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/ </a:t>
            </a:r>
            <a:r>
              <a:rPr lang="ko-KR" altLang="en-US" sz="160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안정적인 톤</a:t>
            </a:r>
            <a:r>
              <a:rPr lang="en-US" altLang="ko-KR" sz="160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/ </a:t>
            </a:r>
            <a:r>
              <a:rPr lang="ko-KR" altLang="en-US" sz="160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사각버튼</a:t>
            </a:r>
            <a:r>
              <a:rPr lang="en-US" altLang="ko-KR" sz="160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/ </a:t>
            </a:r>
            <a:r>
              <a:rPr lang="en-US" altLang="ko-KR" sz="160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Filled </a:t>
            </a:r>
            <a:r>
              <a:rPr lang="en-US" altLang="ko-KR" sz="1600" smtClean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style </a:t>
            </a:r>
            <a:r>
              <a:rPr lang="ko-KR" altLang="en-US" sz="1600" smtClean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반영</a:t>
            </a:r>
            <a:endParaRPr lang="en-US" altLang="ko-KR" sz="160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6026176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40" y="-1"/>
            <a:ext cx="12192339" cy="103719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3A8C0B2-0807-4B4A-A11F-BA365A18DE97}"/>
              </a:ext>
            </a:extLst>
          </p:cNvPr>
          <p:cNvSpPr txBox="1"/>
          <p:nvPr/>
        </p:nvSpPr>
        <p:spPr>
          <a:xfrm>
            <a:off x="535147" y="407084"/>
            <a:ext cx="1508426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2000" b="1" smtClean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cs typeface="Pretendard Black" panose="02000A03000000020004" pitchFamily="50" charset="-127"/>
              </a:rPr>
              <a:t>시안 </a:t>
            </a:r>
            <a:r>
              <a:rPr lang="en-US" altLang="ko-KR" sz="2000" b="1" smtClean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cs typeface="Pretendard Black" panose="02000A03000000020004" pitchFamily="50" charset="-127"/>
              </a:rPr>
              <a:t>B </a:t>
            </a:r>
            <a:r>
              <a:rPr lang="en-US" altLang="ko-KR" sz="2000" b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cs typeface="Pretendard Black" panose="02000A03000000020004" pitchFamily="50" charset="-127"/>
              </a:rPr>
              <a:t>Color</a:t>
            </a:r>
            <a:endParaRPr lang="en-US" altLang="ko-KR" sz="2000" b="1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bg1"/>
              </a:solidFill>
              <a:latin typeface="+mj-ea"/>
              <a:cs typeface="Pretendard Black" panose="02000A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A8C0B2-0807-4B4A-A11F-BA365A18DE97}"/>
              </a:ext>
            </a:extLst>
          </p:cNvPr>
          <p:cNvSpPr txBox="1"/>
          <p:nvPr/>
        </p:nvSpPr>
        <p:spPr>
          <a:xfrm>
            <a:off x="624040" y="1552710"/>
            <a:ext cx="772587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1600" smtClean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기본 </a:t>
            </a:r>
            <a:r>
              <a:rPr lang="ko-KR" altLang="en-US" sz="160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정보 및 중요 대상 컬러 </a:t>
            </a:r>
            <a:r>
              <a:rPr lang="en-US" altLang="ko-KR" sz="160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WCAG 2.1 / KWCAG 2.1 AA 기준 </a:t>
            </a:r>
            <a:r>
              <a:rPr lang="ko-KR" altLang="en-US" sz="160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비율 </a:t>
            </a:r>
            <a:r>
              <a:rPr lang="en-US" altLang="ko-KR" sz="160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4.5 : 1 </a:t>
            </a:r>
            <a:r>
              <a:rPr lang="ko-KR" altLang="en-US" sz="160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이상 </a:t>
            </a:r>
            <a:r>
              <a:rPr lang="ko-KR" altLang="en-US" sz="1600" smtClean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반영</a:t>
            </a:r>
            <a:endParaRPr lang="en-US" altLang="ko-KR" sz="1600">
              <a:latin typeface="+mn-ea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624040" y="1348966"/>
            <a:ext cx="344681" cy="4571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/>
          <p:cNvSpPr/>
          <p:nvPr/>
        </p:nvSpPr>
        <p:spPr>
          <a:xfrm>
            <a:off x="2427057" y="2274798"/>
            <a:ext cx="1804659" cy="2802528"/>
          </a:xfrm>
          <a:prstGeom prst="rect">
            <a:avLst/>
          </a:prstGeom>
          <a:solidFill>
            <a:srgbClr val="266E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/>
          <p:cNvSpPr/>
          <p:nvPr/>
        </p:nvSpPr>
        <p:spPr>
          <a:xfrm>
            <a:off x="628474" y="2274798"/>
            <a:ext cx="1804659" cy="2802528"/>
          </a:xfrm>
          <a:prstGeom prst="rect">
            <a:avLst/>
          </a:prstGeom>
          <a:solidFill>
            <a:srgbClr val="0089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/>
          <p:cNvSpPr/>
          <p:nvPr/>
        </p:nvSpPr>
        <p:spPr>
          <a:xfrm>
            <a:off x="4233358" y="2274798"/>
            <a:ext cx="1804659" cy="2802528"/>
          </a:xfrm>
          <a:prstGeom prst="rect">
            <a:avLst/>
          </a:prstGeom>
          <a:solidFill>
            <a:srgbClr val="171C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/>
          <p:cNvSpPr/>
          <p:nvPr/>
        </p:nvSpPr>
        <p:spPr>
          <a:xfrm>
            <a:off x="6038017" y="2274798"/>
            <a:ext cx="1804659" cy="2802528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3A8C0B2-0807-4B4A-A11F-BA365A18DE97}"/>
              </a:ext>
            </a:extLst>
          </p:cNvPr>
          <p:cNvSpPr txBox="1"/>
          <p:nvPr/>
        </p:nvSpPr>
        <p:spPr>
          <a:xfrm>
            <a:off x="782738" y="2783005"/>
            <a:ext cx="597921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120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cs typeface="Pretendard Black" panose="02000A03000000020004" pitchFamily="50" charset="-127"/>
              </a:rPr>
              <a:t>#00892E</a:t>
            </a:r>
            <a:endParaRPr lang="en-US" altLang="ko-KR" sz="120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bg1"/>
              </a:solidFill>
              <a:latin typeface="+mj-ea"/>
              <a:cs typeface="Pretendard Black" panose="02000A03000000020004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3A8C0B2-0807-4B4A-A11F-BA365A18DE97}"/>
              </a:ext>
            </a:extLst>
          </p:cNvPr>
          <p:cNvSpPr txBox="1"/>
          <p:nvPr/>
        </p:nvSpPr>
        <p:spPr>
          <a:xfrm>
            <a:off x="782738" y="2499094"/>
            <a:ext cx="668773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1400" b="1" smtClean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cs typeface="Pretendard Black" panose="02000A03000000020004" pitchFamily="50" charset="-127"/>
              </a:rPr>
              <a:t>Primary</a:t>
            </a:r>
            <a:endParaRPr lang="en-US" altLang="ko-KR" sz="1400" b="1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bg1"/>
              </a:solidFill>
              <a:latin typeface="+mj-ea"/>
              <a:cs typeface="Pretendard Black" panose="02000A03000000020004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3A8C0B2-0807-4B4A-A11F-BA365A18DE97}"/>
              </a:ext>
            </a:extLst>
          </p:cNvPr>
          <p:cNvSpPr txBox="1"/>
          <p:nvPr/>
        </p:nvSpPr>
        <p:spPr>
          <a:xfrm>
            <a:off x="2587397" y="2783005"/>
            <a:ext cx="597921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120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cs typeface="Pretendard Black" panose="02000A03000000020004" pitchFamily="50" charset="-127"/>
              </a:rPr>
              <a:t>#266EE7</a:t>
            </a:r>
            <a:endParaRPr lang="en-US" altLang="ko-KR" sz="120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bg1"/>
              </a:solidFill>
              <a:latin typeface="+mj-ea"/>
              <a:cs typeface="Pretendard Black" panose="02000A03000000020004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3A8C0B2-0807-4B4A-A11F-BA365A18DE97}"/>
              </a:ext>
            </a:extLst>
          </p:cNvPr>
          <p:cNvSpPr txBox="1"/>
          <p:nvPr/>
        </p:nvSpPr>
        <p:spPr>
          <a:xfrm>
            <a:off x="2587397" y="2499094"/>
            <a:ext cx="917239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1400" b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cs typeface="Pretendard Black" panose="02000A03000000020004" pitchFamily="50" charset="-127"/>
              </a:rPr>
              <a:t>Secondary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3A8C0B2-0807-4B4A-A11F-BA365A18DE97}"/>
              </a:ext>
            </a:extLst>
          </p:cNvPr>
          <p:cNvSpPr txBox="1"/>
          <p:nvPr/>
        </p:nvSpPr>
        <p:spPr>
          <a:xfrm>
            <a:off x="4392056" y="2786145"/>
            <a:ext cx="628377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1200" smtClean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cs typeface="Pretendard Black" panose="02000A03000000020004" pitchFamily="50" charset="-127"/>
              </a:rPr>
              <a:t>#171C1C</a:t>
            </a:r>
            <a:endParaRPr lang="en-US" altLang="ko-KR" sz="120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bg1"/>
              </a:solidFill>
              <a:latin typeface="+mj-ea"/>
              <a:cs typeface="Pretendard Black" panose="02000A03000000020004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3A8C0B2-0807-4B4A-A11F-BA365A18DE97}"/>
              </a:ext>
            </a:extLst>
          </p:cNvPr>
          <p:cNvSpPr txBox="1"/>
          <p:nvPr/>
        </p:nvSpPr>
        <p:spPr>
          <a:xfrm>
            <a:off x="4392056" y="2502234"/>
            <a:ext cx="1084656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1400" b="1" smtClean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cs typeface="Pretendard Black" panose="02000A03000000020004" pitchFamily="50" charset="-127"/>
              </a:rPr>
              <a:t>Text-Primary</a:t>
            </a:r>
            <a:endParaRPr lang="en-US" altLang="ko-KR" sz="1400" b="1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bg1"/>
              </a:solidFill>
              <a:latin typeface="+mj-ea"/>
              <a:cs typeface="Pretendard Black" panose="02000A03000000020004" pitchFamily="50" charset="-127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3A8C0B2-0807-4B4A-A11F-BA365A18DE97}"/>
              </a:ext>
            </a:extLst>
          </p:cNvPr>
          <p:cNvSpPr txBox="1"/>
          <p:nvPr/>
        </p:nvSpPr>
        <p:spPr>
          <a:xfrm>
            <a:off x="6196715" y="2786145"/>
            <a:ext cx="602729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1200" smtClean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cs typeface="Pretendard Black" panose="02000A03000000020004" pitchFamily="50" charset="-127"/>
              </a:rPr>
              <a:t>#374151</a:t>
            </a:r>
            <a:endParaRPr lang="en-US" altLang="ko-KR" sz="120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bg1"/>
              </a:solidFill>
              <a:latin typeface="+mj-ea"/>
              <a:cs typeface="Pretendard Black" panose="02000A03000000020004" pitchFamily="50" charset="-127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3A8C0B2-0807-4B4A-A11F-BA365A18DE97}"/>
              </a:ext>
            </a:extLst>
          </p:cNvPr>
          <p:cNvSpPr txBox="1"/>
          <p:nvPr/>
        </p:nvSpPr>
        <p:spPr>
          <a:xfrm>
            <a:off x="6196715" y="2502234"/>
            <a:ext cx="1308435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1400" b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cs typeface="Pretendard Black" panose="02000A03000000020004" pitchFamily="50" charset="-127"/>
              </a:rPr>
              <a:t>Text-Secondary</a:t>
            </a:r>
            <a:endParaRPr lang="en-US" altLang="ko-KR" sz="1400" b="1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bg1"/>
              </a:solidFill>
              <a:latin typeface="+mj-ea"/>
              <a:cs typeface="Pretendard Black" panose="02000A03000000020004" pitchFamily="50" charset="-127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3A8C0B2-0807-4B4A-A11F-BA365A18DE97}"/>
              </a:ext>
            </a:extLst>
          </p:cNvPr>
          <p:cNvSpPr txBox="1"/>
          <p:nvPr/>
        </p:nvSpPr>
        <p:spPr>
          <a:xfrm>
            <a:off x="1556828" y="4382115"/>
            <a:ext cx="730969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2000" b="1" smtClean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cs typeface="Pretendard Black" panose="02000A03000000020004" pitchFamily="50" charset="-127"/>
              </a:rPr>
              <a:t>4.55:1</a:t>
            </a:r>
            <a:endParaRPr lang="en-US" altLang="ko-KR" sz="2000" b="1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bg1"/>
              </a:solidFill>
              <a:latin typeface="+mj-ea"/>
              <a:cs typeface="Pretendard Black" panose="02000A03000000020004" pitchFamily="50" charset="-127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3A8C0B2-0807-4B4A-A11F-BA365A18DE97}"/>
              </a:ext>
            </a:extLst>
          </p:cNvPr>
          <p:cNvSpPr txBox="1"/>
          <p:nvPr/>
        </p:nvSpPr>
        <p:spPr>
          <a:xfrm>
            <a:off x="3510566" y="4382114"/>
            <a:ext cx="5818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2000" b="1" smtClean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cs typeface="Pretendard Black" panose="02000A03000000020004" pitchFamily="50" charset="-127"/>
              </a:rPr>
              <a:t>4.7:1</a:t>
            </a:r>
            <a:endParaRPr lang="en-US" altLang="ko-KR" sz="2000" b="1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bg1"/>
              </a:solidFill>
              <a:latin typeface="+mj-ea"/>
              <a:cs typeface="Pretendard Black" panose="02000A03000000020004" pitchFamily="50" charset="-127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3A8C0B2-0807-4B4A-A11F-BA365A18DE97}"/>
              </a:ext>
            </a:extLst>
          </p:cNvPr>
          <p:cNvSpPr txBox="1"/>
          <p:nvPr/>
        </p:nvSpPr>
        <p:spPr>
          <a:xfrm>
            <a:off x="5017066" y="4382113"/>
            <a:ext cx="880049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2000" b="1" smtClean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cs typeface="Pretendard Black" panose="02000A03000000020004" pitchFamily="50" charset="-127"/>
              </a:rPr>
              <a:t>16.77:1</a:t>
            </a:r>
            <a:endParaRPr lang="en-US" altLang="ko-KR" sz="2000" b="1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bg1"/>
              </a:solidFill>
              <a:latin typeface="+mj-ea"/>
              <a:cs typeface="Pretendard Black" panose="02000A03000000020004" pitchFamily="50" charset="-127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3A8C0B2-0807-4B4A-A11F-BA365A18DE97}"/>
              </a:ext>
            </a:extLst>
          </p:cNvPr>
          <p:cNvSpPr txBox="1"/>
          <p:nvPr/>
        </p:nvSpPr>
        <p:spPr>
          <a:xfrm>
            <a:off x="6823168" y="4382112"/>
            <a:ext cx="880049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2000" b="1" smtClean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cs typeface="Pretendard Black" panose="02000A03000000020004" pitchFamily="50" charset="-127"/>
              </a:rPr>
              <a:t>10.32:1</a:t>
            </a:r>
            <a:endParaRPr lang="en-US" altLang="ko-KR" sz="2000" b="1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bg1"/>
              </a:solidFill>
              <a:latin typeface="+mj-ea"/>
              <a:cs typeface="Pretendard Black" panose="02000A03000000020004" pitchFamily="50" charset="-127"/>
            </a:endParaRPr>
          </a:p>
        </p:txBody>
      </p:sp>
      <p:sp>
        <p:nvSpPr>
          <p:cNvPr id="68" name="Text 4"/>
          <p:cNvSpPr/>
          <p:nvPr/>
        </p:nvSpPr>
        <p:spPr>
          <a:xfrm>
            <a:off x="8246839" y="2192849"/>
            <a:ext cx="23900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b="1" smtClean="0">
                <a:solidFill>
                  <a:srgbClr val="0C2415"/>
                </a:solidFill>
                <a:latin typeface="+mn-ea"/>
                <a:cs typeface="Pretendard" pitchFamily="34" charset="-120"/>
              </a:rPr>
              <a:t>컬러 대비</a:t>
            </a:r>
            <a:endParaRPr lang="en-US" sz="1400" dirty="0">
              <a:latin typeface="+mn-ea"/>
            </a:endParaRPr>
          </a:p>
        </p:txBody>
      </p:sp>
      <p:sp>
        <p:nvSpPr>
          <p:cNvPr id="69" name="Text 5"/>
          <p:cNvSpPr/>
          <p:nvPr/>
        </p:nvSpPr>
        <p:spPr>
          <a:xfrm>
            <a:off x="8246839" y="2503745"/>
            <a:ext cx="3528390" cy="892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ko-KR" altLang="en-US" sz="1200">
                <a:solidFill>
                  <a:srgbClr val="474747"/>
                </a:solidFill>
                <a:latin typeface="+mn-ea"/>
                <a:cs typeface="Pretendard" pitchFamily="34" charset="-120"/>
              </a:rPr>
              <a:t>본문</a:t>
            </a:r>
            <a:r>
              <a:rPr lang="en-US" altLang="ko-KR" sz="1200" smtClean="0">
                <a:solidFill>
                  <a:srgbClr val="474747"/>
                </a:solidFill>
                <a:latin typeface="+mn-ea"/>
                <a:cs typeface="Pretendard" pitchFamily="34" charset="-120"/>
              </a:rPr>
              <a:t>·</a:t>
            </a:r>
            <a:r>
              <a:rPr lang="ko-KR" altLang="en-US" sz="1200" smtClean="0">
                <a:solidFill>
                  <a:srgbClr val="474747"/>
                </a:solidFill>
                <a:latin typeface="+mn-ea"/>
                <a:cs typeface="Pretendard" pitchFamily="34" charset="-120"/>
              </a:rPr>
              <a:t>보조 설명 텍스트는 </a:t>
            </a:r>
            <a:r>
              <a:rPr lang="en-US" altLang="ko-KR" sz="1200" smtClean="0">
                <a:solidFill>
                  <a:srgbClr val="474747"/>
                </a:solidFill>
                <a:latin typeface="+mn-ea"/>
                <a:cs typeface="Pretendard" pitchFamily="34" charset="-120"/>
              </a:rPr>
              <a:t>10.3:1 </a:t>
            </a:r>
            <a:r>
              <a:rPr lang="ko-KR" altLang="en-US" sz="1200" smtClean="0">
                <a:solidFill>
                  <a:srgbClr val="474747"/>
                </a:solidFill>
                <a:latin typeface="+mn-ea"/>
                <a:cs typeface="Pretendard" pitchFamily="34" charset="-120"/>
              </a:rPr>
              <a:t>이상</a:t>
            </a:r>
            <a:r>
              <a:rPr lang="en-US" altLang="ko-KR" sz="1200">
                <a:solidFill>
                  <a:srgbClr val="474747"/>
                </a:solidFill>
                <a:latin typeface="+mn-ea"/>
                <a:cs typeface="Pretendard" pitchFamily="34" charset="-120"/>
              </a:rPr>
              <a:t>(</a:t>
            </a:r>
            <a:r>
              <a:rPr lang="en-US" altLang="ko-KR" sz="1200" smtClean="0">
                <a:solidFill>
                  <a:srgbClr val="474747"/>
                </a:solidFill>
                <a:latin typeface="+mn-ea"/>
                <a:cs typeface="Pretendard" pitchFamily="34" charset="-120"/>
              </a:rPr>
              <a:t>AAA)</a:t>
            </a:r>
          </a:p>
          <a:p>
            <a:pPr>
              <a:lnSpc>
                <a:spcPct val="115000"/>
              </a:lnSpc>
            </a:pPr>
            <a:r>
              <a:rPr lang="ko-KR" altLang="en-US" sz="1200" smtClean="0">
                <a:solidFill>
                  <a:srgbClr val="474747"/>
                </a:solidFill>
                <a:latin typeface="+mn-ea"/>
                <a:cs typeface="Pretendard" pitchFamily="34" charset="-120"/>
              </a:rPr>
              <a:t>버튼</a:t>
            </a:r>
            <a:r>
              <a:rPr lang="en-US" altLang="ko-KR" sz="1200" smtClean="0">
                <a:solidFill>
                  <a:srgbClr val="474747"/>
                </a:solidFill>
                <a:latin typeface="+mn-ea"/>
                <a:cs typeface="Pretendard" pitchFamily="34" charset="-120"/>
              </a:rPr>
              <a:t>·</a:t>
            </a:r>
            <a:r>
              <a:rPr lang="ko-KR" altLang="en-US" sz="1200" smtClean="0">
                <a:solidFill>
                  <a:srgbClr val="474747"/>
                </a:solidFill>
                <a:latin typeface="+mn-ea"/>
                <a:cs typeface="Pretendard" pitchFamily="34" charset="-120"/>
              </a:rPr>
              <a:t>배경은 </a:t>
            </a:r>
            <a:r>
              <a:rPr lang="en-US" altLang="ko-KR" sz="1200" smtClean="0">
                <a:solidFill>
                  <a:srgbClr val="474747"/>
                </a:solidFill>
                <a:latin typeface="+mn-ea"/>
                <a:cs typeface="Pretendard" pitchFamily="34" charset="-120"/>
              </a:rPr>
              <a:t>4.55:1</a:t>
            </a:r>
            <a:r>
              <a:rPr lang="en-US" altLang="ko-KR" sz="1200">
                <a:solidFill>
                  <a:srgbClr val="474747"/>
                </a:solidFill>
                <a:latin typeface="+mn-ea"/>
                <a:cs typeface="Pretendard" pitchFamily="34" charset="-120"/>
              </a:rPr>
              <a:t>, </a:t>
            </a:r>
            <a:r>
              <a:rPr lang="ko-KR" altLang="en-US" sz="1200" smtClean="0">
                <a:solidFill>
                  <a:srgbClr val="474747"/>
                </a:solidFill>
                <a:latin typeface="+mn-ea"/>
                <a:cs typeface="Pretendard" pitchFamily="34" charset="-120"/>
              </a:rPr>
              <a:t>아이콘</a:t>
            </a:r>
            <a:r>
              <a:rPr lang="en-US" altLang="ko-KR" sz="1200">
                <a:solidFill>
                  <a:srgbClr val="474747"/>
                </a:solidFill>
                <a:latin typeface="+mn-ea"/>
                <a:cs typeface="Pretendard" pitchFamily="34" charset="-120"/>
              </a:rPr>
              <a:t>·</a:t>
            </a:r>
            <a:r>
              <a:rPr lang="ko-KR" altLang="en-US" sz="1200">
                <a:solidFill>
                  <a:srgbClr val="474747"/>
                </a:solidFill>
                <a:latin typeface="+mn-ea"/>
                <a:cs typeface="Pretendard" pitchFamily="34" charset="-120"/>
              </a:rPr>
              <a:t>큰 텍스트는 </a:t>
            </a:r>
            <a:r>
              <a:rPr lang="en-US" altLang="ko-KR" sz="1200">
                <a:solidFill>
                  <a:srgbClr val="474747"/>
                </a:solidFill>
                <a:latin typeface="+mn-ea"/>
                <a:cs typeface="Pretendard" pitchFamily="34" charset="-120"/>
              </a:rPr>
              <a:t>3:1 </a:t>
            </a:r>
            <a:r>
              <a:rPr lang="ko-KR" altLang="en-US" sz="1200" smtClean="0">
                <a:solidFill>
                  <a:srgbClr val="474747"/>
                </a:solidFill>
                <a:latin typeface="+mn-ea"/>
                <a:cs typeface="Pretendard" pitchFamily="34" charset="-120"/>
              </a:rPr>
              <a:t>이상</a:t>
            </a:r>
            <a:endParaRPr lang="en-US" altLang="ko-KR" sz="1200" smtClean="0">
              <a:solidFill>
                <a:srgbClr val="474747"/>
              </a:solidFill>
              <a:latin typeface="+mn-ea"/>
              <a:cs typeface="Pretendard" pitchFamily="34" charset="-120"/>
            </a:endParaRPr>
          </a:p>
          <a:p>
            <a:pPr>
              <a:lnSpc>
                <a:spcPct val="115000"/>
              </a:lnSpc>
            </a:pPr>
            <a:r>
              <a:rPr lang="ko-KR" altLang="en-US" sz="1200" smtClean="0">
                <a:solidFill>
                  <a:srgbClr val="474747"/>
                </a:solidFill>
                <a:latin typeface="+mn-ea"/>
                <a:cs typeface="Pretendard" pitchFamily="34" charset="-120"/>
              </a:rPr>
              <a:t>컬러로 </a:t>
            </a:r>
            <a:r>
              <a:rPr lang="ko-KR" altLang="en-US" sz="1200">
                <a:solidFill>
                  <a:srgbClr val="474747"/>
                </a:solidFill>
                <a:latin typeface="+mn-ea"/>
                <a:cs typeface="Pretendard" pitchFamily="34" charset="-120"/>
              </a:rPr>
              <a:t>구분 적용해 두 접근성 기준을 함께 충족</a:t>
            </a:r>
            <a:endParaRPr lang="en-US" sz="12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954424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40" y="-1"/>
            <a:ext cx="12192339" cy="103719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3A8C0B2-0807-4B4A-A11F-BA365A18DE97}"/>
              </a:ext>
            </a:extLst>
          </p:cNvPr>
          <p:cNvSpPr txBox="1"/>
          <p:nvPr/>
        </p:nvSpPr>
        <p:spPr>
          <a:xfrm>
            <a:off x="535147" y="407084"/>
            <a:ext cx="1447704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2000" b="1" smtClean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cs typeface="Pretendard Black" panose="02000A03000000020004" pitchFamily="50" charset="-127"/>
              </a:rPr>
              <a:t>Typography</a:t>
            </a:r>
            <a:endParaRPr lang="en-US" altLang="ko-KR" sz="2000" b="1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bg1"/>
              </a:solidFill>
              <a:latin typeface="+mj-ea"/>
              <a:cs typeface="Pretendard Black" panose="02000A03000000020004" pitchFamily="50" charset="-127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624040" y="1348966"/>
            <a:ext cx="344681" cy="4571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Text 4"/>
          <p:cNvSpPr/>
          <p:nvPr/>
        </p:nvSpPr>
        <p:spPr>
          <a:xfrm>
            <a:off x="8481857" y="2308262"/>
            <a:ext cx="23900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C2415"/>
                </a:solidFill>
                <a:latin typeface="+mn-ea"/>
                <a:cs typeface="Pretendard" pitchFamily="34" charset="-120"/>
              </a:rPr>
              <a:t>글자 굵기</a:t>
            </a:r>
            <a:endParaRPr lang="en-US" sz="1400" dirty="0">
              <a:latin typeface="+mn-ea"/>
            </a:endParaRPr>
          </a:p>
        </p:txBody>
      </p:sp>
      <p:sp>
        <p:nvSpPr>
          <p:cNvPr id="36" name="Text 5"/>
          <p:cNvSpPr/>
          <p:nvPr/>
        </p:nvSpPr>
        <p:spPr>
          <a:xfrm>
            <a:off x="8481857" y="2619158"/>
            <a:ext cx="26792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74747"/>
                </a:solidFill>
                <a:latin typeface="+mn-ea"/>
                <a:cs typeface="Pretendard" pitchFamily="34" charset="-120"/>
              </a:rPr>
              <a:t>Regular</a:t>
            </a:r>
            <a:r>
              <a:rPr lang="en-US" sz="1200">
                <a:solidFill>
                  <a:srgbClr val="474747"/>
                </a:solidFill>
                <a:latin typeface="+mn-ea"/>
                <a:cs typeface="Pretendard" pitchFamily="34" charset="-120"/>
              </a:rPr>
              <a:t>보다 </a:t>
            </a:r>
            <a:r>
              <a:rPr lang="en-US" sz="1200" smtClean="0">
                <a:solidFill>
                  <a:srgbClr val="474747"/>
                </a:solidFill>
                <a:latin typeface="+mn-ea"/>
                <a:cs typeface="Pretendard" pitchFamily="34" charset="-120"/>
              </a:rPr>
              <a:t>Medium</a:t>
            </a:r>
            <a:r>
              <a:rPr lang="ko-KR" altLang="en-US" sz="1200" smtClean="0">
                <a:solidFill>
                  <a:srgbClr val="474747"/>
                </a:solidFill>
                <a:latin typeface="+mn-ea"/>
                <a:cs typeface="Pretendard" pitchFamily="34" charset="-120"/>
              </a:rPr>
              <a:t>을</a:t>
            </a:r>
            <a:r>
              <a:rPr lang="en-US" sz="1200" smtClean="0">
                <a:solidFill>
                  <a:srgbClr val="474747"/>
                </a:solidFill>
                <a:latin typeface="+mn-ea"/>
                <a:cs typeface="Pretendard" pitchFamily="34" charset="-120"/>
              </a:rPr>
              <a:t> </a:t>
            </a:r>
            <a:r>
              <a:rPr lang="en-US" sz="1200" dirty="0">
                <a:solidFill>
                  <a:srgbClr val="474747"/>
                </a:solidFill>
                <a:latin typeface="+mn-ea"/>
                <a:cs typeface="Pretendard" pitchFamily="34" charset="-120"/>
              </a:rPr>
              <a:t>기본으로 </a:t>
            </a:r>
            <a:r>
              <a:rPr lang="en-US" sz="1200">
                <a:solidFill>
                  <a:srgbClr val="474747"/>
                </a:solidFill>
                <a:latin typeface="+mn-ea"/>
                <a:cs typeface="Pretendard" pitchFamily="34" charset="-120"/>
              </a:rPr>
              <a:t>사용해 </a:t>
            </a:r>
            <a:endParaRPr lang="en-US" sz="1200" smtClean="0">
              <a:solidFill>
                <a:srgbClr val="474747"/>
              </a:solidFill>
              <a:latin typeface="+mn-ea"/>
              <a:cs typeface="Pretendard" pitchFamily="34" charset="-120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200" smtClean="0">
                <a:solidFill>
                  <a:srgbClr val="474747"/>
                </a:solidFill>
                <a:latin typeface="+mn-ea"/>
                <a:cs typeface="Pretendard" pitchFamily="34" charset="-120"/>
              </a:rPr>
              <a:t>획을 </a:t>
            </a:r>
            <a:r>
              <a:rPr lang="en-US" sz="1200" dirty="0">
                <a:solidFill>
                  <a:srgbClr val="474747"/>
                </a:solidFill>
                <a:latin typeface="+mn-ea"/>
                <a:cs typeface="Pretendard" pitchFamily="34" charset="-120"/>
              </a:rPr>
              <a:t>뚜렷하게 유지</a:t>
            </a:r>
            <a:endParaRPr lang="en-US" sz="1200" dirty="0">
              <a:latin typeface="+mn-ea"/>
            </a:endParaRPr>
          </a:p>
        </p:txBody>
      </p:sp>
      <p:sp>
        <p:nvSpPr>
          <p:cNvPr id="37" name="Text 4"/>
          <p:cNvSpPr/>
          <p:nvPr/>
        </p:nvSpPr>
        <p:spPr>
          <a:xfrm>
            <a:off x="8481857" y="3215345"/>
            <a:ext cx="23900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400" b="1">
                <a:solidFill>
                  <a:srgbClr val="0C2415"/>
                </a:solidFill>
                <a:latin typeface="+mn-ea"/>
                <a:cs typeface="Pretendard" pitchFamily="34" charset="-120"/>
              </a:rPr>
              <a:t>줄간격·자간</a:t>
            </a:r>
            <a:endParaRPr lang="en-US" altLang="ko-KR" sz="1400" dirty="0">
              <a:latin typeface="+mn-ea"/>
            </a:endParaRPr>
          </a:p>
        </p:txBody>
      </p:sp>
      <p:sp>
        <p:nvSpPr>
          <p:cNvPr id="59" name="Text 5"/>
          <p:cNvSpPr/>
          <p:nvPr/>
        </p:nvSpPr>
        <p:spPr>
          <a:xfrm>
            <a:off x="8481857" y="3526241"/>
            <a:ext cx="2781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5000"/>
              </a:lnSpc>
            </a:pPr>
            <a:r>
              <a:rPr lang="en-US" altLang="ko-KR" sz="1150">
                <a:solidFill>
                  <a:srgbClr val="474747"/>
                </a:solidFill>
                <a:latin typeface="+mn-ea"/>
                <a:cs typeface="Pretendard" pitchFamily="34" charset="-120"/>
              </a:rPr>
              <a:t>줄간격 150% 이상 확보, 자간을 좁히는 스타일은 큰 제목에만 제한적으로 사용</a:t>
            </a:r>
            <a:endParaRPr lang="en-US" altLang="ko-KR" sz="1150" dirty="0">
              <a:latin typeface="+mn-ea"/>
            </a:endParaRP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097" y="1847059"/>
            <a:ext cx="7286319" cy="4545727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13A8C0B2-0807-4B4A-A11F-BA365A18DE97}"/>
              </a:ext>
            </a:extLst>
          </p:cNvPr>
          <p:cNvSpPr txBox="1"/>
          <p:nvPr/>
        </p:nvSpPr>
        <p:spPr>
          <a:xfrm>
            <a:off x="624040" y="1600838"/>
            <a:ext cx="772587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1600" smtClean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더 크고 굵게 적용하는 타이포그래피 확대 방안</a:t>
            </a:r>
            <a:endParaRPr lang="en-US" altLang="ko-KR" sz="160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8755686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40" y="-1"/>
            <a:ext cx="12192339" cy="103719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3A8C0B2-0807-4B4A-A11F-BA365A18DE97}"/>
              </a:ext>
            </a:extLst>
          </p:cNvPr>
          <p:cNvSpPr txBox="1"/>
          <p:nvPr/>
        </p:nvSpPr>
        <p:spPr>
          <a:xfrm>
            <a:off x="535147" y="407084"/>
            <a:ext cx="519373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2000" b="1" smtClean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cs typeface="Pretendard Black" panose="02000A03000000020004" pitchFamily="50" charset="-127"/>
              </a:rPr>
              <a:t>Icon</a:t>
            </a:r>
            <a:endParaRPr lang="en-US" altLang="ko-KR" sz="2000" b="1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bg1"/>
              </a:solidFill>
              <a:latin typeface="+mj-ea"/>
              <a:cs typeface="Pretendard Black" panose="02000A03000000020004" pitchFamily="50" charset="-127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624040" y="1348966"/>
            <a:ext cx="344681" cy="4571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033" y="2602994"/>
            <a:ext cx="7009524" cy="2590476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13A8C0B2-0807-4B4A-A11F-BA365A18DE97}"/>
              </a:ext>
            </a:extLst>
          </p:cNvPr>
          <p:cNvSpPr txBox="1"/>
          <p:nvPr/>
        </p:nvSpPr>
        <p:spPr>
          <a:xfrm>
            <a:off x="624040" y="1552710"/>
            <a:ext cx="772587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1600" smtClean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직관적인 메타포와 컬러 적용으로 텍스트와 함께 의미 전달 보완</a:t>
            </a:r>
            <a:endParaRPr lang="en-US" altLang="ko-KR" sz="160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098441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40" y="-1"/>
            <a:ext cx="12192339" cy="103719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3A8C0B2-0807-4B4A-A11F-BA365A18DE97}"/>
              </a:ext>
            </a:extLst>
          </p:cNvPr>
          <p:cNvSpPr txBox="1"/>
          <p:nvPr/>
        </p:nvSpPr>
        <p:spPr>
          <a:xfrm>
            <a:off x="535147" y="407084"/>
            <a:ext cx="1166986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2000" b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cs typeface="Pretendard Black" panose="02000A03000000020004" pitchFamily="50" charset="-127"/>
              </a:rPr>
              <a:t>Appendix</a:t>
            </a:r>
            <a:endParaRPr lang="en-US" altLang="ko-KR" sz="2000" b="1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bg1"/>
              </a:solidFill>
              <a:latin typeface="+mj-ea"/>
              <a:cs typeface="Pretendard Black" panose="02000A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A8C0B2-0807-4B4A-A11F-BA365A18DE97}"/>
              </a:ext>
            </a:extLst>
          </p:cNvPr>
          <p:cNvSpPr txBox="1"/>
          <p:nvPr/>
        </p:nvSpPr>
        <p:spPr>
          <a:xfrm>
            <a:off x="624040" y="1456454"/>
            <a:ext cx="3161122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1600" b="1" smtClean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cs typeface="Pretendard Black" panose="02000A03000000020004" pitchFamily="50" charset="-127"/>
              </a:rPr>
              <a:t>시안</a:t>
            </a:r>
            <a:r>
              <a:rPr lang="en-US" altLang="ko-KR" sz="1600" b="1" smtClean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cs typeface="Pretendard Black" panose="02000A03000000020004" pitchFamily="50" charset="-127"/>
              </a:rPr>
              <a:t> </a:t>
            </a:r>
            <a:r>
              <a:rPr lang="ko-KR" altLang="en-US" sz="1600" b="1" smtClean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cs typeface="Pretendard Black" panose="02000A03000000020004" pitchFamily="50" charset="-127"/>
              </a:rPr>
              <a:t>별 저시력자 시선 시뮬레이션</a:t>
            </a:r>
            <a:endParaRPr lang="en-US" altLang="ko-KR" sz="1600"/>
          </a:p>
        </p:txBody>
      </p:sp>
      <p:sp>
        <p:nvSpPr>
          <p:cNvPr id="3" name="직사각형 2"/>
          <p:cNvSpPr/>
          <p:nvPr/>
        </p:nvSpPr>
        <p:spPr>
          <a:xfrm>
            <a:off x="624040" y="1348966"/>
            <a:ext cx="344681" cy="4571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040" y="2266664"/>
            <a:ext cx="1536173" cy="332837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14" name="그림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1124" y="2266664"/>
            <a:ext cx="1536173" cy="332837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6" name="Text 2"/>
          <p:cNvSpPr/>
          <p:nvPr/>
        </p:nvSpPr>
        <p:spPr>
          <a:xfrm>
            <a:off x="624040" y="1951163"/>
            <a:ext cx="1536173" cy="255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200" smtClean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저시력자</a:t>
            </a:r>
            <a:endParaRPr lang="en-US" sz="1200" dirty="0">
              <a:latin typeface="+mn-ea"/>
            </a:endParaRPr>
          </a:p>
        </p:txBody>
      </p:sp>
      <p:sp>
        <p:nvSpPr>
          <p:cNvPr id="17" name="Text 2"/>
          <p:cNvSpPr/>
          <p:nvPr/>
        </p:nvSpPr>
        <p:spPr>
          <a:xfrm>
            <a:off x="2305900" y="1951161"/>
            <a:ext cx="1551397" cy="255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200" smtClean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녹색맹</a:t>
            </a:r>
            <a:endParaRPr lang="en-US" sz="1200" dirty="0">
              <a:latin typeface="+mn-ea"/>
            </a:endParaRPr>
          </a:p>
        </p:txBody>
      </p:sp>
      <p:sp>
        <p:nvSpPr>
          <p:cNvPr id="18" name="Text 2"/>
          <p:cNvSpPr/>
          <p:nvPr/>
        </p:nvSpPr>
        <p:spPr>
          <a:xfrm>
            <a:off x="4002984" y="1951160"/>
            <a:ext cx="1551397" cy="255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200" smtClean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적색맹</a:t>
            </a:r>
            <a:endParaRPr lang="en-US" sz="1200" dirty="0">
              <a:latin typeface="+mn-ea"/>
            </a:endParaRPr>
          </a:p>
        </p:txBody>
      </p:sp>
      <p:pic>
        <p:nvPicPr>
          <p:cNvPr id="25" name="그림 2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8208" y="2266664"/>
            <a:ext cx="1536173" cy="332837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26" name="그림 2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266664"/>
            <a:ext cx="1536173" cy="332837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27" name="그림 2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3084" y="2266664"/>
            <a:ext cx="1536173" cy="332837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31" name="Text 2"/>
          <p:cNvSpPr/>
          <p:nvPr/>
        </p:nvSpPr>
        <p:spPr>
          <a:xfrm>
            <a:off x="6096000" y="1951163"/>
            <a:ext cx="1536173" cy="255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200" smtClean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저시력자</a:t>
            </a:r>
            <a:endParaRPr lang="en-US" sz="1200" dirty="0">
              <a:latin typeface="+mn-ea"/>
            </a:endParaRPr>
          </a:p>
        </p:txBody>
      </p:sp>
      <p:sp>
        <p:nvSpPr>
          <p:cNvPr id="32" name="Text 2"/>
          <p:cNvSpPr/>
          <p:nvPr/>
        </p:nvSpPr>
        <p:spPr>
          <a:xfrm>
            <a:off x="7777860" y="1951161"/>
            <a:ext cx="1551397" cy="255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200" smtClean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녹색맹</a:t>
            </a:r>
            <a:endParaRPr lang="en-US" sz="1200" dirty="0">
              <a:latin typeface="+mn-ea"/>
            </a:endParaRPr>
          </a:p>
        </p:txBody>
      </p:sp>
      <p:sp>
        <p:nvSpPr>
          <p:cNvPr id="33" name="Text 2"/>
          <p:cNvSpPr/>
          <p:nvPr/>
        </p:nvSpPr>
        <p:spPr>
          <a:xfrm>
            <a:off x="9474944" y="1951160"/>
            <a:ext cx="1551397" cy="255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200" smtClean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적색맹</a:t>
            </a:r>
            <a:endParaRPr lang="en-US" sz="1200" dirty="0">
              <a:latin typeface="+mn-ea"/>
            </a:endParaRPr>
          </a:p>
        </p:txBody>
      </p:sp>
      <p:pic>
        <p:nvPicPr>
          <p:cNvPr id="34" name="그림 3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0168" y="2266664"/>
            <a:ext cx="1536173" cy="332837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4875526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2063</TotalTime>
  <Words>244</Words>
  <Application>Microsoft Office PowerPoint</Application>
  <PresentationFormat>와이드스크린</PresentationFormat>
  <Paragraphs>66</Paragraphs>
  <Slides>10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7" baseType="lpstr">
      <vt:lpstr>Noto Sans Mono CJK KR Bold</vt:lpstr>
      <vt:lpstr>Noto Sans Mono CJK KR Regular</vt:lpstr>
      <vt:lpstr>Pretendard</vt:lpstr>
      <vt:lpstr>Pretendard Black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백현진</dc:creator>
  <cp:lastModifiedBy>백현진</cp:lastModifiedBy>
  <cp:revision>42</cp:revision>
  <dcterms:created xsi:type="dcterms:W3CDTF">2026-08-18T12:05:35Z</dcterms:created>
  <dcterms:modified xsi:type="dcterms:W3CDTF">2026-08-20T00:57:40Z</dcterms:modified>
</cp:coreProperties>
</file>