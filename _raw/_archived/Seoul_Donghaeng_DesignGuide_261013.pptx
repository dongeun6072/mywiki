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7FA"/>
    <a:srgbClr val="5A6472"/>
    <a:srgbClr val="374151"/>
    <a:srgbClr val="2A303A"/>
    <a:srgbClr val="171C1C"/>
    <a:srgbClr val="FFFFFF"/>
    <a:srgbClr val="E9EDF3"/>
    <a:srgbClr val="D5DBE4"/>
    <a:srgbClr val="9AA5B4"/>
    <a:srgbClr val="FC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21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3003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서울동행맵 디자인 가이드를 소개합니다. 디자인 시스템 v3.48 기준입니다.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가이드는 원칙, 두 개의 화면, 색, 표면, 타이포, 컴포넌트, 상태, 레이아웃 순서로 구성됩니다.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인증은 앱 단위로 발급되므로 네 가지 하한을 모든 화면에 적용합니다.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화면은 별도 제품이 아니라 같은 정보 구조 위의 두 레이어입니다. 회원가입 시 유형 선택으로 전환됩니다.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Hue 215 블루 단색 축입니다. 그레이까지 같은 hue로 틴트되어 하나의 색온도를 갖습니다. 바탕은 틴트하지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면 색마다 그 위에 올릴 텍스트 색을 짝으로 정의했습니다. 모든 쌍이 4.5:1 이상입니다.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면은 네 단계입니다. 면 차이만으로 구분하지 않고 elevation과 여백을 함께 씁니다. 입력 필드는 바탕색에 2px 테두리를 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1px 테두리 대신 면 차이, 그룹 제목과 여백, elevation 세 채널을 병행합니다. 어느 하나에도 단독으로 맡기지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선택 상태는 면, 테두리, 아이콘과 텍스트를 항상 함께 바꿉니다. 투명도로 상태를 만들지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변형 4종이 전부입니다. 모두 알약형이며 시트 하단 주 행동은 전체 폭입니다. 주 버튼 위치를 좌우로 가정하지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의미 색은 적·주황·녹 축입니다. 색을 지워도 Badge 문구만으로 의미가 완결되어야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Neutral도 Hue 215로 틴트되어 있습니다. N40은 장식과 폴백 인디케이터 전용이며 텍스트에 쓰지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서체는 지정하지 않고 OS 기본 서체를 따릅니다. 6단계, 최대 22pt이며 단계 간격이 2pt라 굵기와 색을 함께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굵기는 Medium과 Bold 두 단계뿐입니다. 시스템 200%에서 최대 44pt이며, 배율에 상한을 걸지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시스템 폰트 확대에 대응하는 네 가지 원칙입니다. 텍스트는 비례 확대되지만 아이콘과 컨테이너는 한 단계만 커집니다.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간격은 4px 그리드 위 5값만 씁니다. 컴포넌트는 크기 이름이 아니라 용도 토큰으로 참조하며, 고정 축과 스케일 축을 이름으로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지도 기반 화면은 지도, 지도 위 컨트롤, 바텀시트 세 층으로 구성합니다. S2 낭독 순서는 상태 문장, 제목, 묶음 영역, 주 행동입니다.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 그리드 단색 채움 세트입니다. 접근성 시설군이 1급 항목입니다. 아이콘은 항상 장식 판정이며 라벨을 대체하지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7-6.svg"/><Relationship Id="rId13" Type="http://schemas.openxmlformats.org/officeDocument/2006/relationships/image" Target="../media/image11.png"/><Relationship Id="rId18" Type="http://schemas.openxmlformats.org/officeDocument/2006/relationships/image" Target="../media/image-17-16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image" Target="../media/image-17-10.sv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-17-14.svg"/><Relationship Id="rId20" Type="http://schemas.openxmlformats.org/officeDocument/2006/relationships/image" Target="../media/image-17-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17-4.svg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10" Type="http://schemas.openxmlformats.org/officeDocument/2006/relationships/image" Target="../media/image-17-8.svg"/><Relationship Id="rId19" Type="http://schemas.openxmlformats.org/officeDocument/2006/relationships/image" Target="../media/image14.png"/><Relationship Id="rId4" Type="http://schemas.openxmlformats.org/officeDocument/2006/relationships/image" Target="../media/image-17-2.svg"/><Relationship Id="rId9" Type="http://schemas.openxmlformats.org/officeDocument/2006/relationships/image" Target="../media/image9.png"/><Relationship Id="rId14" Type="http://schemas.openxmlformats.org/officeDocument/2006/relationships/image" Target="../media/image-17-12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8-6.svg"/><Relationship Id="rId13" Type="http://schemas.openxmlformats.org/officeDocument/2006/relationships/image" Target="../media/image20.png"/><Relationship Id="rId18" Type="http://schemas.openxmlformats.org/officeDocument/2006/relationships/image" Target="../media/image-18-16.svg"/><Relationship Id="rId26" Type="http://schemas.openxmlformats.org/officeDocument/2006/relationships/image" Target="../media/image-18-24.svg"/><Relationship Id="rId3" Type="http://schemas.openxmlformats.org/officeDocument/2006/relationships/image" Target="../media/image15.png"/><Relationship Id="rId21" Type="http://schemas.openxmlformats.org/officeDocument/2006/relationships/image" Target="../media/image24.png"/><Relationship Id="rId7" Type="http://schemas.openxmlformats.org/officeDocument/2006/relationships/image" Target="../media/image17.png"/><Relationship Id="rId12" Type="http://schemas.openxmlformats.org/officeDocument/2006/relationships/image" Target="../media/image-18-10.svg"/><Relationship Id="rId17" Type="http://schemas.openxmlformats.org/officeDocument/2006/relationships/image" Target="../media/image22.png"/><Relationship Id="rId25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-18-14.svg"/><Relationship Id="rId20" Type="http://schemas.openxmlformats.org/officeDocument/2006/relationships/image" Target="../media/image-18-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18-4.svg"/><Relationship Id="rId11" Type="http://schemas.openxmlformats.org/officeDocument/2006/relationships/image" Target="../media/image19.png"/><Relationship Id="rId24" Type="http://schemas.openxmlformats.org/officeDocument/2006/relationships/image" Target="../media/image-18-22.svg"/><Relationship Id="rId5" Type="http://schemas.openxmlformats.org/officeDocument/2006/relationships/image" Target="../media/image16.png"/><Relationship Id="rId15" Type="http://schemas.openxmlformats.org/officeDocument/2006/relationships/image" Target="../media/image21.png"/><Relationship Id="rId23" Type="http://schemas.openxmlformats.org/officeDocument/2006/relationships/image" Target="../media/image25.png"/><Relationship Id="rId10" Type="http://schemas.openxmlformats.org/officeDocument/2006/relationships/image" Target="../media/image-18-8.svg"/><Relationship Id="rId19" Type="http://schemas.openxmlformats.org/officeDocument/2006/relationships/image" Target="../media/image23.png"/><Relationship Id="rId4" Type="http://schemas.openxmlformats.org/officeDocument/2006/relationships/image" Target="../media/image-18-2.svg"/><Relationship Id="rId9" Type="http://schemas.openxmlformats.org/officeDocument/2006/relationships/image" Target="../media/image18.png"/><Relationship Id="rId14" Type="http://schemas.openxmlformats.org/officeDocument/2006/relationships/image" Target="../media/image-18-12.svg"/><Relationship Id="rId22" Type="http://schemas.openxmlformats.org/officeDocument/2006/relationships/image" Target="../media/image-18-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A1E42">
                  <a:alpha val="100000"/>
                </a:srgbClr>
              </a:gs>
              <a:gs pos="50000">
                <a:srgbClr val="14356B">
                  <a:alpha val="100000"/>
                </a:srgbClr>
              </a:gs>
              <a:gs pos="100000">
                <a:srgbClr val="1A4E9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77000" cy="6477000"/>
          </a:xfrm>
          <a:prstGeom prst="ellipse">
            <a:avLst/>
          </a:prstGeom>
          <a:gradFill rotWithShape="1">
            <a:gsLst>
              <a:gs pos="0">
                <a:srgbClr val="FFFFFF">
                  <a:alpha val="14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1049000" y="3048000"/>
            <a:ext cx="7239000" cy="7239000"/>
          </a:xfrm>
          <a:prstGeom prst="ellipse">
            <a:avLst/>
          </a:prstGeom>
          <a:gradFill rotWithShape="1">
            <a:gsLst>
              <a:gs pos="0">
                <a:srgbClr val="FFFFFF">
                  <a:alpha val="10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Text 3"/>
          <p:cNvSpPr/>
          <p:nvPr/>
        </p:nvSpPr>
        <p:spPr>
          <a:xfrm>
            <a:off x="1219200" y="2876550"/>
            <a:ext cx="651978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93" dirty="0">
                <a:solidFill>
                  <a:srgbClr val="9DBE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GUIDE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19200" y="3481388"/>
            <a:ext cx="6519788" cy="1190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677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219200" y="4633913"/>
            <a:ext cx="6519788" cy="1190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677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가이드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219200" y="6091238"/>
            <a:ext cx="651978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761"/>
              </a:lnSpc>
              <a:buNone/>
            </a:pPr>
            <a:r>
              <a:rPr lang="en-US" sz="2250" dirty="0">
                <a:solidFill>
                  <a:srgbClr val="D7E4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교통약자지원 통합플랫폼 · 접근성 우선 디자인 시스템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19200" y="9458325"/>
            <a:ext cx="26410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DBE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· 디자인 시스템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236330" y="9458325"/>
            <a:ext cx="9086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DBE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2026.10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0" y="0"/>
            <a:ext cx="6096000" cy="6096000"/>
          </a:xfrm>
          <a:prstGeom prst="ellipse">
            <a:avLst/>
          </a:prstGeom>
          <a:gradFill rotWithShape="1">
            <a:gsLst>
              <a:gs pos="0">
                <a:srgbClr val="FFFFFF">
                  <a:alpha val="10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19200" y="1219200"/>
            <a:ext cx="174345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93" dirty="0">
                <a:solidFill>
                  <a:srgbClr val="9DBE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19200" y="1747838"/>
            <a:ext cx="1743456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디자인 시스템</a:t>
            </a:r>
            <a:endParaRPr lang="en-US" sz="4800" dirty="0"/>
          </a:p>
        </p:txBody>
      </p:sp>
      <p:grpSp>
        <p:nvGrpSpPr>
          <p:cNvPr id="55" name="그룹 54"/>
          <p:cNvGrpSpPr/>
          <p:nvPr/>
        </p:nvGrpSpPr>
        <p:grpSpPr>
          <a:xfrm>
            <a:off x="1219200" y="2882039"/>
            <a:ext cx="15849525" cy="5905500"/>
            <a:chOff x="1219200" y="3238500"/>
            <a:chExt cx="15849525" cy="5905500"/>
          </a:xfrm>
        </p:grpSpPr>
        <p:sp>
          <p:nvSpPr>
            <p:cNvPr id="5" name="Shape 3"/>
            <p:cNvSpPr/>
            <p:nvPr/>
          </p:nvSpPr>
          <p:spPr>
            <a:xfrm>
              <a:off x="1219200" y="3238500"/>
              <a:ext cx="2482825" cy="2095500"/>
            </a:xfrm>
            <a:prstGeom prst="roundRect">
              <a:avLst>
                <a:gd name="adj" fmla="val 10909"/>
              </a:avLst>
            </a:prstGeom>
            <a:noFill/>
            <a:ln>
              <a:solidFill>
                <a:srgbClr val="325792"/>
              </a:solidFill>
            </a:ln>
          </p:spPr>
        </p:sp>
        <p:sp>
          <p:nvSpPr>
            <p:cNvPr id="6" name="Text 4"/>
            <p:cNvSpPr/>
            <p:nvPr/>
          </p:nvSpPr>
          <p:spPr>
            <a:xfrm>
              <a:off x="1524000" y="3505200"/>
              <a:ext cx="2060548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4286"/>
                </a:lnSpc>
                <a:buNone/>
              </a:pPr>
              <a:r>
                <a:rPr lang="en-US" sz="1950" dirty="0">
                  <a:solidFill>
                    <a:srgbClr val="9DBEF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01</a:t>
              </a:r>
              <a:endParaRPr lang="en-US" sz="19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524000" y="3924300"/>
              <a:ext cx="2060548" cy="419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9403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네 가지 원칙</a:t>
              </a:r>
              <a:endParaRPr lang="en-US" sz="2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892525" y="3238500"/>
              <a:ext cx="2482825" cy="2095500"/>
            </a:xfrm>
            <a:prstGeom prst="roundRect">
              <a:avLst>
                <a:gd name="adj" fmla="val 10909"/>
              </a:avLst>
            </a:prstGeom>
            <a:noFill/>
            <a:ln>
              <a:solidFill>
                <a:srgbClr val="325792"/>
              </a:solidFill>
            </a:ln>
          </p:spPr>
        </p:sp>
        <p:sp>
          <p:nvSpPr>
            <p:cNvPr id="9" name="Text 7"/>
            <p:cNvSpPr/>
            <p:nvPr/>
          </p:nvSpPr>
          <p:spPr>
            <a:xfrm>
              <a:off x="4197325" y="3505200"/>
              <a:ext cx="2060548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4286"/>
                </a:lnSpc>
                <a:buNone/>
              </a:pPr>
              <a:r>
                <a:rPr lang="en-US" sz="1950" dirty="0">
                  <a:solidFill>
                    <a:srgbClr val="9DBEF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02</a:t>
              </a:r>
              <a:endParaRPr lang="en-US" sz="19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197325" y="3924300"/>
              <a:ext cx="1949425" cy="800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9403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같은 </a:t>
              </a:r>
              <a:r>
                <a:rPr lang="en-US" sz="2100" b="1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메뉴 </a:t>
              </a:r>
              <a:r>
                <a:rPr lang="en-US" sz="2100" b="1" smtClean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,</a:t>
              </a:r>
            </a:p>
            <a:p>
              <a:pPr marL="0" indent="0" algn="l">
                <a:lnSpc>
                  <a:spcPct val="119403"/>
                </a:lnSpc>
                <a:buNone/>
              </a:pPr>
              <a:r>
                <a:rPr lang="en-US" sz="2100" b="1" smtClean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두 </a:t>
              </a: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개의 화면</a:t>
              </a:r>
              <a:endParaRPr lang="en-US" sz="2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565850" y="3238500"/>
              <a:ext cx="2482825" cy="2095500"/>
            </a:xfrm>
            <a:prstGeom prst="roundRect">
              <a:avLst>
                <a:gd name="adj" fmla="val 10909"/>
              </a:avLst>
            </a:prstGeom>
            <a:noFill/>
            <a:ln>
              <a:solidFill>
                <a:srgbClr val="325792"/>
              </a:solidFill>
            </a:ln>
          </p:spPr>
        </p:sp>
        <p:sp>
          <p:nvSpPr>
            <p:cNvPr id="12" name="Text 10"/>
            <p:cNvSpPr/>
            <p:nvPr/>
          </p:nvSpPr>
          <p:spPr>
            <a:xfrm>
              <a:off x="6870650" y="3505200"/>
              <a:ext cx="2060548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4286"/>
                </a:lnSpc>
                <a:buNone/>
              </a:pPr>
              <a:r>
                <a:rPr lang="en-US" sz="1950" dirty="0">
                  <a:solidFill>
                    <a:srgbClr val="9DBEF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03</a:t>
              </a:r>
              <a:endParaRPr lang="en-US" sz="19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870650" y="3924300"/>
              <a:ext cx="2060548" cy="419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9403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메인 컬러 구성</a:t>
              </a:r>
              <a:endParaRPr lang="en-US" sz="21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9239176" y="3238500"/>
              <a:ext cx="2482900" cy="2095500"/>
            </a:xfrm>
            <a:prstGeom prst="roundRect">
              <a:avLst>
                <a:gd name="adj" fmla="val 10909"/>
              </a:avLst>
            </a:prstGeom>
            <a:noFill/>
            <a:ln>
              <a:solidFill>
                <a:srgbClr val="325792"/>
              </a:solidFill>
            </a:ln>
          </p:spPr>
        </p:sp>
        <p:sp>
          <p:nvSpPr>
            <p:cNvPr id="15" name="Text 13"/>
            <p:cNvSpPr/>
            <p:nvPr/>
          </p:nvSpPr>
          <p:spPr>
            <a:xfrm>
              <a:off x="9543976" y="3505200"/>
              <a:ext cx="2060630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4286"/>
                </a:lnSpc>
                <a:buNone/>
              </a:pPr>
              <a:r>
                <a:rPr lang="en-US" sz="1950" dirty="0">
                  <a:solidFill>
                    <a:srgbClr val="9DBEF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04</a:t>
              </a:r>
              <a:endParaRPr lang="en-US" sz="19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9543976" y="3924300"/>
              <a:ext cx="2060630" cy="419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9403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On-Color</a:t>
              </a:r>
              <a:endParaRPr lang="en-US" sz="21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11912575" y="3238500"/>
              <a:ext cx="2482825" cy="2095500"/>
            </a:xfrm>
            <a:prstGeom prst="roundRect">
              <a:avLst>
                <a:gd name="adj" fmla="val 10909"/>
              </a:avLst>
            </a:prstGeom>
            <a:noFill/>
            <a:ln>
              <a:solidFill>
                <a:srgbClr val="325792"/>
              </a:solidFill>
            </a:ln>
          </p:spPr>
        </p:sp>
        <p:sp>
          <p:nvSpPr>
            <p:cNvPr id="18" name="Text 16"/>
            <p:cNvSpPr/>
            <p:nvPr/>
          </p:nvSpPr>
          <p:spPr>
            <a:xfrm>
              <a:off x="12217375" y="3505200"/>
              <a:ext cx="2060548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4286"/>
                </a:lnSpc>
                <a:buNone/>
              </a:pPr>
              <a:r>
                <a:rPr lang="en-US" sz="1950" dirty="0">
                  <a:solidFill>
                    <a:srgbClr val="9DBEF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05</a:t>
              </a:r>
              <a:endParaRPr lang="en-US" sz="19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2217375" y="3924300"/>
              <a:ext cx="1949425" cy="1181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19403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단계 별 표면</a:t>
              </a:r>
              <a:r>
                <a:rPr lang="en-US" sz="2100" b="1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(</a:t>
              </a:r>
              <a:r>
                <a:rPr lang="en-US" sz="2100" b="1" smtClean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Surface)레이어</a:t>
              </a:r>
              <a:endParaRPr lang="en-US" sz="21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14585900" y="3238500"/>
              <a:ext cx="2482825" cy="2095500"/>
            </a:xfrm>
            <a:prstGeom prst="roundRect">
              <a:avLst>
                <a:gd name="adj" fmla="val 10909"/>
              </a:avLst>
            </a:prstGeom>
            <a:noFill/>
            <a:ln>
              <a:solidFill>
                <a:srgbClr val="325792"/>
              </a:solidFill>
            </a:ln>
          </p:spPr>
        </p:sp>
        <p:sp>
          <p:nvSpPr>
            <p:cNvPr id="21" name="Text 19"/>
            <p:cNvSpPr/>
            <p:nvPr/>
          </p:nvSpPr>
          <p:spPr>
            <a:xfrm>
              <a:off x="14890700" y="3505200"/>
              <a:ext cx="2060548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4286"/>
                </a:lnSpc>
                <a:buNone/>
              </a:pPr>
              <a:r>
                <a:rPr lang="en-US" sz="1950" dirty="0">
                  <a:solidFill>
                    <a:srgbClr val="9DBEF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06</a:t>
              </a:r>
              <a:endParaRPr lang="en-US" sz="19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4890700" y="3924300"/>
              <a:ext cx="2060548" cy="419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9403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표면과 그림자</a:t>
              </a:r>
              <a:endParaRPr lang="en-US" sz="21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1219200" y="5524500"/>
              <a:ext cx="2482825" cy="1714500"/>
            </a:xfrm>
            <a:prstGeom prst="roundRect">
              <a:avLst>
                <a:gd name="adj" fmla="val 13333"/>
              </a:avLst>
            </a:prstGeom>
            <a:noFill/>
            <a:ln>
              <a:solidFill>
                <a:srgbClr val="325792"/>
              </a:solidFill>
            </a:ln>
          </p:spPr>
        </p:sp>
        <p:sp>
          <p:nvSpPr>
            <p:cNvPr id="24" name="Text 22"/>
            <p:cNvSpPr/>
            <p:nvPr/>
          </p:nvSpPr>
          <p:spPr>
            <a:xfrm>
              <a:off x="1524000" y="5791200"/>
              <a:ext cx="2060548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4286"/>
                </a:lnSpc>
                <a:buNone/>
              </a:pPr>
              <a:r>
                <a:rPr lang="en-US" sz="1950" dirty="0">
                  <a:solidFill>
                    <a:srgbClr val="9DBEF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07</a:t>
              </a:r>
              <a:endParaRPr lang="en-US" sz="19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1524000" y="6210300"/>
              <a:ext cx="1949425" cy="800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9403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여러 채널을 함께 바꾸는 상태 표현</a:t>
              </a:r>
              <a:endParaRPr lang="en-US" sz="21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892525" y="5524500"/>
              <a:ext cx="2482825" cy="1714500"/>
            </a:xfrm>
            <a:prstGeom prst="roundRect">
              <a:avLst>
                <a:gd name="adj" fmla="val 13333"/>
              </a:avLst>
            </a:prstGeom>
            <a:noFill/>
            <a:ln>
              <a:solidFill>
                <a:srgbClr val="325792"/>
              </a:solidFill>
            </a:ln>
          </p:spPr>
        </p:sp>
        <p:sp>
          <p:nvSpPr>
            <p:cNvPr id="27" name="Text 25"/>
            <p:cNvSpPr/>
            <p:nvPr/>
          </p:nvSpPr>
          <p:spPr>
            <a:xfrm>
              <a:off x="4197325" y="5791200"/>
              <a:ext cx="2060548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4286"/>
                </a:lnSpc>
                <a:buNone/>
              </a:pPr>
              <a:r>
                <a:rPr lang="en-US" sz="1950" dirty="0">
                  <a:solidFill>
                    <a:srgbClr val="9DBEF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08</a:t>
              </a:r>
              <a:endParaRPr lang="en-US" sz="19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197325" y="6210300"/>
              <a:ext cx="1949425" cy="800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9403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둥근 라운드 버튼 4종</a:t>
              </a:r>
              <a:endParaRPr lang="en-US" sz="21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6565850" y="5524500"/>
              <a:ext cx="2482825" cy="1714500"/>
            </a:xfrm>
            <a:prstGeom prst="roundRect">
              <a:avLst>
                <a:gd name="adj" fmla="val 13333"/>
              </a:avLst>
            </a:prstGeom>
            <a:noFill/>
            <a:ln>
              <a:solidFill>
                <a:srgbClr val="325792"/>
              </a:solidFill>
            </a:ln>
          </p:spPr>
        </p:sp>
        <p:sp>
          <p:nvSpPr>
            <p:cNvPr id="30" name="Text 28"/>
            <p:cNvSpPr/>
            <p:nvPr/>
          </p:nvSpPr>
          <p:spPr>
            <a:xfrm>
              <a:off x="6870650" y="5791200"/>
              <a:ext cx="2060548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4286"/>
                </a:lnSpc>
                <a:buNone/>
              </a:pPr>
              <a:r>
                <a:rPr lang="en-US" sz="1950" dirty="0">
                  <a:solidFill>
                    <a:srgbClr val="9DBEF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09</a:t>
              </a:r>
              <a:endParaRPr lang="en-US" sz="195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6870650" y="6210300"/>
              <a:ext cx="2060548" cy="419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9403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보조 채널 컬러</a:t>
              </a:r>
              <a:endParaRPr lang="en-US" sz="21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9239176" y="5524500"/>
              <a:ext cx="2482900" cy="1714500"/>
            </a:xfrm>
            <a:prstGeom prst="roundRect">
              <a:avLst>
                <a:gd name="adj" fmla="val 13333"/>
              </a:avLst>
            </a:prstGeom>
            <a:noFill/>
            <a:ln>
              <a:solidFill>
                <a:srgbClr val="325792"/>
              </a:solidFill>
            </a:ln>
          </p:spPr>
        </p:sp>
        <p:sp>
          <p:nvSpPr>
            <p:cNvPr id="33" name="Text 31"/>
            <p:cNvSpPr/>
            <p:nvPr/>
          </p:nvSpPr>
          <p:spPr>
            <a:xfrm>
              <a:off x="9543976" y="5791200"/>
              <a:ext cx="2060630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4286"/>
                </a:lnSpc>
                <a:buNone/>
              </a:pPr>
              <a:r>
                <a:rPr lang="en-US" sz="1950" dirty="0">
                  <a:solidFill>
                    <a:srgbClr val="9DBEF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10</a:t>
              </a:r>
              <a:endParaRPr lang="en-US" sz="195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9543976" y="6210300"/>
              <a:ext cx="2060630" cy="419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9403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Neutral 9 컬러</a:t>
              </a:r>
              <a:endParaRPr lang="en-US" sz="21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11912575" y="5524500"/>
              <a:ext cx="2482825" cy="1714500"/>
            </a:xfrm>
            <a:prstGeom prst="roundRect">
              <a:avLst>
                <a:gd name="adj" fmla="val 13333"/>
              </a:avLst>
            </a:prstGeom>
            <a:noFill/>
            <a:ln>
              <a:solidFill>
                <a:srgbClr val="325792"/>
              </a:solidFill>
            </a:ln>
          </p:spPr>
        </p:sp>
        <p:sp>
          <p:nvSpPr>
            <p:cNvPr id="36" name="Text 34"/>
            <p:cNvSpPr/>
            <p:nvPr/>
          </p:nvSpPr>
          <p:spPr>
            <a:xfrm>
              <a:off x="12217375" y="5791200"/>
              <a:ext cx="2060548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4286"/>
                </a:lnSpc>
                <a:buNone/>
              </a:pPr>
              <a:r>
                <a:rPr lang="en-US" sz="1950" dirty="0">
                  <a:solidFill>
                    <a:srgbClr val="9DBEF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11</a:t>
              </a:r>
              <a:endParaRPr lang="en-US" sz="195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12217375" y="6210300"/>
              <a:ext cx="2060548" cy="800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19403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6</a:t>
              </a:r>
              <a:r>
                <a:rPr lang="en-US" sz="2100" b="1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단계 </a:t>
              </a:r>
              <a:r>
                <a:rPr lang="en-US" sz="2100" b="1" smtClean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폰트 스케일</a:t>
              </a:r>
              <a:endParaRPr lang="en-US" sz="21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14585900" y="5524500"/>
              <a:ext cx="2482825" cy="1714500"/>
            </a:xfrm>
            <a:prstGeom prst="roundRect">
              <a:avLst>
                <a:gd name="adj" fmla="val 13333"/>
              </a:avLst>
            </a:prstGeom>
            <a:noFill/>
            <a:ln>
              <a:solidFill>
                <a:srgbClr val="325792"/>
              </a:solidFill>
            </a:ln>
          </p:spPr>
        </p:sp>
        <p:sp>
          <p:nvSpPr>
            <p:cNvPr id="39" name="Text 37"/>
            <p:cNvSpPr/>
            <p:nvPr/>
          </p:nvSpPr>
          <p:spPr>
            <a:xfrm>
              <a:off x="14890700" y="5791200"/>
              <a:ext cx="2060548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4286"/>
                </a:lnSpc>
                <a:buNone/>
              </a:pPr>
              <a:r>
                <a:rPr lang="en-US" sz="1950" dirty="0">
                  <a:solidFill>
                    <a:srgbClr val="9DBEF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12</a:t>
              </a:r>
              <a:endParaRPr lang="en-US" sz="195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14890700" y="6210300"/>
              <a:ext cx="1949425" cy="800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9403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두 단계 굵기와 200% 리플로우</a:t>
              </a:r>
              <a:endParaRPr lang="en-US" sz="21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1219200" y="7429500"/>
              <a:ext cx="2482825" cy="1714500"/>
            </a:xfrm>
            <a:prstGeom prst="roundRect">
              <a:avLst>
                <a:gd name="adj" fmla="val 13333"/>
              </a:avLst>
            </a:prstGeom>
            <a:noFill/>
            <a:ln>
              <a:solidFill>
                <a:srgbClr val="325792"/>
              </a:solidFill>
            </a:ln>
          </p:spPr>
        </p:sp>
        <p:sp>
          <p:nvSpPr>
            <p:cNvPr id="42" name="Text 40"/>
            <p:cNvSpPr/>
            <p:nvPr/>
          </p:nvSpPr>
          <p:spPr>
            <a:xfrm>
              <a:off x="1524000" y="7696200"/>
              <a:ext cx="2060548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4286"/>
                </a:lnSpc>
                <a:buNone/>
              </a:pPr>
              <a:r>
                <a:rPr lang="en-US" sz="1950" dirty="0">
                  <a:solidFill>
                    <a:srgbClr val="9DBEF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13</a:t>
              </a:r>
              <a:endParaRPr lang="en-US" sz="195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1524000" y="8115300"/>
              <a:ext cx="1949425" cy="800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9403"/>
                </a:lnSpc>
                <a:buNone/>
              </a:pPr>
              <a:r>
                <a:rPr lang="en-US" sz="2100" b="1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시스템 </a:t>
              </a:r>
              <a:r>
                <a:rPr lang="en-US" sz="2100" b="1" smtClean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폰트</a:t>
              </a:r>
            </a:p>
            <a:p>
              <a:pPr marL="0" indent="0" algn="l">
                <a:lnSpc>
                  <a:spcPct val="119403"/>
                </a:lnSpc>
                <a:buNone/>
              </a:pPr>
              <a:r>
                <a:rPr lang="en-US" sz="2100" b="1" smtClean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확대 </a:t>
              </a: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대응 4원칙</a:t>
              </a:r>
              <a:endParaRPr lang="en-US" sz="21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3892525" y="7429500"/>
              <a:ext cx="2482825" cy="1714500"/>
            </a:xfrm>
            <a:prstGeom prst="roundRect">
              <a:avLst>
                <a:gd name="adj" fmla="val 13333"/>
              </a:avLst>
            </a:prstGeom>
            <a:noFill/>
            <a:ln>
              <a:solidFill>
                <a:srgbClr val="325792"/>
              </a:solidFill>
            </a:ln>
          </p:spPr>
        </p:sp>
        <p:sp>
          <p:nvSpPr>
            <p:cNvPr id="45" name="Text 43"/>
            <p:cNvSpPr/>
            <p:nvPr/>
          </p:nvSpPr>
          <p:spPr>
            <a:xfrm>
              <a:off x="4197325" y="7696200"/>
              <a:ext cx="2060548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4286"/>
                </a:lnSpc>
                <a:buNone/>
              </a:pPr>
              <a:r>
                <a:rPr lang="en-US" sz="1950" dirty="0">
                  <a:solidFill>
                    <a:srgbClr val="9DBEF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14</a:t>
              </a:r>
              <a:endParaRPr lang="en-US" sz="195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4197325" y="8115300"/>
              <a:ext cx="2060548" cy="419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9403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간격 스케일</a:t>
              </a:r>
              <a:endParaRPr lang="en-US" sz="21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6565850" y="7429500"/>
              <a:ext cx="2482825" cy="1714500"/>
            </a:xfrm>
            <a:prstGeom prst="roundRect">
              <a:avLst>
                <a:gd name="adj" fmla="val 13333"/>
              </a:avLst>
            </a:prstGeom>
            <a:noFill/>
            <a:ln>
              <a:solidFill>
                <a:srgbClr val="325792"/>
              </a:solidFill>
            </a:ln>
          </p:spPr>
        </p:sp>
        <p:sp>
          <p:nvSpPr>
            <p:cNvPr id="48" name="Text 46"/>
            <p:cNvSpPr/>
            <p:nvPr/>
          </p:nvSpPr>
          <p:spPr>
            <a:xfrm>
              <a:off x="6870650" y="7696200"/>
              <a:ext cx="2060548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4286"/>
                </a:lnSpc>
                <a:buNone/>
              </a:pPr>
              <a:r>
                <a:rPr lang="en-US" sz="1950" dirty="0">
                  <a:solidFill>
                    <a:srgbClr val="9DBEF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15</a:t>
              </a:r>
              <a:endParaRPr lang="en-US" sz="195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6870650" y="8115300"/>
              <a:ext cx="2060548" cy="419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9403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여백 · 비율 · 간격</a:t>
              </a:r>
              <a:endParaRPr lang="en-US" sz="21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9239176" y="7429500"/>
              <a:ext cx="2482900" cy="1714500"/>
            </a:xfrm>
            <a:prstGeom prst="roundRect">
              <a:avLst>
                <a:gd name="adj" fmla="val 13333"/>
              </a:avLst>
            </a:prstGeom>
            <a:noFill/>
            <a:ln>
              <a:solidFill>
                <a:srgbClr val="325792"/>
              </a:solidFill>
            </a:ln>
          </p:spPr>
        </p:sp>
        <p:sp>
          <p:nvSpPr>
            <p:cNvPr id="51" name="Text 49"/>
            <p:cNvSpPr/>
            <p:nvPr/>
          </p:nvSpPr>
          <p:spPr>
            <a:xfrm>
              <a:off x="9543976" y="7696200"/>
              <a:ext cx="2060630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4286"/>
                </a:lnSpc>
                <a:buNone/>
              </a:pPr>
              <a:r>
                <a:rPr lang="en-US" sz="1950" dirty="0">
                  <a:solidFill>
                    <a:srgbClr val="9DBEF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16</a:t>
              </a:r>
              <a:endParaRPr lang="en-US" sz="195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9543976" y="8115300"/>
              <a:ext cx="2060630" cy="419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19403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직관적 아이콘</a:t>
              </a:r>
              <a:endParaRPr lang="en-US" sz="2100" dirty="0"/>
            </a:p>
          </p:txBody>
        </p:sp>
      </p:grpSp>
      <p:sp>
        <p:nvSpPr>
          <p:cNvPr id="53" name="Text 51"/>
          <p:cNvSpPr/>
          <p:nvPr/>
        </p:nvSpPr>
        <p:spPr>
          <a:xfrm>
            <a:off x="1219200" y="9458325"/>
            <a:ext cx="26410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DBE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· 디자인 가이드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6825243" y="9458325"/>
            <a:ext cx="3197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DBE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0" y="0"/>
            <a:ext cx="6096000" cy="6096000"/>
          </a:xfrm>
          <a:prstGeom prst="ellipse">
            <a:avLst/>
          </a:prstGeom>
          <a:gradFill rotWithShape="1">
            <a:gsLst>
              <a:gs pos="0">
                <a:srgbClr val="1A4E9B">
                  <a:alpha val="10000"/>
                </a:srgbClr>
              </a:gs>
              <a:gs pos="70000">
                <a:srgbClr val="1A4E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19200" y="1219200"/>
            <a:ext cx="174345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93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19200" y="1747838"/>
            <a:ext cx="1743456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가지 원칙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19200" y="2709863"/>
            <a:ext cx="127539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211"/>
              </a:lnSpc>
              <a:buNone/>
            </a:pPr>
            <a:r>
              <a:rPr lang="en-US" sz="22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화면의 미달이 앱 전체의 인증 실패로 이어지므로 모든 화면에 같은 원칙을 적용합니다.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219200" y="3429000"/>
            <a:ext cx="3733800" cy="34290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00200" y="3886200"/>
            <a:ext cx="326898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524"/>
              </a:lnSpc>
              <a:buNone/>
            </a:pPr>
            <a:r>
              <a:rPr lang="en-US" sz="6000" b="1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4.5:1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600200" y="4991100"/>
            <a:ext cx="32689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19"/>
              </a:lnSpc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명도대비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600200" y="5638800"/>
            <a:ext cx="306095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984"/>
              </a:lnSpc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</a:t>
            </a:r>
            <a:r>
              <a:rPr lang="en-US" sz="19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텍스트와 </a:t>
            </a: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정보를</a:t>
            </a:r>
          </a:p>
          <a:p>
            <a:pPr marL="0" indent="0" algn="l">
              <a:lnSpc>
                <a:spcPct val="126984"/>
              </a:lnSpc>
              <a:buNone/>
            </a:pP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전달하는 </a:t>
            </a: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경계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257800" y="3429000"/>
            <a:ext cx="3733800" cy="34290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38800" y="3886200"/>
            <a:ext cx="326898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524"/>
              </a:lnSpc>
              <a:buNone/>
            </a:pPr>
            <a:r>
              <a:rPr lang="en-US" sz="6000" b="1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44pt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5638800" y="4991100"/>
            <a:ext cx="32689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19"/>
              </a:lnSpc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터치 타겟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5638800" y="5638800"/>
            <a:ext cx="306095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984"/>
              </a:lnSpc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 44×44 </a:t>
            </a:r>
            <a:r>
              <a:rPr lang="en-US" sz="19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인접 </a:t>
            </a: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타겟</a:t>
            </a:r>
          </a:p>
          <a:p>
            <a:pPr marL="0" indent="0" algn="l">
              <a:lnSpc>
                <a:spcPct val="126984"/>
              </a:lnSpc>
              <a:buNone/>
            </a:pP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간격 </a:t>
            </a: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이상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296400" y="3429000"/>
            <a:ext cx="3733800" cy="34290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77400" y="3886200"/>
            <a:ext cx="326898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524"/>
              </a:lnSpc>
              <a:buNone/>
            </a:pPr>
            <a:r>
              <a:rPr lang="en-US" sz="6000" b="1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16pt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9677400" y="4991100"/>
            <a:ext cx="32689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19"/>
              </a:lnSpc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 하한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677400" y="5638800"/>
            <a:ext cx="306095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984"/>
              </a:lnSpc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</a:t>
            </a:r>
            <a:r>
              <a:rPr lang="en-US" sz="19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미만 </a:t>
            </a: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</a:t>
            </a:r>
          </a:p>
          <a:p>
            <a:pPr marL="0" indent="0" algn="l">
              <a:lnSpc>
                <a:spcPct val="126984"/>
              </a:lnSpc>
              <a:buNone/>
            </a:pP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</a:t>
            </a: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행간 150%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3335000" y="3429000"/>
            <a:ext cx="3733800" cy="34290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716000" y="3886200"/>
            <a:ext cx="326898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524"/>
              </a:lnSpc>
              <a:buNone/>
            </a:pPr>
            <a:r>
              <a:rPr lang="en-US" sz="6000" b="1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색+형태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13716000" y="4991100"/>
            <a:ext cx="32689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19"/>
              </a:lnSpc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표현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3716000" y="5638800"/>
            <a:ext cx="306095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984"/>
              </a:lnSpc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 </a:t>
            </a:r>
            <a:r>
              <a:rPr lang="en-US" sz="19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 </a:t>
            </a: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</a:t>
            </a:r>
          </a:p>
          <a:p>
            <a:pPr marL="0" indent="0" algn="l">
              <a:lnSpc>
                <a:spcPct val="126984"/>
              </a:lnSpc>
              <a:buNone/>
            </a:pP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텍스트와 </a:t>
            </a: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아이콘 병기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19200" y="9458325"/>
            <a:ext cx="26410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· 디자인 가이드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791756" y="9458325"/>
            <a:ext cx="35324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0" y="0"/>
            <a:ext cx="6096000" cy="6096000"/>
          </a:xfrm>
          <a:prstGeom prst="ellipse">
            <a:avLst/>
          </a:prstGeom>
          <a:gradFill rotWithShape="1">
            <a:gsLst>
              <a:gs pos="0">
                <a:srgbClr val="1A4E9B">
                  <a:alpha val="10000"/>
                </a:srgbClr>
              </a:gs>
              <a:gs pos="70000">
                <a:srgbClr val="1A4E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19200" y="1219200"/>
            <a:ext cx="838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93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 APP · TWO VIEWS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19200" y="1747838"/>
            <a:ext cx="83820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메뉴 , 두 개의 화면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19200" y="2709863"/>
            <a:ext cx="7848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211"/>
              </a:lnSpc>
              <a:buNone/>
            </a:pPr>
            <a:r>
              <a:rPr lang="en-US" sz="22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· 정보 구조 · 용어 · 음성 안내 문구를 </a:t>
            </a:r>
            <a:r>
              <a:rPr lang="en-US" sz="22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공유하고</a:t>
            </a:r>
            <a:r>
              <a:rPr lang="en-US" sz="22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</a:p>
          <a:p>
            <a:pPr marL="0" indent="0" algn="l">
              <a:lnSpc>
                <a:spcPct val="135211"/>
              </a:lnSpc>
              <a:buNone/>
            </a:pPr>
            <a:r>
              <a:rPr lang="en-US" sz="22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</a:t>
            </a:r>
            <a:r>
              <a:rPr lang="en-US" sz="22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동선만 나눕니다.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219200" y="4081463"/>
            <a:ext cx="7620000" cy="1924050"/>
          </a:xfrm>
          <a:prstGeom prst="roundRect">
            <a:avLst>
              <a:gd name="adj" fmla="val 13861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62100" y="4386263"/>
            <a:ext cx="714222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19"/>
              </a:lnSpc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교통약자 통합 화면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562100" y="4938713"/>
            <a:ext cx="714222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984"/>
              </a:lnSpc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지체 · 청각 · 고령 </a:t>
            </a:r>
            <a:r>
              <a:rPr lang="en-US" sz="19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저시력 </a:t>
            </a:r>
            <a:r>
              <a:rPr lang="ko-KR" alt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</a:t>
            </a:r>
            <a:endParaRPr lang="en-US" sz="1950" smtClean="0">
              <a:solidFill>
                <a:srgbClr val="48556A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26984"/>
              </a:lnSpc>
              <a:buNone/>
            </a:pP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명확한 </a:t>
            </a: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위계, 큰 터치 타겟, 접근성 우선 노출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620250" y="1362075"/>
            <a:ext cx="3181350" cy="6858000"/>
          </a:xfrm>
          <a:prstGeom prst="roundRect">
            <a:avLst>
              <a:gd name="adj" fmla="val 8383"/>
            </a:avLst>
          </a:prstGeom>
          <a:ln/>
          <a:effectLst>
            <a:outerShdw blurRad="228600" dist="76200" dir="5400000" algn="bl" rotWithShape="0">
              <a:srgbClr val="0F2A57">
                <a:alpha val="16000"/>
              </a:srgbClr>
            </a:outerShdw>
          </a:effectLst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b="389"/>
          <a:stretch/>
        </p:blipFill>
        <p:spPr>
          <a:xfrm>
            <a:off x="9620250" y="1362075"/>
            <a:ext cx="3181350" cy="6858000"/>
          </a:xfrm>
          <a:prstGeom prst="rect">
            <a:avLst/>
          </a:prstGeom>
          <a:effectLst>
            <a:outerShdw blurRad="355600" dist="50800" dir="5400000" sx="101000" sy="101000" algn="ctr" rotWithShape="0">
              <a:schemeClr val="accent1">
                <a:lumMod val="75000"/>
                <a:alpha val="50000"/>
              </a:schemeClr>
            </a:outerShdw>
          </a:effectLst>
        </p:spPr>
      </p:pic>
      <p:sp>
        <p:nvSpPr>
          <p:cNvPr id="14" name="Shape 11"/>
          <p:cNvSpPr/>
          <p:nvPr/>
        </p:nvSpPr>
        <p:spPr>
          <a:xfrm>
            <a:off x="13144500" y="1362075"/>
            <a:ext cx="3181350" cy="6858000"/>
          </a:xfrm>
          <a:prstGeom prst="roundRect">
            <a:avLst>
              <a:gd name="adj" fmla="val 8383"/>
            </a:avLst>
          </a:prstGeom>
          <a:ln/>
          <a:effectLst>
            <a:outerShdw blurRad="228600" dist="76200" dir="5400000" algn="bl" rotWithShape="0">
              <a:srgbClr val="0F2A57">
                <a:alpha val="16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b="389"/>
          <a:stretch/>
        </p:blipFill>
        <p:spPr>
          <a:xfrm>
            <a:off x="13144500" y="1362075"/>
            <a:ext cx="3181350" cy="6858000"/>
          </a:xfrm>
          <a:prstGeom prst="rect">
            <a:avLst/>
          </a:prstGeom>
          <a:effectLst>
            <a:outerShdw blurRad="355600" dist="50800" dir="5400000" sx="101000" sy="101000" algn="ctr" rotWithShape="0">
              <a:schemeClr val="accent1">
                <a:lumMod val="75000"/>
                <a:alpha val="50000"/>
              </a:schemeClr>
            </a:outerShdw>
          </a:effectLst>
        </p:spPr>
      </p:pic>
      <p:sp>
        <p:nvSpPr>
          <p:cNvPr id="16" name="Text 12"/>
          <p:cNvSpPr/>
          <p:nvPr/>
        </p:nvSpPr>
        <p:spPr>
          <a:xfrm>
            <a:off x="10366400" y="8458200"/>
            <a:ext cx="18579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교통약자 통합 화면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4312875" y="8458200"/>
            <a:ext cx="9207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전맹 화면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219200" y="9458325"/>
            <a:ext cx="26410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· 디자인 가이드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6785059" y="9458325"/>
            <a:ext cx="3599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Shape 4"/>
          <p:cNvSpPr/>
          <p:nvPr/>
        </p:nvSpPr>
        <p:spPr>
          <a:xfrm>
            <a:off x="1219200" y="6296025"/>
            <a:ext cx="7620000" cy="1924050"/>
          </a:xfrm>
          <a:prstGeom prst="roundRect">
            <a:avLst>
              <a:gd name="adj" fmla="val 13861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21" name="Text 5"/>
          <p:cNvSpPr/>
          <p:nvPr/>
        </p:nvSpPr>
        <p:spPr>
          <a:xfrm>
            <a:off x="1562100" y="6600825"/>
            <a:ext cx="714222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18519"/>
              </a:lnSpc>
            </a:pPr>
            <a:r>
              <a:rPr lang="en-US" altLang="ko-KR" sz="2550" b="1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전맹 화면</a:t>
            </a:r>
            <a:endParaRPr lang="en-US" altLang="ko-KR" sz="2550" dirty="0"/>
          </a:p>
        </p:txBody>
      </p:sp>
      <p:sp>
        <p:nvSpPr>
          <p:cNvPr id="22" name="Text 6"/>
          <p:cNvSpPr/>
          <p:nvPr/>
        </p:nvSpPr>
        <p:spPr>
          <a:xfrm>
            <a:off x="1562100" y="7153275"/>
            <a:ext cx="714222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26984"/>
              </a:lnSpc>
            </a:pPr>
            <a:r>
              <a:rPr lang="en-US" altLang="ko-KR" sz="19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스크린리더 </a:t>
            </a:r>
            <a:r>
              <a:rPr lang="en-US" altLang="ko-KR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</a:t>
            </a:r>
          </a:p>
          <a:p>
            <a:pPr>
              <a:lnSpc>
                <a:spcPct val="126984"/>
              </a:lnSpc>
            </a:pPr>
            <a:r>
              <a:rPr lang="en-US" altLang="ko-KR" sz="19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사용자사용성을 고려한 세로 배열, 논리적 포커스 순서</a:t>
            </a:r>
            <a:endParaRPr lang="en-US" altLang="ko-KR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93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COLOR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19200" y="1747838"/>
            <a:ext cx="1743456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컬러 구성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200" y="2709863"/>
            <a:ext cx="1632508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211"/>
              </a:lnSpc>
              <a:buNone/>
            </a:pPr>
            <a:r>
              <a:rPr lang="en-US" sz="22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Hue 215° 블루 한 축에서 액션 · 강조 · 텍스트 · 경계 역할을 나누고, 모두 4.5:1 이상 대비를 지킵니다.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219200" y="3810000"/>
            <a:ext cx="3762375" cy="2005013"/>
          </a:xfrm>
          <a:prstGeom prst="roundRect">
            <a:avLst>
              <a:gd name="adj" fmla="val 13302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85900" y="4972050"/>
            <a:ext cx="35518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85900" y="5329238"/>
            <a:ext cx="35518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#1A4E9B · 8.06:1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48275" y="3810000"/>
            <a:ext cx="3762375" cy="2005013"/>
          </a:xfrm>
          <a:prstGeom prst="roundRect">
            <a:avLst>
              <a:gd name="adj" fmla="val 13302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14975" y="4972050"/>
            <a:ext cx="35518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primary-pressed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514975" y="5329238"/>
            <a:ext cx="35518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#15407F · 10.14:1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77350" y="3810000"/>
            <a:ext cx="3762375" cy="2005013"/>
          </a:xfrm>
          <a:prstGeom prst="roundRect">
            <a:avLst>
              <a:gd name="adj" fmla="val 13302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44050" y="4972050"/>
            <a:ext cx="35518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accent-large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544050" y="5329238"/>
            <a:ext cx="35518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#0F3468 · 12.27:1 · 대표 수치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306425" y="3810000"/>
            <a:ext cx="3762375" cy="2005013"/>
          </a:xfrm>
          <a:prstGeom prst="roundRect">
            <a:avLst>
              <a:gd name="adj" fmla="val 13302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573125" y="4972050"/>
            <a:ext cx="35518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primary-container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573125" y="5329238"/>
            <a:ext cx="35518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#E3EDFB · tonal 면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19200" y="6081713"/>
            <a:ext cx="3762375" cy="2005013"/>
          </a:xfrm>
          <a:prstGeom prst="roundRect">
            <a:avLst>
              <a:gd name="adj" fmla="val 13302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485900" y="7243763"/>
            <a:ext cx="35518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on-surface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485900" y="7600950"/>
            <a:ext cx="35518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#171C1C · 17.23:1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248275" y="6081713"/>
            <a:ext cx="3762375" cy="2005013"/>
          </a:xfrm>
          <a:prstGeom prst="roundRect">
            <a:avLst>
              <a:gd name="adj" fmla="val 13302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14975" y="7243763"/>
            <a:ext cx="35518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on-surface-secondary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514975" y="7600950"/>
            <a:ext cx="35518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#374151 · 10.30:1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277350" y="6081713"/>
            <a:ext cx="3762375" cy="2005013"/>
          </a:xfrm>
          <a:prstGeom prst="roundRect">
            <a:avLst>
              <a:gd name="adj" fmla="val 13302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544050" y="7243763"/>
            <a:ext cx="35518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border-strong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9544050" y="7600950"/>
            <a:ext cx="35518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#5A6472 · 6.07:1 · 정보 경계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3306425" y="6081713"/>
            <a:ext cx="3762375" cy="2005013"/>
          </a:xfrm>
          <a:prstGeom prst="roundRect">
            <a:avLst>
              <a:gd name="adj" fmla="val 13302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3573125" y="7243763"/>
            <a:ext cx="35518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border-subtle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3573125" y="7600950"/>
            <a:ext cx="35518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#D5DBE4 · 1.39:1 · 장식 전용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19200" y="9458325"/>
            <a:ext cx="26410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· 디자인 가이드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6782604" y="9458325"/>
            <a:ext cx="3623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800" dirty="0"/>
          </a:p>
        </p:txBody>
      </p:sp>
      <p:sp>
        <p:nvSpPr>
          <p:cNvPr id="39" name="양쪽 모서리가 둥근 사각형 38"/>
          <p:cNvSpPr/>
          <p:nvPr/>
        </p:nvSpPr>
        <p:spPr>
          <a:xfrm>
            <a:off x="1219199" y="3810001"/>
            <a:ext cx="3762375" cy="987214"/>
          </a:xfrm>
          <a:prstGeom prst="round2SameRect">
            <a:avLst>
              <a:gd name="adj1" fmla="val 24517"/>
              <a:gd name="adj2" fmla="val 0"/>
            </a:avLst>
          </a:prstGeom>
          <a:solidFill>
            <a:srgbClr val="1A4E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양쪽 모서리가 둥근 사각형 40"/>
          <p:cNvSpPr/>
          <p:nvPr/>
        </p:nvSpPr>
        <p:spPr>
          <a:xfrm>
            <a:off x="5248275" y="3810001"/>
            <a:ext cx="3762375" cy="987214"/>
          </a:xfrm>
          <a:prstGeom prst="round2SameRect">
            <a:avLst>
              <a:gd name="adj1" fmla="val 21714"/>
              <a:gd name="adj2" fmla="val 0"/>
            </a:avLst>
          </a:prstGeom>
          <a:solidFill>
            <a:srgbClr val="1540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양쪽 모서리가 둥근 사각형 41"/>
          <p:cNvSpPr/>
          <p:nvPr/>
        </p:nvSpPr>
        <p:spPr>
          <a:xfrm>
            <a:off x="9277349" y="3810000"/>
            <a:ext cx="3762375" cy="985837"/>
          </a:xfrm>
          <a:prstGeom prst="round2SameRect">
            <a:avLst>
              <a:gd name="adj1" fmla="val 23396"/>
              <a:gd name="adj2" fmla="val 0"/>
            </a:avLst>
          </a:prstGeom>
          <a:solidFill>
            <a:srgbClr val="0F34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양쪽 모서리가 둥근 사각형 42"/>
          <p:cNvSpPr/>
          <p:nvPr/>
        </p:nvSpPr>
        <p:spPr>
          <a:xfrm>
            <a:off x="13306423" y="3810000"/>
            <a:ext cx="3762375" cy="993045"/>
          </a:xfrm>
          <a:prstGeom prst="round2SameRect">
            <a:avLst/>
          </a:prstGeom>
          <a:solidFill>
            <a:srgbClr val="E3ED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양쪽 모서리가 둥근 사각형 43"/>
          <p:cNvSpPr/>
          <p:nvPr/>
        </p:nvSpPr>
        <p:spPr>
          <a:xfrm>
            <a:off x="1219199" y="6069600"/>
            <a:ext cx="3762375" cy="987214"/>
          </a:xfrm>
          <a:prstGeom prst="round2SameRect">
            <a:avLst>
              <a:gd name="adj1" fmla="val 24517"/>
              <a:gd name="adj2" fmla="val 0"/>
            </a:avLst>
          </a:prstGeom>
          <a:solidFill>
            <a:srgbClr val="17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양쪽 모서리가 둥근 사각형 44"/>
          <p:cNvSpPr/>
          <p:nvPr/>
        </p:nvSpPr>
        <p:spPr>
          <a:xfrm>
            <a:off x="5248275" y="6069600"/>
            <a:ext cx="3762375" cy="987214"/>
          </a:xfrm>
          <a:prstGeom prst="round2SameRect">
            <a:avLst>
              <a:gd name="adj1" fmla="val 21714"/>
              <a:gd name="adj2" fmla="val 0"/>
            </a:avLst>
          </a:prstGeom>
          <a:solidFill>
            <a:srgbClr val="3741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양쪽 모서리가 둥근 사각형 45"/>
          <p:cNvSpPr/>
          <p:nvPr/>
        </p:nvSpPr>
        <p:spPr>
          <a:xfrm>
            <a:off x="9277349" y="6069599"/>
            <a:ext cx="3762375" cy="985837"/>
          </a:xfrm>
          <a:prstGeom prst="round2SameRect">
            <a:avLst>
              <a:gd name="adj1" fmla="val 23396"/>
              <a:gd name="adj2" fmla="val 0"/>
            </a:avLst>
          </a:prstGeom>
          <a:solidFill>
            <a:srgbClr val="5A64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양쪽 모서리가 둥근 사각형 46"/>
          <p:cNvSpPr/>
          <p:nvPr/>
        </p:nvSpPr>
        <p:spPr>
          <a:xfrm>
            <a:off x="13306423" y="6069599"/>
            <a:ext cx="3762375" cy="993045"/>
          </a:xfrm>
          <a:prstGeom prst="round2SameRect">
            <a:avLst/>
          </a:prstGeom>
          <a:solidFill>
            <a:srgbClr val="D5D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93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ON-COLOR PAIRS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19200" y="1747838"/>
            <a:ext cx="1694481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On-Color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200" y="2709863"/>
            <a:ext cx="1632508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211"/>
              </a:lnSpc>
              <a:buNone/>
            </a:pPr>
            <a:r>
              <a:rPr lang="en-US" sz="22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표면 색마다 그 위에 올릴 텍스트 색을 짝으로 </a:t>
            </a:r>
            <a:r>
              <a:rPr lang="en-US" sz="22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정의했습니다</a:t>
            </a:r>
            <a:r>
              <a:rPr lang="en-US" sz="22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219200" y="3714750"/>
            <a:ext cx="3762375" cy="2338388"/>
          </a:xfrm>
          <a:prstGeom prst="roundRect">
            <a:avLst>
              <a:gd name="adj" fmla="val 11405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85900" y="5238750"/>
            <a:ext cx="355187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 / on-primary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85900" y="5576888"/>
            <a:ext cx="35518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#1A4E9B · #FFFFFF · 8.06:1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48275" y="3714750"/>
            <a:ext cx="3762375" cy="2338388"/>
          </a:xfrm>
          <a:prstGeom prst="roundRect">
            <a:avLst>
              <a:gd name="adj" fmla="val 11405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14975" y="5238750"/>
            <a:ext cx="355187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primary-container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514975" y="5576888"/>
            <a:ext cx="35518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#E3EDFB · #15407F · 8.58:1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77350" y="3714750"/>
            <a:ext cx="3762375" cy="2338388"/>
          </a:xfrm>
          <a:prstGeom prst="roundRect">
            <a:avLst>
              <a:gd name="adj" fmla="val 11405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77350" y="5048250"/>
            <a:ext cx="3762375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19" name="Text 17"/>
          <p:cNvSpPr/>
          <p:nvPr/>
        </p:nvSpPr>
        <p:spPr>
          <a:xfrm>
            <a:off x="9544050" y="5248275"/>
            <a:ext cx="355187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surface / on-surface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544050" y="5586413"/>
            <a:ext cx="35518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#FFFFFF · #171C1C · 17.23:1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306425" y="3714750"/>
            <a:ext cx="3762375" cy="2338388"/>
          </a:xfrm>
          <a:prstGeom prst="roundRect">
            <a:avLst>
              <a:gd name="adj" fmla="val 11405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3306425" y="5048250"/>
            <a:ext cx="3762375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25" name="Text 23"/>
          <p:cNvSpPr/>
          <p:nvPr/>
        </p:nvSpPr>
        <p:spPr>
          <a:xfrm>
            <a:off x="13573125" y="5248275"/>
            <a:ext cx="355187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on-surface-secondary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3573125" y="5586413"/>
            <a:ext cx="35518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#FFFFFF · #374151 · 10.30:1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19200" y="6319838"/>
            <a:ext cx="3762375" cy="2328863"/>
          </a:xfrm>
          <a:prstGeom prst="roundRect">
            <a:avLst>
              <a:gd name="adj" fmla="val 11452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85900" y="7843838"/>
            <a:ext cx="355187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surface-inverse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485900" y="8181975"/>
            <a:ext cx="35518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#2A303A · #FFFFFF · 13.26:1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248275" y="6319838"/>
            <a:ext cx="3762375" cy="2328863"/>
          </a:xfrm>
          <a:prstGeom prst="roundRect">
            <a:avLst>
              <a:gd name="adj" fmla="val 11452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514975" y="7843838"/>
            <a:ext cx="355187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error-container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5514975" y="8181975"/>
            <a:ext cx="35518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#FCEBEB · #990000 · 7.74:1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277350" y="6319838"/>
            <a:ext cx="3762375" cy="2328863"/>
          </a:xfrm>
          <a:prstGeom prst="roundRect">
            <a:avLst>
              <a:gd name="adj" fmla="val 11452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544050" y="7843838"/>
            <a:ext cx="355187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warning-container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9544050" y="8181975"/>
            <a:ext cx="35518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#FAEEDA · #B84500 · 4.71:1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3306425" y="6319838"/>
            <a:ext cx="3762375" cy="2328863"/>
          </a:xfrm>
          <a:prstGeom prst="roundRect">
            <a:avLst>
              <a:gd name="adj" fmla="val 11452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3573125" y="7843838"/>
            <a:ext cx="355187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success-container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3573125" y="8181975"/>
            <a:ext cx="35518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#E1F5EE · #006E25 · 5.68:1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219200" y="9458325"/>
            <a:ext cx="26410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· 디자인 가이드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6789078" y="9458325"/>
            <a:ext cx="35592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800" dirty="0"/>
          </a:p>
        </p:txBody>
      </p:sp>
      <p:sp>
        <p:nvSpPr>
          <p:cNvPr id="49" name="양쪽 모서리가 둥근 사각형 48"/>
          <p:cNvSpPr/>
          <p:nvPr/>
        </p:nvSpPr>
        <p:spPr>
          <a:xfrm>
            <a:off x="1219200" y="3714298"/>
            <a:ext cx="3762375" cy="1315396"/>
          </a:xfrm>
          <a:prstGeom prst="round2SameRect">
            <a:avLst>
              <a:gd name="adj1" fmla="val 24517"/>
              <a:gd name="adj2" fmla="val 0"/>
            </a:avLst>
          </a:prstGeom>
          <a:solidFill>
            <a:srgbClr val="1A4E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양쪽 모서리가 둥근 사각형 49"/>
          <p:cNvSpPr/>
          <p:nvPr/>
        </p:nvSpPr>
        <p:spPr>
          <a:xfrm>
            <a:off x="5248276" y="3714298"/>
            <a:ext cx="3762375" cy="1315396"/>
          </a:xfrm>
          <a:prstGeom prst="round2SameRect">
            <a:avLst>
              <a:gd name="adj1" fmla="val 21714"/>
              <a:gd name="adj2" fmla="val 0"/>
            </a:avLst>
          </a:prstGeom>
          <a:solidFill>
            <a:srgbClr val="E3ED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양쪽 모서리가 둥근 사각형 50"/>
          <p:cNvSpPr/>
          <p:nvPr/>
        </p:nvSpPr>
        <p:spPr>
          <a:xfrm>
            <a:off x="9277350" y="3714755"/>
            <a:ext cx="3762375" cy="1313561"/>
          </a:xfrm>
          <a:prstGeom prst="round2SameRect">
            <a:avLst>
              <a:gd name="adj1" fmla="val 23396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양쪽 모서리가 둥근 사각형 51"/>
          <p:cNvSpPr/>
          <p:nvPr/>
        </p:nvSpPr>
        <p:spPr>
          <a:xfrm>
            <a:off x="13306424" y="3712359"/>
            <a:ext cx="3762375" cy="1323165"/>
          </a:xfrm>
          <a:prstGeom prst="round2Same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485900" y="4131469"/>
            <a:ext cx="1889552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가나다 Aa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5514975" y="4131469"/>
            <a:ext cx="1889552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54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가나다 Aa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9544050" y="4131469"/>
            <a:ext cx="1889552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가나다 Aa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3573125" y="4131469"/>
            <a:ext cx="186655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가나다 Aa</a:t>
            </a:r>
            <a:endParaRPr lang="en-US" sz="3300" dirty="0"/>
          </a:p>
        </p:txBody>
      </p:sp>
      <p:sp>
        <p:nvSpPr>
          <p:cNvPr id="53" name="양쪽 모서리가 둥근 사각형 52"/>
          <p:cNvSpPr/>
          <p:nvPr/>
        </p:nvSpPr>
        <p:spPr>
          <a:xfrm>
            <a:off x="1219200" y="6330136"/>
            <a:ext cx="3762375" cy="1315396"/>
          </a:xfrm>
          <a:prstGeom prst="round2SameRect">
            <a:avLst>
              <a:gd name="adj1" fmla="val 24517"/>
              <a:gd name="adj2" fmla="val 0"/>
            </a:avLst>
          </a:prstGeom>
          <a:solidFill>
            <a:srgbClr val="2A30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양쪽 모서리가 둥근 사각형 53"/>
          <p:cNvSpPr/>
          <p:nvPr/>
        </p:nvSpPr>
        <p:spPr>
          <a:xfrm>
            <a:off x="5248276" y="6330136"/>
            <a:ext cx="3762375" cy="1315396"/>
          </a:xfrm>
          <a:prstGeom prst="round2SameRect">
            <a:avLst>
              <a:gd name="adj1" fmla="val 21714"/>
              <a:gd name="adj2" fmla="val 0"/>
            </a:avLst>
          </a:prstGeom>
          <a:solidFill>
            <a:srgbClr val="FC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양쪽 모서리가 둥근 사각형 54"/>
          <p:cNvSpPr/>
          <p:nvPr/>
        </p:nvSpPr>
        <p:spPr>
          <a:xfrm>
            <a:off x="9277350" y="6330593"/>
            <a:ext cx="3762375" cy="1313561"/>
          </a:xfrm>
          <a:prstGeom prst="round2SameRect">
            <a:avLst>
              <a:gd name="adj1" fmla="val 23396"/>
              <a:gd name="adj2" fmla="val 0"/>
            </a:avLst>
          </a:prstGeom>
          <a:solidFill>
            <a:srgbClr val="FAEE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양쪽 모서리가 둥근 사각형 55"/>
          <p:cNvSpPr/>
          <p:nvPr/>
        </p:nvSpPr>
        <p:spPr>
          <a:xfrm>
            <a:off x="13306424" y="6328197"/>
            <a:ext cx="3762375" cy="1323165"/>
          </a:xfrm>
          <a:prstGeom prst="round2SameRect">
            <a:avLst/>
          </a:prstGeom>
          <a:solidFill>
            <a:srgbClr val="E1F5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485900" y="6736556"/>
            <a:ext cx="1889552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가나다 Aa</a:t>
            </a:r>
            <a:endParaRPr lang="en-US" sz="3300" dirty="0"/>
          </a:p>
        </p:txBody>
      </p:sp>
      <p:sp>
        <p:nvSpPr>
          <p:cNvPr id="34" name="Text 32"/>
          <p:cNvSpPr/>
          <p:nvPr/>
        </p:nvSpPr>
        <p:spPr>
          <a:xfrm>
            <a:off x="5514975" y="6736556"/>
            <a:ext cx="169997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99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 불가</a:t>
            </a:r>
            <a:endParaRPr lang="en-US" sz="3300" dirty="0"/>
          </a:p>
        </p:txBody>
      </p:sp>
      <p:sp>
        <p:nvSpPr>
          <p:cNvPr id="39" name="Text 37"/>
          <p:cNvSpPr/>
          <p:nvPr/>
        </p:nvSpPr>
        <p:spPr>
          <a:xfrm>
            <a:off x="9544050" y="6736556"/>
            <a:ext cx="125945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B84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점검 중</a:t>
            </a:r>
            <a:endParaRPr lang="en-US" sz="3300" dirty="0"/>
          </a:p>
        </p:txBody>
      </p:sp>
      <p:sp>
        <p:nvSpPr>
          <p:cNvPr id="44" name="Text 42"/>
          <p:cNvSpPr/>
          <p:nvPr/>
        </p:nvSpPr>
        <p:spPr>
          <a:xfrm>
            <a:off x="13573125" y="6736556"/>
            <a:ext cx="169997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6E2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 가능</a:t>
            </a:r>
            <a:endParaRPr lang="en-US" sz="3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00150" y="1476375"/>
            <a:ext cx="8572500" cy="857250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90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" name="Shape 4"/>
          <p:cNvSpPr/>
          <p:nvPr/>
        </p:nvSpPr>
        <p:spPr>
          <a:xfrm>
            <a:off x="1219200" y="4000500"/>
            <a:ext cx="3733800" cy="3871913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19200" y="6096000"/>
            <a:ext cx="37338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9" name="Text 7"/>
          <p:cNvSpPr/>
          <p:nvPr/>
        </p:nvSpPr>
        <p:spPr>
          <a:xfrm>
            <a:off x="1562100" y="6410325"/>
            <a:ext cx="3352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surface-dim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562100" y="6872288"/>
            <a:ext cx="33528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바탕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62100" y="7267575"/>
            <a:ext cx="33528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#F5F7FA · N5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257800" y="4000500"/>
            <a:ext cx="3733800" cy="3871913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00700" y="6400800"/>
            <a:ext cx="3352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surface-container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5600700" y="6862763"/>
            <a:ext cx="33528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비활성 면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600700" y="7258050"/>
            <a:ext cx="33528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#E9EDF3 · N10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296400" y="4000500"/>
            <a:ext cx="3733800" cy="3871913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96400" y="6096000"/>
            <a:ext cx="37338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20" name="Text 18"/>
          <p:cNvSpPr/>
          <p:nvPr/>
        </p:nvSpPr>
        <p:spPr>
          <a:xfrm>
            <a:off x="9639300" y="6410325"/>
            <a:ext cx="3352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surface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639300" y="6872288"/>
            <a:ext cx="33528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· 시트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639300" y="7267575"/>
            <a:ext cx="33528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#FFFFFF · N0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3335000" y="4000500"/>
            <a:ext cx="3733800" cy="3871913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3335000" y="6096000"/>
            <a:ext cx="37338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27" name="Text 25"/>
          <p:cNvSpPr/>
          <p:nvPr/>
        </p:nvSpPr>
        <p:spPr>
          <a:xfrm>
            <a:off x="13677900" y="6410325"/>
            <a:ext cx="3352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field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13677900" y="6872288"/>
            <a:ext cx="33528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필드 면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3677900" y="7267575"/>
            <a:ext cx="33528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#F5F7FA · 테두리 2px 필수</a:t>
            </a:r>
            <a:endParaRPr lang="en-US" sz="1950" dirty="0"/>
          </a:p>
        </p:txBody>
      </p:sp>
      <p:sp>
        <p:nvSpPr>
          <p:cNvPr id="32" name="양쪽 모서리가 둥근 사각형 31"/>
          <p:cNvSpPr/>
          <p:nvPr/>
        </p:nvSpPr>
        <p:spPr>
          <a:xfrm>
            <a:off x="1219200" y="3993268"/>
            <a:ext cx="3762375" cy="2102731"/>
          </a:xfrm>
          <a:prstGeom prst="round2SameRect">
            <a:avLst>
              <a:gd name="adj1" fmla="val 16410"/>
              <a:gd name="adj2" fmla="val 0"/>
            </a:avLst>
          </a:prstGeom>
          <a:solidFill>
            <a:srgbClr val="F5F7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양쪽 모서리가 둥근 사각형 32"/>
          <p:cNvSpPr/>
          <p:nvPr/>
        </p:nvSpPr>
        <p:spPr>
          <a:xfrm>
            <a:off x="5248276" y="3993268"/>
            <a:ext cx="3762375" cy="2102731"/>
          </a:xfrm>
          <a:prstGeom prst="round2SameRect">
            <a:avLst>
              <a:gd name="adj1" fmla="val 14344"/>
              <a:gd name="adj2" fmla="val 0"/>
            </a:avLst>
          </a:prstGeom>
          <a:solidFill>
            <a:srgbClr val="E9ED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양쪽 모서리가 둥근 사각형 33"/>
          <p:cNvSpPr/>
          <p:nvPr/>
        </p:nvSpPr>
        <p:spPr>
          <a:xfrm>
            <a:off x="9277350" y="3993726"/>
            <a:ext cx="3762375" cy="2099798"/>
          </a:xfrm>
          <a:prstGeom prst="round2SameRect">
            <a:avLst>
              <a:gd name="adj1" fmla="val 20444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양쪽 모서리가 둥근 사각형 34"/>
          <p:cNvSpPr/>
          <p:nvPr/>
        </p:nvSpPr>
        <p:spPr>
          <a:xfrm>
            <a:off x="13306424" y="3991330"/>
            <a:ext cx="3762375" cy="2115150"/>
          </a:xfrm>
          <a:prstGeom prst="round2SameRect">
            <a:avLst>
              <a:gd name="adj1" fmla="val 15202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219200" y="1219200"/>
            <a:ext cx="174345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93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SURFACE LAYERS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19200" y="1747838"/>
            <a:ext cx="1743456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별 표면(Surface) 레이어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19200" y="2709863"/>
            <a:ext cx="1632508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211"/>
              </a:lnSpc>
              <a:buNone/>
            </a:pPr>
            <a:r>
              <a:rPr lang="en-US" sz="22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바탕부터 입력 필드까지 네 단계의 면을 씁니다. 면 차이만으로 구분하지 않고 elevation · 여백을 함께 씁니다.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3639800" y="4629150"/>
            <a:ext cx="3124200" cy="838200"/>
          </a:xfrm>
          <a:prstGeom prst="roundRect">
            <a:avLst>
              <a:gd name="adj" fmla="val 13636"/>
            </a:avLst>
          </a:prstGeom>
          <a:solidFill>
            <a:srgbClr val="F5F7FA"/>
          </a:solidFill>
          <a:ln w="19050">
            <a:solidFill>
              <a:srgbClr val="5A64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19200" y="9458325"/>
            <a:ext cx="26410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· 디자인 가이드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785282" y="9458325"/>
            <a:ext cx="35971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93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SURFACE &amp; SHADOW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19200" y="1747838"/>
            <a:ext cx="1743456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표면과 그림자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200" y="2709863"/>
            <a:ext cx="1632508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211"/>
              </a:lnSpc>
              <a:buNone/>
            </a:pPr>
            <a:r>
              <a:rPr lang="en-US" sz="22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 차이 · 그룹 제목과 여백 · 그림자 세 채널을 함께 씁니다. 그림자는 보조 채널입니다.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219200" y="4000500"/>
            <a:ext cx="3733800" cy="42481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19200" y="6096000"/>
            <a:ext cx="37338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9" name="Text 7"/>
          <p:cNvSpPr/>
          <p:nvPr/>
        </p:nvSpPr>
        <p:spPr>
          <a:xfrm>
            <a:off x="1562100" y="6410325"/>
            <a:ext cx="3352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elevation-1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562100" y="6872288"/>
            <a:ext cx="33528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· 리스트 그룹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62100" y="7267575"/>
            <a:ext cx="33528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 0 · Y 1 · Blur 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62100" y="7643813"/>
            <a:ext cx="33528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 0 · Y 1 · Blur 2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5257800" y="4000500"/>
            <a:ext cx="3733800" cy="42481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57800" y="6096000"/>
            <a:ext cx="37338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17" name="Text 15"/>
          <p:cNvSpPr/>
          <p:nvPr/>
        </p:nvSpPr>
        <p:spPr>
          <a:xfrm>
            <a:off x="5600700" y="6410325"/>
            <a:ext cx="3352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elevation-2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5600700" y="6872288"/>
            <a:ext cx="33528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 위 플로팅 컨트롤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00700" y="7267575"/>
            <a:ext cx="33528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 0 · Y 2 · Blur 8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296400" y="4000500"/>
            <a:ext cx="3733800" cy="42481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96400" y="6096000"/>
            <a:ext cx="37338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24" name="Text 22"/>
          <p:cNvSpPr/>
          <p:nvPr/>
        </p:nvSpPr>
        <p:spPr>
          <a:xfrm>
            <a:off x="9639300" y="6410325"/>
            <a:ext cx="3352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elevation-3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9639300" y="6872288"/>
            <a:ext cx="33528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다이얼로그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639300" y="7267575"/>
            <a:ext cx="33528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 0 · Y 8 · Blur 24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3335000" y="4000500"/>
            <a:ext cx="3733800" cy="42481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3335000" y="6096000"/>
            <a:ext cx="37338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32" name="Text 30"/>
          <p:cNvSpPr/>
          <p:nvPr/>
        </p:nvSpPr>
        <p:spPr>
          <a:xfrm>
            <a:off x="13677900" y="6410325"/>
            <a:ext cx="3352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surface-sunken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3677900" y="6872288"/>
            <a:ext cx="33528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안 묶음 영역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3677900" y="7267575"/>
            <a:ext cx="33528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그림자 없음 · 면 차이로 구분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219200" y="9458325"/>
            <a:ext cx="26410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· 디자인 가이드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804258" y="9458325"/>
            <a:ext cx="3407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양쪽 모서리가 둥근 사각형 36"/>
          <p:cNvSpPr/>
          <p:nvPr/>
        </p:nvSpPr>
        <p:spPr>
          <a:xfrm>
            <a:off x="1200149" y="3986752"/>
            <a:ext cx="3762375" cy="2102731"/>
          </a:xfrm>
          <a:prstGeom prst="round2SameRect">
            <a:avLst>
              <a:gd name="adj1" fmla="val 16410"/>
              <a:gd name="adj2" fmla="val 0"/>
            </a:avLst>
          </a:prstGeom>
          <a:solidFill>
            <a:srgbClr val="F5F7FA"/>
          </a:solidFill>
          <a:ln>
            <a:solidFill>
              <a:srgbClr val="E9ED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양쪽 모서리가 둥근 사각형 37"/>
          <p:cNvSpPr/>
          <p:nvPr/>
        </p:nvSpPr>
        <p:spPr>
          <a:xfrm>
            <a:off x="5229225" y="3986752"/>
            <a:ext cx="3762375" cy="2102731"/>
          </a:xfrm>
          <a:prstGeom prst="round2SameRect">
            <a:avLst>
              <a:gd name="adj1" fmla="val 14344"/>
              <a:gd name="adj2" fmla="val 0"/>
            </a:avLst>
          </a:prstGeom>
          <a:solidFill>
            <a:srgbClr val="F5F7FA"/>
          </a:solidFill>
          <a:ln>
            <a:solidFill>
              <a:srgbClr val="E9ED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양쪽 모서리가 둥근 사각형 38"/>
          <p:cNvSpPr/>
          <p:nvPr/>
        </p:nvSpPr>
        <p:spPr>
          <a:xfrm>
            <a:off x="9258299" y="3987210"/>
            <a:ext cx="3762375" cy="2099798"/>
          </a:xfrm>
          <a:prstGeom prst="round2SameRect">
            <a:avLst>
              <a:gd name="adj1" fmla="val 15277"/>
              <a:gd name="adj2" fmla="val 0"/>
            </a:avLst>
          </a:prstGeom>
          <a:solidFill>
            <a:srgbClr val="F5F7FA"/>
          </a:solidFill>
          <a:ln>
            <a:solidFill>
              <a:srgbClr val="E9ED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양쪽 모서리가 둥근 사각형 39"/>
          <p:cNvSpPr/>
          <p:nvPr/>
        </p:nvSpPr>
        <p:spPr>
          <a:xfrm>
            <a:off x="13303415" y="4000856"/>
            <a:ext cx="3762375" cy="2115150"/>
          </a:xfrm>
          <a:prstGeom prst="round2SameRect">
            <a:avLst>
              <a:gd name="adj1" fmla="val 15202"/>
              <a:gd name="adj2" fmla="val 0"/>
            </a:avLst>
          </a:prstGeom>
          <a:solidFill>
            <a:srgbClr val="F5F7FA"/>
          </a:solidFill>
          <a:ln>
            <a:solidFill>
              <a:srgbClr val="E9ED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965945" y="4524375"/>
            <a:ext cx="2240235" cy="10477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00825" y="4524375"/>
            <a:ext cx="1047750" cy="10477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171C1C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43145" y="4429125"/>
            <a:ext cx="2240235" cy="12382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171C1C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4081745" y="4429125"/>
            <a:ext cx="2240235" cy="12382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4272245" y="4619625"/>
            <a:ext cx="1859235" cy="857250"/>
          </a:xfrm>
          <a:prstGeom prst="roundRect">
            <a:avLst>
              <a:gd name="adj" fmla="val 13333"/>
            </a:avLst>
          </a:prstGeom>
          <a:solidFill>
            <a:srgbClr val="E9EDF3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93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19200" y="1747838"/>
            <a:ext cx="1743456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채널을 함께 바꾸는 상태 표현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200" y="2709863"/>
            <a:ext cx="1632508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211"/>
              </a:lnSpc>
              <a:buNone/>
            </a:pPr>
            <a:r>
              <a:rPr lang="en-US" sz="22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상태마다 면 · 테두리 · 텍스트 컬러를 함께 바꾸고, 모든 상태에서 4.5:1 이상 대비를 유지합니다.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219200" y="3524250"/>
            <a:ext cx="15849600" cy="5686425"/>
          </a:xfrm>
          <a:prstGeom prst="roundRect">
            <a:avLst>
              <a:gd name="adj" fmla="val 5360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76400" y="4514850"/>
            <a:ext cx="149352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7" name="Text 5"/>
          <p:cNvSpPr/>
          <p:nvPr/>
        </p:nvSpPr>
        <p:spPr>
          <a:xfrm>
            <a:off x="1676400" y="3919537"/>
            <a:ext cx="2095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62400" y="3919537"/>
            <a:ext cx="59093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15500" y="3919537"/>
            <a:ext cx="75857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컬러 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76400" y="5438775"/>
            <a:ext cx="149352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11" name="Text 9"/>
          <p:cNvSpPr/>
          <p:nvPr/>
        </p:nvSpPr>
        <p:spPr>
          <a:xfrm>
            <a:off x="1676400" y="4800600"/>
            <a:ext cx="20955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Normal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62400" y="4791075"/>
            <a:ext cx="59093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984"/>
              </a:lnSpc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면 · Pressed 값과 같은 순서로 대응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715500" y="48101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5DB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53650" y="4843463"/>
            <a:ext cx="98591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#FFFFFF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291962" y="48101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9EDF3"/>
          </a:solidFill>
          <a:ln w="9525">
            <a:solidFill>
              <a:srgbClr val="D5DB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30112" y="4843463"/>
            <a:ext cx="10593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#E9EDF3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941871" y="48101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3EDFB"/>
          </a:solidFill>
          <a:ln w="9525">
            <a:solidFill>
              <a:srgbClr val="D5DB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380021" y="4843463"/>
            <a:ext cx="105891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#E3EDFB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4591333" y="48101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A4E9B"/>
          </a:solidFill>
          <a:ln w="9525">
            <a:solidFill>
              <a:srgbClr val="D5DB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29483" y="4843463"/>
            <a:ext cx="10499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#1A4E9B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676400" y="6362700"/>
            <a:ext cx="149352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22" name="Text 20"/>
          <p:cNvSpPr/>
          <p:nvPr/>
        </p:nvSpPr>
        <p:spPr>
          <a:xfrm>
            <a:off x="1676400" y="5724525"/>
            <a:ext cx="20955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Pressed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962400" y="5715000"/>
            <a:ext cx="59093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984"/>
              </a:lnSpc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 색만 변화 · 테두리, 아이콘, 라벨 불변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715500" y="57340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DFDFDF"/>
          </a:solidFill>
          <a:ln w="9525">
            <a:solidFill>
              <a:srgbClr val="D5DB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53650" y="5767388"/>
            <a:ext cx="10783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#DFDFDF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384384" y="57340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8E8E8"/>
          </a:solidFill>
          <a:ln w="9525">
            <a:solidFill>
              <a:srgbClr val="D5DB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22534" y="5767388"/>
            <a:ext cx="10488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#E8E8E8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3023800" y="57340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4EAF3"/>
          </a:solidFill>
          <a:ln w="9525">
            <a:solidFill>
              <a:srgbClr val="D5DB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461950" y="5767388"/>
            <a:ext cx="106181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#E4EAF3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676165" y="57340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5407F"/>
          </a:solidFill>
          <a:ln w="9525">
            <a:solidFill>
              <a:srgbClr val="D5DB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114315" y="5767388"/>
            <a:ext cx="101002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#15407F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676400" y="7286625"/>
            <a:ext cx="149352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33" name="Text 31"/>
          <p:cNvSpPr/>
          <p:nvPr/>
        </p:nvSpPr>
        <p:spPr>
          <a:xfrm>
            <a:off x="1676400" y="6648450"/>
            <a:ext cx="20955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Focused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962400" y="6638925"/>
            <a:ext cx="59093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984"/>
              </a:lnSpc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흰색 오프셋 2px + border-focus 링 3px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715500" y="66579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5DB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53650" y="6691313"/>
            <a:ext cx="14925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#FFFFFF 2px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739116" y="66579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A4E9B"/>
          </a:solidFill>
          <a:ln w="9525">
            <a:solidFill>
              <a:srgbClr val="D5DB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177266" y="6691313"/>
            <a:ext cx="15703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#1A4E9B 3px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676400" y="8210550"/>
            <a:ext cx="149352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40" name="Text 38"/>
          <p:cNvSpPr/>
          <p:nvPr/>
        </p:nvSpPr>
        <p:spPr>
          <a:xfrm>
            <a:off x="1676400" y="7572375"/>
            <a:ext cx="20955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Selected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3962400" y="7562850"/>
            <a:ext cx="59093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984"/>
              </a:lnSpc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 + 테두리 + 아이콘 · 텍스트를 함께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9715500" y="75819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3EDFB"/>
          </a:solidFill>
          <a:ln w="9525">
            <a:solidFill>
              <a:srgbClr val="D5DB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153650" y="7615238"/>
            <a:ext cx="13579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#E3EDFB 면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1616779" y="75819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A4E9B"/>
          </a:solidFill>
          <a:ln w="9525">
            <a:solidFill>
              <a:srgbClr val="D5DB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054929" y="7615238"/>
            <a:ext cx="15630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#1A4E9B 2px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676400" y="8496300"/>
            <a:ext cx="20955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Disabled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3962400" y="8486775"/>
            <a:ext cx="59093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984"/>
              </a:lnSpc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 + 텍스트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9715500" y="85058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9EDF3"/>
          </a:solidFill>
          <a:ln w="9525">
            <a:solidFill>
              <a:srgbClr val="D5DB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53650" y="8539163"/>
            <a:ext cx="13584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 #E9EDF3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1617226" y="85058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9EDF3"/>
          </a:solidFill>
          <a:ln w="9525">
            <a:solidFill>
              <a:srgbClr val="D5DB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588651" y="851535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1C1C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2055376" y="8539163"/>
            <a:ext cx="23272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 #171C1C 90%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219200" y="9458325"/>
            <a:ext cx="26410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· 디자인 가이드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6786399" y="9458325"/>
            <a:ext cx="35860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800" dirty="0"/>
          </a:p>
        </p:txBody>
      </p:sp>
      <p:sp>
        <p:nvSpPr>
          <p:cNvPr id="55" name="Shape 30"/>
          <p:cNvSpPr/>
          <p:nvPr/>
        </p:nvSpPr>
        <p:spPr>
          <a:xfrm>
            <a:off x="1676400" y="8277064"/>
            <a:ext cx="14935200" cy="9525"/>
          </a:xfrm>
          <a:prstGeom prst="rect">
            <a:avLst/>
          </a:prstGeom>
          <a:solidFill>
            <a:srgbClr val="D5DBE4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0" y="0"/>
            <a:ext cx="6096000" cy="6096000"/>
          </a:xfrm>
          <a:prstGeom prst="ellipse">
            <a:avLst/>
          </a:prstGeom>
          <a:gradFill rotWithShape="1">
            <a:gsLst>
              <a:gs pos="0">
                <a:srgbClr val="1A4E9B">
                  <a:alpha val="10000"/>
                </a:srgbClr>
              </a:gs>
              <a:gs pos="70000">
                <a:srgbClr val="1A4E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19200" y="1219200"/>
            <a:ext cx="174345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93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BUTTON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19200" y="1747838"/>
            <a:ext cx="1743456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둥근 라운드 버튼 4종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19200" y="2709863"/>
            <a:ext cx="1632508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211"/>
              </a:lnSpc>
              <a:buNone/>
            </a:pPr>
            <a:r>
              <a:rPr lang="en-US" sz="22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별 변형으로 구분하여 반영합니다.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219200" y="5276850"/>
            <a:ext cx="51435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4460081"/>
            <a:ext cx="56578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19200" y="4817269"/>
            <a:ext cx="56578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41"/>
              </a:lnSpc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행동 · 화면당 1종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19200" y="6238875"/>
            <a:ext cx="51435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5422106"/>
            <a:ext cx="56578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tonal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19200" y="5779294"/>
            <a:ext cx="56578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41"/>
              </a:lnSpc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행동과 나란한 보조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19200" y="7200900"/>
            <a:ext cx="51435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13" name="Text 11"/>
          <p:cNvSpPr/>
          <p:nvPr/>
        </p:nvSpPr>
        <p:spPr>
          <a:xfrm>
            <a:off x="1219200" y="6384131"/>
            <a:ext cx="56578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outline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19200" y="6741319"/>
            <a:ext cx="56578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41"/>
              </a:lnSpc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행동 보조 및 취소 · 닫기 · 종료 · 2px 테두리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19200" y="7346156"/>
            <a:ext cx="56578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destructive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19200" y="7703344"/>
            <a:ext cx="56578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41"/>
              </a:lnSpc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되돌릴 수 없는 행동 · Dialog 한정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53200" y="3714750"/>
            <a:ext cx="10515600" cy="4638675"/>
          </a:xfrm>
          <a:prstGeom prst="roundRect">
            <a:avLst>
              <a:gd name="adj" fmla="val 5749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43700" y="3905250"/>
            <a:ext cx="24193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Normal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877050" y="4456733"/>
            <a:ext cx="2152650" cy="687660"/>
          </a:xfrm>
          <a:prstGeom prst="roundRect">
            <a:avLst>
              <a:gd name="adj" fmla="val 50000"/>
            </a:avLst>
          </a:prstGeom>
          <a:solidFill>
            <a:srgbClr val="1A4E9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2893" y="4625037"/>
            <a:ext cx="1280964" cy="3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 안내 시작</a:t>
            </a:r>
            <a:endParaRPr lang="en-US" sz="1600" b="1" dirty="0"/>
          </a:p>
        </p:txBody>
      </p:sp>
      <p:sp>
        <p:nvSpPr>
          <p:cNvPr id="21" name="Shape 19"/>
          <p:cNvSpPr/>
          <p:nvPr/>
        </p:nvSpPr>
        <p:spPr>
          <a:xfrm>
            <a:off x="6877050" y="5409233"/>
            <a:ext cx="2152650" cy="687660"/>
          </a:xfrm>
          <a:prstGeom prst="roundRect">
            <a:avLst>
              <a:gd name="adj" fmla="val 50000"/>
            </a:avLst>
          </a:prstGeom>
          <a:solidFill>
            <a:srgbClr val="E3EDFB"/>
          </a:solidFill>
          <a:ln/>
        </p:spPr>
      </p:sp>
      <p:sp>
        <p:nvSpPr>
          <p:cNvPr id="22" name="Text 20"/>
          <p:cNvSpPr/>
          <p:nvPr/>
        </p:nvSpPr>
        <p:spPr>
          <a:xfrm>
            <a:off x="7337450" y="5577537"/>
            <a:ext cx="1231776" cy="3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600" b="1" dirty="0">
                <a:solidFill>
                  <a:srgbClr val="154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출발지로 설정</a:t>
            </a:r>
            <a:endParaRPr lang="en-US" sz="1600" b="1" dirty="0"/>
          </a:p>
        </p:txBody>
      </p:sp>
      <p:sp>
        <p:nvSpPr>
          <p:cNvPr id="23" name="Shape 21"/>
          <p:cNvSpPr/>
          <p:nvPr/>
        </p:nvSpPr>
        <p:spPr>
          <a:xfrm>
            <a:off x="6877050" y="6361733"/>
            <a:ext cx="2152650" cy="6876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009">
            <a:solidFill>
              <a:srgbClr val="1A4E9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21848" y="6530037"/>
            <a:ext cx="862980" cy="3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600" b="1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 종료</a:t>
            </a:r>
            <a:endParaRPr lang="en-US" sz="1600" b="1" dirty="0"/>
          </a:p>
        </p:txBody>
      </p:sp>
      <p:sp>
        <p:nvSpPr>
          <p:cNvPr id="25" name="Shape 23"/>
          <p:cNvSpPr/>
          <p:nvPr/>
        </p:nvSpPr>
        <p:spPr>
          <a:xfrm>
            <a:off x="6877050" y="7314233"/>
            <a:ext cx="2152650" cy="687660"/>
          </a:xfrm>
          <a:prstGeom prst="roundRect">
            <a:avLst>
              <a:gd name="adj" fmla="val 50000"/>
            </a:avLst>
          </a:prstGeom>
          <a:solidFill>
            <a:srgbClr val="99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7337450" y="7482537"/>
            <a:ext cx="1231776" cy="3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즐겨찾기 삭제</a:t>
            </a:r>
            <a:endParaRPr lang="en-US" sz="1600" b="1" dirty="0"/>
          </a:p>
        </p:txBody>
      </p:sp>
      <p:sp>
        <p:nvSpPr>
          <p:cNvPr id="27" name="Text 25"/>
          <p:cNvSpPr/>
          <p:nvPr/>
        </p:nvSpPr>
        <p:spPr>
          <a:xfrm>
            <a:off x="9315450" y="3905250"/>
            <a:ext cx="24193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Pressed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448800" y="4456733"/>
            <a:ext cx="2152650" cy="687660"/>
          </a:xfrm>
          <a:prstGeom prst="roundRect">
            <a:avLst>
              <a:gd name="adj" fmla="val 50000"/>
            </a:avLst>
          </a:prstGeom>
          <a:solidFill>
            <a:srgbClr val="15407F"/>
          </a:solidFill>
          <a:ln/>
        </p:spPr>
      </p:sp>
      <p:sp>
        <p:nvSpPr>
          <p:cNvPr id="29" name="Text 27"/>
          <p:cNvSpPr/>
          <p:nvPr/>
        </p:nvSpPr>
        <p:spPr>
          <a:xfrm>
            <a:off x="9884643" y="4625037"/>
            <a:ext cx="1280964" cy="3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 안내 시작</a:t>
            </a:r>
            <a:endParaRPr lang="en-US" sz="1600" b="1" dirty="0"/>
          </a:p>
        </p:txBody>
      </p:sp>
      <p:sp>
        <p:nvSpPr>
          <p:cNvPr id="30" name="Shape 28"/>
          <p:cNvSpPr/>
          <p:nvPr/>
        </p:nvSpPr>
        <p:spPr>
          <a:xfrm>
            <a:off x="9448800" y="5409233"/>
            <a:ext cx="2152650" cy="687660"/>
          </a:xfrm>
          <a:prstGeom prst="roundRect">
            <a:avLst>
              <a:gd name="adj" fmla="val 50000"/>
            </a:avLst>
          </a:prstGeom>
          <a:solidFill>
            <a:srgbClr val="E4EAF3"/>
          </a:solidFill>
          <a:ln/>
        </p:spPr>
      </p:sp>
      <p:sp>
        <p:nvSpPr>
          <p:cNvPr id="31" name="Text 29"/>
          <p:cNvSpPr/>
          <p:nvPr/>
        </p:nvSpPr>
        <p:spPr>
          <a:xfrm>
            <a:off x="9909200" y="5577537"/>
            <a:ext cx="1231776" cy="3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600" b="1" dirty="0">
                <a:solidFill>
                  <a:srgbClr val="154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출발지로 설정</a:t>
            </a:r>
            <a:endParaRPr lang="en-US" sz="1600" b="1" dirty="0"/>
          </a:p>
        </p:txBody>
      </p:sp>
      <p:sp>
        <p:nvSpPr>
          <p:cNvPr id="32" name="Shape 30"/>
          <p:cNvSpPr/>
          <p:nvPr/>
        </p:nvSpPr>
        <p:spPr>
          <a:xfrm>
            <a:off x="9448800" y="6361733"/>
            <a:ext cx="2152650" cy="687660"/>
          </a:xfrm>
          <a:prstGeom prst="roundRect">
            <a:avLst>
              <a:gd name="adj" fmla="val 50000"/>
            </a:avLst>
          </a:prstGeom>
          <a:solidFill>
            <a:srgbClr val="DFDFDF"/>
          </a:solidFill>
          <a:ln w="17009">
            <a:solidFill>
              <a:srgbClr val="1A4E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93598" y="6530037"/>
            <a:ext cx="862980" cy="3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600" b="1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 종료</a:t>
            </a:r>
            <a:endParaRPr lang="en-US" sz="1600" b="1" dirty="0"/>
          </a:p>
        </p:txBody>
      </p:sp>
      <p:sp>
        <p:nvSpPr>
          <p:cNvPr id="34" name="Shape 32"/>
          <p:cNvSpPr/>
          <p:nvPr/>
        </p:nvSpPr>
        <p:spPr>
          <a:xfrm>
            <a:off x="9448800" y="7314233"/>
            <a:ext cx="2152650" cy="687660"/>
          </a:xfrm>
          <a:prstGeom prst="roundRect">
            <a:avLst>
              <a:gd name="adj" fmla="val 50000"/>
            </a:avLst>
          </a:prstGeom>
          <a:solidFill>
            <a:srgbClr val="7A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9909200" y="7482537"/>
            <a:ext cx="1231776" cy="3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즐겨찾기 삭제</a:t>
            </a:r>
            <a:endParaRPr lang="en-US" sz="1600" b="1" dirty="0"/>
          </a:p>
        </p:txBody>
      </p:sp>
      <p:sp>
        <p:nvSpPr>
          <p:cNvPr id="36" name="Text 34"/>
          <p:cNvSpPr/>
          <p:nvPr/>
        </p:nvSpPr>
        <p:spPr>
          <a:xfrm>
            <a:off x="11887200" y="3905250"/>
            <a:ext cx="24193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Focused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2020550" y="4456733"/>
            <a:ext cx="2152650" cy="687660"/>
          </a:xfrm>
          <a:prstGeom prst="roundRect">
            <a:avLst>
              <a:gd name="adj" fmla="val 50000"/>
            </a:avLst>
          </a:prstGeom>
          <a:ln/>
          <a:effectLst>
            <a:outerShdw blurRad="101600" dist="50800" dir="16200000" algn="bl" rotWithShape="0">
              <a:srgbClr val="FFFFFF">
                <a:alpha val="10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2020550" y="4456733"/>
            <a:ext cx="2152650" cy="687660"/>
          </a:xfrm>
          <a:prstGeom prst="roundRect">
            <a:avLst>
              <a:gd name="adj" fmla="val 50000"/>
            </a:avLst>
          </a:prstGeom>
          <a:solidFill>
            <a:srgbClr val="1A4E9B"/>
          </a:solidFill>
          <a:ln/>
        </p:spPr>
      </p:sp>
      <p:sp>
        <p:nvSpPr>
          <p:cNvPr id="39" name="Text 37"/>
          <p:cNvSpPr/>
          <p:nvPr/>
        </p:nvSpPr>
        <p:spPr>
          <a:xfrm>
            <a:off x="12456393" y="4625037"/>
            <a:ext cx="1280964" cy="3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 안내 시작</a:t>
            </a:r>
            <a:endParaRPr lang="en-US" sz="1600" b="1" dirty="0"/>
          </a:p>
        </p:txBody>
      </p:sp>
      <p:sp>
        <p:nvSpPr>
          <p:cNvPr id="40" name="Shape 38"/>
          <p:cNvSpPr/>
          <p:nvPr/>
        </p:nvSpPr>
        <p:spPr>
          <a:xfrm>
            <a:off x="12020550" y="5409233"/>
            <a:ext cx="2152650" cy="687660"/>
          </a:xfrm>
          <a:prstGeom prst="roundRect">
            <a:avLst>
              <a:gd name="adj" fmla="val 50000"/>
            </a:avLst>
          </a:prstGeom>
          <a:ln/>
          <a:effectLst>
            <a:outerShdw blurRad="101600" dist="50800" dir="16200000" algn="bl" rotWithShape="0">
              <a:srgbClr val="FFFFFF">
                <a:alpha val="10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2020550" y="5409233"/>
            <a:ext cx="2152650" cy="687660"/>
          </a:xfrm>
          <a:prstGeom prst="roundRect">
            <a:avLst>
              <a:gd name="adj" fmla="val 50000"/>
            </a:avLst>
          </a:prstGeom>
          <a:solidFill>
            <a:srgbClr val="E3EDFB"/>
          </a:solidFill>
          <a:ln/>
        </p:spPr>
      </p:sp>
      <p:sp>
        <p:nvSpPr>
          <p:cNvPr id="42" name="Text 40"/>
          <p:cNvSpPr/>
          <p:nvPr/>
        </p:nvSpPr>
        <p:spPr>
          <a:xfrm>
            <a:off x="12480950" y="5577537"/>
            <a:ext cx="1231776" cy="3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600" b="1" dirty="0">
                <a:solidFill>
                  <a:srgbClr val="154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출발지로 설정</a:t>
            </a:r>
            <a:endParaRPr lang="en-US" sz="1600" b="1" dirty="0"/>
          </a:p>
        </p:txBody>
      </p:sp>
      <p:sp>
        <p:nvSpPr>
          <p:cNvPr id="43" name="Shape 41"/>
          <p:cNvSpPr/>
          <p:nvPr/>
        </p:nvSpPr>
        <p:spPr>
          <a:xfrm>
            <a:off x="12020550" y="6361733"/>
            <a:ext cx="2152650" cy="687660"/>
          </a:xfrm>
          <a:prstGeom prst="roundRect">
            <a:avLst>
              <a:gd name="adj" fmla="val 50000"/>
            </a:avLst>
          </a:prstGeom>
          <a:ln/>
          <a:effectLst>
            <a:outerShdw blurRad="101600" dist="50800" dir="16200000" algn="bl" rotWithShape="0">
              <a:srgbClr val="FFFFFF">
                <a:alpha val="10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2020550" y="6361733"/>
            <a:ext cx="2152650" cy="6876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009">
            <a:solidFill>
              <a:srgbClr val="1A4E9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665348" y="6530037"/>
            <a:ext cx="862980" cy="3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600" b="1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 종료</a:t>
            </a:r>
            <a:endParaRPr lang="en-US" sz="1600" b="1" dirty="0"/>
          </a:p>
        </p:txBody>
      </p:sp>
      <p:sp>
        <p:nvSpPr>
          <p:cNvPr id="46" name="Shape 44"/>
          <p:cNvSpPr/>
          <p:nvPr/>
        </p:nvSpPr>
        <p:spPr>
          <a:xfrm>
            <a:off x="12020550" y="7314233"/>
            <a:ext cx="2152650" cy="687660"/>
          </a:xfrm>
          <a:prstGeom prst="roundRect">
            <a:avLst>
              <a:gd name="adj" fmla="val 50000"/>
            </a:avLst>
          </a:prstGeom>
          <a:ln/>
          <a:effectLst>
            <a:outerShdw blurRad="101600" dist="50800" dir="16200000" algn="bl" rotWithShape="0">
              <a:srgbClr val="FFFFFF">
                <a:alpha val="10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2020550" y="7314233"/>
            <a:ext cx="2152650" cy="687660"/>
          </a:xfrm>
          <a:prstGeom prst="roundRect">
            <a:avLst>
              <a:gd name="adj" fmla="val 50000"/>
            </a:avLst>
          </a:prstGeom>
          <a:solidFill>
            <a:srgbClr val="99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12480950" y="7482537"/>
            <a:ext cx="1231776" cy="3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즐겨찾기 삭제</a:t>
            </a:r>
            <a:endParaRPr lang="en-US" sz="1600" b="1" dirty="0"/>
          </a:p>
        </p:txBody>
      </p:sp>
      <p:sp>
        <p:nvSpPr>
          <p:cNvPr id="49" name="Text 47"/>
          <p:cNvSpPr/>
          <p:nvPr/>
        </p:nvSpPr>
        <p:spPr>
          <a:xfrm>
            <a:off x="14458950" y="3905250"/>
            <a:ext cx="24193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Disabled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14592300" y="4471020"/>
            <a:ext cx="2152650" cy="659085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 w="6804">
            <a:solidFill>
              <a:srgbClr val="D5DB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028143" y="4625037"/>
            <a:ext cx="1280964" cy="3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600" b="1" dirty="0">
                <a:solidFill>
                  <a:srgbClr val="171C1C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 안내 시작</a:t>
            </a:r>
            <a:endParaRPr lang="en-US" sz="1600" b="1" dirty="0"/>
          </a:p>
        </p:txBody>
      </p:sp>
      <p:sp>
        <p:nvSpPr>
          <p:cNvPr id="52" name="Shape 50"/>
          <p:cNvSpPr/>
          <p:nvPr/>
        </p:nvSpPr>
        <p:spPr>
          <a:xfrm>
            <a:off x="14592300" y="5423520"/>
            <a:ext cx="2152650" cy="659085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 w="6804">
            <a:solidFill>
              <a:srgbClr val="D5DB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5052700" y="5577537"/>
            <a:ext cx="1231776" cy="3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600" b="1" dirty="0">
                <a:solidFill>
                  <a:srgbClr val="171C1C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출발지로 설정</a:t>
            </a:r>
            <a:endParaRPr lang="en-US" sz="1600" b="1" dirty="0"/>
          </a:p>
        </p:txBody>
      </p:sp>
      <p:sp>
        <p:nvSpPr>
          <p:cNvPr id="54" name="Shape 52"/>
          <p:cNvSpPr/>
          <p:nvPr/>
        </p:nvSpPr>
        <p:spPr>
          <a:xfrm>
            <a:off x="14592300" y="6376020"/>
            <a:ext cx="2152650" cy="659085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 w="6804">
            <a:solidFill>
              <a:srgbClr val="D5DB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237098" y="6530037"/>
            <a:ext cx="862980" cy="3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600" b="1" dirty="0">
                <a:solidFill>
                  <a:srgbClr val="171C1C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 종료</a:t>
            </a:r>
            <a:endParaRPr lang="en-US" sz="1600" b="1" dirty="0"/>
          </a:p>
        </p:txBody>
      </p:sp>
      <p:sp>
        <p:nvSpPr>
          <p:cNvPr id="56" name="Shape 54"/>
          <p:cNvSpPr/>
          <p:nvPr/>
        </p:nvSpPr>
        <p:spPr>
          <a:xfrm>
            <a:off x="14592300" y="7328520"/>
            <a:ext cx="2152650" cy="659085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 w="6804">
            <a:solidFill>
              <a:srgbClr val="D5DB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5052700" y="7482537"/>
            <a:ext cx="1231776" cy="3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sz="1600" b="1" dirty="0">
                <a:solidFill>
                  <a:srgbClr val="171C1C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즐겨찾기 삭제</a:t>
            </a:r>
            <a:endParaRPr lang="en-US" sz="1600" b="1" dirty="0"/>
          </a:p>
        </p:txBody>
      </p:sp>
      <p:sp>
        <p:nvSpPr>
          <p:cNvPr id="58" name="Text 56"/>
          <p:cNvSpPr/>
          <p:nvPr/>
        </p:nvSpPr>
        <p:spPr>
          <a:xfrm>
            <a:off x="1219200" y="9458325"/>
            <a:ext cx="26410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· 디자인 가이드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6785282" y="9458325"/>
            <a:ext cx="35971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800" dirty="0"/>
          </a:p>
        </p:txBody>
      </p:sp>
      <p:sp>
        <p:nvSpPr>
          <p:cNvPr id="60" name="Shape 4"/>
          <p:cNvSpPr/>
          <p:nvPr/>
        </p:nvSpPr>
        <p:spPr>
          <a:xfrm>
            <a:off x="1219200" y="6234112"/>
            <a:ext cx="51435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61" name="Shape 4"/>
          <p:cNvSpPr/>
          <p:nvPr/>
        </p:nvSpPr>
        <p:spPr>
          <a:xfrm>
            <a:off x="1219200" y="7239000"/>
            <a:ext cx="5143500" cy="9525"/>
          </a:xfrm>
          <a:prstGeom prst="rect">
            <a:avLst/>
          </a:prstGeom>
          <a:solidFill>
            <a:srgbClr val="D5DBE4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06880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950" b="1" kern="0" spc="293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COLOR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19200" y="1747838"/>
            <a:ext cx="1743456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보조 채널 컬러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200" y="2709863"/>
            <a:ext cx="1632508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211"/>
              </a:lnSpc>
              <a:buNone/>
            </a:pPr>
            <a:r>
              <a:rPr lang="en-US" sz="22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명확한 의미 전달과 대비율을 반영한 컬러로, 문구와 형태를 함께 반영합니다.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219200" y="3619500"/>
            <a:ext cx="5079950" cy="2125935"/>
          </a:xfrm>
          <a:prstGeom prst="roundRect">
            <a:avLst>
              <a:gd name="adj" fmla="val 14337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0200" y="3962400"/>
            <a:ext cx="762000" cy="762000"/>
          </a:xfrm>
          <a:prstGeom prst="roundRect">
            <a:avLst>
              <a:gd name="adj" fmla="val 22500"/>
            </a:avLst>
          </a:prstGeom>
          <a:solidFill>
            <a:srgbClr val="990000"/>
          </a:solidFill>
          <a:ln/>
        </p:spPr>
      </p:sp>
      <p:sp>
        <p:nvSpPr>
          <p:cNvPr id="7" name="Text 5"/>
          <p:cNvSpPr/>
          <p:nvPr/>
        </p:nvSpPr>
        <p:spPr>
          <a:xfrm>
            <a:off x="2590800" y="3981450"/>
            <a:ext cx="213994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error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590800" y="4405313"/>
            <a:ext cx="213994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#990000 · 8.92:1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600200" y="4914900"/>
            <a:ext cx="1268164" cy="487635"/>
          </a:xfrm>
          <a:prstGeom prst="roundRect">
            <a:avLst>
              <a:gd name="adj" fmla="val 7813"/>
            </a:avLst>
          </a:prstGeom>
          <a:solidFill>
            <a:srgbClr val="FCEBEB"/>
          </a:solidFill>
          <a:ln/>
        </p:spPr>
      </p:sp>
      <p:sp>
        <p:nvSpPr>
          <p:cNvPr id="10" name="Text 8"/>
          <p:cNvSpPr/>
          <p:nvPr/>
        </p:nvSpPr>
        <p:spPr>
          <a:xfrm>
            <a:off x="1683504" y="4936958"/>
            <a:ext cx="1115764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b="1" dirty="0">
                <a:solidFill>
                  <a:srgbClr val="99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 불가</a:t>
            </a:r>
            <a:endParaRPr lang="en-US" b="1" dirty="0"/>
          </a:p>
        </p:txBody>
      </p:sp>
      <p:sp>
        <p:nvSpPr>
          <p:cNvPr id="11" name="Shape 9"/>
          <p:cNvSpPr/>
          <p:nvPr/>
        </p:nvSpPr>
        <p:spPr>
          <a:xfrm>
            <a:off x="6603950" y="3619500"/>
            <a:ext cx="5080025" cy="2125935"/>
          </a:xfrm>
          <a:prstGeom prst="roundRect">
            <a:avLst>
              <a:gd name="adj" fmla="val 14337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84950" y="3962400"/>
            <a:ext cx="762000" cy="762000"/>
          </a:xfrm>
          <a:prstGeom prst="roundRect">
            <a:avLst>
              <a:gd name="adj" fmla="val 22500"/>
            </a:avLst>
          </a:prstGeom>
          <a:solidFill>
            <a:srgbClr val="B84500"/>
          </a:solidFill>
          <a:ln/>
        </p:spPr>
      </p:sp>
      <p:sp>
        <p:nvSpPr>
          <p:cNvPr id="13" name="Text 11"/>
          <p:cNvSpPr/>
          <p:nvPr/>
        </p:nvSpPr>
        <p:spPr>
          <a:xfrm>
            <a:off x="7975550" y="3981450"/>
            <a:ext cx="208453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warning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975550" y="4405313"/>
            <a:ext cx="208453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#B84500 · 4.71:1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984950" y="4914900"/>
            <a:ext cx="1057424" cy="487635"/>
          </a:xfrm>
          <a:prstGeom prst="roundRect">
            <a:avLst>
              <a:gd name="adj" fmla="val 7813"/>
            </a:avLst>
          </a:prstGeom>
          <a:solidFill>
            <a:srgbClr val="FAEEDA"/>
          </a:solidFill>
          <a:ln/>
        </p:spPr>
      </p:sp>
      <p:sp>
        <p:nvSpPr>
          <p:cNvPr id="16" name="Text 14"/>
          <p:cNvSpPr/>
          <p:nvPr/>
        </p:nvSpPr>
        <p:spPr>
          <a:xfrm>
            <a:off x="7068254" y="4936958"/>
            <a:ext cx="905024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b="1" dirty="0">
                <a:solidFill>
                  <a:srgbClr val="B84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점검 중</a:t>
            </a:r>
            <a:endParaRPr lang="en-US" b="1" dirty="0"/>
          </a:p>
        </p:txBody>
      </p:sp>
      <p:sp>
        <p:nvSpPr>
          <p:cNvPr id="17" name="Shape 15"/>
          <p:cNvSpPr/>
          <p:nvPr/>
        </p:nvSpPr>
        <p:spPr>
          <a:xfrm>
            <a:off x="11988775" y="3619500"/>
            <a:ext cx="5079950" cy="2125935"/>
          </a:xfrm>
          <a:prstGeom prst="roundRect">
            <a:avLst>
              <a:gd name="adj" fmla="val 14337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2369775" y="3962400"/>
            <a:ext cx="762000" cy="762000"/>
          </a:xfrm>
          <a:prstGeom prst="roundRect">
            <a:avLst>
              <a:gd name="adj" fmla="val 22500"/>
            </a:avLst>
          </a:prstGeom>
          <a:solidFill>
            <a:srgbClr val="006E25"/>
          </a:solidFill>
          <a:ln/>
        </p:spPr>
      </p:sp>
      <p:sp>
        <p:nvSpPr>
          <p:cNvPr id="19" name="Text 17"/>
          <p:cNvSpPr/>
          <p:nvPr/>
        </p:nvSpPr>
        <p:spPr>
          <a:xfrm>
            <a:off x="13360375" y="3981450"/>
            <a:ext cx="212521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success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3360375" y="4405313"/>
            <a:ext cx="212521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#006E25 · 6.45:1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2369775" y="4914900"/>
            <a:ext cx="1268164" cy="487635"/>
          </a:xfrm>
          <a:prstGeom prst="roundRect">
            <a:avLst>
              <a:gd name="adj" fmla="val 7813"/>
            </a:avLst>
          </a:prstGeom>
          <a:solidFill>
            <a:srgbClr val="E1F5EE"/>
          </a:solidFill>
          <a:ln/>
        </p:spPr>
      </p:sp>
      <p:sp>
        <p:nvSpPr>
          <p:cNvPr id="22" name="Text 20"/>
          <p:cNvSpPr/>
          <p:nvPr/>
        </p:nvSpPr>
        <p:spPr>
          <a:xfrm>
            <a:off x="12453079" y="4936958"/>
            <a:ext cx="1115764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6316"/>
              </a:lnSpc>
              <a:buNone/>
            </a:pPr>
            <a:r>
              <a:rPr lang="en-US" b="1" dirty="0">
                <a:solidFill>
                  <a:srgbClr val="006E2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 가능</a:t>
            </a:r>
            <a:endParaRPr lang="en-US" b="1" dirty="0"/>
          </a:p>
        </p:txBody>
      </p:sp>
      <p:sp>
        <p:nvSpPr>
          <p:cNvPr id="23" name="Shape 21"/>
          <p:cNvSpPr/>
          <p:nvPr/>
        </p:nvSpPr>
        <p:spPr>
          <a:xfrm>
            <a:off x="1219200" y="6012135"/>
            <a:ext cx="5079950" cy="2125935"/>
          </a:xfrm>
          <a:prstGeom prst="roundRect">
            <a:avLst>
              <a:gd name="adj" fmla="val 14337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00200" y="6694066"/>
            <a:ext cx="762000" cy="7620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2590800" y="6713116"/>
            <a:ext cx="207732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</a:t>
            </a:r>
            <a:endParaRPr lang="en-US" sz="2550" dirty="0"/>
          </a:p>
        </p:txBody>
      </p:sp>
      <p:sp>
        <p:nvSpPr>
          <p:cNvPr id="26" name="Text 23"/>
          <p:cNvSpPr/>
          <p:nvPr/>
        </p:nvSpPr>
        <p:spPr>
          <a:xfrm>
            <a:off x="2590800" y="7136978"/>
            <a:ext cx="207732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#00707A · 5.84:1</a:t>
            </a:r>
            <a:endParaRPr lang="en-US" sz="1950" dirty="0"/>
          </a:p>
        </p:txBody>
      </p:sp>
      <p:sp>
        <p:nvSpPr>
          <p:cNvPr id="27" name="Shape 24"/>
          <p:cNvSpPr/>
          <p:nvPr/>
        </p:nvSpPr>
        <p:spPr>
          <a:xfrm>
            <a:off x="6603950" y="6012135"/>
            <a:ext cx="5080025" cy="2125935"/>
          </a:xfrm>
          <a:prstGeom prst="roundRect">
            <a:avLst>
              <a:gd name="adj" fmla="val 14337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84950" y="6694066"/>
            <a:ext cx="762000" cy="7620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975550" y="6713116"/>
            <a:ext cx="213716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경유</a:t>
            </a:r>
            <a:endParaRPr lang="en-US" sz="2550" dirty="0"/>
          </a:p>
        </p:txBody>
      </p:sp>
      <p:sp>
        <p:nvSpPr>
          <p:cNvPr id="30" name="Text 26"/>
          <p:cNvSpPr/>
          <p:nvPr/>
        </p:nvSpPr>
        <p:spPr>
          <a:xfrm>
            <a:off x="7975550" y="7136978"/>
            <a:ext cx="213716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#374151 · 10.30:1</a:t>
            </a:r>
            <a:endParaRPr lang="en-US" sz="1950" dirty="0"/>
          </a:p>
        </p:txBody>
      </p:sp>
      <p:sp>
        <p:nvSpPr>
          <p:cNvPr id="31" name="Shape 27"/>
          <p:cNvSpPr/>
          <p:nvPr/>
        </p:nvSpPr>
        <p:spPr>
          <a:xfrm>
            <a:off x="11988775" y="6012135"/>
            <a:ext cx="5079950" cy="2125935"/>
          </a:xfrm>
          <a:prstGeom prst="roundRect">
            <a:avLst>
              <a:gd name="adj" fmla="val 14337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369775" y="6694066"/>
            <a:ext cx="762000" cy="7620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3360375" y="6713116"/>
            <a:ext cx="212161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도착</a:t>
            </a:r>
            <a:endParaRPr lang="en-US" sz="2550" dirty="0"/>
          </a:p>
        </p:txBody>
      </p:sp>
      <p:sp>
        <p:nvSpPr>
          <p:cNvPr id="34" name="Text 29"/>
          <p:cNvSpPr/>
          <p:nvPr/>
        </p:nvSpPr>
        <p:spPr>
          <a:xfrm>
            <a:off x="13360375" y="7136978"/>
            <a:ext cx="212161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#3B7A0A · 5.28:1</a:t>
            </a:r>
            <a:endParaRPr lang="en-US" sz="1950" dirty="0"/>
          </a:p>
        </p:txBody>
      </p:sp>
      <p:sp>
        <p:nvSpPr>
          <p:cNvPr id="35" name="Text 30"/>
          <p:cNvSpPr/>
          <p:nvPr/>
        </p:nvSpPr>
        <p:spPr>
          <a:xfrm>
            <a:off x="1219200" y="9458325"/>
            <a:ext cx="26410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· 디자인 가이드</a:t>
            </a:r>
            <a:endParaRPr lang="en-US" sz="1800" dirty="0"/>
          </a:p>
        </p:txBody>
      </p:sp>
      <p:sp>
        <p:nvSpPr>
          <p:cNvPr id="36" name="Text 31"/>
          <p:cNvSpPr/>
          <p:nvPr/>
        </p:nvSpPr>
        <p:spPr>
          <a:xfrm>
            <a:off x="16825243" y="9458325"/>
            <a:ext cx="3197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0688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950" b="1" kern="0" spc="293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NEUTRAL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19200" y="1747838"/>
            <a:ext cx="1743456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Neutral 9 컬러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200" y="2709863"/>
            <a:ext cx="1632508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211"/>
              </a:lnSpc>
              <a:buNone/>
            </a:pPr>
            <a:r>
              <a:rPr lang="en-US" sz="22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 · 경계 · 텍스트의 바탕입니다. 텍스트에는 N70 이상만 씁니다.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219200" y="3810000"/>
            <a:ext cx="2986980" cy="2328863"/>
          </a:xfrm>
          <a:prstGeom prst="roundRect">
            <a:avLst>
              <a:gd name="adj" fmla="val 11452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19200" y="4762500"/>
            <a:ext cx="298698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4981575"/>
            <a:ext cx="278275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N0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447800" y="5338763"/>
            <a:ext cx="27827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#FFFFFF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47800" y="5653088"/>
            <a:ext cx="27827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surface · raised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34780" y="3810000"/>
            <a:ext cx="2987055" cy="2328863"/>
          </a:xfrm>
          <a:prstGeom prst="roundRect">
            <a:avLst>
              <a:gd name="adj" fmla="val 11452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780" y="4762500"/>
            <a:ext cx="2987055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380" y="4981575"/>
            <a:ext cx="27828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N5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663380" y="5338763"/>
            <a:ext cx="2782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#F5F7FA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380" y="5653088"/>
            <a:ext cx="2782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surface-base · field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50435" y="3810000"/>
            <a:ext cx="2987055" cy="2328863"/>
          </a:xfrm>
          <a:prstGeom prst="roundRect">
            <a:avLst>
              <a:gd name="adj" fmla="val 11452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79035" y="4972050"/>
            <a:ext cx="27828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N10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879035" y="5329238"/>
            <a:ext cx="2782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#E9EDF3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879035" y="5643563"/>
            <a:ext cx="2782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surface-sunken · track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866090" y="3810000"/>
            <a:ext cx="2987055" cy="2328863"/>
          </a:xfrm>
          <a:prstGeom prst="roundRect">
            <a:avLst>
              <a:gd name="adj" fmla="val 11452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094690" y="4972050"/>
            <a:ext cx="27828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N20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1094690" y="5329238"/>
            <a:ext cx="2782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#D5DBE4 · 1.39:1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094690" y="5643563"/>
            <a:ext cx="2782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border-subtle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4081745" y="3810000"/>
            <a:ext cx="2987055" cy="2328863"/>
          </a:xfrm>
          <a:prstGeom prst="roundRect">
            <a:avLst>
              <a:gd name="adj" fmla="val 11452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310345" y="4972050"/>
            <a:ext cx="27828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N40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4310345" y="5329238"/>
            <a:ext cx="2782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#9AA5B4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310345" y="5643563"/>
            <a:ext cx="2782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9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장식 전용 · 텍스트 금지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19200" y="6367463"/>
            <a:ext cx="2986980" cy="2319338"/>
          </a:xfrm>
          <a:prstGeom prst="roundRect">
            <a:avLst>
              <a:gd name="adj" fmla="val 11499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47800" y="7529513"/>
            <a:ext cx="278275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N70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447800" y="7886700"/>
            <a:ext cx="27827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#5A6472 · 6.07:1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447800" y="8201025"/>
            <a:ext cx="27827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border-strong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434780" y="6367463"/>
            <a:ext cx="2987055" cy="2319338"/>
          </a:xfrm>
          <a:prstGeom prst="roundRect">
            <a:avLst>
              <a:gd name="adj" fmla="val 11499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663380" y="7529513"/>
            <a:ext cx="27828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N80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4663380" y="7886700"/>
            <a:ext cx="2782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#374151 · 10.30:1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663380" y="8201025"/>
            <a:ext cx="2782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on-surface-secondary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650435" y="6367463"/>
            <a:ext cx="2987055" cy="2319338"/>
          </a:xfrm>
          <a:prstGeom prst="roundRect">
            <a:avLst>
              <a:gd name="adj" fmla="val 11499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879035" y="7529513"/>
            <a:ext cx="27828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N90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7879035" y="7886700"/>
            <a:ext cx="2782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#2A303A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879035" y="8201025"/>
            <a:ext cx="2782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surface-inverse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0866090" y="6367463"/>
            <a:ext cx="2987055" cy="2319338"/>
          </a:xfrm>
          <a:prstGeom prst="roundRect">
            <a:avLst>
              <a:gd name="adj" fmla="val 11499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1094690" y="7529513"/>
            <a:ext cx="27828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N100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11094690" y="7886700"/>
            <a:ext cx="2782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#171C1C · 17.23:1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1094690" y="8201025"/>
            <a:ext cx="2782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on-surface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219200" y="9458325"/>
            <a:ext cx="26410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· 디자인 가이드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6863864" y="9458325"/>
            <a:ext cx="28113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800" dirty="0"/>
          </a:p>
        </p:txBody>
      </p:sp>
      <p:sp>
        <p:nvSpPr>
          <p:cNvPr id="54" name="양쪽 모서리가 둥근 사각형 53"/>
          <p:cNvSpPr/>
          <p:nvPr/>
        </p:nvSpPr>
        <p:spPr>
          <a:xfrm>
            <a:off x="1219201" y="3803704"/>
            <a:ext cx="2986980" cy="963805"/>
          </a:xfrm>
          <a:prstGeom prst="round2SameRect">
            <a:avLst>
              <a:gd name="adj1" fmla="val 24517"/>
              <a:gd name="adj2" fmla="val 0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양쪽 모서리가 둥근 사각형 54"/>
          <p:cNvSpPr/>
          <p:nvPr/>
        </p:nvSpPr>
        <p:spPr>
          <a:xfrm>
            <a:off x="4434779" y="3801525"/>
            <a:ext cx="2986980" cy="963805"/>
          </a:xfrm>
          <a:prstGeom prst="round2SameRect">
            <a:avLst>
              <a:gd name="adj1" fmla="val 24517"/>
              <a:gd name="adj2" fmla="val 0"/>
            </a:avLst>
          </a:prstGeom>
          <a:solidFill>
            <a:srgbClr val="F5F7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양쪽 모서리가 둥근 사각형 55"/>
          <p:cNvSpPr/>
          <p:nvPr/>
        </p:nvSpPr>
        <p:spPr>
          <a:xfrm>
            <a:off x="7650357" y="3815327"/>
            <a:ext cx="2986980" cy="963805"/>
          </a:xfrm>
          <a:prstGeom prst="round2SameRect">
            <a:avLst>
              <a:gd name="adj1" fmla="val 24517"/>
              <a:gd name="adj2" fmla="val 0"/>
            </a:avLst>
          </a:prstGeom>
          <a:solidFill>
            <a:srgbClr val="E9ED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양쪽 모서리가 둥근 사각형 56"/>
          <p:cNvSpPr/>
          <p:nvPr/>
        </p:nvSpPr>
        <p:spPr>
          <a:xfrm>
            <a:off x="10866165" y="3798695"/>
            <a:ext cx="2986980" cy="963805"/>
          </a:xfrm>
          <a:prstGeom prst="round2SameRect">
            <a:avLst>
              <a:gd name="adj1" fmla="val 24517"/>
              <a:gd name="adj2" fmla="val 0"/>
            </a:avLst>
          </a:prstGeom>
          <a:solidFill>
            <a:srgbClr val="D5D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양쪽 모서리가 둥근 사각형 57"/>
          <p:cNvSpPr/>
          <p:nvPr/>
        </p:nvSpPr>
        <p:spPr>
          <a:xfrm>
            <a:off x="14081820" y="3796438"/>
            <a:ext cx="2986980" cy="963805"/>
          </a:xfrm>
          <a:prstGeom prst="round2SameRect">
            <a:avLst>
              <a:gd name="adj1" fmla="val 24517"/>
              <a:gd name="adj2" fmla="val 0"/>
            </a:avLst>
          </a:prstGeom>
          <a:solidFill>
            <a:srgbClr val="9AA5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양쪽 모서리가 둥근 사각형 58"/>
          <p:cNvSpPr/>
          <p:nvPr/>
        </p:nvSpPr>
        <p:spPr>
          <a:xfrm>
            <a:off x="1219200" y="6376705"/>
            <a:ext cx="2986980" cy="963805"/>
          </a:xfrm>
          <a:prstGeom prst="round2SameRect">
            <a:avLst>
              <a:gd name="adj1" fmla="val 24517"/>
              <a:gd name="adj2" fmla="val 0"/>
            </a:avLst>
          </a:prstGeom>
          <a:solidFill>
            <a:srgbClr val="5A64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양쪽 모서리가 둥근 사각형 59"/>
          <p:cNvSpPr/>
          <p:nvPr/>
        </p:nvSpPr>
        <p:spPr>
          <a:xfrm>
            <a:off x="4434778" y="6374526"/>
            <a:ext cx="2986980" cy="963805"/>
          </a:xfrm>
          <a:prstGeom prst="round2SameRect">
            <a:avLst>
              <a:gd name="adj1" fmla="val 24517"/>
              <a:gd name="adj2" fmla="val 0"/>
            </a:avLst>
          </a:prstGeom>
          <a:solidFill>
            <a:srgbClr val="3741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양쪽 모서리가 둥근 사각형 60"/>
          <p:cNvSpPr/>
          <p:nvPr/>
        </p:nvSpPr>
        <p:spPr>
          <a:xfrm>
            <a:off x="7650356" y="6372830"/>
            <a:ext cx="2986980" cy="963805"/>
          </a:xfrm>
          <a:prstGeom prst="round2SameRect">
            <a:avLst>
              <a:gd name="adj1" fmla="val 24517"/>
              <a:gd name="adj2" fmla="val 0"/>
            </a:avLst>
          </a:prstGeom>
          <a:solidFill>
            <a:srgbClr val="2A30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양쪽 모서리가 둥근 사각형 61"/>
          <p:cNvSpPr/>
          <p:nvPr/>
        </p:nvSpPr>
        <p:spPr>
          <a:xfrm>
            <a:off x="10866164" y="6371696"/>
            <a:ext cx="2986980" cy="963805"/>
          </a:xfrm>
          <a:prstGeom prst="round2SameRect">
            <a:avLst>
              <a:gd name="adj1" fmla="val 24517"/>
              <a:gd name="adj2" fmla="val 0"/>
            </a:avLst>
          </a:prstGeom>
          <a:solidFill>
            <a:srgbClr val="17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93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TYPOGRAPHY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19200" y="1747838"/>
            <a:ext cx="1743456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6단계 폰트 스케일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219200" y="3143250"/>
            <a:ext cx="15849600" cy="5334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76400" y="3952875"/>
            <a:ext cx="149352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6" name="Text 4"/>
          <p:cNvSpPr/>
          <p:nvPr/>
        </p:nvSpPr>
        <p:spPr>
          <a:xfrm>
            <a:off x="1676400" y="3486150"/>
            <a:ext cx="25146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91000" y="3486150"/>
            <a:ext cx="2095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 / 행간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24600" y="3486150"/>
            <a:ext cx="18859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굵기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67700" y="3486150"/>
            <a:ext cx="41071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견본 (시스템 200%)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230100" y="3486150"/>
            <a:ext cx="4819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쓰는 자리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76400" y="4895850"/>
            <a:ext cx="149352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12" name="Text 10"/>
          <p:cNvSpPr/>
          <p:nvPr/>
        </p:nvSpPr>
        <p:spPr>
          <a:xfrm>
            <a:off x="1676400" y="4269581"/>
            <a:ext cx="25146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title-sm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191000" y="4279106"/>
            <a:ext cx="2095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33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324600" y="4279106"/>
            <a:ext cx="18859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Bold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267700" y="4114800"/>
            <a:ext cx="410718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714"/>
              </a:lnSpc>
              <a:buNone/>
            </a:pPr>
            <a:r>
              <a:rPr lang="en-US" sz="33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길안내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2230100" y="4279106"/>
            <a:ext cx="48196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제목 · 섹션 제목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676400" y="5781675"/>
            <a:ext cx="149352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18" name="Text 16"/>
          <p:cNvSpPr/>
          <p:nvPr/>
        </p:nvSpPr>
        <p:spPr>
          <a:xfrm>
            <a:off x="1676400" y="5183981"/>
            <a:ext cx="25146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title-xs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191000" y="5193506"/>
            <a:ext cx="2095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30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324600" y="5193506"/>
            <a:ext cx="18859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Bold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8267700" y="5057775"/>
            <a:ext cx="410718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316"/>
              </a:lnSpc>
              <a:buNone/>
            </a:pPr>
            <a:r>
              <a:rPr lang="en-US" sz="300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출발지 설정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2230100" y="5193506"/>
            <a:ext cx="48196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AppBar · 시트 · Dialog 제목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676400" y="6610350"/>
            <a:ext cx="149352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24" name="Text 22"/>
          <p:cNvSpPr/>
          <p:nvPr/>
        </p:nvSpPr>
        <p:spPr>
          <a:xfrm>
            <a:off x="1676400" y="6041231"/>
            <a:ext cx="25146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body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191000" y="6050756"/>
            <a:ext cx="2095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27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6324600" y="6050756"/>
            <a:ext cx="18859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Medium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8267700" y="5943600"/>
            <a:ext cx="41071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581"/>
              </a:lnSpc>
              <a:buNone/>
            </a:pPr>
            <a:r>
              <a:rPr lang="en-US" sz="2700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엘리베이터 이용 가능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12230100" y="6050756"/>
            <a:ext cx="48196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기본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676400" y="7381875"/>
            <a:ext cx="149352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30" name="Text 28"/>
          <p:cNvSpPr/>
          <p:nvPr/>
        </p:nvSpPr>
        <p:spPr>
          <a:xfrm>
            <a:off x="1676400" y="6841331"/>
            <a:ext cx="25146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body-sm · label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4191000" y="6850856"/>
            <a:ext cx="2095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24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6324600" y="6850856"/>
            <a:ext cx="18859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Medium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8267700" y="6772275"/>
            <a:ext cx="41071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316"/>
              </a:lnSpc>
              <a:buNone/>
            </a:pPr>
            <a:r>
              <a:rPr lang="en-US" sz="2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종로구 통일로 126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2230100" y="6850856"/>
            <a:ext cx="48196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보조 텍스트 · Badge · 버튼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676400" y="7698581"/>
            <a:ext cx="25146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4191000" y="7708106"/>
            <a:ext cx="2095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33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6324600" y="7708106"/>
            <a:ext cx="18859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Bold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8267700" y="7543800"/>
            <a:ext cx="410718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714"/>
              </a:lnSpc>
              <a:buNone/>
            </a:pPr>
            <a:r>
              <a:rPr lang="en-US" sz="3300" b="1" dirty="0">
                <a:solidFill>
                  <a:srgbClr val="0F3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12분</a:t>
            </a:r>
            <a:endParaRPr lang="en-US" sz="3300" dirty="0"/>
          </a:p>
        </p:txBody>
      </p:sp>
      <p:sp>
        <p:nvSpPr>
          <p:cNvPr id="39" name="Text 37"/>
          <p:cNvSpPr/>
          <p:nvPr/>
        </p:nvSpPr>
        <p:spPr>
          <a:xfrm>
            <a:off x="12230100" y="7708106"/>
            <a:ext cx="48196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화면당 대표 수치 1개 · accent-large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219200" y="9458325"/>
            <a:ext cx="26410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· 디자인 가이드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6830377" y="9458325"/>
            <a:ext cx="3146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0" y="0"/>
            <a:ext cx="6096000" cy="6096000"/>
          </a:xfrm>
          <a:prstGeom prst="ellipse">
            <a:avLst/>
          </a:prstGeom>
          <a:gradFill rotWithShape="1">
            <a:gsLst>
              <a:gs pos="0">
                <a:srgbClr val="FFFFFF">
                  <a:alpha val="10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19200" y="1219200"/>
            <a:ext cx="174345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93" dirty="0">
                <a:solidFill>
                  <a:srgbClr val="9DBE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WEIGHT · REFLOW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19200" y="1747838"/>
            <a:ext cx="1743456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단계 굵기와 200% 리플로우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19200" y="3429000"/>
            <a:ext cx="5308573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561"/>
              </a:lnSpc>
              <a:buNone/>
            </a:pPr>
            <a:r>
              <a:rPr lang="en-US" sz="9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219200" y="4953000"/>
            <a:ext cx="53085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19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Medium · 본문 하한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19200" y="5600700"/>
            <a:ext cx="497075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343"/>
              </a:lnSpc>
              <a:buNone/>
            </a:pPr>
            <a:r>
              <a:rPr lang="en-US" sz="2100" dirty="0">
                <a:solidFill>
                  <a:srgbClr val="D7E4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· 라벨 · 카드와 행 </a:t>
            </a:r>
            <a:r>
              <a:rPr lang="en-US" sz="2100">
                <a:solidFill>
                  <a:srgbClr val="D7E4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</a:t>
            </a:r>
            <a:r>
              <a:rPr lang="en-US" sz="2100" smtClean="0">
                <a:solidFill>
                  <a:srgbClr val="D7E4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31343"/>
              </a:lnSpc>
              <a:buNone/>
            </a:pPr>
            <a:r>
              <a:rPr lang="en-US" sz="2100" smtClean="0">
                <a:solidFill>
                  <a:srgbClr val="D7E4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Medium </a:t>
            </a:r>
            <a:r>
              <a:rPr lang="en-US" sz="2100" dirty="0">
                <a:solidFill>
                  <a:srgbClr val="D7E4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굵기 이상 폰트 사용.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730975" y="3429000"/>
            <a:ext cx="5308573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561"/>
              </a:lnSpc>
              <a:buNone/>
            </a:pPr>
            <a:r>
              <a:rPr lang="en-US" sz="9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700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6730975" y="4953000"/>
            <a:ext cx="53085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19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Bold · 초점 요소만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6730975" y="5600700"/>
            <a:ext cx="497075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343"/>
              </a:lnSpc>
              <a:buNone/>
            </a:pPr>
            <a:r>
              <a:rPr lang="en-US" sz="2100" dirty="0">
                <a:solidFill>
                  <a:srgbClr val="D7E4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 · Dialog 제목, 버튼 라벨, 현재 </a:t>
            </a:r>
            <a:r>
              <a:rPr lang="en-US" sz="2100">
                <a:solidFill>
                  <a:srgbClr val="D7E4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</a:t>
            </a:r>
            <a:r>
              <a:rPr lang="en-US" sz="2100" smtClean="0">
                <a:solidFill>
                  <a:srgbClr val="D7E4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</a:p>
          <a:p>
            <a:pPr marL="0" indent="0" algn="l">
              <a:lnSpc>
                <a:spcPct val="131343"/>
              </a:lnSpc>
              <a:buNone/>
            </a:pPr>
            <a:r>
              <a:rPr lang="en-US" sz="2100" smtClean="0">
                <a:solidFill>
                  <a:srgbClr val="D7E4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</a:t>
            </a:r>
            <a:r>
              <a:rPr lang="en-US" sz="2100" dirty="0">
                <a:solidFill>
                  <a:srgbClr val="D7E4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수치, 목록 섹션 제목.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242750" y="3429000"/>
            <a:ext cx="5308573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561"/>
              </a:lnSpc>
              <a:buNone/>
            </a:pPr>
            <a:r>
              <a:rPr lang="en-US" sz="9000" b="1" dirty="0">
                <a:solidFill>
                  <a:srgbClr val="9DBE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44pt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12242750" y="4953000"/>
            <a:ext cx="53085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19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200% 최대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242750" y="5600700"/>
            <a:ext cx="497075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343"/>
              </a:lnSpc>
              <a:buNone/>
            </a:pPr>
            <a:r>
              <a:rPr lang="en-US" sz="2100" dirty="0">
                <a:solidFill>
                  <a:srgbClr val="D7E4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 대응을 </a:t>
            </a:r>
            <a:r>
              <a:rPr lang="en-US" sz="2100">
                <a:solidFill>
                  <a:srgbClr val="D7E4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위한 </a:t>
            </a:r>
            <a:r>
              <a:rPr lang="en-US" sz="2100" smtClean="0">
                <a:solidFill>
                  <a:srgbClr val="D7E4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가변형</a:t>
            </a:r>
          </a:p>
          <a:p>
            <a:pPr marL="0" indent="0" algn="l">
              <a:lnSpc>
                <a:spcPct val="131343"/>
              </a:lnSpc>
              <a:buNone/>
            </a:pPr>
            <a:r>
              <a:rPr lang="en-US" sz="2100" smtClean="0">
                <a:solidFill>
                  <a:srgbClr val="D7E4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높이 </a:t>
            </a:r>
            <a:r>
              <a:rPr lang="en-US" sz="2100" dirty="0">
                <a:solidFill>
                  <a:srgbClr val="D7E4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넘치면 세로 스택으로.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19200" y="9458325"/>
            <a:ext cx="26410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DBE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· 디자인 가이드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823680" y="9458325"/>
            <a:ext cx="3213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DBE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0" y="0"/>
            <a:ext cx="6096000" cy="6096000"/>
          </a:xfrm>
          <a:prstGeom prst="ellipse">
            <a:avLst/>
          </a:prstGeom>
          <a:gradFill rotWithShape="1">
            <a:gsLst>
              <a:gs pos="0">
                <a:srgbClr val="1A4E9B">
                  <a:alpha val="10000"/>
                </a:srgbClr>
              </a:gs>
              <a:gs pos="70000">
                <a:srgbClr val="1A4E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19200" y="1219200"/>
            <a:ext cx="174345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93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SCALING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19200" y="1747838"/>
            <a:ext cx="1743456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폰트 확대 대응 4원칙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19200" y="2709863"/>
            <a:ext cx="1632508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211"/>
              </a:lnSpc>
              <a:buNone/>
            </a:pPr>
            <a:r>
              <a:rPr lang="en-US" sz="22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200% 확대에서도 정보가 잘리거나 겹치지 않도록 모든 화면에 같은 원칙을 적용합니다.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219200" y="4000500"/>
            <a:ext cx="3733800" cy="3629025"/>
          </a:xfrm>
          <a:prstGeom prst="roundRect">
            <a:avLst>
              <a:gd name="adj" fmla="val 8399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00200" y="4457700"/>
            <a:ext cx="326898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600200" y="5381625"/>
            <a:ext cx="32689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19"/>
              </a:lnSpc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높이 가변형(Hug)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600200" y="6029325"/>
            <a:ext cx="306095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984"/>
              </a:lnSpc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텍스트를 </a:t>
            </a:r>
            <a:r>
              <a:rPr lang="en-US" sz="19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담는 </a:t>
            </a: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컨테이너에</a:t>
            </a:r>
          </a:p>
          <a:p>
            <a:pPr marL="0" indent="0" algn="l">
              <a:lnSpc>
                <a:spcPct val="126984"/>
              </a:lnSpc>
              <a:buNone/>
            </a:pP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 </a:t>
            </a: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높이를 </a:t>
            </a:r>
            <a:r>
              <a:rPr lang="en-US" sz="19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주지 </a:t>
            </a: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않습니다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257800" y="4000500"/>
            <a:ext cx="3733800" cy="3629025"/>
          </a:xfrm>
          <a:prstGeom prst="roundRect">
            <a:avLst>
              <a:gd name="adj" fmla="val 8399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38800" y="4457700"/>
            <a:ext cx="326898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638800" y="5381625"/>
            <a:ext cx="32689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19"/>
              </a:lnSpc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 → 세로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5638800" y="6029325"/>
            <a:ext cx="3060954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984"/>
              </a:lnSpc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 나열은 컨테이너 폭 기준으로 판정해 </a:t>
            </a:r>
            <a:r>
              <a:rPr lang="en-US" sz="19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세로 </a:t>
            </a: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스택으로</a:t>
            </a:r>
          </a:p>
          <a:p>
            <a:pPr marL="0" indent="0" algn="l">
              <a:lnSpc>
                <a:spcPct val="126984"/>
              </a:lnSpc>
              <a:buNone/>
            </a:pP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전환합니다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296400" y="4000500"/>
            <a:ext cx="3733800" cy="3629025"/>
          </a:xfrm>
          <a:prstGeom prst="roundRect">
            <a:avLst>
              <a:gd name="adj" fmla="val 8399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77400" y="4457700"/>
            <a:ext cx="326898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9677400" y="5381625"/>
            <a:ext cx="32689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19"/>
              </a:lnSpc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아이콘 단계 확대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677400" y="6029325"/>
            <a:ext cx="326898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984"/>
              </a:lnSpc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아이콘 24 → 32px</a:t>
            </a:r>
            <a:r>
              <a:rPr lang="en-US" sz="19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endParaRPr lang="en-US" sz="1950" smtClean="0">
              <a:solidFill>
                <a:srgbClr val="48556A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26984"/>
              </a:lnSpc>
              <a:buNone/>
            </a:pP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컨테이너 </a:t>
            </a: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 </a:t>
            </a:r>
            <a:r>
              <a:rPr lang="en-US" sz="19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56px </a:t>
            </a:r>
          </a:p>
          <a:p>
            <a:pPr marL="0" indent="0" algn="l">
              <a:lnSpc>
                <a:spcPct val="126984"/>
              </a:lnSpc>
              <a:buNone/>
            </a:pP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</a:t>
            </a:r>
            <a:r>
              <a:rPr lang="ko-KR" alt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</a:t>
            </a: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비례 확대</a:t>
            </a:r>
            <a:r>
              <a:rPr lang="ko-KR" alt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하지 않습니다</a:t>
            </a: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3335000" y="4000500"/>
            <a:ext cx="3733800" cy="3629025"/>
          </a:xfrm>
          <a:prstGeom prst="roundRect">
            <a:avLst>
              <a:gd name="adj" fmla="val 8399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716000" y="4457700"/>
            <a:ext cx="326898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3716000" y="5381625"/>
            <a:ext cx="32689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19"/>
              </a:lnSpc>
              <a:buNone/>
            </a:pPr>
            <a:r>
              <a:rPr lang="en-US" sz="255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말줄임 금지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3716000" y="6029325"/>
            <a:ext cx="306095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984"/>
              </a:lnSpc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판단에 </a:t>
            </a:r>
            <a:r>
              <a:rPr lang="en-US" sz="19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</a:t>
            </a: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텍스트에</a:t>
            </a:r>
          </a:p>
          <a:p>
            <a:pPr marL="0" indent="0" algn="l">
              <a:lnSpc>
                <a:spcPct val="126984"/>
              </a:lnSpc>
              <a:buNone/>
            </a:pP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말줄임을 </a:t>
            </a:r>
            <a:r>
              <a:rPr lang="en-US" sz="19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걸지 </a:t>
            </a:r>
            <a:r>
              <a:rPr lang="en-US" sz="19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않습니다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19200" y="9458325"/>
            <a:ext cx="26410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· 디자인 가이드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821224" y="9458325"/>
            <a:ext cx="3237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93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19200" y="1747838"/>
            <a:ext cx="1743456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간격 스케일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200" y="2709863"/>
            <a:ext cx="1632508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211"/>
              </a:lnSpc>
              <a:buNone/>
            </a:pPr>
            <a:r>
              <a:rPr lang="en-US" sz="22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4px 그리드 위 5단계를 씁니다. 컴포넌트는 크기 이름이 아니라 용도 토큰으로 참조합니다.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219200" y="3714750"/>
            <a:ext cx="15849600" cy="4914900"/>
          </a:xfrm>
          <a:prstGeom prst="roundRect">
            <a:avLst>
              <a:gd name="adj" fmla="val 6202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76400" y="4524375"/>
            <a:ext cx="149352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7" name="Text 5"/>
          <p:cNvSpPr/>
          <p:nvPr/>
        </p:nvSpPr>
        <p:spPr>
          <a:xfrm>
            <a:off x="1676400" y="4057650"/>
            <a:ext cx="1676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51694" y="4057650"/>
            <a:ext cx="2095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4057650"/>
            <a:ext cx="5196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 — 확대해도 유지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387746" y="4057650"/>
            <a:ext cx="64541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항목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76400" y="5314950"/>
            <a:ext cx="149352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12" name="Text 10"/>
          <p:cNvSpPr/>
          <p:nvPr/>
        </p:nvSpPr>
        <p:spPr>
          <a:xfrm>
            <a:off x="1676400" y="4743450"/>
            <a:ext cx="16764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712114" y="4772025"/>
            <a:ext cx="38100" cy="304800"/>
          </a:xfrm>
          <a:prstGeom prst="roundRect">
            <a:avLst>
              <a:gd name="adj" fmla="val 25000"/>
            </a:avLst>
          </a:prstGeom>
          <a:solidFill>
            <a:srgbClr val="1A4E9B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4774406"/>
            <a:ext cx="51968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stack-tight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387746" y="4774406"/>
            <a:ext cx="64541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제목↔부제 · 라벨↔값 · Chip 아이콘↔라벨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676400" y="6105525"/>
            <a:ext cx="149352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17" name="Text 15"/>
          <p:cNvSpPr/>
          <p:nvPr/>
        </p:nvSpPr>
        <p:spPr>
          <a:xfrm>
            <a:off x="1676400" y="5534025"/>
            <a:ext cx="16764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712114" y="5562600"/>
            <a:ext cx="76200" cy="304800"/>
          </a:xfrm>
          <a:prstGeom prst="roundRect">
            <a:avLst>
              <a:gd name="adj" fmla="val 12500"/>
            </a:avLst>
          </a:prstGeom>
          <a:solidFill>
            <a:srgbClr val="1A4E9B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5564981"/>
            <a:ext cx="51968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stack-snug · gap-touch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387746" y="5564981"/>
            <a:ext cx="64541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인접 버튼 사이 · 라벨↔입력 필드 · 아이콘↔텍스트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676400" y="6896100"/>
            <a:ext cx="149352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22" name="Text 20"/>
          <p:cNvSpPr/>
          <p:nvPr/>
        </p:nvSpPr>
        <p:spPr>
          <a:xfrm>
            <a:off x="1676400" y="6324600"/>
            <a:ext cx="16764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3712114" y="6353175"/>
            <a:ext cx="114300" cy="304800"/>
          </a:xfrm>
          <a:prstGeom prst="roundRect">
            <a:avLst>
              <a:gd name="adj" fmla="val 8333"/>
            </a:avLst>
          </a:prstGeom>
          <a:solidFill>
            <a:srgbClr val="1A4E9B"/>
          </a:solidFill>
          <a:ln/>
        </p:spPr>
      </p:sp>
      <p:sp>
        <p:nvSpPr>
          <p:cNvPr id="24" name="Text 22"/>
          <p:cNvSpPr/>
          <p:nvPr/>
        </p:nvSpPr>
        <p:spPr>
          <a:xfrm>
            <a:off x="5715000" y="6355556"/>
            <a:ext cx="51968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stack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0387746" y="6355556"/>
            <a:ext cx="64541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제목↔리스트 · 리스트 행 세로 안쪽 · 아이콘↔행 본문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676400" y="7686675"/>
            <a:ext cx="14935200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27" name="Text 25"/>
          <p:cNvSpPr/>
          <p:nvPr/>
        </p:nvSpPr>
        <p:spPr>
          <a:xfrm>
            <a:off x="1676400" y="7115175"/>
            <a:ext cx="16764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3712114" y="7143750"/>
            <a:ext cx="152400" cy="304800"/>
          </a:xfrm>
          <a:prstGeom prst="roundRect">
            <a:avLst>
              <a:gd name="adj" fmla="val 6250"/>
            </a:avLst>
          </a:prstGeom>
          <a:solidFill>
            <a:srgbClr val="1A4E9B"/>
          </a:solidFill>
          <a:ln/>
        </p:spPr>
      </p:sp>
      <p:sp>
        <p:nvSpPr>
          <p:cNvPr id="29" name="Text 27"/>
          <p:cNvSpPr/>
          <p:nvPr/>
        </p:nvSpPr>
        <p:spPr>
          <a:xfrm>
            <a:off x="5715000" y="7146131"/>
            <a:ext cx="51968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gutter · stack-loose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0387746" y="7146131"/>
            <a:ext cx="64541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좌우 여백 · 카드 안쪽 · 버튼 가로 패딩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676400" y="7905750"/>
            <a:ext cx="16764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3712114" y="7934325"/>
            <a:ext cx="190500" cy="304800"/>
          </a:xfrm>
          <a:prstGeom prst="roundRect">
            <a:avLst>
              <a:gd name="adj" fmla="val 5000"/>
            </a:avLst>
          </a:prstGeom>
          <a:solidFill>
            <a:srgbClr val="1A4E9B"/>
          </a:solidFill>
          <a:ln/>
        </p:spPr>
      </p:sp>
      <p:sp>
        <p:nvSpPr>
          <p:cNvPr id="33" name="Text 31"/>
          <p:cNvSpPr/>
          <p:nvPr/>
        </p:nvSpPr>
        <p:spPr>
          <a:xfrm>
            <a:off x="5715000" y="7936706"/>
            <a:ext cx="51968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0387746" y="7936706"/>
            <a:ext cx="64541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사이 · 빈 화면 안내 안쪽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219200" y="9458325"/>
            <a:ext cx="26410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· 디자인 가이드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827698" y="9458325"/>
            <a:ext cx="3173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37"/>
          <p:cNvSpPr/>
          <p:nvPr/>
        </p:nvSpPr>
        <p:spPr>
          <a:xfrm>
            <a:off x="13886690" y="1356991"/>
            <a:ext cx="3181350" cy="6863084"/>
          </a:xfrm>
          <a:prstGeom prst="rect">
            <a:avLst/>
          </a:prstGeom>
          <a:solidFill>
            <a:srgbClr val="E9EDF3"/>
          </a:solidFill>
          <a:ln/>
          <a:effectLst>
            <a:outerShdw blurRad="355600" dist="50800" dir="5400000" algn="ctr" rotWithShape="0">
              <a:schemeClr val="accent1">
                <a:lumMod val="75000"/>
                <a:alpha val="20000"/>
              </a:scheme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12192000" y="0"/>
            <a:ext cx="6096000" cy="6096000"/>
          </a:xfrm>
          <a:prstGeom prst="ellipse">
            <a:avLst/>
          </a:prstGeom>
          <a:gradFill rotWithShape="1">
            <a:gsLst>
              <a:gs pos="0">
                <a:srgbClr val="1A4E9B">
                  <a:alpha val="10000"/>
                </a:srgbClr>
              </a:gs>
              <a:gs pos="70000">
                <a:srgbClr val="1A4E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19200" y="1219200"/>
            <a:ext cx="56578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93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RULES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19200" y="1747838"/>
            <a:ext cx="565785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여백 · 비율 · 간격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19200" y="2709862"/>
            <a:ext cx="5297805" cy="212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11"/>
              </a:lnSpc>
              <a:buNone/>
            </a:pPr>
            <a:r>
              <a:rPr lang="en-US" sz="22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좌우 여백 16</a:t>
            </a:r>
            <a:r>
              <a:rPr lang="en-US" sz="22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endParaRPr lang="en-US" sz="2250" smtClean="0">
              <a:solidFill>
                <a:srgbClr val="48556A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35211"/>
              </a:lnSpc>
              <a:buNone/>
            </a:pPr>
            <a:r>
              <a:rPr lang="en-US" sz="22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바텀시트는 </a:t>
            </a:r>
            <a:r>
              <a:rPr lang="en-US" sz="22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높이의 60% 이하</a:t>
            </a:r>
            <a:r>
              <a:rPr lang="en-US" sz="22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endParaRPr lang="en-US" sz="2250" smtClean="0">
              <a:solidFill>
                <a:srgbClr val="48556A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35211"/>
              </a:lnSpc>
              <a:buNone/>
            </a:pPr>
            <a:r>
              <a:rPr lang="en-US" sz="22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 </a:t>
            </a:r>
            <a:r>
              <a:rPr lang="en-US" sz="22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 20 · 제목↔</a:t>
            </a:r>
            <a:r>
              <a:rPr lang="en-US" sz="22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 </a:t>
            </a:r>
            <a:r>
              <a:rPr lang="en-US" sz="22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</a:p>
          <a:p>
            <a:pPr marL="0" indent="0" algn="l">
              <a:lnSpc>
                <a:spcPct val="135211"/>
              </a:lnSpc>
              <a:buNone/>
            </a:pPr>
            <a:r>
              <a:rPr lang="en-US" sz="22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인접 </a:t>
            </a:r>
            <a:r>
              <a:rPr lang="en-US" sz="22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8로 맞춥니다.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6762750" y="1362075"/>
            <a:ext cx="3181350" cy="6858000"/>
          </a:xfrm>
          <a:prstGeom prst="roundRect">
            <a:avLst>
              <a:gd name="adj" fmla="val 8383"/>
            </a:avLst>
          </a:prstGeom>
          <a:solidFill>
            <a:srgbClr val="F5F7FA"/>
          </a:solidFill>
          <a:ln/>
          <a:effectLst>
            <a:outerShdw blurRad="228600" dist="76200" dir="5400000" algn="bl" rotWithShape="0">
              <a:srgbClr val="0F2A57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62750" y="1362075"/>
            <a:ext cx="3181424" cy="6857702"/>
          </a:xfrm>
          <a:prstGeom prst="rect">
            <a:avLst/>
          </a:prstGeom>
          <a:solidFill>
            <a:srgbClr val="F5F7FA"/>
          </a:solidFill>
          <a:ln/>
          <a:effectLst/>
        </p:spPr>
      </p:sp>
      <p:sp>
        <p:nvSpPr>
          <p:cNvPr id="8" name="Shape 6"/>
          <p:cNvSpPr/>
          <p:nvPr/>
        </p:nvSpPr>
        <p:spPr>
          <a:xfrm>
            <a:off x="6762750" y="1362075"/>
            <a:ext cx="3181424" cy="388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939483" y="1482626"/>
            <a:ext cx="3236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232925" y="1482626"/>
            <a:ext cx="61071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762750" y="1750888"/>
            <a:ext cx="3181424" cy="5390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915150" y="1865188"/>
            <a:ext cx="2972067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4528"/>
              </a:lnSpc>
              <a:buNone/>
            </a:pPr>
            <a:r>
              <a:rPr lang="en-US" sz="165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904137" y="2466677"/>
            <a:ext cx="1360959" cy="1360959"/>
          </a:xfrm>
          <a:prstGeom prst="roundRect">
            <a:avLst>
              <a:gd name="adj" fmla="val 8398"/>
            </a:avLst>
          </a:prstGeom>
          <a:solidFill>
            <a:srgbClr val="FFFFFF"/>
          </a:solidFill>
          <a:ln w="5133">
            <a:solidFill>
              <a:srgbClr val="D5DBE4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443192" y="2806898"/>
            <a:ext cx="282773" cy="28277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294438" y="3195712"/>
            <a:ext cx="580281" cy="329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4528"/>
              </a:lnSpc>
              <a:buNone/>
            </a:pPr>
            <a:r>
              <a:rPr lang="en-US" sz="165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길안내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8441829" y="2466677"/>
            <a:ext cx="1360959" cy="1360959"/>
          </a:xfrm>
          <a:prstGeom prst="roundRect">
            <a:avLst>
              <a:gd name="adj" fmla="val 8398"/>
            </a:avLst>
          </a:prstGeom>
          <a:solidFill>
            <a:srgbClr val="FFFFFF"/>
          </a:solidFill>
          <a:ln w="5133">
            <a:solidFill>
              <a:srgbClr val="D5DBE4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980884" y="2806898"/>
            <a:ext cx="282773" cy="28277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748117" y="3195712"/>
            <a:ext cx="748308" cy="329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4528"/>
              </a:lnSpc>
              <a:buNone/>
            </a:pPr>
            <a:r>
              <a:rPr lang="en-US" sz="165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</a:t>
            </a:r>
            <a:endParaRPr lang="en-US" sz="1650" dirty="0"/>
          </a:p>
        </p:txBody>
      </p:sp>
      <p:sp>
        <p:nvSpPr>
          <p:cNvPr id="19" name="Shape 15"/>
          <p:cNvSpPr/>
          <p:nvPr/>
        </p:nvSpPr>
        <p:spPr>
          <a:xfrm>
            <a:off x="6904137" y="4004370"/>
            <a:ext cx="1360959" cy="1360959"/>
          </a:xfrm>
          <a:prstGeom prst="roundRect">
            <a:avLst>
              <a:gd name="adj" fmla="val 8398"/>
            </a:avLst>
          </a:prstGeom>
          <a:solidFill>
            <a:srgbClr val="FFFFFF"/>
          </a:solidFill>
          <a:ln w="5133">
            <a:solidFill>
              <a:srgbClr val="D5DBE4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443192" y="4344591"/>
            <a:ext cx="282773" cy="2827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26412" y="4733404"/>
            <a:ext cx="916335" cy="329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4528"/>
              </a:lnSpc>
              <a:buNone/>
            </a:pPr>
            <a:r>
              <a:rPr lang="en-US" sz="165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버스정류장</a:t>
            </a:r>
            <a:endParaRPr lang="en-US" sz="1650" dirty="0"/>
          </a:p>
        </p:txBody>
      </p:sp>
      <p:sp>
        <p:nvSpPr>
          <p:cNvPr id="22" name="Shape 17"/>
          <p:cNvSpPr/>
          <p:nvPr/>
        </p:nvSpPr>
        <p:spPr>
          <a:xfrm>
            <a:off x="8441829" y="4004370"/>
            <a:ext cx="1360959" cy="1360959"/>
          </a:xfrm>
          <a:prstGeom prst="roundRect">
            <a:avLst>
              <a:gd name="adj" fmla="val 8398"/>
            </a:avLst>
          </a:prstGeom>
          <a:solidFill>
            <a:srgbClr val="FFFFFF"/>
          </a:solidFill>
          <a:ln w="5133">
            <a:solidFill>
              <a:srgbClr val="D5DBE4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8980884" y="4344591"/>
            <a:ext cx="282773" cy="28277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748117" y="4733404"/>
            <a:ext cx="748308" cy="329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4528"/>
              </a:lnSpc>
              <a:buNone/>
            </a:pPr>
            <a:r>
              <a:rPr lang="en-US" sz="165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지하철역</a:t>
            </a:r>
            <a:endParaRPr lang="en-US" sz="1650" dirty="0"/>
          </a:p>
        </p:txBody>
      </p:sp>
      <p:sp>
        <p:nvSpPr>
          <p:cNvPr id="25" name="Shape 19"/>
          <p:cNvSpPr/>
          <p:nvPr/>
        </p:nvSpPr>
        <p:spPr>
          <a:xfrm>
            <a:off x="6904137" y="5542062"/>
            <a:ext cx="1360959" cy="1360959"/>
          </a:xfrm>
          <a:prstGeom prst="roundRect">
            <a:avLst>
              <a:gd name="adj" fmla="val 8398"/>
            </a:avLst>
          </a:prstGeom>
          <a:solidFill>
            <a:srgbClr val="FFFFFF"/>
          </a:solidFill>
          <a:ln w="5133">
            <a:solidFill>
              <a:srgbClr val="D5DBE4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7443192" y="5882283"/>
            <a:ext cx="282773" cy="2827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88026" y="6271096"/>
            <a:ext cx="793105" cy="329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4528"/>
              </a:lnSpc>
              <a:buNone/>
            </a:pPr>
            <a:r>
              <a:rPr lang="en-US" sz="165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택시 호출</a:t>
            </a:r>
            <a:endParaRPr lang="en-US" sz="1650" dirty="0"/>
          </a:p>
        </p:txBody>
      </p:sp>
      <p:sp>
        <p:nvSpPr>
          <p:cNvPr id="28" name="Shape 21"/>
          <p:cNvSpPr/>
          <p:nvPr/>
        </p:nvSpPr>
        <p:spPr>
          <a:xfrm>
            <a:off x="8441829" y="5542062"/>
            <a:ext cx="1360959" cy="1360959"/>
          </a:xfrm>
          <a:prstGeom prst="roundRect">
            <a:avLst>
              <a:gd name="adj" fmla="val 8398"/>
            </a:avLst>
          </a:prstGeom>
          <a:solidFill>
            <a:srgbClr val="FFFFFF"/>
          </a:solidFill>
          <a:ln w="5133">
            <a:solidFill>
              <a:srgbClr val="D5DBE4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8980884" y="5882283"/>
            <a:ext cx="282773" cy="28277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748117" y="6271096"/>
            <a:ext cx="748308" cy="329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4528"/>
              </a:lnSpc>
              <a:buNone/>
            </a:pPr>
            <a:r>
              <a:rPr lang="en-US" sz="1650" b="1" dirty="0">
                <a:solidFill>
                  <a:srgbClr val="1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불편신고</a:t>
            </a:r>
            <a:endParaRPr lang="en-US" sz="1650" dirty="0"/>
          </a:p>
        </p:txBody>
      </p:sp>
      <p:sp>
        <p:nvSpPr>
          <p:cNvPr id="31" name="Shape 23"/>
          <p:cNvSpPr/>
          <p:nvPr/>
        </p:nvSpPr>
        <p:spPr>
          <a:xfrm>
            <a:off x="6762750" y="7671867"/>
            <a:ext cx="3181424" cy="547911"/>
          </a:xfrm>
          <a:custGeom>
            <a:avLst/>
            <a:gdLst/>
            <a:ahLst/>
            <a:cxnLst/>
            <a:rect l="l" t="t" r="r" b="b"/>
            <a:pathLst>
              <a:path w="3181424" h="547911">
                <a:moveTo>
                  <a:pt x="0" y="0"/>
                </a:moveTo>
                <a:lnTo>
                  <a:pt x="3181424" y="0"/>
                </a:lnTo>
                <a:lnTo>
                  <a:pt x="3181424" y="433611"/>
                </a:lnTo>
                <a:arcTo wR="114300" hR="114300" stAng="0" swAng="5400000"/>
                <a:lnTo>
                  <a:pt x="114300" y="547911"/>
                </a:lnTo>
                <a:arcTo wR="114300" hR="114300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24"/>
          <p:cNvSpPr/>
          <p:nvPr/>
        </p:nvSpPr>
        <p:spPr>
          <a:xfrm>
            <a:off x="6762750" y="7671867"/>
            <a:ext cx="1060475" cy="26491"/>
          </a:xfrm>
          <a:prstGeom prst="rect">
            <a:avLst/>
          </a:prstGeom>
          <a:solidFill>
            <a:srgbClr val="1A4E9B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7186910" y="7742560"/>
            <a:ext cx="212080" cy="2120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209011" y="7989987"/>
            <a:ext cx="167878" cy="197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4138"/>
              </a:lnSpc>
              <a:buNone/>
            </a:pPr>
            <a:r>
              <a:rPr lang="en-US" sz="900" b="1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</a:t>
            </a:r>
            <a:endParaRPr lang="en-US" sz="9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8247385" y="7742560"/>
            <a:ext cx="212080" cy="21208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177882" y="7989987"/>
            <a:ext cx="351086" cy="197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4138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길안내</a:t>
            </a:r>
            <a:endParaRPr lang="en-US" sz="9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xmlns="" r:embed="rId20"/>
              </a:ext>
            </a:extLst>
          </a:blip>
          <a:stretch>
            <a:fillRect/>
          </a:stretch>
        </p:blipFill>
        <p:spPr>
          <a:xfrm>
            <a:off x="9307860" y="7742560"/>
            <a:ext cx="212080" cy="21208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9146753" y="7989987"/>
            <a:ext cx="534367" cy="197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4138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</a:t>
            </a:r>
            <a:endParaRPr lang="en-US" sz="900" dirty="0"/>
          </a:p>
        </p:txBody>
      </p:sp>
      <p:sp>
        <p:nvSpPr>
          <p:cNvPr id="39" name="Shape 28"/>
          <p:cNvSpPr/>
          <p:nvPr/>
        </p:nvSpPr>
        <p:spPr>
          <a:xfrm>
            <a:off x="6762750" y="1362075"/>
            <a:ext cx="150912" cy="6858000"/>
          </a:xfrm>
          <a:prstGeom prst="rect">
            <a:avLst/>
          </a:prstGeom>
          <a:solidFill>
            <a:srgbClr val="990000">
              <a:alpha val="28000"/>
            </a:srgbClr>
          </a:solidFill>
          <a:ln/>
        </p:spPr>
      </p:sp>
      <p:sp>
        <p:nvSpPr>
          <p:cNvPr id="40" name="Shape 29"/>
          <p:cNvSpPr/>
          <p:nvPr/>
        </p:nvSpPr>
        <p:spPr>
          <a:xfrm>
            <a:off x="6904137" y="1362075"/>
            <a:ext cx="9525" cy="685800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41" name="Shape 30"/>
          <p:cNvSpPr/>
          <p:nvPr/>
        </p:nvSpPr>
        <p:spPr>
          <a:xfrm>
            <a:off x="9793188" y="1362075"/>
            <a:ext cx="150912" cy="6858000"/>
          </a:xfrm>
          <a:prstGeom prst="rect">
            <a:avLst/>
          </a:prstGeom>
          <a:solidFill>
            <a:srgbClr val="990000">
              <a:alpha val="28000"/>
            </a:srgbClr>
          </a:solidFill>
          <a:ln/>
        </p:spPr>
      </p:sp>
      <p:sp>
        <p:nvSpPr>
          <p:cNvPr id="42" name="Shape 31"/>
          <p:cNvSpPr/>
          <p:nvPr/>
        </p:nvSpPr>
        <p:spPr>
          <a:xfrm>
            <a:off x="9793188" y="1362075"/>
            <a:ext cx="9525" cy="685800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43" name="Shape 32"/>
          <p:cNvSpPr/>
          <p:nvPr/>
        </p:nvSpPr>
        <p:spPr>
          <a:xfrm>
            <a:off x="6972300" y="4614863"/>
            <a:ext cx="444550" cy="352425"/>
          </a:xfrm>
          <a:prstGeom prst="roundRect">
            <a:avLst>
              <a:gd name="adj" fmla="val 21622"/>
            </a:avLst>
          </a:prstGeom>
          <a:solidFill>
            <a:srgbClr val="990000"/>
          </a:solidFill>
          <a:ln/>
        </p:spPr>
      </p:sp>
      <p:sp>
        <p:nvSpPr>
          <p:cNvPr id="44" name="Text 33"/>
          <p:cNvSpPr/>
          <p:nvPr/>
        </p:nvSpPr>
        <p:spPr>
          <a:xfrm>
            <a:off x="7067550" y="4652963"/>
            <a:ext cx="2985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800" dirty="0"/>
          </a:p>
        </p:txBody>
      </p:sp>
      <p:sp>
        <p:nvSpPr>
          <p:cNvPr id="45" name="Shape 34"/>
          <p:cNvSpPr/>
          <p:nvPr/>
        </p:nvSpPr>
        <p:spPr>
          <a:xfrm>
            <a:off x="9290000" y="4614863"/>
            <a:ext cx="444550" cy="352425"/>
          </a:xfrm>
          <a:prstGeom prst="roundRect">
            <a:avLst>
              <a:gd name="adj" fmla="val 21622"/>
            </a:avLst>
          </a:prstGeom>
          <a:solidFill>
            <a:srgbClr val="990000"/>
          </a:solidFill>
          <a:ln/>
        </p:spPr>
      </p:sp>
      <p:sp>
        <p:nvSpPr>
          <p:cNvPr id="46" name="Text 35"/>
          <p:cNvSpPr/>
          <p:nvPr/>
        </p:nvSpPr>
        <p:spPr>
          <a:xfrm>
            <a:off x="9385250" y="4652963"/>
            <a:ext cx="2985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800" dirty="0"/>
          </a:p>
        </p:txBody>
      </p:sp>
      <p:sp>
        <p:nvSpPr>
          <p:cNvPr id="47" name="Shape 36"/>
          <p:cNvSpPr/>
          <p:nvPr/>
        </p:nvSpPr>
        <p:spPr>
          <a:xfrm>
            <a:off x="10325100" y="1362075"/>
            <a:ext cx="3181350" cy="6858000"/>
          </a:xfrm>
          <a:prstGeom prst="roundRect">
            <a:avLst>
              <a:gd name="adj" fmla="val 8383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F2A57">
                <a:alpha val="16000"/>
              </a:srgbClr>
            </a:outerShdw>
          </a:effectLst>
        </p:spPr>
      </p:sp>
      <p:sp>
        <p:nvSpPr>
          <p:cNvPr id="48" name="Shape 37"/>
          <p:cNvSpPr/>
          <p:nvPr/>
        </p:nvSpPr>
        <p:spPr>
          <a:xfrm>
            <a:off x="10325100" y="1362075"/>
            <a:ext cx="3181350" cy="2857500"/>
          </a:xfrm>
          <a:prstGeom prst="rect">
            <a:avLst/>
          </a:prstGeom>
          <a:solidFill>
            <a:srgbClr val="E9EDF3"/>
          </a:solidFill>
          <a:ln/>
          <a:effectLst/>
        </p:spPr>
      </p:sp>
      <p:sp>
        <p:nvSpPr>
          <p:cNvPr id="49" name="Shape 38"/>
          <p:cNvSpPr/>
          <p:nvPr/>
        </p:nvSpPr>
        <p:spPr>
          <a:xfrm>
            <a:off x="10325100" y="1362075"/>
            <a:ext cx="3181350" cy="609600"/>
          </a:xfrm>
          <a:prstGeom prst="rect">
            <a:avLst/>
          </a:prstGeom>
          <a:solidFill>
            <a:srgbClr val="FFFFFF"/>
          </a:solidFill>
          <a:ln/>
          <a:effectLst/>
        </p:spPr>
      </p:sp>
      <p:sp>
        <p:nvSpPr>
          <p:cNvPr id="50" name="Shape 39"/>
          <p:cNvSpPr/>
          <p:nvPr/>
        </p:nvSpPr>
        <p:spPr>
          <a:xfrm>
            <a:off x="10466487" y="1495425"/>
            <a:ext cx="2898577" cy="381000"/>
          </a:xfrm>
          <a:prstGeom prst="roundRect">
            <a:avLst>
              <a:gd name="adj" fmla="val 30000"/>
            </a:avLst>
          </a:prstGeom>
          <a:solidFill>
            <a:srgbClr val="F5F7FA"/>
          </a:solidFill>
          <a:ln w="19050">
            <a:solidFill>
              <a:srgbClr val="B9C2CE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12945963" y="25050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171C1C">
                <a:alpha val="16000"/>
              </a:srgbClr>
            </a:outerShdw>
          </a:effectLst>
        </p:spPr>
      </p:sp>
      <p:sp>
        <p:nvSpPr>
          <p:cNvPr id="52" name="Shape 41"/>
          <p:cNvSpPr/>
          <p:nvPr/>
        </p:nvSpPr>
        <p:spPr>
          <a:xfrm>
            <a:off x="12945963" y="30003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171C1C">
                <a:alpha val="16000"/>
              </a:srgbClr>
            </a:outerShdw>
          </a:effectLst>
        </p:spPr>
      </p:sp>
      <p:sp>
        <p:nvSpPr>
          <p:cNvPr id="53" name="Shape 42"/>
          <p:cNvSpPr/>
          <p:nvPr/>
        </p:nvSpPr>
        <p:spPr>
          <a:xfrm>
            <a:off x="10325100" y="4105275"/>
            <a:ext cx="3181350" cy="4114800"/>
          </a:xfrm>
          <a:custGeom>
            <a:avLst/>
            <a:gdLst/>
            <a:ahLst/>
            <a:cxnLst/>
            <a:rect l="l" t="t" r="r" b="b"/>
            <a:pathLst>
              <a:path w="3181350" h="4114800">
                <a:moveTo>
                  <a:pt x="190500" y="0"/>
                </a:moveTo>
                <a:lnTo>
                  <a:pt x="2990850" y="0"/>
                </a:lnTo>
                <a:arcTo wR="190500" hR="190500" stAng="16200000" swAng="5400000"/>
                <a:lnTo>
                  <a:pt x="3181350" y="4114800"/>
                </a:lnTo>
                <a:lnTo>
                  <a:pt x="0" y="4114800"/>
                </a:lnTo>
                <a:lnTo>
                  <a:pt x="0" y="190500"/>
                </a:lnTo>
                <a:arcTo wR="190500" hR="190500" stAng="10800000" swAng="5400000"/>
                <a:close/>
              </a:path>
            </a:pathLst>
          </a:custGeom>
          <a:solidFill>
            <a:srgbClr val="FFFFFF"/>
          </a:solidFill>
          <a:ln/>
          <a:effectLst/>
        </p:spPr>
      </p:sp>
      <p:sp>
        <p:nvSpPr>
          <p:cNvPr id="54" name="Shape 43"/>
          <p:cNvSpPr/>
          <p:nvPr/>
        </p:nvSpPr>
        <p:spPr>
          <a:xfrm>
            <a:off x="11725275" y="4219575"/>
            <a:ext cx="381000" cy="38100"/>
          </a:xfrm>
          <a:prstGeom prst="roundRect">
            <a:avLst>
              <a:gd name="adj" fmla="val 50000"/>
            </a:avLst>
          </a:prstGeom>
          <a:solidFill>
            <a:srgbClr val="B9C2CE"/>
          </a:solidFill>
          <a:ln/>
        </p:spPr>
      </p:sp>
      <p:sp>
        <p:nvSpPr>
          <p:cNvPr id="55" name="Shape 44"/>
          <p:cNvSpPr/>
          <p:nvPr/>
        </p:nvSpPr>
        <p:spPr>
          <a:xfrm>
            <a:off x="10466487" y="4676775"/>
            <a:ext cx="1428750" cy="190500"/>
          </a:xfrm>
          <a:prstGeom prst="roundRect">
            <a:avLst>
              <a:gd name="adj" fmla="val 20000"/>
            </a:avLst>
          </a:prstGeom>
          <a:solidFill>
            <a:srgbClr val="B9C2CE"/>
          </a:solidFill>
          <a:ln/>
        </p:spPr>
      </p:sp>
      <p:sp>
        <p:nvSpPr>
          <p:cNvPr id="56" name="Shape 45"/>
          <p:cNvSpPr/>
          <p:nvPr/>
        </p:nvSpPr>
        <p:spPr>
          <a:xfrm>
            <a:off x="10466487" y="4943475"/>
            <a:ext cx="952500" cy="133350"/>
          </a:xfrm>
          <a:prstGeom prst="roundRect">
            <a:avLst>
              <a:gd name="adj" fmla="val 28571"/>
            </a:avLst>
          </a:prstGeom>
          <a:solidFill>
            <a:srgbClr val="D5DBE4"/>
          </a:solidFill>
          <a:ln/>
        </p:spPr>
      </p:sp>
      <p:sp>
        <p:nvSpPr>
          <p:cNvPr id="57" name="Shape 46"/>
          <p:cNvSpPr/>
          <p:nvPr/>
        </p:nvSpPr>
        <p:spPr>
          <a:xfrm>
            <a:off x="10466487" y="5267325"/>
            <a:ext cx="2898577" cy="914400"/>
          </a:xfrm>
          <a:prstGeom prst="roundRect">
            <a:avLst>
              <a:gd name="adj" fmla="val 12500"/>
            </a:avLst>
          </a:prstGeom>
          <a:solidFill>
            <a:srgbClr val="E9EDF3"/>
          </a:solidFill>
          <a:ln/>
        </p:spPr>
      </p:sp>
      <p:sp>
        <p:nvSpPr>
          <p:cNvPr id="58" name="Shape 47"/>
          <p:cNvSpPr/>
          <p:nvPr/>
        </p:nvSpPr>
        <p:spPr>
          <a:xfrm>
            <a:off x="10607873" y="5438775"/>
            <a:ext cx="1238250" cy="133350"/>
          </a:xfrm>
          <a:prstGeom prst="roundRect">
            <a:avLst>
              <a:gd name="adj" fmla="val 28571"/>
            </a:avLst>
          </a:prstGeom>
          <a:solidFill>
            <a:srgbClr val="B9C2CE"/>
          </a:solidFill>
          <a:ln/>
        </p:spPr>
      </p:sp>
      <p:sp>
        <p:nvSpPr>
          <p:cNvPr id="59" name="Shape 48"/>
          <p:cNvSpPr/>
          <p:nvPr/>
        </p:nvSpPr>
        <p:spPr>
          <a:xfrm>
            <a:off x="10607873" y="5667375"/>
            <a:ext cx="1714500" cy="114300"/>
          </a:xfrm>
          <a:prstGeom prst="roundRect">
            <a:avLst>
              <a:gd name="adj" fmla="val 33333"/>
            </a:avLst>
          </a:prstGeom>
          <a:solidFill>
            <a:srgbClr val="D5DBE4"/>
          </a:solidFill>
          <a:ln/>
        </p:spPr>
      </p:sp>
      <p:sp>
        <p:nvSpPr>
          <p:cNvPr id="60" name="Shape 49"/>
          <p:cNvSpPr/>
          <p:nvPr/>
        </p:nvSpPr>
        <p:spPr>
          <a:xfrm>
            <a:off x="10607873" y="5876925"/>
            <a:ext cx="1428750" cy="114300"/>
          </a:xfrm>
          <a:prstGeom prst="roundRect">
            <a:avLst>
              <a:gd name="adj" fmla="val 33333"/>
            </a:avLst>
          </a:prstGeom>
          <a:solidFill>
            <a:srgbClr val="D5DBE4"/>
          </a:solidFill>
          <a:ln/>
        </p:spPr>
      </p:sp>
      <p:sp>
        <p:nvSpPr>
          <p:cNvPr id="61" name="Shape 50"/>
          <p:cNvSpPr/>
          <p:nvPr/>
        </p:nvSpPr>
        <p:spPr>
          <a:xfrm>
            <a:off x="10466487" y="6296025"/>
            <a:ext cx="2898577" cy="914400"/>
          </a:xfrm>
          <a:prstGeom prst="roundRect">
            <a:avLst>
              <a:gd name="adj" fmla="val 12500"/>
            </a:avLst>
          </a:prstGeom>
          <a:solidFill>
            <a:srgbClr val="E9EDF3"/>
          </a:solidFill>
          <a:ln/>
        </p:spPr>
      </p:sp>
      <p:sp>
        <p:nvSpPr>
          <p:cNvPr id="62" name="Shape 51"/>
          <p:cNvSpPr/>
          <p:nvPr/>
        </p:nvSpPr>
        <p:spPr>
          <a:xfrm>
            <a:off x="10607873" y="6467475"/>
            <a:ext cx="1047750" cy="133350"/>
          </a:xfrm>
          <a:prstGeom prst="roundRect">
            <a:avLst>
              <a:gd name="adj" fmla="val 28571"/>
            </a:avLst>
          </a:prstGeom>
          <a:solidFill>
            <a:srgbClr val="B9C2CE"/>
          </a:solidFill>
          <a:ln/>
        </p:spPr>
      </p:sp>
      <p:sp>
        <p:nvSpPr>
          <p:cNvPr id="63" name="Shape 52"/>
          <p:cNvSpPr/>
          <p:nvPr/>
        </p:nvSpPr>
        <p:spPr>
          <a:xfrm>
            <a:off x="10607873" y="6696075"/>
            <a:ext cx="1619250" cy="114300"/>
          </a:xfrm>
          <a:prstGeom prst="roundRect">
            <a:avLst>
              <a:gd name="adj" fmla="val 33333"/>
            </a:avLst>
          </a:prstGeom>
          <a:solidFill>
            <a:srgbClr val="D5DBE4"/>
          </a:solidFill>
          <a:ln/>
        </p:spPr>
      </p:sp>
      <p:sp>
        <p:nvSpPr>
          <p:cNvPr id="64" name="Shape 53"/>
          <p:cNvSpPr/>
          <p:nvPr/>
        </p:nvSpPr>
        <p:spPr>
          <a:xfrm>
            <a:off x="10607873" y="6905625"/>
            <a:ext cx="1143000" cy="114300"/>
          </a:xfrm>
          <a:prstGeom prst="roundRect">
            <a:avLst>
              <a:gd name="adj" fmla="val 33333"/>
            </a:avLst>
          </a:prstGeom>
          <a:solidFill>
            <a:srgbClr val="D5DBE4"/>
          </a:solidFill>
          <a:ln/>
        </p:spPr>
      </p:sp>
      <p:sp>
        <p:nvSpPr>
          <p:cNvPr id="65" name="Shape 54"/>
          <p:cNvSpPr/>
          <p:nvPr/>
        </p:nvSpPr>
        <p:spPr>
          <a:xfrm>
            <a:off x="10466487" y="7543800"/>
            <a:ext cx="2898577" cy="447675"/>
          </a:xfrm>
          <a:prstGeom prst="roundRect">
            <a:avLst>
              <a:gd name="adj" fmla="val 50000"/>
            </a:avLst>
          </a:prstGeom>
          <a:solidFill>
            <a:srgbClr val="1A4E9B"/>
          </a:solidFill>
          <a:ln/>
        </p:spPr>
      </p:sp>
      <p:sp>
        <p:nvSpPr>
          <p:cNvPr id="66" name="Shape 55"/>
          <p:cNvSpPr/>
          <p:nvPr/>
        </p:nvSpPr>
        <p:spPr>
          <a:xfrm>
            <a:off x="10325100" y="4095750"/>
            <a:ext cx="3181350" cy="1905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67" name="Shape 56"/>
          <p:cNvSpPr/>
          <p:nvPr/>
        </p:nvSpPr>
        <p:spPr>
          <a:xfrm>
            <a:off x="11906250" y="1419225"/>
            <a:ext cx="19050" cy="262890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68" name="Shape 57"/>
          <p:cNvSpPr/>
          <p:nvPr/>
        </p:nvSpPr>
        <p:spPr>
          <a:xfrm>
            <a:off x="11820525" y="1419225"/>
            <a:ext cx="190500" cy="1905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69" name="Shape 58"/>
          <p:cNvSpPr/>
          <p:nvPr/>
        </p:nvSpPr>
        <p:spPr>
          <a:xfrm>
            <a:off x="11906250" y="4162425"/>
            <a:ext cx="19050" cy="400050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70" name="Shape 59"/>
          <p:cNvSpPr/>
          <p:nvPr/>
        </p:nvSpPr>
        <p:spPr>
          <a:xfrm>
            <a:off x="11820525" y="8143875"/>
            <a:ext cx="190500" cy="1905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71" name="Shape 60"/>
          <p:cNvSpPr/>
          <p:nvPr/>
        </p:nvSpPr>
        <p:spPr>
          <a:xfrm>
            <a:off x="11317263" y="2581275"/>
            <a:ext cx="1197025" cy="342900"/>
          </a:xfrm>
          <a:prstGeom prst="roundRect">
            <a:avLst>
              <a:gd name="adj" fmla="val 22222"/>
            </a:avLst>
          </a:prstGeom>
          <a:solidFill>
            <a:srgbClr val="990000"/>
          </a:solidFill>
          <a:ln/>
        </p:spPr>
      </p:sp>
      <p:sp>
        <p:nvSpPr>
          <p:cNvPr id="72" name="Text 61"/>
          <p:cNvSpPr/>
          <p:nvPr/>
        </p:nvSpPr>
        <p:spPr>
          <a:xfrm>
            <a:off x="11431563" y="2600325"/>
            <a:ext cx="1088127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345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 40%</a:t>
            </a:r>
            <a:endParaRPr lang="en-US" sz="1800" dirty="0"/>
          </a:p>
        </p:txBody>
      </p:sp>
      <p:sp>
        <p:nvSpPr>
          <p:cNvPr id="73" name="Shape 62"/>
          <p:cNvSpPr/>
          <p:nvPr/>
        </p:nvSpPr>
        <p:spPr>
          <a:xfrm>
            <a:off x="11095025" y="6010275"/>
            <a:ext cx="1641500" cy="342900"/>
          </a:xfrm>
          <a:prstGeom prst="roundRect">
            <a:avLst>
              <a:gd name="adj" fmla="val 22222"/>
            </a:avLst>
          </a:prstGeom>
          <a:solidFill>
            <a:srgbClr val="990000"/>
          </a:solidFill>
          <a:ln/>
        </p:spPr>
      </p:sp>
      <p:sp>
        <p:nvSpPr>
          <p:cNvPr id="74" name="Text 63"/>
          <p:cNvSpPr/>
          <p:nvPr/>
        </p:nvSpPr>
        <p:spPr>
          <a:xfrm>
            <a:off x="11209325" y="6029325"/>
            <a:ext cx="1577050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345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 상한 60%</a:t>
            </a:r>
            <a:endParaRPr lang="en-US" sz="1800" dirty="0"/>
          </a:p>
        </p:txBody>
      </p:sp>
      <p:sp>
        <p:nvSpPr>
          <p:cNvPr id="76" name="Shape 65"/>
          <p:cNvSpPr/>
          <p:nvPr/>
        </p:nvSpPr>
        <p:spPr>
          <a:xfrm>
            <a:off x="13887450" y="1362075"/>
            <a:ext cx="3181350" cy="533400"/>
          </a:xfrm>
          <a:prstGeom prst="rect">
            <a:avLst/>
          </a:prstGeom>
          <a:solidFill>
            <a:srgbClr val="FFFFFF"/>
          </a:solidFill>
          <a:ln/>
          <a:effectLst/>
        </p:spPr>
      </p:sp>
      <p:sp>
        <p:nvSpPr>
          <p:cNvPr id="77" name="Shape 66"/>
          <p:cNvSpPr/>
          <p:nvPr/>
        </p:nvSpPr>
        <p:spPr>
          <a:xfrm>
            <a:off x="14028837" y="2085975"/>
            <a:ext cx="1714500" cy="190500"/>
          </a:xfrm>
          <a:prstGeom prst="roundRect">
            <a:avLst>
              <a:gd name="adj" fmla="val 20000"/>
            </a:avLst>
          </a:prstGeom>
          <a:solidFill>
            <a:srgbClr val="B9C2CE"/>
          </a:solidFill>
          <a:ln/>
        </p:spPr>
      </p:sp>
      <p:sp>
        <p:nvSpPr>
          <p:cNvPr id="78" name="Shape 67"/>
          <p:cNvSpPr/>
          <p:nvPr/>
        </p:nvSpPr>
        <p:spPr>
          <a:xfrm>
            <a:off x="14028837" y="2311673"/>
            <a:ext cx="1047750" cy="133350"/>
          </a:xfrm>
          <a:prstGeom prst="roundRect">
            <a:avLst>
              <a:gd name="adj" fmla="val 28571"/>
            </a:avLst>
          </a:prstGeom>
          <a:solidFill>
            <a:srgbClr val="D5DBE4"/>
          </a:solidFill>
          <a:ln/>
        </p:spPr>
      </p:sp>
      <p:sp>
        <p:nvSpPr>
          <p:cNvPr id="79" name="Shape 68"/>
          <p:cNvSpPr/>
          <p:nvPr/>
        </p:nvSpPr>
        <p:spPr>
          <a:xfrm>
            <a:off x="13887450" y="2445023"/>
            <a:ext cx="3181350" cy="176733"/>
          </a:xfrm>
          <a:prstGeom prst="rect">
            <a:avLst/>
          </a:prstGeom>
          <a:solidFill>
            <a:srgbClr val="990000">
              <a:alpha val="28000"/>
            </a:srgbClr>
          </a:solidFill>
          <a:ln/>
        </p:spPr>
      </p:sp>
      <p:sp>
        <p:nvSpPr>
          <p:cNvPr id="80" name="Shape 69"/>
          <p:cNvSpPr/>
          <p:nvPr/>
        </p:nvSpPr>
        <p:spPr>
          <a:xfrm>
            <a:off x="13887450" y="2612231"/>
            <a:ext cx="3181350" cy="9525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81" name="Shape 70"/>
          <p:cNvSpPr/>
          <p:nvPr/>
        </p:nvSpPr>
        <p:spPr>
          <a:xfrm>
            <a:off x="13887450" y="2445023"/>
            <a:ext cx="3181350" cy="9525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82" name="Shape 71"/>
          <p:cNvSpPr/>
          <p:nvPr/>
        </p:nvSpPr>
        <p:spPr>
          <a:xfrm>
            <a:off x="14028837" y="2622203"/>
            <a:ext cx="2898577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83" name="Shape 72"/>
          <p:cNvSpPr/>
          <p:nvPr/>
        </p:nvSpPr>
        <p:spPr>
          <a:xfrm>
            <a:off x="14028837" y="2622203"/>
            <a:ext cx="2898577" cy="105668"/>
          </a:xfrm>
          <a:prstGeom prst="rect">
            <a:avLst/>
          </a:prstGeom>
          <a:solidFill>
            <a:srgbClr val="990000">
              <a:alpha val="28000"/>
            </a:srgbClr>
          </a:solidFill>
          <a:ln/>
        </p:spPr>
      </p:sp>
      <p:sp>
        <p:nvSpPr>
          <p:cNvPr id="84" name="Shape 73"/>
          <p:cNvSpPr/>
          <p:nvPr/>
        </p:nvSpPr>
        <p:spPr>
          <a:xfrm>
            <a:off x="14028837" y="3049860"/>
            <a:ext cx="2898577" cy="105668"/>
          </a:xfrm>
          <a:prstGeom prst="rect">
            <a:avLst/>
          </a:prstGeom>
          <a:solidFill>
            <a:srgbClr val="990000">
              <a:alpha val="28000"/>
            </a:srgbClr>
          </a:solidFill>
          <a:ln/>
        </p:spPr>
      </p:sp>
      <p:sp>
        <p:nvSpPr>
          <p:cNvPr id="85" name="Shape 74"/>
          <p:cNvSpPr/>
          <p:nvPr/>
        </p:nvSpPr>
        <p:spPr>
          <a:xfrm>
            <a:off x="14170223" y="2784128"/>
            <a:ext cx="209550" cy="209550"/>
          </a:xfrm>
          <a:prstGeom prst="ellipse">
            <a:avLst/>
          </a:prstGeom>
          <a:solidFill>
            <a:srgbClr val="1A4E9B"/>
          </a:solidFill>
          <a:ln/>
        </p:spPr>
      </p:sp>
      <p:sp>
        <p:nvSpPr>
          <p:cNvPr id="86" name="Shape 75"/>
          <p:cNvSpPr/>
          <p:nvPr/>
        </p:nvSpPr>
        <p:spPr>
          <a:xfrm>
            <a:off x="14486037" y="2755553"/>
            <a:ext cx="762000" cy="133350"/>
          </a:xfrm>
          <a:prstGeom prst="roundRect">
            <a:avLst>
              <a:gd name="adj" fmla="val 28571"/>
            </a:avLst>
          </a:prstGeom>
          <a:solidFill>
            <a:srgbClr val="B9C2CE"/>
          </a:solidFill>
          <a:ln/>
        </p:spPr>
      </p:sp>
      <p:sp>
        <p:nvSpPr>
          <p:cNvPr id="87" name="Shape 76"/>
          <p:cNvSpPr/>
          <p:nvPr/>
        </p:nvSpPr>
        <p:spPr>
          <a:xfrm>
            <a:off x="14486037" y="2946053"/>
            <a:ext cx="571500" cy="95250"/>
          </a:xfrm>
          <a:prstGeom prst="roundRect">
            <a:avLst>
              <a:gd name="adj" fmla="val 40000"/>
            </a:avLst>
          </a:prstGeom>
          <a:solidFill>
            <a:srgbClr val="D5DBE4"/>
          </a:solidFill>
          <a:ln/>
        </p:spPr>
      </p:sp>
      <p:sp>
        <p:nvSpPr>
          <p:cNvPr id="88" name="Shape 77"/>
          <p:cNvSpPr/>
          <p:nvPr/>
        </p:nvSpPr>
        <p:spPr>
          <a:xfrm>
            <a:off x="14028837" y="3155603"/>
            <a:ext cx="2898577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89" name="Shape 78"/>
          <p:cNvSpPr/>
          <p:nvPr/>
        </p:nvSpPr>
        <p:spPr>
          <a:xfrm>
            <a:off x="14170223" y="3317528"/>
            <a:ext cx="209550" cy="209550"/>
          </a:xfrm>
          <a:prstGeom prst="ellipse">
            <a:avLst/>
          </a:prstGeom>
          <a:solidFill>
            <a:srgbClr val="1A4E9B"/>
          </a:solidFill>
          <a:ln/>
        </p:spPr>
      </p:sp>
      <p:sp>
        <p:nvSpPr>
          <p:cNvPr id="90" name="Shape 79"/>
          <p:cNvSpPr/>
          <p:nvPr/>
        </p:nvSpPr>
        <p:spPr>
          <a:xfrm>
            <a:off x="14486037" y="3288953"/>
            <a:ext cx="1143000" cy="133350"/>
          </a:xfrm>
          <a:prstGeom prst="roundRect">
            <a:avLst>
              <a:gd name="adj" fmla="val 28571"/>
            </a:avLst>
          </a:prstGeom>
          <a:solidFill>
            <a:srgbClr val="B9C2CE"/>
          </a:solidFill>
          <a:ln/>
        </p:spPr>
      </p:sp>
      <p:sp>
        <p:nvSpPr>
          <p:cNvPr id="91" name="Shape 80"/>
          <p:cNvSpPr/>
          <p:nvPr/>
        </p:nvSpPr>
        <p:spPr>
          <a:xfrm>
            <a:off x="14486037" y="3479453"/>
            <a:ext cx="762000" cy="95250"/>
          </a:xfrm>
          <a:prstGeom prst="roundRect">
            <a:avLst>
              <a:gd name="adj" fmla="val 40000"/>
            </a:avLst>
          </a:prstGeom>
          <a:solidFill>
            <a:srgbClr val="D5DBE4"/>
          </a:solidFill>
          <a:ln/>
        </p:spPr>
      </p:sp>
      <p:sp>
        <p:nvSpPr>
          <p:cNvPr id="92" name="Shape 81"/>
          <p:cNvSpPr/>
          <p:nvPr/>
        </p:nvSpPr>
        <p:spPr>
          <a:xfrm>
            <a:off x="14028837" y="3689003"/>
            <a:ext cx="2898577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93" name="Shape 82"/>
          <p:cNvSpPr/>
          <p:nvPr/>
        </p:nvSpPr>
        <p:spPr>
          <a:xfrm>
            <a:off x="14170223" y="3850928"/>
            <a:ext cx="209550" cy="209550"/>
          </a:xfrm>
          <a:prstGeom prst="ellipse">
            <a:avLst/>
          </a:prstGeom>
          <a:solidFill>
            <a:srgbClr val="1A4E9B"/>
          </a:solidFill>
          <a:ln/>
        </p:spPr>
      </p:sp>
      <p:sp>
        <p:nvSpPr>
          <p:cNvPr id="94" name="Shape 83"/>
          <p:cNvSpPr/>
          <p:nvPr/>
        </p:nvSpPr>
        <p:spPr>
          <a:xfrm>
            <a:off x="14486037" y="3822353"/>
            <a:ext cx="1428750" cy="133350"/>
          </a:xfrm>
          <a:prstGeom prst="roundRect">
            <a:avLst>
              <a:gd name="adj" fmla="val 28571"/>
            </a:avLst>
          </a:prstGeom>
          <a:solidFill>
            <a:srgbClr val="B9C2CE"/>
          </a:solidFill>
          <a:ln/>
        </p:spPr>
      </p:sp>
      <p:sp>
        <p:nvSpPr>
          <p:cNvPr id="95" name="Shape 84"/>
          <p:cNvSpPr/>
          <p:nvPr/>
        </p:nvSpPr>
        <p:spPr>
          <a:xfrm>
            <a:off x="14486037" y="4012853"/>
            <a:ext cx="914400" cy="95250"/>
          </a:xfrm>
          <a:prstGeom prst="roundRect">
            <a:avLst>
              <a:gd name="adj" fmla="val 40000"/>
            </a:avLst>
          </a:prstGeom>
          <a:solidFill>
            <a:srgbClr val="D5DBE4"/>
          </a:solidFill>
          <a:ln/>
        </p:spPr>
      </p:sp>
      <p:sp>
        <p:nvSpPr>
          <p:cNvPr id="96" name="Shape 85"/>
          <p:cNvSpPr/>
          <p:nvPr/>
        </p:nvSpPr>
        <p:spPr>
          <a:xfrm>
            <a:off x="13887450" y="4222403"/>
            <a:ext cx="3181350" cy="176733"/>
          </a:xfrm>
          <a:prstGeom prst="rect">
            <a:avLst/>
          </a:prstGeom>
          <a:solidFill>
            <a:srgbClr val="990000">
              <a:alpha val="28000"/>
            </a:srgbClr>
          </a:solidFill>
          <a:ln/>
        </p:spPr>
      </p:sp>
      <p:sp>
        <p:nvSpPr>
          <p:cNvPr id="97" name="Shape 86"/>
          <p:cNvSpPr/>
          <p:nvPr/>
        </p:nvSpPr>
        <p:spPr>
          <a:xfrm>
            <a:off x="13887450" y="4389611"/>
            <a:ext cx="3181350" cy="9525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98" name="Shape 87"/>
          <p:cNvSpPr/>
          <p:nvPr/>
        </p:nvSpPr>
        <p:spPr>
          <a:xfrm>
            <a:off x="13887450" y="4222403"/>
            <a:ext cx="3181350" cy="9525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99" name="Shape 88"/>
          <p:cNvSpPr/>
          <p:nvPr/>
        </p:nvSpPr>
        <p:spPr>
          <a:xfrm>
            <a:off x="14028837" y="4399583"/>
            <a:ext cx="1143000" cy="171450"/>
          </a:xfrm>
          <a:prstGeom prst="roundRect">
            <a:avLst>
              <a:gd name="adj" fmla="val 22222"/>
            </a:avLst>
          </a:prstGeom>
          <a:solidFill>
            <a:srgbClr val="B9C2CE"/>
          </a:solidFill>
          <a:ln/>
        </p:spPr>
      </p:sp>
      <p:sp>
        <p:nvSpPr>
          <p:cNvPr id="100" name="Shape 89"/>
          <p:cNvSpPr/>
          <p:nvPr/>
        </p:nvSpPr>
        <p:spPr>
          <a:xfrm>
            <a:off x="13887450" y="4571033"/>
            <a:ext cx="3181350" cy="105668"/>
          </a:xfrm>
          <a:prstGeom prst="rect">
            <a:avLst/>
          </a:prstGeom>
          <a:solidFill>
            <a:srgbClr val="990000">
              <a:alpha val="28000"/>
            </a:srgbClr>
          </a:solidFill>
          <a:ln/>
        </p:spPr>
      </p:sp>
      <p:sp>
        <p:nvSpPr>
          <p:cNvPr id="101" name="Shape 90"/>
          <p:cNvSpPr/>
          <p:nvPr/>
        </p:nvSpPr>
        <p:spPr>
          <a:xfrm>
            <a:off x="14028837" y="4676775"/>
            <a:ext cx="2898577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171C1C">
                <a:alpha val="8000"/>
              </a:srgbClr>
            </a:outerShdw>
          </a:effectLst>
        </p:spPr>
      </p:sp>
      <p:sp>
        <p:nvSpPr>
          <p:cNvPr id="102" name="Shape 91"/>
          <p:cNvSpPr/>
          <p:nvPr/>
        </p:nvSpPr>
        <p:spPr>
          <a:xfrm>
            <a:off x="14170223" y="4838700"/>
            <a:ext cx="209550" cy="209550"/>
          </a:xfrm>
          <a:prstGeom prst="ellipse">
            <a:avLst/>
          </a:prstGeom>
          <a:solidFill>
            <a:srgbClr val="1A4E9B"/>
          </a:solidFill>
          <a:ln/>
        </p:spPr>
      </p:sp>
      <p:sp>
        <p:nvSpPr>
          <p:cNvPr id="103" name="Shape 92"/>
          <p:cNvSpPr/>
          <p:nvPr/>
        </p:nvSpPr>
        <p:spPr>
          <a:xfrm>
            <a:off x="14486037" y="4876800"/>
            <a:ext cx="1238250" cy="133350"/>
          </a:xfrm>
          <a:prstGeom prst="roundRect">
            <a:avLst>
              <a:gd name="adj" fmla="val 28571"/>
            </a:avLst>
          </a:prstGeom>
          <a:solidFill>
            <a:srgbClr val="B9C2CE"/>
          </a:solidFill>
          <a:ln/>
        </p:spPr>
      </p:sp>
      <p:sp>
        <p:nvSpPr>
          <p:cNvPr id="104" name="Shape 93"/>
          <p:cNvSpPr/>
          <p:nvPr/>
        </p:nvSpPr>
        <p:spPr>
          <a:xfrm>
            <a:off x="14028837" y="5210175"/>
            <a:ext cx="2898577" cy="9525"/>
          </a:xfrm>
          <a:prstGeom prst="rect">
            <a:avLst/>
          </a:prstGeom>
          <a:solidFill>
            <a:srgbClr val="D5DBE4"/>
          </a:solidFill>
          <a:ln/>
        </p:spPr>
      </p:sp>
      <p:sp>
        <p:nvSpPr>
          <p:cNvPr id="105" name="Shape 94"/>
          <p:cNvSpPr/>
          <p:nvPr/>
        </p:nvSpPr>
        <p:spPr>
          <a:xfrm>
            <a:off x="14170223" y="5372100"/>
            <a:ext cx="209550" cy="209550"/>
          </a:xfrm>
          <a:prstGeom prst="ellipse">
            <a:avLst/>
          </a:prstGeom>
          <a:solidFill>
            <a:srgbClr val="1A4E9B"/>
          </a:solidFill>
          <a:ln/>
        </p:spPr>
      </p:sp>
      <p:sp>
        <p:nvSpPr>
          <p:cNvPr id="106" name="Shape 95"/>
          <p:cNvSpPr/>
          <p:nvPr/>
        </p:nvSpPr>
        <p:spPr>
          <a:xfrm>
            <a:off x="14486037" y="5410200"/>
            <a:ext cx="1047750" cy="133350"/>
          </a:xfrm>
          <a:prstGeom prst="roundRect">
            <a:avLst>
              <a:gd name="adj" fmla="val 28571"/>
            </a:avLst>
          </a:prstGeom>
          <a:solidFill>
            <a:srgbClr val="B9C2CE"/>
          </a:solidFill>
          <a:ln/>
        </p:spPr>
      </p:sp>
      <p:sp>
        <p:nvSpPr>
          <p:cNvPr id="107" name="Shape 96"/>
          <p:cNvSpPr/>
          <p:nvPr/>
        </p:nvSpPr>
        <p:spPr>
          <a:xfrm>
            <a:off x="14028837" y="7048500"/>
            <a:ext cx="2898577" cy="447675"/>
          </a:xfrm>
          <a:prstGeom prst="roundRect">
            <a:avLst>
              <a:gd name="adj" fmla="val 50000"/>
            </a:avLst>
          </a:prstGeom>
          <a:solidFill>
            <a:srgbClr val="1A4E9B"/>
          </a:solidFill>
          <a:ln/>
        </p:spPr>
      </p:sp>
      <p:sp>
        <p:nvSpPr>
          <p:cNvPr id="108" name="Shape 97"/>
          <p:cNvSpPr/>
          <p:nvPr/>
        </p:nvSpPr>
        <p:spPr>
          <a:xfrm>
            <a:off x="13887450" y="7496175"/>
            <a:ext cx="3181350" cy="70470"/>
          </a:xfrm>
          <a:prstGeom prst="rect">
            <a:avLst/>
          </a:prstGeom>
          <a:solidFill>
            <a:srgbClr val="990000">
              <a:alpha val="45000"/>
            </a:srgbClr>
          </a:solidFill>
          <a:ln/>
        </p:spPr>
      </p:sp>
      <p:sp>
        <p:nvSpPr>
          <p:cNvPr id="109" name="Shape 98"/>
          <p:cNvSpPr/>
          <p:nvPr/>
        </p:nvSpPr>
        <p:spPr>
          <a:xfrm>
            <a:off x="14028837" y="7566645"/>
            <a:ext cx="2898577" cy="4476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A6472"/>
            </a:solidFill>
            <a:prstDash val="solid"/>
          </a:ln>
        </p:spPr>
      </p:sp>
      <p:sp>
        <p:nvSpPr>
          <p:cNvPr id="110" name="Shape 99"/>
          <p:cNvSpPr/>
          <p:nvPr/>
        </p:nvSpPr>
        <p:spPr>
          <a:xfrm>
            <a:off x="15237656" y="2362200"/>
            <a:ext cx="480938" cy="342900"/>
          </a:xfrm>
          <a:prstGeom prst="roundRect">
            <a:avLst>
              <a:gd name="adj" fmla="val 22222"/>
            </a:avLst>
          </a:prstGeom>
          <a:solidFill>
            <a:srgbClr val="990000"/>
          </a:solidFill>
          <a:ln/>
        </p:spPr>
      </p:sp>
      <p:sp>
        <p:nvSpPr>
          <p:cNvPr id="111" name="Text 100"/>
          <p:cNvSpPr/>
          <p:nvPr/>
        </p:nvSpPr>
        <p:spPr>
          <a:xfrm>
            <a:off x="15332906" y="2381250"/>
            <a:ext cx="33853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345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1800" dirty="0"/>
          </a:p>
        </p:txBody>
      </p:sp>
      <p:sp>
        <p:nvSpPr>
          <p:cNvPr id="112" name="Shape 101"/>
          <p:cNvSpPr/>
          <p:nvPr/>
        </p:nvSpPr>
        <p:spPr>
          <a:xfrm>
            <a:off x="15259534" y="2828925"/>
            <a:ext cx="437183" cy="342900"/>
          </a:xfrm>
          <a:prstGeom prst="roundRect">
            <a:avLst>
              <a:gd name="adj" fmla="val 22222"/>
            </a:avLst>
          </a:prstGeom>
          <a:solidFill>
            <a:srgbClr val="990000"/>
          </a:solidFill>
          <a:ln/>
        </p:spPr>
      </p:sp>
      <p:sp>
        <p:nvSpPr>
          <p:cNvPr id="113" name="Text 102"/>
          <p:cNvSpPr/>
          <p:nvPr/>
        </p:nvSpPr>
        <p:spPr>
          <a:xfrm>
            <a:off x="15354784" y="2847975"/>
            <a:ext cx="2904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345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800" dirty="0"/>
          </a:p>
        </p:txBody>
      </p:sp>
      <p:sp>
        <p:nvSpPr>
          <p:cNvPr id="114" name="Shape 103"/>
          <p:cNvSpPr/>
          <p:nvPr/>
        </p:nvSpPr>
        <p:spPr>
          <a:xfrm>
            <a:off x="15237656" y="4152900"/>
            <a:ext cx="480938" cy="342900"/>
          </a:xfrm>
          <a:prstGeom prst="roundRect">
            <a:avLst>
              <a:gd name="adj" fmla="val 22222"/>
            </a:avLst>
          </a:prstGeom>
          <a:solidFill>
            <a:srgbClr val="990000"/>
          </a:solidFill>
          <a:ln/>
        </p:spPr>
      </p:sp>
      <p:sp>
        <p:nvSpPr>
          <p:cNvPr id="115" name="Text 104"/>
          <p:cNvSpPr/>
          <p:nvPr/>
        </p:nvSpPr>
        <p:spPr>
          <a:xfrm>
            <a:off x="15332906" y="4171950"/>
            <a:ext cx="33853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345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1800" dirty="0"/>
          </a:p>
        </p:txBody>
      </p:sp>
      <p:sp>
        <p:nvSpPr>
          <p:cNvPr id="116" name="Shape 105"/>
          <p:cNvSpPr/>
          <p:nvPr/>
        </p:nvSpPr>
        <p:spPr>
          <a:xfrm>
            <a:off x="15259534" y="4543425"/>
            <a:ext cx="437183" cy="342900"/>
          </a:xfrm>
          <a:prstGeom prst="roundRect">
            <a:avLst>
              <a:gd name="adj" fmla="val 22222"/>
            </a:avLst>
          </a:prstGeom>
          <a:solidFill>
            <a:srgbClr val="990000"/>
          </a:solidFill>
          <a:ln/>
        </p:spPr>
      </p:sp>
      <p:sp>
        <p:nvSpPr>
          <p:cNvPr id="117" name="Text 106"/>
          <p:cNvSpPr/>
          <p:nvPr/>
        </p:nvSpPr>
        <p:spPr>
          <a:xfrm>
            <a:off x="15354784" y="4562475"/>
            <a:ext cx="2904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345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800" dirty="0"/>
          </a:p>
        </p:txBody>
      </p:sp>
      <p:sp>
        <p:nvSpPr>
          <p:cNvPr id="118" name="Shape 107"/>
          <p:cNvSpPr/>
          <p:nvPr/>
        </p:nvSpPr>
        <p:spPr>
          <a:xfrm>
            <a:off x="15309317" y="7381875"/>
            <a:ext cx="337617" cy="342900"/>
          </a:xfrm>
          <a:prstGeom prst="roundRect">
            <a:avLst>
              <a:gd name="adj" fmla="val 22570"/>
            </a:avLst>
          </a:prstGeom>
          <a:solidFill>
            <a:srgbClr val="990000"/>
          </a:solidFill>
          <a:ln/>
        </p:spPr>
      </p:sp>
      <p:sp>
        <p:nvSpPr>
          <p:cNvPr id="119" name="Text 108"/>
          <p:cNvSpPr/>
          <p:nvPr/>
        </p:nvSpPr>
        <p:spPr>
          <a:xfrm>
            <a:off x="15404567" y="7400925"/>
            <a:ext cx="1808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345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800" dirty="0"/>
          </a:p>
        </p:txBody>
      </p:sp>
      <p:sp>
        <p:nvSpPr>
          <p:cNvPr id="120" name="Text 109"/>
          <p:cNvSpPr/>
          <p:nvPr/>
        </p:nvSpPr>
        <p:spPr>
          <a:xfrm>
            <a:off x="7779246" y="8458200"/>
            <a:ext cx="122455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좌우 여백 16</a:t>
            </a:r>
            <a:endParaRPr lang="en-US" sz="1800" dirty="0"/>
          </a:p>
        </p:txBody>
      </p:sp>
      <p:sp>
        <p:nvSpPr>
          <p:cNvPr id="121" name="Text 110"/>
          <p:cNvSpPr/>
          <p:nvPr/>
        </p:nvSpPr>
        <p:spPr>
          <a:xfrm>
            <a:off x="11012984" y="8458200"/>
            <a:ext cx="19861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 · 바텀시트 비율</a:t>
            </a:r>
            <a:endParaRPr lang="en-US" sz="1800" dirty="0"/>
          </a:p>
        </p:txBody>
      </p:sp>
      <p:sp>
        <p:nvSpPr>
          <p:cNvPr id="122" name="Text 111"/>
          <p:cNvSpPr/>
          <p:nvPr/>
        </p:nvSpPr>
        <p:spPr>
          <a:xfrm>
            <a:off x="14292337" y="8458200"/>
            <a:ext cx="26086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타이틀 · 리스트 · 버튼 간격</a:t>
            </a:r>
            <a:endParaRPr lang="en-US" sz="1800" dirty="0"/>
          </a:p>
        </p:txBody>
      </p:sp>
      <p:sp>
        <p:nvSpPr>
          <p:cNvPr id="123" name="Text 112"/>
          <p:cNvSpPr/>
          <p:nvPr/>
        </p:nvSpPr>
        <p:spPr>
          <a:xfrm>
            <a:off x="1219200" y="9458325"/>
            <a:ext cx="26410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· 디자인 가이드</a:t>
            </a:r>
            <a:endParaRPr lang="en-US" sz="1800" dirty="0"/>
          </a:p>
        </p:txBody>
      </p:sp>
      <p:sp>
        <p:nvSpPr>
          <p:cNvPr id="124" name="Text 113"/>
          <p:cNvSpPr/>
          <p:nvPr/>
        </p:nvSpPr>
        <p:spPr>
          <a:xfrm>
            <a:off x="16823903" y="9458325"/>
            <a:ext cx="3210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93" dirty="0">
                <a:solidFill>
                  <a:srgbClr val="1A4E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ICONOGRAPHY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19200" y="1747838"/>
            <a:ext cx="1743456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654"/>
              </a:lnSpc>
              <a:buNone/>
            </a:pPr>
            <a:r>
              <a:rPr lang="en-US" sz="4800" b="1" dirty="0">
                <a:solidFill>
                  <a:srgbClr val="0F2A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접근성을 우선한 직관적 아이콘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200" y="2709863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5211"/>
              </a:lnSpc>
            </a:pPr>
            <a:r>
              <a:rPr lang="en-US" sz="22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별 단색 적용 · 기본 24px &gt; </a:t>
            </a:r>
            <a:r>
              <a:rPr lang="en-US" sz="22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 </a:t>
            </a:r>
            <a:r>
              <a:rPr lang="en-US" sz="22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32px</a:t>
            </a:r>
            <a:r>
              <a:rPr lang="en-US" altLang="ko-KR" sz="22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225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2250" smtClean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텍스트와 </a:t>
            </a:r>
            <a:r>
              <a:rPr lang="en-US" sz="2250" dirty="0">
                <a:solidFill>
                  <a:srgbClr val="4855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의미를 전달합니다.</a:t>
            </a:r>
            <a:endParaRPr lang="en-US" sz="2250" dirty="0"/>
          </a:p>
        </p:txBody>
      </p:sp>
      <p:grpSp>
        <p:nvGrpSpPr>
          <p:cNvPr id="43" name="그룹 42"/>
          <p:cNvGrpSpPr/>
          <p:nvPr/>
        </p:nvGrpSpPr>
        <p:grpSpPr>
          <a:xfrm>
            <a:off x="1219200" y="3936569"/>
            <a:ext cx="15849600" cy="3724276"/>
            <a:chOff x="1219200" y="4572000"/>
            <a:chExt cx="15849600" cy="3724276"/>
          </a:xfrm>
        </p:grpSpPr>
        <p:sp>
          <p:nvSpPr>
            <p:cNvPr id="5" name="Shape 3"/>
            <p:cNvSpPr/>
            <p:nvPr/>
          </p:nvSpPr>
          <p:spPr>
            <a:xfrm>
              <a:off x="1219200" y="4572000"/>
              <a:ext cx="2451050" cy="1747838"/>
            </a:xfrm>
            <a:prstGeom prst="roundRect">
              <a:avLst>
                <a:gd name="adj" fmla="val 15259"/>
              </a:avLst>
            </a:prstGeom>
            <a:solidFill>
              <a:srgbClr val="FFFFFF"/>
            </a:solidFill>
            <a:ln/>
            <a:effectLst>
              <a:outerShdw blurRad="57150" dist="19050" dir="5400000" algn="bl" rotWithShape="0">
                <a:srgbClr val="171C1C">
                  <a:alpha val="8000"/>
                </a:srgbClr>
              </a:outerShdw>
            </a:effectLst>
          </p:spPr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2101825" y="4876800"/>
              <a:ext cx="685800" cy="685800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2123629" y="5715000"/>
              <a:ext cx="718319" cy="3381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950" b="1" dirty="0">
                  <a:solidFill>
                    <a:srgbClr val="0F2A5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휠체어</a:t>
              </a:r>
              <a:endParaRPr lang="en-US" sz="195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3898850" y="4572000"/>
              <a:ext cx="2451125" cy="1747838"/>
            </a:xfrm>
            <a:prstGeom prst="roundRect">
              <a:avLst>
                <a:gd name="adj" fmla="val 15259"/>
              </a:avLst>
            </a:prstGeom>
            <a:solidFill>
              <a:srgbClr val="FFFFFF"/>
            </a:solidFill>
            <a:ln/>
            <a:effectLst>
              <a:outerShdw blurRad="57150" dist="19050" dir="5400000" algn="bl" rotWithShape="0">
                <a:srgbClr val="171C1C">
                  <a:alpha val="8000"/>
                </a:srgbClr>
              </a:outerShdw>
            </a:effectLst>
          </p:spPr>
        </p:sp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4781476" y="4876800"/>
              <a:ext cx="685800" cy="685800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4589264" y="5715000"/>
              <a:ext cx="1146423" cy="3381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950" b="1" dirty="0">
                  <a:solidFill>
                    <a:srgbClr val="0F2A5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엘리베이터</a:t>
              </a:r>
              <a:endParaRPr lang="en-US" sz="1950" dirty="0"/>
            </a:p>
          </p:txBody>
        </p:sp>
        <p:sp>
          <p:nvSpPr>
            <p:cNvPr id="11" name="Shape 7"/>
            <p:cNvSpPr/>
            <p:nvPr/>
          </p:nvSpPr>
          <p:spPr>
            <a:xfrm>
              <a:off x="6578575" y="4572000"/>
              <a:ext cx="2451125" cy="1747838"/>
            </a:xfrm>
            <a:prstGeom prst="roundRect">
              <a:avLst>
                <a:gd name="adj" fmla="val 15259"/>
              </a:avLst>
            </a:prstGeom>
            <a:solidFill>
              <a:srgbClr val="FFFFFF"/>
            </a:solidFill>
            <a:ln/>
            <a:effectLst>
              <a:outerShdw blurRad="57150" dist="19050" dir="5400000" algn="bl" rotWithShape="0">
                <a:srgbClr val="171C1C">
                  <a:alpha val="8000"/>
                </a:srgbClr>
              </a:outerShdw>
            </a:effectLst>
          </p:spPr>
        </p:sp>
        <p:pic>
          <p:nvPicPr>
            <p:cNvPr id="12" name="Image 2" descr="preencoded.png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p:blipFill>
          <p:spPr>
            <a:xfrm>
              <a:off x="7461200" y="4876800"/>
              <a:ext cx="685800" cy="685800"/>
            </a:xfrm>
            <a:prstGeom prst="rect">
              <a:avLst/>
            </a:prstGeom>
          </p:spPr>
        </p:pic>
        <p:sp>
          <p:nvSpPr>
            <p:cNvPr id="13" name="Text 8"/>
            <p:cNvSpPr/>
            <p:nvPr/>
          </p:nvSpPr>
          <p:spPr>
            <a:xfrm>
              <a:off x="7483078" y="5715000"/>
              <a:ext cx="718319" cy="3381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950" b="1" dirty="0">
                  <a:solidFill>
                    <a:srgbClr val="0F2A5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경사로</a:t>
              </a:r>
              <a:endParaRPr lang="en-US" sz="1950" dirty="0"/>
            </a:p>
          </p:txBody>
        </p:sp>
        <p:sp>
          <p:nvSpPr>
            <p:cNvPr id="14" name="Shape 9"/>
            <p:cNvSpPr/>
            <p:nvPr/>
          </p:nvSpPr>
          <p:spPr>
            <a:xfrm>
              <a:off x="9258300" y="4572000"/>
              <a:ext cx="2451050" cy="1747838"/>
            </a:xfrm>
            <a:prstGeom prst="roundRect">
              <a:avLst>
                <a:gd name="adj" fmla="val 15259"/>
              </a:avLst>
            </a:prstGeom>
            <a:solidFill>
              <a:srgbClr val="FFFFFF"/>
            </a:solidFill>
            <a:ln/>
            <a:effectLst>
              <a:outerShdw blurRad="57150" dist="19050" dir="5400000" algn="bl" rotWithShape="0">
                <a:srgbClr val="171C1C">
                  <a:alpha val="8000"/>
                </a:srgbClr>
              </a:outerShdw>
            </a:effectLst>
          </p:spPr>
        </p:sp>
        <p:pic>
          <p:nvPicPr>
            <p:cNvPr id="15" name="Image 3" descr="preencoded.png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10140925" y="4876800"/>
              <a:ext cx="685800" cy="685800"/>
            </a:xfrm>
            <a:prstGeom prst="rect">
              <a:avLst/>
            </a:prstGeom>
          </p:spPr>
        </p:pic>
        <p:sp>
          <p:nvSpPr>
            <p:cNvPr id="16" name="Text 10"/>
            <p:cNvSpPr/>
            <p:nvPr/>
          </p:nvSpPr>
          <p:spPr>
            <a:xfrm>
              <a:off x="10269736" y="5715000"/>
              <a:ext cx="504304" cy="3381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950" b="1" dirty="0">
                  <a:solidFill>
                    <a:srgbClr val="0F2A5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계단</a:t>
              </a:r>
              <a:endParaRPr lang="en-US" sz="1950" dirty="0"/>
            </a:p>
          </p:txBody>
        </p:sp>
        <p:sp>
          <p:nvSpPr>
            <p:cNvPr id="17" name="Shape 11"/>
            <p:cNvSpPr/>
            <p:nvPr/>
          </p:nvSpPr>
          <p:spPr>
            <a:xfrm>
              <a:off x="11937950" y="4572000"/>
              <a:ext cx="2451125" cy="1747838"/>
            </a:xfrm>
            <a:prstGeom prst="roundRect">
              <a:avLst>
                <a:gd name="adj" fmla="val 15259"/>
              </a:avLst>
            </a:prstGeom>
            <a:solidFill>
              <a:srgbClr val="FFFFFF"/>
            </a:solidFill>
            <a:ln/>
            <a:effectLst>
              <a:outerShdw blurRad="57150" dist="19050" dir="5400000" algn="bl" rotWithShape="0">
                <a:srgbClr val="171C1C">
                  <a:alpha val="8000"/>
                </a:srgbClr>
              </a:outerShdw>
            </a:effectLst>
          </p:spPr>
        </p:sp>
        <p:pic>
          <p:nvPicPr>
            <p:cNvPr id="18" name="Image 4" descr="preencoded.png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12820576" y="4876800"/>
              <a:ext cx="685800" cy="685800"/>
            </a:xfrm>
            <a:prstGeom prst="rect">
              <a:avLst/>
            </a:prstGeom>
          </p:spPr>
        </p:pic>
        <p:sp>
          <p:nvSpPr>
            <p:cNvPr id="19" name="Text 12"/>
            <p:cNvSpPr/>
            <p:nvPr/>
          </p:nvSpPr>
          <p:spPr>
            <a:xfrm>
              <a:off x="12842453" y="5715000"/>
              <a:ext cx="718319" cy="3381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950" b="1" dirty="0">
                  <a:solidFill>
                    <a:srgbClr val="0F2A5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화장실</a:t>
              </a:r>
              <a:endParaRPr lang="en-US" sz="1950" dirty="0"/>
            </a:p>
          </p:txBody>
        </p:sp>
        <p:sp>
          <p:nvSpPr>
            <p:cNvPr id="20" name="Shape 13"/>
            <p:cNvSpPr/>
            <p:nvPr/>
          </p:nvSpPr>
          <p:spPr>
            <a:xfrm>
              <a:off x="14617675" y="4572000"/>
              <a:ext cx="2451125" cy="1747838"/>
            </a:xfrm>
            <a:prstGeom prst="roundRect">
              <a:avLst>
                <a:gd name="adj" fmla="val 15259"/>
              </a:avLst>
            </a:prstGeom>
            <a:solidFill>
              <a:srgbClr val="FFFFFF"/>
            </a:solidFill>
            <a:ln/>
            <a:effectLst>
              <a:outerShdw blurRad="57150" dist="19050" dir="5400000" algn="bl" rotWithShape="0">
                <a:srgbClr val="171C1C">
                  <a:alpha val="8000"/>
                </a:srgbClr>
              </a:outerShdw>
            </a:effectLst>
          </p:spPr>
        </p:sp>
        <p:pic>
          <p:nvPicPr>
            <p:cNvPr id="21" name="Image 5" descr="preencoded.png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p:blipFill>
          <p:spPr>
            <a:xfrm>
              <a:off x="15500300" y="4876800"/>
              <a:ext cx="685800" cy="685800"/>
            </a:xfrm>
            <a:prstGeom prst="rect">
              <a:avLst/>
            </a:prstGeom>
          </p:spPr>
        </p:pic>
        <p:sp>
          <p:nvSpPr>
            <p:cNvPr id="22" name="Text 14"/>
            <p:cNvSpPr/>
            <p:nvPr/>
          </p:nvSpPr>
          <p:spPr>
            <a:xfrm>
              <a:off x="15415171" y="5715000"/>
              <a:ext cx="932334" cy="3381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950" b="1" dirty="0">
                  <a:solidFill>
                    <a:srgbClr val="0F2A5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점자블록</a:t>
              </a:r>
              <a:endParaRPr lang="en-US" sz="1950" dirty="0"/>
            </a:p>
          </p:txBody>
        </p:sp>
        <p:sp>
          <p:nvSpPr>
            <p:cNvPr id="23" name="Shape 15"/>
            <p:cNvSpPr/>
            <p:nvPr/>
          </p:nvSpPr>
          <p:spPr>
            <a:xfrm>
              <a:off x="1219200" y="6548438"/>
              <a:ext cx="2451050" cy="1747838"/>
            </a:xfrm>
            <a:prstGeom prst="roundRect">
              <a:avLst>
                <a:gd name="adj" fmla="val 15259"/>
              </a:avLst>
            </a:prstGeom>
            <a:solidFill>
              <a:srgbClr val="FFFFFF"/>
            </a:solidFill>
            <a:ln/>
            <a:effectLst>
              <a:outerShdw blurRad="57150" dist="19050" dir="5400000" algn="bl" rotWithShape="0">
                <a:srgbClr val="171C1C">
                  <a:alpha val="8000"/>
                </a:srgbClr>
              </a:outerShdw>
            </a:effectLst>
          </p:spPr>
        </p:sp>
        <p:pic>
          <p:nvPicPr>
            <p:cNvPr id="24" name="Image 6" descr="preencoded.png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2101825" y="6853238"/>
              <a:ext cx="685800" cy="685800"/>
            </a:xfrm>
            <a:prstGeom prst="rect">
              <a:avLst/>
            </a:prstGeom>
          </p:spPr>
        </p:pic>
        <p:sp>
          <p:nvSpPr>
            <p:cNvPr id="25" name="Text 16"/>
            <p:cNvSpPr/>
            <p:nvPr/>
          </p:nvSpPr>
          <p:spPr>
            <a:xfrm>
              <a:off x="2123629" y="7691438"/>
              <a:ext cx="718319" cy="3381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950" b="1" dirty="0">
                  <a:solidFill>
                    <a:srgbClr val="0F2A5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자동문</a:t>
              </a:r>
              <a:endParaRPr lang="en-US" sz="1950" dirty="0"/>
            </a:p>
          </p:txBody>
        </p:sp>
        <p:sp>
          <p:nvSpPr>
            <p:cNvPr id="26" name="Shape 17"/>
            <p:cNvSpPr/>
            <p:nvPr/>
          </p:nvSpPr>
          <p:spPr>
            <a:xfrm>
              <a:off x="3898850" y="6548438"/>
              <a:ext cx="2451125" cy="1747838"/>
            </a:xfrm>
            <a:prstGeom prst="roundRect">
              <a:avLst>
                <a:gd name="adj" fmla="val 15259"/>
              </a:avLst>
            </a:prstGeom>
            <a:solidFill>
              <a:srgbClr val="FFFFFF"/>
            </a:solidFill>
            <a:ln/>
            <a:effectLst>
              <a:outerShdw blurRad="57150" dist="19050" dir="5400000" algn="bl" rotWithShape="0">
                <a:srgbClr val="171C1C">
                  <a:alpha val="8000"/>
                </a:srgbClr>
              </a:outerShdw>
            </a:effectLst>
          </p:spPr>
        </p:sp>
        <p:pic>
          <p:nvPicPr>
            <p:cNvPr id="27" name="Image 7" descr="preencoded.png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/>
            </a:stretch>
          </p:blipFill>
          <p:spPr>
            <a:xfrm>
              <a:off x="4781476" y="6853238"/>
              <a:ext cx="685800" cy="685800"/>
            </a:xfrm>
            <a:prstGeom prst="rect">
              <a:avLst/>
            </a:prstGeom>
          </p:spPr>
        </p:pic>
        <p:sp>
          <p:nvSpPr>
            <p:cNvPr id="28" name="Text 18"/>
            <p:cNvSpPr/>
            <p:nvPr/>
          </p:nvSpPr>
          <p:spPr>
            <a:xfrm>
              <a:off x="4803353" y="7691438"/>
              <a:ext cx="718319" cy="3381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950" b="1" dirty="0">
                  <a:solidFill>
                    <a:srgbClr val="0F2A5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센서문</a:t>
              </a:r>
              <a:endParaRPr lang="en-US" sz="1950" dirty="0"/>
            </a:p>
          </p:txBody>
        </p:sp>
        <p:sp>
          <p:nvSpPr>
            <p:cNvPr id="29" name="Shape 19"/>
            <p:cNvSpPr/>
            <p:nvPr/>
          </p:nvSpPr>
          <p:spPr>
            <a:xfrm>
              <a:off x="6578575" y="6548438"/>
              <a:ext cx="2451125" cy="1747838"/>
            </a:xfrm>
            <a:prstGeom prst="roundRect">
              <a:avLst>
                <a:gd name="adj" fmla="val 15259"/>
              </a:avLst>
            </a:prstGeom>
            <a:solidFill>
              <a:srgbClr val="FFFFFF"/>
            </a:solidFill>
            <a:ln/>
            <a:effectLst>
              <a:outerShdw blurRad="57150" dist="19050" dir="5400000" algn="bl" rotWithShape="0">
                <a:srgbClr val="171C1C">
                  <a:alpha val="8000"/>
                </a:srgbClr>
              </a:outerShdw>
            </a:effectLst>
          </p:spPr>
        </p:sp>
        <p:pic>
          <p:nvPicPr>
            <p:cNvPr id="30" name="Image 8" descr="preencoded.png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xmlns="" r:embed="rId20"/>
                </a:ext>
              </a:extLst>
            </a:blip>
            <a:stretch>
              <a:fillRect/>
            </a:stretch>
          </p:blipFill>
          <p:spPr>
            <a:xfrm>
              <a:off x="7461200" y="6853238"/>
              <a:ext cx="685800" cy="685800"/>
            </a:xfrm>
            <a:prstGeom prst="rect">
              <a:avLst/>
            </a:prstGeom>
          </p:spPr>
        </p:pic>
        <p:sp>
          <p:nvSpPr>
            <p:cNvPr id="31" name="Text 20"/>
            <p:cNvSpPr/>
            <p:nvPr/>
          </p:nvSpPr>
          <p:spPr>
            <a:xfrm>
              <a:off x="7376071" y="7691438"/>
              <a:ext cx="932334" cy="3381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950" b="1" dirty="0">
                  <a:solidFill>
                    <a:srgbClr val="0F2A5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편의시설</a:t>
              </a:r>
              <a:endParaRPr lang="en-US" sz="1950" dirty="0"/>
            </a:p>
          </p:txBody>
        </p:sp>
        <p:sp>
          <p:nvSpPr>
            <p:cNvPr id="32" name="Shape 21"/>
            <p:cNvSpPr/>
            <p:nvPr/>
          </p:nvSpPr>
          <p:spPr>
            <a:xfrm>
              <a:off x="9258300" y="6548438"/>
              <a:ext cx="2451050" cy="1747838"/>
            </a:xfrm>
            <a:prstGeom prst="roundRect">
              <a:avLst>
                <a:gd name="adj" fmla="val 15259"/>
              </a:avLst>
            </a:prstGeom>
            <a:solidFill>
              <a:srgbClr val="FFFFFF"/>
            </a:solidFill>
            <a:ln/>
            <a:effectLst>
              <a:outerShdw blurRad="57150" dist="19050" dir="5400000" algn="bl" rotWithShape="0">
                <a:srgbClr val="171C1C">
                  <a:alpha val="8000"/>
                </a:srgbClr>
              </a:outerShdw>
            </a:effectLst>
          </p:spPr>
        </p:sp>
        <p:pic>
          <p:nvPicPr>
            <p:cNvPr id="33" name="Image 9" descr="preencoded.png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xmlns="" r:embed="rId22"/>
                </a:ext>
              </a:extLst>
            </a:blip>
            <a:stretch>
              <a:fillRect/>
            </a:stretch>
          </p:blipFill>
          <p:spPr>
            <a:xfrm>
              <a:off x="10140925" y="6853238"/>
              <a:ext cx="685800" cy="685800"/>
            </a:xfrm>
            <a:prstGeom prst="rect">
              <a:avLst/>
            </a:prstGeom>
          </p:spPr>
        </p:pic>
        <p:sp>
          <p:nvSpPr>
            <p:cNvPr id="34" name="Text 22"/>
            <p:cNvSpPr/>
            <p:nvPr/>
          </p:nvSpPr>
          <p:spPr>
            <a:xfrm>
              <a:off x="10269736" y="7691438"/>
              <a:ext cx="504304" cy="3381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950" b="1" dirty="0">
                  <a:solidFill>
                    <a:srgbClr val="0F2A5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돌봄</a:t>
              </a:r>
              <a:endParaRPr lang="en-US" sz="1950" dirty="0"/>
            </a:p>
          </p:txBody>
        </p:sp>
        <p:sp>
          <p:nvSpPr>
            <p:cNvPr id="35" name="Shape 23"/>
            <p:cNvSpPr/>
            <p:nvPr/>
          </p:nvSpPr>
          <p:spPr>
            <a:xfrm>
              <a:off x="11937950" y="6548438"/>
              <a:ext cx="2451125" cy="1747838"/>
            </a:xfrm>
            <a:prstGeom prst="roundRect">
              <a:avLst>
                <a:gd name="adj" fmla="val 15259"/>
              </a:avLst>
            </a:prstGeom>
            <a:solidFill>
              <a:srgbClr val="FFFFFF"/>
            </a:solidFill>
            <a:ln/>
            <a:effectLst>
              <a:outerShdw blurRad="57150" dist="19050" dir="5400000" algn="bl" rotWithShape="0">
                <a:srgbClr val="171C1C">
                  <a:alpha val="8000"/>
                </a:srgbClr>
              </a:outerShdw>
            </a:effectLst>
          </p:spPr>
        </p:sp>
        <p:pic>
          <p:nvPicPr>
            <p:cNvPr id="36" name="Image 10" descr="preencoded.png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xmlns="" r:embed="rId24"/>
                </a:ext>
              </a:extLst>
            </a:blip>
            <a:stretch>
              <a:fillRect/>
            </a:stretch>
          </p:blipFill>
          <p:spPr>
            <a:xfrm>
              <a:off x="12820576" y="6853238"/>
              <a:ext cx="685800" cy="685800"/>
            </a:xfrm>
            <a:prstGeom prst="rect">
              <a:avLst/>
            </a:prstGeom>
          </p:spPr>
        </p:pic>
        <p:sp>
          <p:nvSpPr>
            <p:cNvPr id="37" name="Text 24"/>
            <p:cNvSpPr/>
            <p:nvPr/>
          </p:nvSpPr>
          <p:spPr>
            <a:xfrm>
              <a:off x="12949461" y="7691438"/>
              <a:ext cx="504304" cy="3381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950" b="1" dirty="0">
                  <a:solidFill>
                    <a:srgbClr val="0F2A5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상담</a:t>
              </a:r>
              <a:endParaRPr lang="en-US" sz="1950" dirty="0"/>
            </a:p>
          </p:txBody>
        </p:sp>
        <p:sp>
          <p:nvSpPr>
            <p:cNvPr id="38" name="Shape 25"/>
            <p:cNvSpPr/>
            <p:nvPr/>
          </p:nvSpPr>
          <p:spPr>
            <a:xfrm>
              <a:off x="14617675" y="6548438"/>
              <a:ext cx="2451125" cy="1747838"/>
            </a:xfrm>
            <a:prstGeom prst="roundRect">
              <a:avLst>
                <a:gd name="adj" fmla="val 15259"/>
              </a:avLst>
            </a:prstGeom>
            <a:solidFill>
              <a:srgbClr val="FFFFFF"/>
            </a:solidFill>
            <a:ln/>
            <a:effectLst>
              <a:outerShdw blurRad="57150" dist="19050" dir="5400000" algn="bl" rotWithShape="0">
                <a:srgbClr val="171C1C">
                  <a:alpha val="8000"/>
                </a:srgbClr>
              </a:outerShdw>
            </a:effectLst>
          </p:spPr>
        </p:sp>
        <p:pic>
          <p:nvPicPr>
            <p:cNvPr id="39" name="Image 11" descr="preencoded.png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xmlns="" r:embed="rId26"/>
                </a:ext>
              </a:extLst>
            </a:blip>
            <a:stretch>
              <a:fillRect/>
            </a:stretch>
          </p:blipFill>
          <p:spPr>
            <a:xfrm>
              <a:off x="15500300" y="6853238"/>
              <a:ext cx="685800" cy="685800"/>
            </a:xfrm>
            <a:prstGeom prst="rect">
              <a:avLst/>
            </a:prstGeom>
          </p:spPr>
        </p:pic>
        <p:sp>
          <p:nvSpPr>
            <p:cNvPr id="40" name="Text 26"/>
            <p:cNvSpPr/>
            <p:nvPr/>
          </p:nvSpPr>
          <p:spPr>
            <a:xfrm>
              <a:off x="15171688" y="7691438"/>
              <a:ext cx="1477328" cy="3381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950" b="1" dirty="0">
                  <a:solidFill>
                    <a:srgbClr val="0F2A5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장애인 콜택시</a:t>
              </a:r>
              <a:endParaRPr lang="en-US" sz="1950" dirty="0"/>
            </a:p>
          </p:txBody>
        </p:sp>
      </p:grpSp>
      <p:sp>
        <p:nvSpPr>
          <p:cNvPr id="41" name="Text 27"/>
          <p:cNvSpPr/>
          <p:nvPr/>
        </p:nvSpPr>
        <p:spPr>
          <a:xfrm>
            <a:off x="1219200" y="9458325"/>
            <a:ext cx="26410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· 디자인 가이드</a:t>
            </a:r>
            <a:endParaRPr lang="en-US" sz="1800" dirty="0"/>
          </a:p>
        </p:txBody>
      </p:sp>
      <p:sp>
        <p:nvSpPr>
          <p:cNvPr id="42" name="Text 28"/>
          <p:cNvSpPr/>
          <p:nvPr/>
        </p:nvSpPr>
        <p:spPr>
          <a:xfrm>
            <a:off x="16838414" y="9458325"/>
            <a:ext cx="3065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1714</Words>
  <Application>Microsoft Office PowerPoint</Application>
  <PresentationFormat>사용자 지정</PresentationFormat>
  <Paragraphs>463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Pretendard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백현진</cp:lastModifiedBy>
  <cp:revision>12</cp:revision>
  <dcterms:created xsi:type="dcterms:W3CDTF">2026-10-13T00:47:55Z</dcterms:created>
  <dcterms:modified xsi:type="dcterms:W3CDTF">2026-10-13T01:26:51Z</dcterms:modified>
</cp:coreProperties>
</file>